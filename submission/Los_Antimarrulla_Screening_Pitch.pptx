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2c7372d71d34e6f" /><Relationship Type="http://schemas.openxmlformats.org/officeDocument/2006/relationships/extended-properties" Target="/docProps/app.xml" Id="Rfa0eed0d3bc44942" /><Relationship Type="http://schemas.openxmlformats.org/officeDocument/2006/relationships/officeDocument" Target="/ppt/presentation.xml" Id="Rae75b26c57df473d" /></Relationships>
</file>

<file path=ppt/presentation.xml><?xml version="1.0" encoding="utf-8"?>
<p:presentation xmlns:p="http://schemas.openxmlformats.org/presentationml/2006/main">
  <p:sldMasterIdLst>
    <p:sldMasterId xmlns:r="http://schemas.openxmlformats.org/officeDocument/2006/relationships" id="2147483648" r:id="R1c80155bd8184979"/>
  </p:sldMasterIdLst>
  <p:notesMasterIdLst>
    <p:notesMasterId xmlns:r="http://schemas.openxmlformats.org/officeDocument/2006/relationships" r:id="R4988c505b3914a9a"/>
  </p:notesMasterIdLst>
  <p:sldIdLst>
    <p:sldId xmlns:r="http://schemas.openxmlformats.org/officeDocument/2006/relationships" id="256" r:id="R8997c1928c4a47a7"/>
    <p:sldId xmlns:r="http://schemas.openxmlformats.org/officeDocument/2006/relationships" id="257" r:id="R5a08dd4a686c4768"/>
    <p:sldId xmlns:r="http://schemas.openxmlformats.org/officeDocument/2006/relationships" id="258" r:id="R63c654d08bbe4530"/>
    <p:sldId xmlns:r="http://schemas.openxmlformats.org/officeDocument/2006/relationships" id="259" r:id="Rb34dde328284476b"/>
    <p:sldId xmlns:r="http://schemas.openxmlformats.org/officeDocument/2006/relationships" id="260" r:id="Rfd32deb4fd5745a0"/>
    <p:sldId xmlns:r="http://schemas.openxmlformats.org/officeDocument/2006/relationships" id="261" r:id="R5c1b486e09d542ab"/>
    <p:sldId xmlns:r="http://schemas.openxmlformats.org/officeDocument/2006/relationships" id="262" r:id="R79aad68f5c1445c8"/>
    <p:sldId xmlns:r="http://schemas.openxmlformats.org/officeDocument/2006/relationships" id="263" r:id="R0dce26631d16493b"/>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aeed9d54c124b8b" /><Relationship Type="http://schemas.openxmlformats.org/officeDocument/2006/relationships/slideMaster" Target="/ppt/slideMasters/slideMaster1.xml" Id="R1c80155bd8184979" /><Relationship Type="http://schemas.openxmlformats.org/officeDocument/2006/relationships/notesMaster" Target="/ppt/notesMasters/notesMaster1.xml" Id="R4988c505b3914a9a" /><Relationship Type="http://schemas.openxmlformats.org/officeDocument/2006/relationships/presProps" Target="/ppt/presProps.xml" Id="R1b192fdc29e94182" /><Relationship Type="http://schemas.openxmlformats.org/officeDocument/2006/relationships/viewProps" Target="/ppt/viewProps.xml" Id="Rc7b4609d46864002" /><Relationship Type="http://schemas.openxmlformats.org/officeDocument/2006/relationships/tableStyles" Target="/ppt/tableStyles.xml" Id="R5c163301a4d6454f" /><Relationship Type="http://schemas.openxmlformats.org/officeDocument/2006/relationships/slide" Target="/ppt/slides/slide1.xml" Id="R8997c1928c4a47a7" /><Relationship Type="http://schemas.openxmlformats.org/officeDocument/2006/relationships/slide" Target="/ppt/slides/slide2.xml" Id="R5a08dd4a686c4768" /><Relationship Type="http://schemas.openxmlformats.org/officeDocument/2006/relationships/slide" Target="/ppt/slides/slide3.xml" Id="R63c654d08bbe4530" /><Relationship Type="http://schemas.openxmlformats.org/officeDocument/2006/relationships/slide" Target="/ppt/slides/slide4.xml" Id="Rb34dde328284476b" /><Relationship Type="http://schemas.openxmlformats.org/officeDocument/2006/relationships/slide" Target="/ppt/slides/slide5.xml" Id="Rfd32deb4fd5745a0" /><Relationship Type="http://schemas.openxmlformats.org/officeDocument/2006/relationships/slide" Target="/ppt/slides/slide6.xml" Id="R5c1b486e09d542ab" /><Relationship Type="http://schemas.openxmlformats.org/officeDocument/2006/relationships/slide" Target="/ppt/slides/slide7.xml" Id="R79aad68f5c1445c8" /><Relationship Type="http://schemas.openxmlformats.org/officeDocument/2006/relationships/slide" Target="/ppt/slides/slide8.xml" Id="R0dce26631d16493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c17a6bb0f0d4dc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aeb29888bb427c" /><Relationship Type="http://schemas.openxmlformats.org/officeDocument/2006/relationships/notesMaster" Target="/ppt/notesMasters/notesMaster1.xml" Id="Rdd98d9adc2ef45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f71bd7e6acd74baf" /><Relationship Type="http://schemas.openxmlformats.org/officeDocument/2006/relationships/notesMaster" Target="/ppt/notesMasters/notesMaster1.xml" Id="Rc812b7a424a741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cbff0ab5594cbf" /><Relationship Type="http://schemas.openxmlformats.org/officeDocument/2006/relationships/notesMaster" Target="/ppt/notesMasters/notesMaster1.xml" Id="R5c422adf53cd4d7e" /></Relationships>
</file>

<file path=ppt/notesSlides/_rels/notesSlide4.xml.rels>&#65279;<?xml version="1.0" encoding="utf-8"?><Relationships xmlns="http://schemas.openxmlformats.org/package/2006/relationships"><Relationship Type="http://schemas.openxmlformats.org/officeDocument/2006/relationships/slide" Target="/ppt/slides/slide4.xml" Id="Rf54903944ee14d2b" /><Relationship Type="http://schemas.openxmlformats.org/officeDocument/2006/relationships/notesMaster" Target="/ppt/notesMasters/notesMaster1.xml" Id="R7646ca28e26c4b35" /></Relationships>
</file>

<file path=ppt/notesSlides/_rels/notesSlide5.xml.rels>&#65279;<?xml version="1.0" encoding="utf-8"?><Relationships xmlns="http://schemas.openxmlformats.org/package/2006/relationships"><Relationship Type="http://schemas.openxmlformats.org/officeDocument/2006/relationships/slide" Target="/ppt/slides/slide5.xml" Id="Rb32e6c193ca94985" /><Relationship Type="http://schemas.openxmlformats.org/officeDocument/2006/relationships/notesMaster" Target="/ppt/notesMasters/notesMaster1.xml" Id="R726c661710e0461f"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a7de1eb3054e55" /><Relationship Type="http://schemas.openxmlformats.org/officeDocument/2006/relationships/notesMaster" Target="/ppt/notesMasters/notesMaster1.xml" Id="R082a53f52b2241c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3151bf4328c4b02" /><Relationship Type="http://schemas.openxmlformats.org/officeDocument/2006/relationships/notesMaster" Target="/ppt/notesMasters/notesMaster1.xml" Id="R491e9582947445b0" /></Relationships>
</file>

<file path=ppt/notesSlides/_rels/notesSlide8.xml.rels>&#65279;<?xml version="1.0" encoding="utf-8"?><Relationships xmlns="http://schemas.openxmlformats.org/package/2006/relationships"><Relationship Type="http://schemas.openxmlformats.org/officeDocument/2006/relationships/slide" Target="/ppt/slides/slide8.xml" Id="R1a3c7f503c5b425a" /><Relationship Type="http://schemas.openxmlformats.org/officeDocument/2006/relationships/notesMaster" Target="/ppt/notesMasters/notesMaster1.xml" Id="Ra451ef907aa84a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Los Antimarrulla from UACJ. Our project estimates diabetes risk from encrypted inputs. The risk service receives ciphertexts only. Local execution is verified; LinuxONE evidence remains pending. Theme 2: AI Secured.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Mexico, 18.3% of adults live with diabetes; around one in three people with diabetes are unaware of it. In 2024, 112,577 deaths were attributed to diabetes. We explore whether an external risk service can evaluate encrypted inputs without receiving readable patient records.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hospital encrypts the 21 indicators and retains the private key. The service evaluates ciphertexts. Only the hospital decrypts and displays the risk and feature contributions. This is screening support, not diagnosis. The same-VM administrator remains trusted; demonstration patients are synthetic.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Paillier multiplies ciphertexts to add their plaintext values and raises ciphertexts to integer powers to multiply those values. This produces the model score without service-side decryption. Mutual TLS 1.3 protects transport; AES-256-GCM protects vault records. Capture LinuxONE/OpenSSL evidence before making any hardware-acceleration claim.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VM terminal only after running the release on it: docs/LINUXONE.md. Capture uname -m, lscpu, provider dashboard, OpenSSL versions and both containers. The hospital owns the Paillier private key and AES vault; the service has no Paillier private key. The planned demo shares a trusted VM. CPACF support does not establish measured acceleration of Paillier.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English UI shows ciphertexts on the service side and risk and model contributions on the hospital side. In the recorded local benchmark, all 2,000 decrypted integers matched the fixed-point reference and all three AUC values were 0.808. The 200-request local API median was 141 ms. These are historical local results, not LinuxONE results.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public-data model reaches test AUC 0.826 and sensitivity 0.805 at a validation-selected threshold. This predicts the survey label, not future diabetes or mortality. A separate reduced model evaluated on ENSANUT reaches AUC around 0.77 and underestimates risk; it does not validate the MVP for Mexican clinical use.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aim to support earlier screening without sharing readable patient records with the risk service. The hospital retains decryption and clinical interpretation. AI sees the risk; the service receives ciphertexts only. Thank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cd725072734be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6cfa1279f77453c" /><Relationship Type="http://schemas.openxmlformats.org/officeDocument/2006/relationships/image" Target="/ppt/media/image.png" Id="Re7405ff6571b4f2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9cbf114235b473d" /><Relationship Type="http://schemas.openxmlformats.org/officeDocument/2006/relationships/image" Target="/ppt/media/image2.png" Id="R4324a05ea1f4415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007c541fc124b44" /><Relationship Type="http://schemas.openxmlformats.org/officeDocument/2006/relationships/image" Target="/ppt/media/image3.png" Id="Rc6cefb3ebd374fca"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PORTADA">
    <p:bg>
      <p:bgPr>
        <a:blipFill xmlns:a="http://schemas.openxmlformats.org/drawingml/2006/main" rotWithShape="1">
          <a:blip xmlns:r="http://schemas.openxmlformats.org/officeDocument/2006/relationships" r:embed="Re7405ff6571b4f28">
            <a:lum/>
          </a:blip>
          <a:srcRect l="0" t="0" r="0" b="0"/>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8323EAB-1F9B-4544-B0ED-02481CFA7874}"/>
              </a:ext>
            </a:extLst>
          </p:cNvPr>
          <p:cNvSpPr>
            <a:spLocks xmlns:a="http://schemas.openxmlformats.org/drawingml/2006/main" noGrp="1"/>
          </p:cNvSpPr>
          <p:nvPr>
            <p:ph type="title" idx="100" hasCustomPrompt="1"/>
          </p:nvPr>
        </p:nvSpPr>
        <p:spPr>
          <a:xfrm xmlns:a="http://schemas.openxmlformats.org/drawingml/2006/main">
            <a:off x="640080" y="1783080"/>
            <a:ext cx="6949440" cy="114300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6000" b="1">
                <a:solidFill>
                  <a:schemeClr val="bg1"/>
                </a:solidFill>
              </a:defRPr>
            </a:lvl1pPr>
          </a:lstStyle>
          <a:p xmlns:a="http://schemas.openxmlformats.org/drawingml/2006/main">
            <a:pPr marL="0" indent="0" algn="l">
              <a:buNone/>
            </a:pPr>
            <a:endParaRPr sz="6000"/>
          </a:p>
        </p:txBody>
      </p:sp>
      <p:sp>
        <p:nvSpPr>
          <p:cNvPr id="3" name="Text 0">
            <a:extLst xmlns:a="http://schemas.openxmlformats.org/drawingml/2006/main">
              <a:ext uri="{FF2B5EF4-FFF2-40B4-BE49-F238E27FC236}">
                <a16:creationId xmlns:a16="http://schemas.microsoft.com/office/drawing/2014/main" id="{A61F4A9B-920B-42B8-8460-74E5D85E50AF}"/>
              </a:ext>
            </a:extLst>
          </p:cNvPr>
          <p:cNvSpPr>
            <a:spLocks xmlns:a="http://schemas.openxmlformats.org/drawingml/2006/main" noGrp="1"/>
          </p:cNvSpPr>
          <p:nvPr>
            <p:ph type="body" idx="101" hasCustomPrompt="1"/>
          </p:nvPr>
        </p:nvSpPr>
        <p:spPr>
          <a:xfrm xmlns:a="http://schemas.openxmlformats.org/drawingml/2006/main">
            <a:off x="640080" y="2971800"/>
            <a:ext cx="6583680" cy="59436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a:solidFill>
                  <a:schemeClr val="bg2"/>
                </a:solidFill>
              </a:defRPr>
            </a:lvl1pPr>
          </a:lstStyle>
          <a:p xmlns:a="http://schemas.openxmlformats.org/drawingml/2006/main">
            <a:pPr marL="0" indent="0" algn="l">
              <a:buNone/>
            </a:pPr>
            <a:endParaRPr sz="3000"/>
          </a:p>
        </p:txBody>
      </p:sp>
    </p:spTree>
  </p:cSld>
</p:sldLayout>
</file>

<file path=ppt/slideLayouts/slideLayout3.xml><?xml version="1.0" encoding="utf-8"?>
<p:sldLayout xmlns:p="http://schemas.openxmlformats.org/presentationml/2006/main" preserve="1">
  <p:cSld name="CONTENIDO">
    <p:bg>
      <p:bgPr>
        <a:blipFill xmlns:a="http://schemas.openxmlformats.org/drawingml/2006/main" rotWithShape="1">
          <a:blip xmlns:r="http://schemas.openxmlformats.org/officeDocument/2006/relationships" r:embed="R4324a05ea1f44157">
            <a:lum/>
          </a:blip>
          <a:srcRect l="0" t="0" r="0" b="0"/>
          <a:stretch>
            <a:fillRect l="0" t="0" r="0" b="0"/>
          </a:stretch>
        </a:blip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FF95363-BE24-47C4-9001-84FED88AE224}"/>
              </a:ext>
            </a:extLst>
          </p:cNvPr>
          <p:cNvSpPr>
            <a:spLocks xmlns:a="http://schemas.openxmlformats.org/drawingml/2006/main" noGrp="1"/>
          </p:cNvSpPr>
          <p:nvPr/>
        </p:nvSpPr>
        <p:spPr>
          <a:xfrm xmlns:a="http://schemas.openxmlformats.org/drawingml/2006/main">
            <a:off x="548640" y="512064"/>
            <a:ext cx="118872" cy="118872"/>
          </a:xfrm>
          <a:prstGeom xmlns:a="http://schemas.openxmlformats.org/drawingml/2006/main" prst="rect">
            <a:avLst/>
          </a:prstGeom>
          <a:solidFill xmlns:a="http://schemas.openxmlformats.org/drawingml/2006/main">
            <a:schemeClr val="accent1"/>
          </a:solidFill>
        </p:spPr>
      </p:sp>
      <p:sp>
        <p:nvSpPr>
          <p:cNvPr id="3" name="Text 1">
            <a:extLst xmlns:a="http://schemas.openxmlformats.org/drawingml/2006/main">
              <a:ext uri="{FF2B5EF4-FFF2-40B4-BE49-F238E27FC236}">
                <a16:creationId xmlns:a16="http://schemas.microsoft.com/office/drawing/2014/main" id="{7EBCE71C-82D9-4FB8-9E63-17DFAE54D2ED}"/>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buNone/>
              <a:defRPr sz="1200" b="1" kern="0" spc="200">
                <a:solidFill>
                  <a:schemeClr val="accent5"/>
                </a:solidFill>
              </a:defRPr>
            </a:lvl1pPr>
          </a:lstStyle>
          <a:p xmlns:a="http://schemas.openxmlformats.org/drawingml/2006/main">
            <a:pPr marL="0" indent="0">
              <a:buNone/>
            </a:pPr>
            <a:endParaRPr sz="1200"/>
          </a:p>
        </p:txBody>
      </p:sp>
      <p:sp>
        <p:nvSpPr>
          <p:cNvPr id="4" name="Text 1">
            <a:extLst xmlns:a="http://schemas.openxmlformats.org/drawingml/2006/main">
              <a:ext uri="{FF2B5EF4-FFF2-40B4-BE49-F238E27FC236}">
                <a16:creationId xmlns:a16="http://schemas.microsoft.com/office/drawing/2014/main" id="{669C008B-F3AC-4C81-8EA6-7FF3E879D49D}"/>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b="1">
                <a:solidFill>
                  <a:schemeClr val="bg1"/>
                </a:solidFill>
              </a:defRPr>
            </a:lvl1pPr>
          </a:lstStyle>
          <a:p xmlns:a="http://schemas.openxmlformats.org/drawingml/2006/main">
            <a:pPr marL="0" indent="0" algn="l">
              <a:buNone/>
            </a:pPr>
            <a:endParaRPr sz="3000"/>
          </a:p>
        </p:txBody>
      </p:sp>
      <p:sp>
        <p:nvSpPr>
          <p:cNvPr id="5" name="Text 1">
            <a:extLst xmlns:a="http://schemas.openxmlformats.org/drawingml/2006/main">
              <a:ext uri="{FF2B5EF4-FFF2-40B4-BE49-F238E27FC236}">
                <a16:creationId xmlns:a16="http://schemas.microsoft.com/office/drawing/2014/main" id="{BB94CDB0-2BC8-49E6-8B55-9339D233D743}"/>
              </a:ext>
            </a:extLst>
          </p:cNvPr>
          <p:cNvSpPr>
            <a:spLocks xmlns:a="http://schemas.openxmlformats.org/drawingml/2006/main" noGrp="1"/>
          </p:cNvSpPr>
          <p:nvPr/>
        </p:nvSpPr>
        <p:spPr>
          <a:xfrm xmlns:a="http://schemas.openxmlformats.org/drawingml/2006/main">
            <a:off x="548640" y="6400800"/>
            <a:ext cx="6400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chemeClr val="accent6"/>
                </a:solidFill>
              </a:rPr>
              <a:t>Los Antimarrulla · Privacy-preserving screening · IBM Z Datathon 2026</a:t>
            </a:r>
            <a:endParaRPr sz="900"/>
          </a:p>
        </p:txBody>
      </p:sp>
      <p:sp>
        <p:nvSpPr>
          <p:cNvPr id="25" name="Slide Number Placeholder 0">
            <a:extLst xmlns:a="http://schemas.openxmlformats.org/drawingml/2006/main">
              <a:ext uri="{FF2B5EF4-FFF2-40B4-BE49-F238E27FC236}">
                <a16:creationId xmlns:a16="http://schemas.microsoft.com/office/drawing/2014/main" id="{5AF6647D-7484-4510-AD8A-99AED1492A80}"/>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1003</a:t>
            </a:fld>
            <a:endParaRPr/>
          </a:p>
        </p:txBody>
      </p:sp>
    </p:spTree>
  </p:cSld>
</p:sldLayout>
</file>

<file path=ppt/slideLayouts/slideLayout4.xml><?xml version="1.0" encoding="utf-8"?>
<p:sldLayout xmlns:p="http://schemas.openxmlformats.org/presentationml/2006/main" preserve="1">
  <p:cSld name="CIERRE">
    <p:bg>
      <p:bgPr>
        <a:blipFill xmlns:a="http://schemas.openxmlformats.org/drawingml/2006/main" rotWithShape="1">
          <a:blip xmlns:r="http://schemas.openxmlformats.org/officeDocument/2006/relationships" r:embed="Rc6cefb3ebd374fca">
            <a:lum/>
          </a:blip>
          <a:srcRect l="0" t="0" r="0" b="0"/>
          <a:stretch>
            <a:fillRect l="0" t="0" r="0" b="0"/>
          </a:stretch>
        </a:blip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C98FF5-1F9A-4D9D-9442-F97577DC02A2}"/>
              </a:ext>
            </a:extLst>
          </p:cNvPr>
          <p:cNvSpPr>
            <a:spLocks xmlns:a="http://schemas.openxmlformats.org/drawingml/2006/main" noGrp="1"/>
          </p:cNvSpPr>
          <p:nvPr/>
        </p:nvSpPr>
        <p:spPr>
          <a:xfrm xmlns:a="http://schemas.openxmlformats.org/drawingml/2006/main">
            <a:off x="548640" y="512064"/>
            <a:ext cx="118872" cy="118872"/>
          </a:xfrm>
          <a:prstGeom xmlns:a="http://schemas.openxmlformats.org/drawingml/2006/main" prst="rect">
            <a:avLst/>
          </a:prstGeom>
          <a:solidFill xmlns:a="http://schemas.openxmlformats.org/drawingml/2006/main">
            <a:schemeClr val="accent1"/>
          </a:solidFill>
        </p:spPr>
      </p:sp>
      <p:sp>
        <p:nvSpPr>
          <p:cNvPr id="3" name="Text 1">
            <a:extLst xmlns:a="http://schemas.openxmlformats.org/drawingml/2006/main">
              <a:ext uri="{FF2B5EF4-FFF2-40B4-BE49-F238E27FC236}">
                <a16:creationId xmlns:a16="http://schemas.microsoft.com/office/drawing/2014/main" id="{2030B3CB-AA7B-4DAE-B5D0-1B158D5E19D7}"/>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buNone/>
              <a:defRPr sz="1200" b="1" kern="0" spc="200">
                <a:solidFill>
                  <a:schemeClr val="accent5"/>
                </a:solidFill>
              </a:defRPr>
            </a:lvl1pPr>
          </a:lstStyle>
          <a:p xmlns:a="http://schemas.openxmlformats.org/drawingml/2006/main">
            <a:pPr marL="0" indent="0">
              <a:buNone/>
            </a:pPr>
            <a:endParaRPr sz="1200"/>
          </a:p>
        </p:txBody>
      </p:sp>
      <p:sp>
        <p:nvSpPr>
          <p:cNvPr id="4" name="Text 1">
            <a:extLst xmlns:a="http://schemas.openxmlformats.org/drawingml/2006/main">
              <a:ext uri="{FF2B5EF4-FFF2-40B4-BE49-F238E27FC236}">
                <a16:creationId xmlns:a16="http://schemas.microsoft.com/office/drawing/2014/main" id="{85B631A5-BE46-4707-A52B-F24E706D0885}"/>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000" b="1">
                <a:solidFill>
                  <a:schemeClr val="bg1"/>
                </a:solidFill>
              </a:defRPr>
            </a:lvl1pPr>
          </a:lstStyle>
          <a:p xmlns:a="http://schemas.openxmlformats.org/drawingml/2006/main">
            <a:pPr marL="0" indent="0" algn="l">
              <a:buNone/>
            </a:pPr>
            <a:endParaRPr sz="3000"/>
          </a:p>
        </p:txBody>
      </p:sp>
      <p:sp>
        <p:nvSpPr>
          <p:cNvPr id="5" name="Text 1">
            <a:extLst xmlns:a="http://schemas.openxmlformats.org/drawingml/2006/main">
              <a:ext uri="{FF2B5EF4-FFF2-40B4-BE49-F238E27FC236}">
                <a16:creationId xmlns:a16="http://schemas.microsoft.com/office/drawing/2014/main" id="{780E942F-6DC3-4E2E-9632-69DDA866331B}"/>
              </a:ext>
            </a:extLst>
          </p:cNvPr>
          <p:cNvSpPr>
            <a:spLocks xmlns:a="http://schemas.openxmlformats.org/drawingml/2006/main" noGrp="1"/>
          </p:cNvSpPr>
          <p:nvPr/>
        </p:nvSpPr>
        <p:spPr>
          <a:xfrm xmlns:a="http://schemas.openxmlformats.org/drawingml/2006/main">
            <a:off x="548640" y="6400800"/>
            <a:ext cx="6400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chemeClr val="accent6"/>
                </a:solidFill>
              </a:rPr>
              <a:t>Los Antimarrulla · Privacy-preserving screening · IBM Z Datathon 2026</a:t>
            </a:r>
            <a:endParaRPr sz="900"/>
          </a:p>
        </p:txBody>
      </p:sp>
      <p:sp>
        <p:nvSpPr>
          <p:cNvPr id="25" name="Slide Number Placeholder 0">
            <a:extLst xmlns:a="http://schemas.openxmlformats.org/drawingml/2006/main">
              <a:ext uri="{FF2B5EF4-FFF2-40B4-BE49-F238E27FC236}">
                <a16:creationId xmlns:a16="http://schemas.microsoft.com/office/drawing/2014/main" id="{C4843A7D-D499-4777-BCBA-251D63D2931E}"/>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1004</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645f87b18094bee" /><Relationship Type="http://schemas.openxmlformats.org/officeDocument/2006/relationships/slideLayout" Target="/ppt/slideLayouts/slideLayout1.xml" Id="R3037ff13625e4b0b" /><Relationship Type="http://schemas.openxmlformats.org/officeDocument/2006/relationships/slideLayout" Target="/ppt/slideLayouts/slideLayout2.xml" Id="Re92944423c964e6b" /><Relationship Type="http://schemas.openxmlformats.org/officeDocument/2006/relationships/slideLayout" Target="/ppt/slideLayouts/slideLayout3.xml" Id="Rb79022fd319c49ad" /><Relationship Type="http://schemas.openxmlformats.org/officeDocument/2006/relationships/slideLayout" Target="/ppt/slideLayouts/slideLayout4.xml" Id="R6a02850678ad416b"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8953000D-7061-48E2-BF18-2312CC22C15D}"/>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037ff13625e4b0b"/>
    <p:sldLayoutId xmlns:r="http://schemas.openxmlformats.org/officeDocument/2006/relationships" id="2147483650" r:id="Re92944423c964e6b"/>
    <p:sldLayoutId xmlns:r="http://schemas.openxmlformats.org/officeDocument/2006/relationships" id="2147483651" r:id="Rb79022fd319c49ad"/>
    <p:sldLayoutId xmlns:r="http://schemas.openxmlformats.org/officeDocument/2006/relationships" id="2147483652" r:id="R6a02850678ad416b"/>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286487b15de9437c" /><Relationship Type="http://schemas.openxmlformats.org/officeDocument/2006/relationships/image" Target="/ppt/media/image4.png" Id="R69005772e33e4e20" /><Relationship Type="http://schemas.openxmlformats.org/officeDocument/2006/relationships/notesSlide" Target="/ppt/notesSlides/notesSlide1.xml" Id="Rbd794342147e41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dcefe94fc8e4aec" /><Relationship Type="http://schemas.openxmlformats.org/officeDocument/2006/relationships/image" Target="/ppt/media/image5.png" Id="R86ae21fcb9144afd" /><Relationship Type="http://schemas.openxmlformats.org/officeDocument/2006/relationships/image" Target="/ppt/media/image6.png" Id="R656d0ea82afd4340" /><Relationship Type="http://schemas.openxmlformats.org/officeDocument/2006/relationships/image" Target="/ppt/media/image7.png" Id="Rf6dc64105c4c468f" /><Relationship Type="http://schemas.openxmlformats.org/officeDocument/2006/relationships/notesSlide" Target="/ppt/notesSlides/notesSlide2.xml" Id="R4274ff45159848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bd27bca4748a4377" /><Relationship Type="http://schemas.openxmlformats.org/officeDocument/2006/relationships/image" Target="/ppt/media/image8.png" Id="R5e70da04a00442ad" /><Relationship Type="http://schemas.openxmlformats.org/officeDocument/2006/relationships/image" Target="/ppt/media/image9.png" Id="Ree976779429747fe" /><Relationship Type="http://schemas.openxmlformats.org/officeDocument/2006/relationships/image" Target="/ppt/media/image10.png" Id="Rbfa04f51c84f4da0" /><Relationship Type="http://schemas.openxmlformats.org/officeDocument/2006/relationships/image" Target="/ppt/media/image11.png" Id="R6d804c2df7a342bd" /><Relationship Type="http://schemas.openxmlformats.org/officeDocument/2006/relationships/image" Target="/ppt/media/image12.png" Id="Re4713108cc88447d" /><Relationship Type="http://schemas.openxmlformats.org/officeDocument/2006/relationships/image" Target="/ppt/media/image13.png" Id="R36227a4c38e04255" /><Relationship Type="http://schemas.openxmlformats.org/officeDocument/2006/relationships/image" Target="/ppt/media/image14.png" Id="R7404a57d67ee4d5f" /><Relationship Type="http://schemas.openxmlformats.org/officeDocument/2006/relationships/notesSlide" Target="/ppt/notesSlides/notesSlide3.xml" Id="Rfd62c7ce60f34349"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b60b30beb2da49f5" /><Relationship Type="http://schemas.openxmlformats.org/officeDocument/2006/relationships/image" Target="/ppt/media/image15.png" Id="R37a4abbe65dd464a" /><Relationship Type="http://schemas.openxmlformats.org/officeDocument/2006/relationships/image" Target="/ppt/media/image16.png" Id="R1cec68eb66424305" /><Relationship Type="http://schemas.openxmlformats.org/officeDocument/2006/relationships/image" Target="/ppt/media/image17.png" Id="Rc28d656cd9f8478b" /><Relationship Type="http://schemas.openxmlformats.org/officeDocument/2006/relationships/notesSlide" Target="/ppt/notesSlides/notesSlide4.xml" Id="R73bcc9fc64f54d15"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1d28d4a46cab4ff2" /><Relationship Type="http://schemas.openxmlformats.org/officeDocument/2006/relationships/image" Target="/ppt/media/image18.png" Id="R9d72d4337a69458f" /><Relationship Type="http://schemas.openxmlformats.org/officeDocument/2006/relationships/image" Target="/ppt/media/image19.png" Id="Rc0ae13d1cb374e45" /><Relationship Type="http://schemas.openxmlformats.org/officeDocument/2006/relationships/image" Target="/ppt/media/image20.png" Id="R7a2acbddf8094521" /><Relationship Type="http://schemas.openxmlformats.org/officeDocument/2006/relationships/image" Target="/ppt/media/image21.png" Id="R0905397fcb184773" /><Relationship Type="http://schemas.openxmlformats.org/officeDocument/2006/relationships/image" Target="/ppt/media/image22.png" Id="R98c10fae67824321" /><Relationship Type="http://schemas.openxmlformats.org/officeDocument/2006/relationships/notesSlide" Target="/ppt/notesSlides/notesSlide5.xml" Id="R6b6bb31de2374d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d0a492dfcb074452" /><Relationship Type="http://schemas.openxmlformats.org/officeDocument/2006/relationships/image" Target="/ppt/media/image.jpeg" Id="R861481f7edbb45f1" /><Relationship Type="http://schemas.openxmlformats.org/officeDocument/2006/relationships/image" Target="/ppt/media/image23.png" Id="R810a6a31aa3e400e" /><Relationship Type="http://schemas.openxmlformats.org/officeDocument/2006/relationships/image" Target="/ppt/media/image24.png" Id="Rc2eb216ab6b447b8" /><Relationship Type="http://schemas.openxmlformats.org/officeDocument/2006/relationships/image" Target="/ppt/media/image25.png" Id="Rb66977b74f2747fc" /><Relationship Type="http://schemas.openxmlformats.org/officeDocument/2006/relationships/image" Target="/ppt/media/image26.png" Id="Rf2537821b9c445ed" /><Relationship Type="http://schemas.openxmlformats.org/officeDocument/2006/relationships/notesSlide" Target="/ppt/notesSlides/notesSlide6.xml" Id="Rbc1645b408574b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f8579a93a46e433f" /><Relationship Type="http://schemas.openxmlformats.org/officeDocument/2006/relationships/image" Target="/ppt/media/image27.png" Id="R73d1fa03f9e74823" /><Relationship Type="http://schemas.openxmlformats.org/officeDocument/2006/relationships/image" Target="/ppt/media/image28.png" Id="R16761cfbf72d4685" /><Relationship Type="http://schemas.openxmlformats.org/officeDocument/2006/relationships/notesSlide" Target="/ppt/notesSlides/notesSlide7.xml" Id="R4bd0b69ea7b24748"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b43a65b8df79478e" /><Relationship Type="http://schemas.openxmlformats.org/officeDocument/2006/relationships/image" Target="/ppt/media/image29.png" Id="Ra49c414f7efa4182" /><Relationship Type="http://schemas.openxmlformats.org/officeDocument/2006/relationships/image" Target="/ppt/media/image30.png" Id="R300656ff65ef487f" /><Relationship Type="http://schemas.openxmlformats.org/officeDocument/2006/relationships/image" Target="/ppt/media/image31.png" Id="R53d77707011540b3" /><Relationship Type="http://schemas.openxmlformats.org/officeDocument/2006/relationships/image" Target="/ppt/media/image32.png" Id="R9946fb13674e4bed" /><Relationship Type="http://schemas.openxmlformats.org/officeDocument/2006/relationships/image" Target="/ppt/media/image33.png" Id="R9f6663e23d7140ac" /><Relationship Type="http://schemas.openxmlformats.org/officeDocument/2006/relationships/notesSlide" Target="/ppt/notesSlides/notesSlide8.xml" Id="R9159cfbf6d25482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515B45-21EA-4CBB-B7C6-86A07CA4019F}"/>
              </a:ext>
            </a:extLst>
          </p:cNvPr>
          <p:cNvSpPr>
            <a:spLocks xmlns:a="http://schemas.openxmlformats.org/drawingml/2006/main" noGrp="1"/>
          </p:cNvSpPr>
          <p:nvPr/>
        </p:nvSpPr>
        <p:spPr>
          <a:xfrm xmlns:a="http://schemas.openxmlformats.org/drawingml/2006/main">
            <a:off x="640080" y="1371600"/>
            <a:ext cx="69494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b="1" spc="300">
                <a:solidFill>
                  <a:schemeClr val="accent5"/>
                </a:solidFill>
              </a:rPr>
              <a:t>IBM Z DATATHON 2026  ·  THEME 2: AI SECURED</a:t>
            </a:r>
            <a:endParaRPr sz="1400"/>
          </a:p>
        </p:txBody>
      </p:sp>
      <p:sp>
        <p:nvSpPr>
          <p:cNvPr id="3" name="Text 0">
            <a:extLst xmlns:a="http://schemas.openxmlformats.org/drawingml/2006/main">
              <a:ext uri="{FF2B5EF4-FFF2-40B4-BE49-F238E27FC236}">
                <a16:creationId xmlns:a16="http://schemas.microsoft.com/office/drawing/2014/main" id="{7204BCA2-66C1-4B3D-BDDD-B5794AB1E82A}"/>
              </a:ext>
            </a:extLst>
          </p:cNvPr>
          <p:cNvSpPr>
            <a:spLocks xmlns:a="http://schemas.openxmlformats.org/drawingml/2006/main" noGrp="1"/>
          </p:cNvSpPr>
          <p:nvPr>
            <p:ph type="title" idx="100" hasCustomPrompt="1"/>
          </p:nvPr>
        </p:nvSpPr>
        <p:spPr>
          <a:xfrm xmlns:a="http://schemas.openxmlformats.org/drawingml/2006/main">
            <a:off x="640080" y="1783080"/>
            <a:ext cx="694944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6000" b="1">
                <a:solidFill>
                  <a:schemeClr val="bg1"/>
                </a:solidFill>
              </a:rPr>
              <a:t>Los Antimarrulla</a:t>
            </a:r>
            <a:endParaRPr sz="6000"/>
          </a:p>
        </p:txBody>
      </p:sp>
      <p:sp>
        <p:nvSpPr>
          <p:cNvPr id="4" name="Text 0">
            <a:extLst xmlns:a="http://schemas.openxmlformats.org/drawingml/2006/main">
              <a:ext uri="{FF2B5EF4-FFF2-40B4-BE49-F238E27FC236}">
                <a16:creationId xmlns:a16="http://schemas.microsoft.com/office/drawing/2014/main" id="{20D28D81-6169-43C3-972A-B67716B7F1DF}"/>
              </a:ext>
            </a:extLst>
          </p:cNvPr>
          <p:cNvSpPr>
            <a:spLocks xmlns:a="http://schemas.openxmlformats.org/drawingml/2006/main" noGrp="1"/>
          </p:cNvSpPr>
          <p:nvPr>
            <p:ph type="body" idx="101" hasCustomPrompt="1"/>
          </p:nvPr>
        </p:nvSpPr>
        <p:spPr>
          <a:xfrm xmlns:a="http://schemas.openxmlformats.org/drawingml/2006/main">
            <a:off x="640080" y="2971800"/>
            <a:ext cx="658368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a:solidFill>
                  <a:schemeClr val="bg2"/>
                </a:solidFill>
              </a:rPr>
              <a:t>Privacy-preserving screening</a:t>
            </a:r>
            <a:endParaRPr sz="3000"/>
          </a:p>
        </p:txBody>
      </p:sp>
      <p:sp>
        <p:nvSpPr>
          <p:cNvPr id="5" name="Text 3">
            <a:extLst xmlns:a="http://schemas.openxmlformats.org/drawingml/2006/main">
              <a:ext uri="{FF2B5EF4-FFF2-40B4-BE49-F238E27FC236}">
                <a16:creationId xmlns:a16="http://schemas.microsoft.com/office/drawing/2014/main" id="{46549452-DE15-4A7C-9392-5D6FB057183E}"/>
              </a:ext>
            </a:extLst>
          </p:cNvPr>
          <p:cNvSpPr>
            <a:spLocks xmlns:a="http://schemas.openxmlformats.org/drawingml/2006/main" noGrp="1"/>
          </p:cNvSpPr>
          <p:nvPr/>
        </p:nvSpPr>
        <p:spPr>
          <a:xfrm xmlns:a="http://schemas.openxmlformats.org/drawingml/2006/main">
            <a:off x="640080" y="3703320"/>
            <a:ext cx="58521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a:solidFill>
                  <a:schemeClr val="bg2"/>
                </a:solidFill>
              </a:rPr>
              <a:t>AI estimates diabetes risk from encrypted inputs. Designed for IBM LinuxONE; local results available today.</a:t>
            </a:r>
            <a:endParaRPr sz="1600"/>
          </a:p>
        </p:txBody>
      </p:sp>
      <p:pic>
        <p:nvPicPr>
          <p:cNvPr id="6" name="Logo del equipo">
            <a:extLst xmlns:a="http://schemas.openxmlformats.org/drawingml/2006/main">
              <a:ext uri="{FF2B5EF4-FFF2-40B4-BE49-F238E27FC236}">
                <a16:creationId xmlns:a16="http://schemas.microsoft.com/office/drawing/2014/main" id="{335047DE-6699-4D7A-BAD8-83A381EA94F2}"/>
              </a:ext>
            </a:extLst>
          </p:cNvPr>
          <p:cNvPicPr>
            <a:picLocks xmlns:a="http://schemas.openxmlformats.org/drawingml/2006/main" noChangeAspect="1"/>
          </p:cNvPicPr>
          <p:nvPr/>
        </p:nvPicPr>
        <p:blipFill>
          <a:blip xmlns:r="http://schemas.openxmlformats.org/officeDocument/2006/relationships" xmlns:a="http://schemas.openxmlformats.org/drawingml/2006/main" r:embed="R69005772e33e4e20"/>
          <a:stretch xmlns:a="http://schemas.openxmlformats.org/drawingml/2006/main">
            <a:fillRect l="0" t="0" r="0" b="0"/>
          </a:stretch>
        </p:blipFill>
        <p:spPr>
          <a:xfrm xmlns:a="http://schemas.openxmlformats.org/drawingml/2006/main">
            <a:off x="640080" y="4846320"/>
            <a:ext cx="1188720" cy="118872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CF216B24-15AA-4587-B925-E22906068DF6}"/>
              </a:ext>
            </a:extLst>
          </p:cNvPr>
          <p:cNvSpPr>
            <a:spLocks xmlns:a="http://schemas.openxmlformats.org/drawingml/2006/main" noGrp="1"/>
          </p:cNvSpPr>
          <p:nvPr/>
        </p:nvSpPr>
        <p:spPr>
          <a:xfrm xmlns:a="http://schemas.openxmlformats.org/drawingml/2006/main">
            <a:off x="2011680" y="5029200"/>
            <a:ext cx="5669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spcAft>
                <a:spcPts val="400"/>
              </a:spcAft>
              <a:buNone/>
            </a:pPr>
            <a:r>
              <a:rPr sz="1200">
                <a:solidFill>
                  <a:schemeClr val="bg1"/>
                </a:solidFill>
              </a:rPr>
              <a:t>Javier Augusto Rebull Saucedo · Álvaro Hernández Jarquín</a:t>
            </a:r>
            <a:endParaRPr sz="1200"/>
          </a:p>
          <a:p xmlns:a="http://schemas.openxmlformats.org/drawingml/2006/main">
            <a:pPr marL="0" indent="0">
              <a:spcAft>
                <a:spcPts val="400"/>
              </a:spcAft>
              <a:buNone/>
            </a:pPr>
            <a:r>
              <a:rPr sz="1200">
                <a:solidFill>
                  <a:schemeClr val="bg1"/>
                </a:solidFill>
              </a:rPr>
              <a:t>Carlos Enrique Gonzalez Moran · Yazmin Ivonne Flores Martinez</a:t>
            </a:r>
          </a:p>
          <a:p xmlns:a="http://schemas.openxmlformats.org/drawingml/2006/main">
            <a:pPr marL="0" indent="0">
              <a:spcAft>
                <a:spcPts val="400"/>
              </a:spcAft>
              <a:buNone/>
            </a:pPr>
            <a:r>
              <a:rPr sz="1200">
                <a:solidFill>
                  <a:schemeClr val="bg1"/>
                </a:solidFill>
              </a:rPr>
              <a:t>UACJ · Master’s in AI and Data Analytics (MIAAD)</a:t>
            </a:r>
          </a:p>
        </p:txBody>
      </p:sp>
    </p:spTree>
    <p:extLst>
      <p:ext uri="{BB962C8B-B14F-4D97-AF65-F5344CB8AC3E}">
        <p14:creationId xmlns:p14="http://schemas.microsoft.com/office/powerpoint/2010/main" val="113795163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345FD336-5E0E-4D27-85E2-D2D01C3D315F}"/>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01 · THE PROBLEM</a:t>
            </a:r>
            <a:endParaRPr sz="1200"/>
          </a:p>
        </p:txBody>
      </p:sp>
      <p:sp>
        <p:nvSpPr>
          <p:cNvPr id="3" name="Text 1">
            <a:extLst xmlns:a="http://schemas.openxmlformats.org/drawingml/2006/main">
              <a:ext uri="{FF2B5EF4-FFF2-40B4-BE49-F238E27FC236}">
                <a16:creationId xmlns:a16="http://schemas.microsoft.com/office/drawing/2014/main" id="{7B82D535-7B39-4187-9187-6798B5BE358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Diabetes is widespread; health records are sensitive</a:t>
            </a:r>
            <a:endParaRPr sz="3000"/>
          </a:p>
        </p:txBody>
      </p:sp>
      <p:sp>
        <p:nvSpPr>
          <p:cNvPr id="4" name="Text 2">
            <a:extLst xmlns:a="http://schemas.openxmlformats.org/drawingml/2006/main">
              <a:ext uri="{FF2B5EF4-FFF2-40B4-BE49-F238E27FC236}">
                <a16:creationId xmlns:a16="http://schemas.microsoft.com/office/drawing/2014/main" id="{EACF0970-B3AF-4E21-9AF9-0E4657E11DE0}"/>
              </a:ext>
            </a:extLst>
          </p:cNvPr>
          <p:cNvSpPr>
            <a:spLocks xmlns:a="http://schemas.openxmlformats.org/drawingml/2006/main" noGrp="1"/>
          </p:cNvSpPr>
          <p:nvPr/>
        </p:nvSpPr>
        <p:spPr>
          <a:xfrm xmlns:a="http://schemas.openxmlformats.org/drawingml/2006/main">
            <a:off x="548640" y="1874520"/>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18.3%</a:t>
            </a:r>
            <a:endParaRPr sz="4400"/>
          </a:p>
        </p:txBody>
      </p:sp>
      <p:sp>
        <p:nvSpPr>
          <p:cNvPr id="5" name="Text 3">
            <a:extLst xmlns:a="http://schemas.openxmlformats.org/drawingml/2006/main">
              <a:ext uri="{FF2B5EF4-FFF2-40B4-BE49-F238E27FC236}">
                <a16:creationId xmlns:a16="http://schemas.microsoft.com/office/drawing/2014/main" id="{0D3A3D5C-5094-4B32-88CE-1069793FB791}"/>
              </a:ext>
            </a:extLst>
          </p:cNvPr>
          <p:cNvSpPr>
            <a:spLocks xmlns:a="http://schemas.openxmlformats.org/drawingml/2006/main" noGrp="1"/>
          </p:cNvSpPr>
          <p:nvPr/>
        </p:nvSpPr>
        <p:spPr>
          <a:xfrm xmlns:a="http://schemas.openxmlformats.org/drawingml/2006/main">
            <a:off x="3383280" y="1874520"/>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of adults in Mexico live with diabetes</a:t>
            </a:r>
            <a:endParaRPr sz="1400"/>
          </a:p>
        </p:txBody>
      </p:sp>
      <p:sp>
        <p:nvSpPr>
          <p:cNvPr id="6" name="Text 4">
            <a:extLst xmlns:a="http://schemas.openxmlformats.org/drawingml/2006/main">
              <a:ext uri="{FF2B5EF4-FFF2-40B4-BE49-F238E27FC236}">
                <a16:creationId xmlns:a16="http://schemas.microsoft.com/office/drawing/2014/main" id="{D9C29326-6156-4CDC-9426-455C12B67873}"/>
              </a:ext>
            </a:extLst>
          </p:cNvPr>
          <p:cNvSpPr>
            <a:spLocks xmlns:a="http://schemas.openxmlformats.org/drawingml/2006/main" noGrp="1"/>
          </p:cNvSpPr>
          <p:nvPr/>
        </p:nvSpPr>
        <p:spPr>
          <a:xfrm xmlns:a="http://schemas.openxmlformats.org/drawingml/2006/main">
            <a:off x="548640" y="2898648"/>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 in 3</a:t>
            </a:r>
            <a:endParaRPr sz="4400"/>
          </a:p>
        </p:txBody>
      </p:sp>
      <p:sp>
        <p:nvSpPr>
          <p:cNvPr id="7" name="Text 5">
            <a:extLst xmlns:a="http://schemas.openxmlformats.org/drawingml/2006/main">
              <a:ext uri="{FF2B5EF4-FFF2-40B4-BE49-F238E27FC236}">
                <a16:creationId xmlns:a16="http://schemas.microsoft.com/office/drawing/2014/main" id="{780EABF4-C562-4275-A69E-3334AF30DB35}"/>
              </a:ext>
            </a:extLst>
          </p:cNvPr>
          <p:cNvSpPr>
            <a:spLocks xmlns:a="http://schemas.openxmlformats.org/drawingml/2006/main" noGrp="1"/>
          </p:cNvSpPr>
          <p:nvPr/>
        </p:nvSpPr>
        <p:spPr>
          <a:xfrm xmlns:a="http://schemas.openxmlformats.org/drawingml/2006/main">
            <a:off x="3383280" y="2898648"/>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people with diabetes are unaware of it</a:t>
            </a:r>
            <a:endParaRPr sz="1400"/>
          </a:p>
        </p:txBody>
      </p:sp>
      <p:sp>
        <p:nvSpPr>
          <p:cNvPr id="8" name="Text 6">
            <a:extLst xmlns:a="http://schemas.openxmlformats.org/drawingml/2006/main">
              <a:ext uri="{FF2B5EF4-FFF2-40B4-BE49-F238E27FC236}">
                <a16:creationId xmlns:a16="http://schemas.microsoft.com/office/drawing/2014/main" id="{2765916F-F45E-4473-8867-A211A0160D44}"/>
              </a:ext>
            </a:extLst>
          </p:cNvPr>
          <p:cNvSpPr>
            <a:spLocks xmlns:a="http://schemas.openxmlformats.org/drawingml/2006/main" noGrp="1"/>
          </p:cNvSpPr>
          <p:nvPr/>
        </p:nvSpPr>
        <p:spPr>
          <a:xfrm xmlns:a="http://schemas.openxmlformats.org/drawingml/2006/main">
            <a:off x="548640" y="3922776"/>
            <a:ext cx="2743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chemeClr val="accent5"/>
                </a:solidFill>
              </a:rPr>
              <a:t>112,577</a:t>
            </a:r>
            <a:endParaRPr sz="4400"/>
          </a:p>
        </p:txBody>
      </p:sp>
      <p:sp>
        <p:nvSpPr>
          <p:cNvPr id="9" name="Text 7">
            <a:extLst xmlns:a="http://schemas.openxmlformats.org/drawingml/2006/main">
              <a:ext uri="{FF2B5EF4-FFF2-40B4-BE49-F238E27FC236}">
                <a16:creationId xmlns:a16="http://schemas.microsoft.com/office/drawing/2014/main" id="{AE5A0D68-0FE3-4182-94D8-66C73A587C72}"/>
              </a:ext>
            </a:extLst>
          </p:cNvPr>
          <p:cNvSpPr>
            <a:spLocks xmlns:a="http://schemas.openxmlformats.org/drawingml/2006/main" noGrp="1"/>
          </p:cNvSpPr>
          <p:nvPr/>
        </p:nvSpPr>
        <p:spPr>
          <a:xfrm xmlns:a="http://schemas.openxmlformats.org/drawingml/2006/main">
            <a:off x="3383280" y="3922776"/>
            <a:ext cx="2651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chemeClr val="bg2"/>
                </a:solidFill>
              </a:rPr>
              <a:t>deaths in 2024: Mexico’s second leading cause of death</a:t>
            </a:r>
            <a:endParaRPr sz="1400"/>
          </a:p>
        </p:txBody>
      </p:sp>
      <p:sp>
        <p:nvSpPr>
          <p:cNvPr id="10" name="Hospital">
            <a:extLst xmlns:a="http://schemas.openxmlformats.org/drawingml/2006/main">
              <a:ext uri="{FF2B5EF4-FFF2-40B4-BE49-F238E27FC236}">
                <a16:creationId xmlns:a16="http://schemas.microsoft.com/office/drawing/2014/main" id="{2390351C-0CE8-4CA8-8C14-F02095D073F3}"/>
              </a:ext>
            </a:extLst>
          </p:cNvPr>
          <p:cNvSpPr>
            <a:spLocks xmlns:a="http://schemas.openxmlformats.org/drawingml/2006/main" noGrp="1"/>
          </p:cNvSpPr>
          <p:nvPr/>
        </p:nvSpPr>
        <p:spPr>
          <a:xfrm xmlns:a="http://schemas.openxmlformats.org/drawingml/2006/main">
            <a:off x="6629400" y="2743200"/>
            <a:ext cx="1554480" cy="914400"/>
          </a:xfrm>
          <a:prstGeom xmlns:a="http://schemas.openxmlformats.org/drawingml/2006/main" prst="roundRect">
            <a:avLst>
              <a:gd name="adj" fmla="val 10000"/>
            </a:avLst>
          </a:prstGeom>
          <a:solidFill xmlns:a="http://schemas.openxmlformats.org/drawingml/2006/main">
            <a:schemeClr val="tx2"/>
          </a:solidFill>
          <a:ln xmlns:a="http://schemas.openxmlformats.org/drawingml/2006/main" w="9525">
            <a:solidFill>
              <a:schemeClr val="accent5">
                <a:alpha val="70000"/>
              </a:schemeClr>
            </a:solidFill>
            <a:prstDash val="solid"/>
          </a:ln>
        </p:spPr>
      </p:sp>
      <p:sp>
        <p:nvSpPr>
          <p:cNvPr id="11" name="Hospital círculo">
            <a:extLst xmlns:a="http://schemas.openxmlformats.org/drawingml/2006/main">
              <a:ext uri="{FF2B5EF4-FFF2-40B4-BE49-F238E27FC236}">
                <a16:creationId xmlns:a16="http://schemas.microsoft.com/office/drawing/2014/main" id="{060F1CC1-91DB-4216-BA6F-C0B0C00725D7}"/>
              </a:ext>
            </a:extLst>
          </p:cNvPr>
          <p:cNvSpPr>
            <a:spLocks xmlns:a="http://schemas.openxmlformats.org/drawingml/2006/main" noGrp="1"/>
          </p:cNvSpPr>
          <p:nvPr/>
        </p:nvSpPr>
        <p:spPr>
          <a:xfrm xmlns:a="http://schemas.openxmlformats.org/drawingml/2006/main">
            <a:off x="6766560" y="2971800"/>
            <a:ext cx="457200" cy="457200"/>
          </a:xfrm>
          <a:prstGeom xmlns:a="http://schemas.openxmlformats.org/drawingml/2006/main" prst="ellipse">
            <a:avLst/>
          </a:prstGeom>
          <a:solidFill xmlns:a="http://schemas.openxmlformats.org/drawingml/2006/main">
            <a:schemeClr val="accent1"/>
          </a:solidFill>
        </p:spPr>
      </p:sp>
      <p:pic>
        <p:nvPicPr>
          <p:cNvPr id="12" name="Hospital ícono">
            <a:extLst xmlns:a="http://schemas.openxmlformats.org/drawingml/2006/main">
              <a:ext uri="{FF2B5EF4-FFF2-40B4-BE49-F238E27FC236}">
                <a16:creationId xmlns:a16="http://schemas.microsoft.com/office/drawing/2014/main" id="{9DE64134-4444-4FE3-9245-77FE1F176F3F}"/>
              </a:ext>
            </a:extLst>
          </p:cNvPr>
          <p:cNvPicPr>
            <a:picLocks xmlns:a="http://schemas.openxmlformats.org/drawingml/2006/main" noChangeAspect="1"/>
          </p:cNvPicPr>
          <p:nvPr/>
        </p:nvPicPr>
        <p:blipFill>
          <a:blip xmlns:r="http://schemas.openxmlformats.org/officeDocument/2006/relationships" xmlns:a="http://schemas.openxmlformats.org/drawingml/2006/main" r:embed="R86ae21fcb9144afd"/>
          <a:stretch xmlns:a="http://schemas.openxmlformats.org/drawingml/2006/main">
            <a:fillRect l="0" t="0" r="0" b="0"/>
          </a:stretch>
        </p:blipFill>
        <p:spPr>
          <a:xfrm xmlns:a="http://schemas.openxmlformats.org/drawingml/2006/main">
            <a:off x="6867144" y="3072384"/>
            <a:ext cx="256032" cy="256032"/>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6FBD2192-CC47-43A8-B7DC-FB779B93267C}"/>
              </a:ext>
            </a:extLst>
          </p:cNvPr>
          <p:cNvSpPr>
            <a:spLocks xmlns:a="http://schemas.openxmlformats.org/drawingml/2006/main" noGrp="1"/>
          </p:cNvSpPr>
          <p:nvPr/>
        </p:nvSpPr>
        <p:spPr>
          <a:xfrm xmlns:a="http://schemas.openxmlformats.org/drawingml/2006/main">
            <a:off x="7315200" y="2743200"/>
            <a:ext cx="8229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bg1"/>
                </a:solidFill>
              </a:rPr>
              <a:t>Hospital</a:t>
            </a:r>
            <a:endParaRPr sz="1300"/>
          </a:p>
        </p:txBody>
      </p:sp>
      <p:sp>
        <p:nvSpPr>
          <p:cNvPr id="14" name="flecha">
            <a:extLst xmlns:a="http://schemas.openxmlformats.org/drawingml/2006/main">
              <a:ext uri="{FF2B5EF4-FFF2-40B4-BE49-F238E27FC236}">
                <a16:creationId xmlns:a16="http://schemas.microsoft.com/office/drawing/2014/main" id="{3BD0CABE-EFFC-441F-9739-BDEEF8D4E901}"/>
              </a:ext>
            </a:extLst>
          </p:cNvPr>
          <p:cNvSpPr>
            <a:spLocks xmlns:a="http://schemas.openxmlformats.org/drawingml/2006/main" noGrp="1"/>
          </p:cNvSpPr>
          <p:nvPr/>
        </p:nvSpPr>
        <p:spPr>
          <a:xfrm xmlns:a="http://schemas.openxmlformats.org/drawingml/2006/main" flipH="0" flipV="1">
            <a:off x="8229600" y="2377440"/>
            <a:ext cx="502920" cy="822960"/>
          </a:xfrm>
          <a:prstGeom xmlns:a="http://schemas.openxmlformats.org/drawingml/2006/main" prst="line">
            <a:avLst/>
          </a:prstGeom>
          <a:noFill xmlns:a="http://schemas.openxmlformats.org/drawingml/2006/main"/>
          <a:ln xmlns:a="http://schemas.openxmlformats.org/drawingml/2006/main" w="22225">
            <a:solidFill>
              <a:schemeClr val="accent3"/>
            </a:solidFill>
            <a:prstDash val="solid"/>
            <a:tailEnd type="triangle"/>
          </a:ln>
        </p:spPr>
      </p:sp>
      <p:sp>
        <p:nvSpPr>
          <p:cNvPr id="15" name="Compartir expedientes">
            <a:extLst xmlns:a="http://schemas.openxmlformats.org/drawingml/2006/main">
              <a:ext uri="{FF2B5EF4-FFF2-40B4-BE49-F238E27FC236}">
                <a16:creationId xmlns:a16="http://schemas.microsoft.com/office/drawing/2014/main" id="{8D40FAC3-706A-47B6-B423-1BF990DAA80A}"/>
              </a:ext>
            </a:extLst>
          </p:cNvPr>
          <p:cNvSpPr>
            <a:spLocks xmlns:a="http://schemas.openxmlformats.org/drawingml/2006/main" noGrp="1"/>
          </p:cNvSpPr>
          <p:nvPr/>
        </p:nvSpPr>
        <p:spPr>
          <a:xfrm xmlns:a="http://schemas.openxmlformats.org/drawingml/2006/main">
            <a:off x="8778240" y="1965960"/>
            <a:ext cx="2862072" cy="868680"/>
          </a:xfrm>
          <a:prstGeom xmlns:a="http://schemas.openxmlformats.org/drawingml/2006/main" prst="roundRect">
            <a:avLst>
              <a:gd name="adj" fmla="val 10526"/>
            </a:avLst>
          </a:prstGeom>
          <a:solidFill xmlns:a="http://schemas.openxmlformats.org/drawingml/2006/main">
            <a:schemeClr val="accent3">
              <a:alpha val="15000"/>
            </a:schemeClr>
          </a:solidFill>
          <a:ln xmlns:a="http://schemas.openxmlformats.org/drawingml/2006/main" w="9525">
            <a:solidFill>
              <a:schemeClr val="accent3">
                <a:alpha val="70000"/>
              </a:schemeClr>
            </a:solidFill>
            <a:prstDash val="solid"/>
          </a:ln>
        </p:spPr>
      </p:sp>
      <p:sp>
        <p:nvSpPr>
          <p:cNvPr id="16" name="Compartir expedientes círculo">
            <a:extLst xmlns:a="http://schemas.openxmlformats.org/drawingml/2006/main">
              <a:ext uri="{FF2B5EF4-FFF2-40B4-BE49-F238E27FC236}">
                <a16:creationId xmlns:a16="http://schemas.microsoft.com/office/drawing/2014/main" id="{CFB9FC9F-23A6-4F31-818E-55D8CCE3DA3C}"/>
              </a:ext>
            </a:extLst>
          </p:cNvPr>
          <p:cNvSpPr>
            <a:spLocks xmlns:a="http://schemas.openxmlformats.org/drawingml/2006/main" noGrp="1"/>
          </p:cNvSpPr>
          <p:nvPr/>
        </p:nvSpPr>
        <p:spPr>
          <a:xfrm xmlns:a="http://schemas.openxmlformats.org/drawingml/2006/main">
            <a:off x="8915400" y="2167128"/>
            <a:ext cx="457200" cy="457200"/>
          </a:xfrm>
          <a:prstGeom xmlns:a="http://schemas.openxmlformats.org/drawingml/2006/main" prst="ellipse">
            <a:avLst/>
          </a:prstGeom>
          <a:solidFill xmlns:a="http://schemas.openxmlformats.org/drawingml/2006/main">
            <a:schemeClr val="accent3"/>
          </a:solidFill>
        </p:spPr>
      </p:sp>
      <p:pic>
        <p:nvPicPr>
          <p:cNvPr id="17" name="Compartir expedientes ícono">
            <a:extLst xmlns:a="http://schemas.openxmlformats.org/drawingml/2006/main">
              <a:ext uri="{FF2B5EF4-FFF2-40B4-BE49-F238E27FC236}">
                <a16:creationId xmlns:a16="http://schemas.microsoft.com/office/drawing/2014/main" id="{F112610E-2842-4F29-82AA-A03600EBF380}"/>
              </a:ext>
            </a:extLst>
          </p:cNvPr>
          <p:cNvPicPr>
            <a:picLocks xmlns:a="http://schemas.openxmlformats.org/drawingml/2006/main" noChangeAspect="1"/>
          </p:cNvPicPr>
          <p:nvPr/>
        </p:nvPicPr>
        <p:blipFill>
          <a:blip xmlns:r="http://schemas.openxmlformats.org/officeDocument/2006/relationships" xmlns:a="http://schemas.openxmlformats.org/drawingml/2006/main" r:embed="R656d0ea82afd4340"/>
          <a:stretch xmlns:a="http://schemas.openxmlformats.org/drawingml/2006/main">
            <a:fillRect l="0" t="0" r="0" b="0"/>
          </a:stretch>
        </p:blipFill>
        <p:spPr>
          <a:xfrm xmlns:a="http://schemas.openxmlformats.org/drawingml/2006/main">
            <a:off x="9015984" y="2267712"/>
            <a:ext cx="256032" cy="256032"/>
          </a:xfrm>
          <a:prstGeom xmlns:a="http://schemas.openxmlformats.org/drawingml/2006/main" prst="rect">
            <a:avLst/>
          </a:prstGeom>
        </p:spPr>
      </p:pic>
      <p:sp>
        <p:nvSpPr>
          <p:cNvPr id="18" name="Text 14">
            <a:extLst xmlns:a="http://schemas.openxmlformats.org/drawingml/2006/main">
              <a:ext uri="{FF2B5EF4-FFF2-40B4-BE49-F238E27FC236}">
                <a16:creationId xmlns:a16="http://schemas.microsoft.com/office/drawing/2014/main" id="{9109EC42-0F9B-4361-B45C-0837FC7FE6A2}"/>
              </a:ext>
            </a:extLst>
          </p:cNvPr>
          <p:cNvSpPr>
            <a:spLocks xmlns:a="http://schemas.openxmlformats.org/drawingml/2006/main" noGrp="1"/>
          </p:cNvSpPr>
          <p:nvPr/>
        </p:nvSpPr>
        <p:spPr>
          <a:xfrm xmlns:a="http://schemas.openxmlformats.org/drawingml/2006/main">
            <a:off x="9491472" y="2075688"/>
            <a:ext cx="2057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Share health records</a:t>
            </a:r>
            <a:endParaRPr sz="1400"/>
          </a:p>
        </p:txBody>
      </p:sp>
      <p:sp>
        <p:nvSpPr>
          <p:cNvPr id="19" name="Text 15">
            <a:extLst xmlns:a="http://schemas.openxmlformats.org/drawingml/2006/main">
              <a:ext uri="{FF2B5EF4-FFF2-40B4-BE49-F238E27FC236}">
                <a16:creationId xmlns:a16="http://schemas.microsoft.com/office/drawing/2014/main" id="{BAD399B0-D8C8-454D-BAEB-C5A27C7AE821}"/>
              </a:ext>
            </a:extLst>
          </p:cNvPr>
          <p:cNvSpPr>
            <a:spLocks xmlns:a="http://schemas.openxmlformats.org/drawingml/2006/main" noGrp="1"/>
          </p:cNvSpPr>
          <p:nvPr/>
        </p:nvSpPr>
        <p:spPr>
          <a:xfrm xmlns:a="http://schemas.openxmlformats.org/drawingml/2006/main">
            <a:off x="9491472" y="2395728"/>
            <a:ext cx="20574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Privacy and legal risk</a:t>
            </a:r>
            <a:endParaRPr sz="1100"/>
          </a:p>
        </p:txBody>
      </p:sp>
      <p:sp>
        <p:nvSpPr>
          <p:cNvPr id="20" name="flecha">
            <a:extLst xmlns:a="http://schemas.openxmlformats.org/drawingml/2006/main">
              <a:ext uri="{FF2B5EF4-FFF2-40B4-BE49-F238E27FC236}">
                <a16:creationId xmlns:a16="http://schemas.microsoft.com/office/drawing/2014/main" id="{71158394-180D-4B10-B5D3-788ADC74AA73}"/>
              </a:ext>
            </a:extLst>
          </p:cNvPr>
          <p:cNvSpPr>
            <a:spLocks xmlns:a="http://schemas.openxmlformats.org/drawingml/2006/main" noGrp="1"/>
          </p:cNvSpPr>
          <p:nvPr/>
        </p:nvSpPr>
        <p:spPr>
          <a:xfrm xmlns:a="http://schemas.openxmlformats.org/drawingml/2006/main">
            <a:off x="8229600" y="3200400"/>
            <a:ext cx="502920" cy="1005840"/>
          </a:xfrm>
          <a:prstGeom xmlns:a="http://schemas.openxmlformats.org/drawingml/2006/main" prst="line">
            <a:avLst/>
          </a:prstGeom>
          <a:noFill xmlns:a="http://schemas.openxmlformats.org/drawingml/2006/main"/>
          <a:ln xmlns:a="http://schemas.openxmlformats.org/drawingml/2006/main" w="22225">
            <a:solidFill>
              <a:schemeClr val="accent4"/>
            </a:solidFill>
            <a:prstDash val="solid"/>
            <a:tailEnd type="triangle"/>
          </a:ln>
        </p:spPr>
      </p:sp>
      <p:sp>
        <p:nvSpPr>
          <p:cNvPr id="21" name="No compartir">
            <a:extLst xmlns:a="http://schemas.openxmlformats.org/drawingml/2006/main">
              <a:ext uri="{FF2B5EF4-FFF2-40B4-BE49-F238E27FC236}">
                <a16:creationId xmlns:a16="http://schemas.microsoft.com/office/drawing/2014/main" id="{1922F0CE-B089-48D9-AF41-5D472BBED3B7}"/>
              </a:ext>
            </a:extLst>
          </p:cNvPr>
          <p:cNvSpPr>
            <a:spLocks xmlns:a="http://schemas.openxmlformats.org/drawingml/2006/main" noGrp="1"/>
          </p:cNvSpPr>
          <p:nvPr/>
        </p:nvSpPr>
        <p:spPr>
          <a:xfrm xmlns:a="http://schemas.openxmlformats.org/drawingml/2006/main">
            <a:off x="8778240" y="3794760"/>
            <a:ext cx="2862072" cy="868680"/>
          </a:xfrm>
          <a:prstGeom xmlns:a="http://schemas.openxmlformats.org/drawingml/2006/main" prst="roundRect">
            <a:avLst>
              <a:gd name="adj" fmla="val 10526"/>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22" name="No compartir círculo">
            <a:extLst xmlns:a="http://schemas.openxmlformats.org/drawingml/2006/main">
              <a:ext uri="{FF2B5EF4-FFF2-40B4-BE49-F238E27FC236}">
                <a16:creationId xmlns:a16="http://schemas.microsoft.com/office/drawing/2014/main" id="{AB7ACB3E-9E0E-43EB-8ECD-5B446E45E7F3}"/>
              </a:ext>
            </a:extLst>
          </p:cNvPr>
          <p:cNvSpPr>
            <a:spLocks xmlns:a="http://schemas.openxmlformats.org/drawingml/2006/main" noGrp="1"/>
          </p:cNvSpPr>
          <p:nvPr/>
        </p:nvSpPr>
        <p:spPr>
          <a:xfrm xmlns:a="http://schemas.openxmlformats.org/drawingml/2006/main">
            <a:off x="8915400" y="3995928"/>
            <a:ext cx="457200" cy="457200"/>
          </a:xfrm>
          <a:prstGeom xmlns:a="http://schemas.openxmlformats.org/drawingml/2006/main" prst="ellipse">
            <a:avLst/>
          </a:prstGeom>
          <a:solidFill xmlns:a="http://schemas.openxmlformats.org/drawingml/2006/main">
            <a:schemeClr val="accent4"/>
          </a:solidFill>
        </p:spPr>
      </p:sp>
      <p:pic>
        <p:nvPicPr>
          <p:cNvPr id="23" name="No compartir ícono">
            <a:extLst xmlns:a="http://schemas.openxmlformats.org/drawingml/2006/main">
              <a:ext uri="{FF2B5EF4-FFF2-40B4-BE49-F238E27FC236}">
                <a16:creationId xmlns:a16="http://schemas.microsoft.com/office/drawing/2014/main" id="{B130EA44-BEBD-4446-AEDC-25E82CCFECB1}"/>
              </a:ext>
            </a:extLst>
          </p:cNvPr>
          <p:cNvPicPr>
            <a:picLocks xmlns:a="http://schemas.openxmlformats.org/drawingml/2006/main" noChangeAspect="1"/>
          </p:cNvPicPr>
          <p:nvPr/>
        </p:nvPicPr>
        <p:blipFill>
          <a:blip xmlns:r="http://schemas.openxmlformats.org/officeDocument/2006/relationships" xmlns:a="http://schemas.openxmlformats.org/drawingml/2006/main" r:embed="Rf6dc64105c4c468f"/>
          <a:stretch xmlns:a="http://schemas.openxmlformats.org/drawingml/2006/main">
            <a:fillRect l="0" t="0" r="0" b="0"/>
          </a:stretch>
        </p:blipFill>
        <p:spPr>
          <a:xfrm xmlns:a="http://schemas.openxmlformats.org/drawingml/2006/main">
            <a:off x="9015984" y="4096512"/>
            <a:ext cx="256032" cy="256032"/>
          </a:xfrm>
          <a:prstGeom xmlns:a="http://schemas.openxmlformats.org/drawingml/2006/main" prst="rect">
            <a:avLst/>
          </a:prstGeom>
        </p:spPr>
      </p:pic>
      <p:sp>
        <p:nvSpPr>
          <p:cNvPr id="24" name="Text 19">
            <a:extLst xmlns:a="http://schemas.openxmlformats.org/drawingml/2006/main">
              <a:ext uri="{FF2B5EF4-FFF2-40B4-BE49-F238E27FC236}">
                <a16:creationId xmlns:a16="http://schemas.microsoft.com/office/drawing/2014/main" id="{EE023D3F-00D8-495B-AF7F-D1CC156742E5}"/>
              </a:ext>
            </a:extLst>
          </p:cNvPr>
          <p:cNvSpPr>
            <a:spLocks xmlns:a="http://schemas.openxmlformats.org/drawingml/2006/main" noGrp="1"/>
          </p:cNvSpPr>
          <p:nvPr/>
        </p:nvSpPr>
        <p:spPr>
          <a:xfrm xmlns:a="http://schemas.openxmlformats.org/drawingml/2006/main">
            <a:off x="9491472" y="3904488"/>
            <a:ext cx="2057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Keep records local</a:t>
            </a:r>
            <a:endParaRPr sz="1400"/>
          </a:p>
        </p:txBody>
      </p:sp>
      <p:sp>
        <p:nvSpPr>
          <p:cNvPr id="25" name="Text 20">
            <a:extLst xmlns:a="http://schemas.openxmlformats.org/drawingml/2006/main">
              <a:ext uri="{FF2B5EF4-FFF2-40B4-BE49-F238E27FC236}">
                <a16:creationId xmlns:a16="http://schemas.microsoft.com/office/drawing/2014/main" id="{4689D25D-0DE6-48D7-808F-41B714B1EC92}"/>
              </a:ext>
            </a:extLst>
          </p:cNvPr>
          <p:cNvSpPr>
            <a:spLocks xmlns:a="http://schemas.openxmlformats.org/drawingml/2006/main" noGrp="1"/>
          </p:cNvSpPr>
          <p:nvPr/>
        </p:nvSpPr>
        <p:spPr>
          <a:xfrm xmlns:a="http://schemas.openxmlformats.org/drawingml/2006/main">
            <a:off x="9491472" y="4224528"/>
            <a:ext cx="20574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External models cannot read them</a:t>
            </a:r>
            <a:endParaRPr sz="1100"/>
          </a:p>
        </p:txBody>
      </p:sp>
      <p:sp>
        <p:nvSpPr>
          <p:cNvPr id="26" name="Pregunta">
            <a:extLst xmlns:a="http://schemas.openxmlformats.org/drawingml/2006/main">
              <a:ext uri="{FF2B5EF4-FFF2-40B4-BE49-F238E27FC236}">
                <a16:creationId xmlns:a16="http://schemas.microsoft.com/office/drawing/2014/main" id="{E9BFE3B6-C4C5-464E-98E3-A557564B0D25}"/>
              </a:ext>
            </a:extLst>
          </p:cNvPr>
          <p:cNvSpPr>
            <a:spLocks xmlns:a="http://schemas.openxmlformats.org/drawingml/2006/main" noGrp="1"/>
          </p:cNvSpPr>
          <p:nvPr/>
        </p:nvSpPr>
        <p:spPr>
          <a:xfrm xmlns:a="http://schemas.openxmlformats.org/drawingml/2006/main">
            <a:off x="548640" y="5468112"/>
            <a:ext cx="11091672" cy="548640"/>
          </a:xfrm>
          <a:prstGeom xmlns:a="http://schemas.openxmlformats.org/drawingml/2006/main" prst="roundRect">
            <a:avLst>
              <a:gd name="adj" fmla="val 16667"/>
            </a:avLst>
          </a:prstGeom>
          <a:solidFill xmlns:a="http://schemas.openxmlformats.org/drawingml/2006/main">
            <a:schemeClr val="accent1">
              <a:alpha val="28000"/>
            </a:schemeClr>
          </a:solidFill>
        </p:spPr>
      </p:sp>
      <p:sp>
        <p:nvSpPr>
          <p:cNvPr id="27" name="Text 22">
            <a:extLst xmlns:a="http://schemas.openxmlformats.org/drawingml/2006/main">
              <a:ext uri="{FF2B5EF4-FFF2-40B4-BE49-F238E27FC236}">
                <a16:creationId xmlns:a16="http://schemas.microsoft.com/office/drawing/2014/main" id="{21C53F13-FEE7-4901-B7D2-8731F45F1A88}"/>
              </a:ext>
            </a:extLst>
          </p:cNvPr>
          <p:cNvSpPr>
            <a:spLocks xmlns:a="http://schemas.openxmlformats.org/drawingml/2006/main" noGrp="1"/>
          </p:cNvSpPr>
          <p:nvPr/>
        </p:nvSpPr>
        <p:spPr>
          <a:xfrm xmlns:a="http://schemas.openxmlformats.org/drawingml/2006/main">
            <a:off x="731520" y="5468112"/>
            <a:ext cx="107259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i="1">
                <a:solidFill>
                  <a:schemeClr val="bg1"/>
                </a:solidFill>
              </a:rPr>
              <a:t>Can AI calculate risk without reading the patient’s inputs?</a:t>
            </a:r>
            <a:endParaRPr sz="2000"/>
          </a:p>
        </p:txBody>
      </p:sp>
      <p:sp>
        <p:nvSpPr>
          <p:cNvPr id="28" name="Text 23">
            <a:extLst xmlns:a="http://schemas.openxmlformats.org/drawingml/2006/main">
              <a:ext uri="{FF2B5EF4-FFF2-40B4-BE49-F238E27FC236}">
                <a16:creationId xmlns:a16="http://schemas.microsoft.com/office/drawing/2014/main" id="{24D0026C-CDCA-4F6A-B93E-C3DB2E46188F}"/>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Sources: ENSANUT 2022 (Basto-Abreu et al., Salud Pública de México, 2023); 2024 registered deaths and SSA hospital discharge microdata, DGIS/INEGI.</a:t>
            </a:r>
            <a:endParaRPr sz="1000"/>
          </a:p>
        </p:txBody>
      </p:sp>
      <p:sp>
        <p:nvSpPr>
          <p:cNvPr id="29" name="Slide Number Placeholder 0">
            <a:extLst xmlns:a="http://schemas.openxmlformats.org/drawingml/2006/main">
              <a:ext uri="{FF2B5EF4-FFF2-40B4-BE49-F238E27FC236}">
                <a16:creationId xmlns:a16="http://schemas.microsoft.com/office/drawing/2014/main" id="{D557928F-8147-4ECB-9DE2-E7F32B9DD4D5}"/>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2</a:t>
            </a:fld>
            <a:endParaRPr/>
          </a:p>
        </p:txBody>
      </p:sp>
    </p:spTree>
    <p:extLst>
      <p:ext uri="{BB962C8B-B14F-4D97-AF65-F5344CB8AC3E}">
        <p14:creationId xmlns:p14="http://schemas.microsoft.com/office/powerpoint/2010/main" val="127730285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26B0FB9F-8809-4E7B-800F-4F75C6D81221}"/>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02 · THE SOLUTION</a:t>
            </a:r>
            <a:endParaRPr sz="1200"/>
          </a:p>
        </p:txBody>
      </p:sp>
      <p:sp>
        <p:nvSpPr>
          <p:cNvPr id="3" name="Text 1">
            <a:extLst xmlns:a="http://schemas.openxmlformats.org/drawingml/2006/main">
              <a:ext uri="{FF2B5EF4-FFF2-40B4-BE49-F238E27FC236}">
                <a16:creationId xmlns:a16="http://schemas.microsoft.com/office/drawing/2014/main" id="{5D30CC8A-60D9-4991-B022-AF06AA85C099}"/>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Calculate risk from encrypted inputs</a:t>
            </a:r>
            <a:endParaRPr sz="3000"/>
          </a:p>
        </p:txBody>
      </p:sp>
      <p:sp>
        <p:nvSpPr>
          <p:cNvPr id="4" name="1 · El hospital cifra">
            <a:extLst xmlns:a="http://schemas.openxmlformats.org/drawingml/2006/main">
              <a:ext uri="{FF2B5EF4-FFF2-40B4-BE49-F238E27FC236}">
                <a16:creationId xmlns:a16="http://schemas.microsoft.com/office/drawing/2014/main" id="{1ABD7116-392E-4548-B016-DE9F83FCCB1B}"/>
              </a:ext>
            </a:extLst>
          </p:cNvPr>
          <p:cNvSpPr>
            <a:spLocks xmlns:a="http://schemas.openxmlformats.org/drawingml/2006/main" noGrp="1"/>
          </p:cNvSpPr>
          <p:nvPr/>
        </p:nvSpPr>
        <p:spPr>
          <a:xfrm xmlns:a="http://schemas.openxmlformats.org/drawingml/2006/main">
            <a:off x="548640"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5" name="1 · El hospital cifra círculo">
            <a:extLst xmlns:a="http://schemas.openxmlformats.org/drawingml/2006/main">
              <a:ext uri="{FF2B5EF4-FFF2-40B4-BE49-F238E27FC236}">
                <a16:creationId xmlns:a16="http://schemas.microsoft.com/office/drawing/2014/main" id="{941ADCDC-BCBC-43A8-888A-E58990F907D3}"/>
              </a:ext>
            </a:extLst>
          </p:cNvPr>
          <p:cNvSpPr>
            <a:spLocks xmlns:a="http://schemas.openxmlformats.org/drawingml/2006/main" noGrp="1"/>
          </p:cNvSpPr>
          <p:nvPr/>
        </p:nvSpPr>
        <p:spPr>
          <a:xfrm xmlns:a="http://schemas.openxmlformats.org/drawingml/2006/main">
            <a:off x="731520" y="2057400"/>
            <a:ext cx="502920" cy="502920"/>
          </a:xfrm>
          <a:prstGeom xmlns:a="http://schemas.openxmlformats.org/drawingml/2006/main" prst="ellipse">
            <a:avLst/>
          </a:prstGeom>
          <a:solidFill xmlns:a="http://schemas.openxmlformats.org/drawingml/2006/main">
            <a:schemeClr val="accent1"/>
          </a:solidFill>
        </p:spPr>
      </p:sp>
      <p:pic>
        <p:nvPicPr>
          <p:cNvPr id="6" name="1 · El hospital cifra ícono">
            <a:extLst xmlns:a="http://schemas.openxmlformats.org/drawingml/2006/main">
              <a:ext uri="{FF2B5EF4-FFF2-40B4-BE49-F238E27FC236}">
                <a16:creationId xmlns:a16="http://schemas.microsoft.com/office/drawing/2014/main" id="{4F3B95D1-7384-440F-9887-12AFA67A8F1A}"/>
              </a:ext>
            </a:extLst>
          </p:cNvPr>
          <p:cNvPicPr>
            <a:picLocks xmlns:a="http://schemas.openxmlformats.org/drawingml/2006/main" noChangeAspect="1"/>
          </p:cNvPicPr>
          <p:nvPr/>
        </p:nvPicPr>
        <p:blipFill>
          <a:blip xmlns:r="http://schemas.openxmlformats.org/officeDocument/2006/relationships" xmlns:a="http://schemas.openxmlformats.org/drawingml/2006/main" r:embed="R5e70da04a00442ad"/>
          <a:stretch xmlns:a="http://schemas.openxmlformats.org/drawingml/2006/main">
            <a:fillRect l="0" t="0" r="0" b="0"/>
          </a:stretch>
        </p:blipFill>
        <p:spPr>
          <a:xfrm xmlns:a="http://schemas.openxmlformats.org/drawingml/2006/main">
            <a:off x="842162" y="2168042"/>
            <a:ext cx="281635" cy="281635"/>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033CB692-6B9B-45D3-A4BD-1A779CA5ECCD}"/>
              </a:ext>
            </a:extLst>
          </p:cNvPr>
          <p:cNvSpPr>
            <a:spLocks xmlns:a="http://schemas.openxmlformats.org/drawingml/2006/main" noGrp="1"/>
          </p:cNvSpPr>
          <p:nvPr/>
        </p:nvSpPr>
        <p:spPr>
          <a:xfrm xmlns:a="http://schemas.openxmlformats.org/drawingml/2006/main">
            <a:off x="1325880"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1 · Hospital encrypts</a:t>
            </a:r>
            <a:endParaRPr sz="1500"/>
          </a:p>
        </p:txBody>
      </p:sp>
      <p:sp>
        <p:nvSpPr>
          <p:cNvPr id="8" name="Text 5">
            <a:extLst xmlns:a="http://schemas.openxmlformats.org/drawingml/2006/main">
              <a:ext uri="{FF2B5EF4-FFF2-40B4-BE49-F238E27FC236}">
                <a16:creationId xmlns:a16="http://schemas.microsoft.com/office/drawing/2014/main" id="{289C7F5E-60C6-4B26-9CF5-F80B126EEA93}"/>
              </a:ext>
            </a:extLst>
          </p:cNvPr>
          <p:cNvSpPr>
            <a:spLocks xmlns:a="http://schemas.openxmlformats.org/drawingml/2006/main" noGrp="1"/>
          </p:cNvSpPr>
          <p:nvPr/>
        </p:nvSpPr>
        <p:spPr>
          <a:xfrm xmlns:a="http://schemas.openxmlformats.org/drawingml/2006/main">
            <a:off x="731520"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Encrypt all 21 indicators; retain the private key at the hospital</a:t>
            </a:r>
            <a:endParaRPr sz="1200"/>
          </a:p>
        </p:txBody>
      </p:sp>
      <p:sp>
        <p:nvSpPr>
          <p:cNvPr id="9" name="flecha">
            <a:extLst xmlns:a="http://schemas.openxmlformats.org/drawingml/2006/main">
              <a:ext uri="{FF2B5EF4-FFF2-40B4-BE49-F238E27FC236}">
                <a16:creationId xmlns:a16="http://schemas.microsoft.com/office/drawing/2014/main" id="{43F765B9-D41C-41D3-88D6-EDDEAD65D3C5}"/>
              </a:ext>
            </a:extLst>
          </p:cNvPr>
          <p:cNvSpPr>
            <a:spLocks xmlns:a="http://schemas.openxmlformats.org/drawingml/2006/main" noGrp="1"/>
          </p:cNvSpPr>
          <p:nvPr/>
        </p:nvSpPr>
        <p:spPr>
          <a:xfrm xmlns:a="http://schemas.openxmlformats.org/drawingml/2006/main">
            <a:off x="3026664"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10" name="2 · El servicio calcula">
            <a:extLst xmlns:a="http://schemas.openxmlformats.org/drawingml/2006/main">
              <a:ext uri="{FF2B5EF4-FFF2-40B4-BE49-F238E27FC236}">
                <a16:creationId xmlns:a16="http://schemas.microsoft.com/office/drawing/2014/main" id="{8F89CDC5-696C-40BD-959D-136B2C212A83}"/>
              </a:ext>
            </a:extLst>
          </p:cNvPr>
          <p:cNvSpPr>
            <a:spLocks xmlns:a="http://schemas.openxmlformats.org/drawingml/2006/main" noGrp="1"/>
          </p:cNvSpPr>
          <p:nvPr/>
        </p:nvSpPr>
        <p:spPr>
          <a:xfrm xmlns:a="http://schemas.openxmlformats.org/drawingml/2006/main">
            <a:off x="3438144"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11" name="2 · El servicio calcula círculo">
            <a:extLst xmlns:a="http://schemas.openxmlformats.org/drawingml/2006/main">
              <a:ext uri="{FF2B5EF4-FFF2-40B4-BE49-F238E27FC236}">
                <a16:creationId xmlns:a16="http://schemas.microsoft.com/office/drawing/2014/main" id="{7EF6633E-E7E2-41A2-8162-3600FAC12FED}"/>
              </a:ext>
            </a:extLst>
          </p:cNvPr>
          <p:cNvSpPr>
            <a:spLocks xmlns:a="http://schemas.openxmlformats.org/drawingml/2006/main" noGrp="1"/>
          </p:cNvSpPr>
          <p:nvPr/>
        </p:nvSpPr>
        <p:spPr>
          <a:xfrm xmlns:a="http://schemas.openxmlformats.org/drawingml/2006/main">
            <a:off x="3621024" y="2057400"/>
            <a:ext cx="502920" cy="502920"/>
          </a:xfrm>
          <a:prstGeom xmlns:a="http://schemas.openxmlformats.org/drawingml/2006/main" prst="ellipse">
            <a:avLst/>
          </a:prstGeom>
          <a:solidFill xmlns:a="http://schemas.openxmlformats.org/drawingml/2006/main">
            <a:schemeClr val="accent1"/>
          </a:solidFill>
        </p:spPr>
      </p:sp>
      <p:pic>
        <p:nvPicPr>
          <p:cNvPr id="12" name="2 · El servicio calcula ícono">
            <a:extLst xmlns:a="http://schemas.openxmlformats.org/drawingml/2006/main">
              <a:ext uri="{FF2B5EF4-FFF2-40B4-BE49-F238E27FC236}">
                <a16:creationId xmlns:a16="http://schemas.microsoft.com/office/drawing/2014/main" id="{4E6A4633-A8D8-4C37-ADFF-A0A855797FF5}"/>
              </a:ext>
            </a:extLst>
          </p:cNvPr>
          <p:cNvPicPr>
            <a:picLocks xmlns:a="http://schemas.openxmlformats.org/drawingml/2006/main" noChangeAspect="1"/>
          </p:cNvPicPr>
          <p:nvPr/>
        </p:nvPicPr>
        <p:blipFill>
          <a:blip xmlns:r="http://schemas.openxmlformats.org/officeDocument/2006/relationships" xmlns:a="http://schemas.openxmlformats.org/drawingml/2006/main" r:embed="Ree976779429747fe"/>
          <a:stretch xmlns:a="http://schemas.openxmlformats.org/drawingml/2006/main">
            <a:fillRect l="0" t="0" r="0" b="0"/>
          </a:stretch>
        </p:blipFill>
        <p:spPr>
          <a:xfrm xmlns:a="http://schemas.openxmlformats.org/drawingml/2006/main">
            <a:off x="3731666" y="2168042"/>
            <a:ext cx="281635" cy="281635"/>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CAC104A5-7A7B-43DB-A30D-7F3868962F9A}"/>
              </a:ext>
            </a:extLst>
          </p:cNvPr>
          <p:cNvSpPr>
            <a:spLocks xmlns:a="http://schemas.openxmlformats.org/drawingml/2006/main" noGrp="1"/>
          </p:cNvSpPr>
          <p:nvPr/>
        </p:nvSpPr>
        <p:spPr>
          <a:xfrm xmlns:a="http://schemas.openxmlformats.org/drawingml/2006/main">
            <a:off x="4215384"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2 · Service evaluates</a:t>
            </a:r>
            <a:endParaRPr sz="1500"/>
          </a:p>
        </p:txBody>
      </p:sp>
      <p:sp>
        <p:nvSpPr>
          <p:cNvPr id="14" name="Text 10">
            <a:extLst xmlns:a="http://schemas.openxmlformats.org/drawingml/2006/main">
              <a:ext uri="{FF2B5EF4-FFF2-40B4-BE49-F238E27FC236}">
                <a16:creationId xmlns:a16="http://schemas.microsoft.com/office/drawing/2014/main" id="{B3D29C1E-54B9-46BD-83B0-CF49E42BCE83}"/>
              </a:ext>
            </a:extLst>
          </p:cNvPr>
          <p:cNvSpPr>
            <a:spLocks xmlns:a="http://schemas.openxmlformats.org/drawingml/2006/main" noGrp="1"/>
          </p:cNvSpPr>
          <p:nvPr/>
        </p:nvSpPr>
        <p:spPr>
          <a:xfrm xmlns:a="http://schemas.openxmlformats.org/drawingml/2006/main">
            <a:off x="3621024"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model operates on ciphertexts without the private key</a:t>
            </a:r>
            <a:endParaRPr sz="1200"/>
          </a:p>
        </p:txBody>
      </p:sp>
      <p:sp>
        <p:nvSpPr>
          <p:cNvPr id="15" name="flecha">
            <a:extLst xmlns:a="http://schemas.openxmlformats.org/drawingml/2006/main">
              <a:ext uri="{FF2B5EF4-FFF2-40B4-BE49-F238E27FC236}">
                <a16:creationId xmlns:a16="http://schemas.microsoft.com/office/drawing/2014/main" id="{81C2DE07-A01D-4470-8218-98C94C4E5D10}"/>
              </a:ext>
            </a:extLst>
          </p:cNvPr>
          <p:cNvSpPr>
            <a:spLocks xmlns:a="http://schemas.openxmlformats.org/drawingml/2006/main" noGrp="1"/>
          </p:cNvSpPr>
          <p:nvPr/>
        </p:nvSpPr>
        <p:spPr>
          <a:xfrm xmlns:a="http://schemas.openxmlformats.org/drawingml/2006/main">
            <a:off x="5916168"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16" name="3 · Regresa cifrado">
            <a:extLst xmlns:a="http://schemas.openxmlformats.org/drawingml/2006/main">
              <a:ext uri="{FF2B5EF4-FFF2-40B4-BE49-F238E27FC236}">
                <a16:creationId xmlns:a16="http://schemas.microsoft.com/office/drawing/2014/main" id="{0C4FA8E6-F905-4773-B89C-EAD62980D72D}"/>
              </a:ext>
            </a:extLst>
          </p:cNvPr>
          <p:cNvSpPr>
            <a:spLocks xmlns:a="http://schemas.openxmlformats.org/drawingml/2006/main" noGrp="1"/>
          </p:cNvSpPr>
          <p:nvPr/>
        </p:nvSpPr>
        <p:spPr>
          <a:xfrm xmlns:a="http://schemas.openxmlformats.org/drawingml/2006/main">
            <a:off x="6327648"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5">
                <a:alpha val="75000"/>
              </a:schemeClr>
            </a:solidFill>
            <a:prstDash val="solid"/>
          </a:ln>
        </p:spPr>
      </p:sp>
      <p:sp>
        <p:nvSpPr>
          <p:cNvPr id="17" name="3 · Regresa cifrado círculo">
            <a:extLst xmlns:a="http://schemas.openxmlformats.org/drawingml/2006/main">
              <a:ext uri="{FF2B5EF4-FFF2-40B4-BE49-F238E27FC236}">
                <a16:creationId xmlns:a16="http://schemas.microsoft.com/office/drawing/2014/main" id="{7BE69181-54CC-4867-99E1-F69563CCFA31}"/>
              </a:ext>
            </a:extLst>
          </p:cNvPr>
          <p:cNvSpPr>
            <a:spLocks xmlns:a="http://schemas.openxmlformats.org/drawingml/2006/main" noGrp="1"/>
          </p:cNvSpPr>
          <p:nvPr/>
        </p:nvSpPr>
        <p:spPr>
          <a:xfrm xmlns:a="http://schemas.openxmlformats.org/drawingml/2006/main">
            <a:off x="6510528" y="2057400"/>
            <a:ext cx="502920" cy="502920"/>
          </a:xfrm>
          <a:prstGeom xmlns:a="http://schemas.openxmlformats.org/drawingml/2006/main" prst="ellipse">
            <a:avLst/>
          </a:prstGeom>
          <a:solidFill xmlns:a="http://schemas.openxmlformats.org/drawingml/2006/main">
            <a:schemeClr val="accent1"/>
          </a:solidFill>
        </p:spPr>
      </p:sp>
      <p:pic>
        <p:nvPicPr>
          <p:cNvPr id="18" name="3 · Regresa cifrado ícono">
            <a:extLst xmlns:a="http://schemas.openxmlformats.org/drawingml/2006/main">
              <a:ext uri="{FF2B5EF4-FFF2-40B4-BE49-F238E27FC236}">
                <a16:creationId xmlns:a16="http://schemas.microsoft.com/office/drawing/2014/main" id="{61F89C84-5D07-4E2E-90E9-6D87EA4870EB}"/>
              </a:ext>
            </a:extLst>
          </p:cNvPr>
          <p:cNvPicPr>
            <a:picLocks xmlns:a="http://schemas.openxmlformats.org/drawingml/2006/main" noChangeAspect="1"/>
          </p:cNvPicPr>
          <p:nvPr/>
        </p:nvPicPr>
        <p:blipFill>
          <a:blip xmlns:r="http://schemas.openxmlformats.org/officeDocument/2006/relationships" xmlns:a="http://schemas.openxmlformats.org/drawingml/2006/main" r:embed="Rbfa04f51c84f4da0"/>
          <a:stretch xmlns:a="http://schemas.openxmlformats.org/drawingml/2006/main">
            <a:fillRect l="0" t="0" r="0" b="0"/>
          </a:stretch>
        </p:blipFill>
        <p:spPr>
          <a:xfrm xmlns:a="http://schemas.openxmlformats.org/drawingml/2006/main">
            <a:off x="6621170" y="2168042"/>
            <a:ext cx="281635" cy="281635"/>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6A6DBFE1-C69F-4116-99F9-9AEFBA3947E8}"/>
              </a:ext>
            </a:extLst>
          </p:cNvPr>
          <p:cNvSpPr>
            <a:spLocks xmlns:a="http://schemas.openxmlformats.org/drawingml/2006/main" noGrp="1"/>
          </p:cNvSpPr>
          <p:nvPr/>
        </p:nvSpPr>
        <p:spPr>
          <a:xfrm xmlns:a="http://schemas.openxmlformats.org/drawingml/2006/main">
            <a:off x="7104888"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3 · Return ciphertext</a:t>
            </a:r>
            <a:endParaRPr sz="1500"/>
          </a:p>
        </p:txBody>
      </p:sp>
      <p:sp>
        <p:nvSpPr>
          <p:cNvPr id="20" name="Text 15">
            <a:extLst xmlns:a="http://schemas.openxmlformats.org/drawingml/2006/main">
              <a:ext uri="{FF2B5EF4-FFF2-40B4-BE49-F238E27FC236}">
                <a16:creationId xmlns:a16="http://schemas.microsoft.com/office/drawing/2014/main" id="{5FC94278-E8EF-4B75-8952-7F7195825065}"/>
              </a:ext>
            </a:extLst>
          </p:cNvPr>
          <p:cNvSpPr>
            <a:spLocks xmlns:a="http://schemas.openxmlformats.org/drawingml/2006/main" noGrp="1"/>
          </p:cNvSpPr>
          <p:nvPr/>
        </p:nvSpPr>
        <p:spPr>
          <a:xfrm xmlns:a="http://schemas.openxmlformats.org/drawingml/2006/main">
            <a:off x="6510528"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Only the hospital can decrypt the returned score</a:t>
            </a:r>
            <a:endParaRPr sz="1200"/>
          </a:p>
        </p:txBody>
      </p:sp>
      <p:sp>
        <p:nvSpPr>
          <p:cNvPr id="21" name="flecha">
            <a:extLst xmlns:a="http://schemas.openxmlformats.org/drawingml/2006/main">
              <a:ext uri="{FF2B5EF4-FFF2-40B4-BE49-F238E27FC236}">
                <a16:creationId xmlns:a16="http://schemas.microsoft.com/office/drawing/2014/main" id="{DCF138F1-1B7D-4E5C-8A34-1431BEA6B545}"/>
              </a:ext>
            </a:extLst>
          </p:cNvPr>
          <p:cNvSpPr>
            <a:spLocks xmlns:a="http://schemas.openxmlformats.org/drawingml/2006/main" noGrp="1"/>
          </p:cNvSpPr>
          <p:nvPr/>
        </p:nvSpPr>
        <p:spPr>
          <a:xfrm xmlns:a="http://schemas.openxmlformats.org/drawingml/2006/main">
            <a:off x="8805672" y="2674620"/>
            <a:ext cx="356616"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22" name="4 · Descifra y explica">
            <a:extLst xmlns:a="http://schemas.openxmlformats.org/drawingml/2006/main">
              <a:ext uri="{FF2B5EF4-FFF2-40B4-BE49-F238E27FC236}">
                <a16:creationId xmlns:a16="http://schemas.microsoft.com/office/drawing/2014/main" id="{50BB6CDE-6856-434D-AEAF-111597E0B0AC}"/>
              </a:ext>
            </a:extLst>
          </p:cNvPr>
          <p:cNvSpPr>
            <a:spLocks xmlns:a="http://schemas.openxmlformats.org/drawingml/2006/main" noGrp="1"/>
          </p:cNvSpPr>
          <p:nvPr/>
        </p:nvSpPr>
        <p:spPr>
          <a:xfrm xmlns:a="http://schemas.openxmlformats.org/drawingml/2006/main">
            <a:off x="9217152" y="1874520"/>
            <a:ext cx="2423160" cy="1600200"/>
          </a:xfrm>
          <a:prstGeom xmlns:a="http://schemas.openxmlformats.org/drawingml/2006/main" prst="roundRect">
            <a:avLst>
              <a:gd name="adj" fmla="val 5714"/>
            </a:avLst>
          </a:prstGeom>
          <a:solidFill xmlns:a="http://schemas.openxmlformats.org/drawingml/2006/main">
            <a:schemeClr val="tx2"/>
          </a:solidFill>
          <a:ln xmlns:a="http://schemas.openxmlformats.org/drawingml/2006/main" w="9525">
            <a:solidFill>
              <a:schemeClr val="accent2">
                <a:alpha val="75000"/>
              </a:schemeClr>
            </a:solidFill>
            <a:prstDash val="solid"/>
          </a:ln>
        </p:spPr>
      </p:sp>
      <p:sp>
        <p:nvSpPr>
          <p:cNvPr id="23" name="4 · Descifra y explica círculo">
            <a:extLst xmlns:a="http://schemas.openxmlformats.org/drawingml/2006/main">
              <a:ext uri="{FF2B5EF4-FFF2-40B4-BE49-F238E27FC236}">
                <a16:creationId xmlns:a16="http://schemas.microsoft.com/office/drawing/2014/main" id="{720C6BD9-D636-43C8-8D6C-BABD6CBB3BA6}"/>
              </a:ext>
            </a:extLst>
          </p:cNvPr>
          <p:cNvSpPr>
            <a:spLocks xmlns:a="http://schemas.openxmlformats.org/drawingml/2006/main" noGrp="1"/>
          </p:cNvSpPr>
          <p:nvPr/>
        </p:nvSpPr>
        <p:spPr>
          <a:xfrm xmlns:a="http://schemas.openxmlformats.org/drawingml/2006/main">
            <a:off x="9400032" y="2057400"/>
            <a:ext cx="502920" cy="502920"/>
          </a:xfrm>
          <a:prstGeom xmlns:a="http://schemas.openxmlformats.org/drawingml/2006/main" prst="ellipse">
            <a:avLst/>
          </a:prstGeom>
          <a:solidFill xmlns:a="http://schemas.openxmlformats.org/drawingml/2006/main">
            <a:schemeClr val="accent2"/>
          </a:solidFill>
        </p:spPr>
      </p:sp>
      <p:pic>
        <p:nvPicPr>
          <p:cNvPr id="24" name="4 · Descifra y explica ícono">
            <a:extLst xmlns:a="http://schemas.openxmlformats.org/drawingml/2006/main">
              <a:ext uri="{FF2B5EF4-FFF2-40B4-BE49-F238E27FC236}">
                <a16:creationId xmlns:a16="http://schemas.microsoft.com/office/drawing/2014/main" id="{6017BB93-C695-448C-ACFA-AA914BF51CEB}"/>
              </a:ext>
            </a:extLst>
          </p:cNvPr>
          <p:cNvPicPr>
            <a:picLocks xmlns:a="http://schemas.openxmlformats.org/drawingml/2006/main" noChangeAspect="1"/>
          </p:cNvPicPr>
          <p:nvPr/>
        </p:nvPicPr>
        <p:blipFill>
          <a:blip xmlns:r="http://schemas.openxmlformats.org/officeDocument/2006/relationships" xmlns:a="http://schemas.openxmlformats.org/drawingml/2006/main" r:embed="R6d804c2df7a342bd"/>
          <a:stretch xmlns:a="http://schemas.openxmlformats.org/drawingml/2006/main">
            <a:fillRect l="0" t="0" r="0" b="0"/>
          </a:stretch>
        </p:blipFill>
        <p:spPr>
          <a:xfrm xmlns:a="http://schemas.openxmlformats.org/drawingml/2006/main">
            <a:off x="9510674" y="2168042"/>
            <a:ext cx="281635" cy="281635"/>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07B58733-6253-4547-A15A-D3CD2B90DF56}"/>
              </a:ext>
            </a:extLst>
          </p:cNvPr>
          <p:cNvSpPr>
            <a:spLocks xmlns:a="http://schemas.openxmlformats.org/drawingml/2006/main" noGrp="1"/>
          </p:cNvSpPr>
          <p:nvPr/>
        </p:nvSpPr>
        <p:spPr>
          <a:xfrm xmlns:a="http://schemas.openxmlformats.org/drawingml/2006/main">
            <a:off x="9994392" y="2057400"/>
            <a:ext cx="15544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4 · Decrypt and explain</a:t>
            </a:r>
            <a:endParaRPr sz="1500"/>
          </a:p>
        </p:txBody>
      </p:sp>
      <p:sp>
        <p:nvSpPr>
          <p:cNvPr id="26" name="Text 20">
            <a:extLst xmlns:a="http://schemas.openxmlformats.org/drawingml/2006/main">
              <a:ext uri="{FF2B5EF4-FFF2-40B4-BE49-F238E27FC236}">
                <a16:creationId xmlns:a16="http://schemas.microsoft.com/office/drawing/2014/main" id="{68FAC769-E805-4F9F-B8A7-622103D10685}"/>
              </a:ext>
            </a:extLst>
          </p:cNvPr>
          <p:cNvSpPr>
            <a:spLocks xmlns:a="http://schemas.openxmlformats.org/drawingml/2006/main" noGrp="1"/>
          </p:cNvSpPr>
          <p:nvPr/>
        </p:nvSpPr>
        <p:spPr>
          <a:xfrm xmlns:a="http://schemas.openxmlformats.org/drawingml/2006/main">
            <a:off x="9400032" y="2697480"/>
            <a:ext cx="2057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hospital displays risk and the largest model contributions</a:t>
            </a:r>
            <a:endParaRPr sz="1200"/>
          </a:p>
        </p:txBody>
      </p:sp>
      <p:sp>
        <p:nvSpPr>
          <p:cNvPr id="27" name="Solo cifrados">
            <a:extLst xmlns:a="http://schemas.openxmlformats.org/drawingml/2006/main">
              <a:ext uri="{FF2B5EF4-FFF2-40B4-BE49-F238E27FC236}">
                <a16:creationId xmlns:a16="http://schemas.microsoft.com/office/drawing/2014/main" id="{9E277A21-CDAF-4A2D-9284-730249FFC74D}"/>
              </a:ext>
            </a:extLst>
          </p:cNvPr>
          <p:cNvSpPr>
            <a:spLocks xmlns:a="http://schemas.openxmlformats.org/drawingml/2006/main" noGrp="1"/>
          </p:cNvSpPr>
          <p:nvPr/>
        </p:nvSpPr>
        <p:spPr>
          <a:xfrm xmlns:a="http://schemas.openxmlformats.org/drawingml/2006/main">
            <a:off x="548640"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28" name="Solo cifrados círculo">
            <a:extLst xmlns:a="http://schemas.openxmlformats.org/drawingml/2006/main">
              <a:ext uri="{FF2B5EF4-FFF2-40B4-BE49-F238E27FC236}">
                <a16:creationId xmlns:a16="http://schemas.microsoft.com/office/drawing/2014/main" id="{3126E6D8-D86D-419E-BBA9-2BCCE0396C8E}"/>
              </a:ext>
            </a:extLst>
          </p:cNvPr>
          <p:cNvSpPr>
            <a:spLocks xmlns:a="http://schemas.openxmlformats.org/drawingml/2006/main" noGrp="1"/>
          </p:cNvSpPr>
          <p:nvPr/>
        </p:nvSpPr>
        <p:spPr>
          <a:xfrm xmlns:a="http://schemas.openxmlformats.org/drawingml/2006/main">
            <a:off x="731520" y="4023360"/>
            <a:ext cx="548640" cy="548640"/>
          </a:xfrm>
          <a:prstGeom xmlns:a="http://schemas.openxmlformats.org/drawingml/2006/main" prst="ellipse">
            <a:avLst/>
          </a:prstGeom>
          <a:solidFill xmlns:a="http://schemas.openxmlformats.org/drawingml/2006/main">
            <a:schemeClr val="accent2"/>
          </a:solidFill>
        </p:spPr>
      </p:sp>
      <p:pic>
        <p:nvPicPr>
          <p:cNvPr id="29" name="Solo cifrados ícono">
            <a:extLst xmlns:a="http://schemas.openxmlformats.org/drawingml/2006/main">
              <a:ext uri="{FF2B5EF4-FFF2-40B4-BE49-F238E27FC236}">
                <a16:creationId xmlns:a16="http://schemas.microsoft.com/office/drawing/2014/main" id="{B2EF9D25-F621-4C47-81BB-CC7950144827}"/>
              </a:ext>
            </a:extLst>
          </p:cNvPr>
          <p:cNvPicPr>
            <a:picLocks xmlns:a="http://schemas.openxmlformats.org/drawingml/2006/main" noChangeAspect="1"/>
          </p:cNvPicPr>
          <p:nvPr/>
        </p:nvPicPr>
        <p:blipFill>
          <a:blip xmlns:r="http://schemas.openxmlformats.org/officeDocument/2006/relationships" xmlns:a="http://schemas.openxmlformats.org/drawingml/2006/main" r:embed="Re4713108cc88447d"/>
          <a:stretch xmlns:a="http://schemas.openxmlformats.org/drawingml/2006/main">
            <a:fillRect l="0" t="0" r="0" b="0"/>
          </a:stretch>
        </p:blipFill>
        <p:spPr>
          <a:xfrm xmlns:a="http://schemas.openxmlformats.org/drawingml/2006/main">
            <a:off x="852221" y="4144061"/>
            <a:ext cx="307238" cy="307238"/>
          </a:xfrm>
          <a:prstGeom xmlns:a="http://schemas.openxmlformats.org/drawingml/2006/main" prst="rect">
            <a:avLst/>
          </a:prstGeom>
        </p:spPr>
      </p:pic>
      <p:sp>
        <p:nvSpPr>
          <p:cNvPr id="30" name="Text 23">
            <a:extLst xmlns:a="http://schemas.openxmlformats.org/drawingml/2006/main">
              <a:ext uri="{FF2B5EF4-FFF2-40B4-BE49-F238E27FC236}">
                <a16:creationId xmlns:a16="http://schemas.microsoft.com/office/drawing/2014/main" id="{15ECC3D2-C069-4E64-88EF-3D1BA26FC08E}"/>
              </a:ext>
            </a:extLst>
          </p:cNvPr>
          <p:cNvSpPr>
            <a:spLocks xmlns:a="http://schemas.openxmlformats.org/drawingml/2006/main" noGrp="1"/>
          </p:cNvSpPr>
          <p:nvPr/>
        </p:nvSpPr>
        <p:spPr>
          <a:xfrm xmlns:a="http://schemas.openxmlformats.org/drawingml/2006/main">
            <a:off x="1463040"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Ciphertexts only</a:t>
            </a:r>
            <a:endParaRPr sz="1500"/>
          </a:p>
        </p:txBody>
      </p:sp>
      <p:sp>
        <p:nvSpPr>
          <p:cNvPr id="31" name="Text 24">
            <a:extLst xmlns:a="http://schemas.openxmlformats.org/drawingml/2006/main">
              <a:ext uri="{FF2B5EF4-FFF2-40B4-BE49-F238E27FC236}">
                <a16:creationId xmlns:a16="http://schemas.microsoft.com/office/drawing/2014/main" id="{5AC3F961-2BF7-4DB1-92ED-AB3A82B91AB5}"/>
              </a:ext>
            </a:extLst>
          </p:cNvPr>
          <p:cNvSpPr>
            <a:spLocks xmlns:a="http://schemas.openxmlformats.org/drawingml/2006/main" noGrp="1"/>
          </p:cNvSpPr>
          <p:nvPr/>
        </p:nvSpPr>
        <p:spPr>
          <a:xfrm xmlns:a="http://schemas.openxmlformats.org/drawingml/2006/main">
            <a:off x="1463040"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risk service receives no readable age, BMI, blood pressure or other feature</a:t>
            </a:r>
            <a:endParaRPr sz="1200"/>
          </a:p>
        </p:txBody>
      </p:sp>
      <p:sp>
        <p:nvSpPr>
          <p:cNvPr id="32" name="Misma precisión">
            <a:extLst xmlns:a="http://schemas.openxmlformats.org/drawingml/2006/main">
              <a:ext uri="{FF2B5EF4-FFF2-40B4-BE49-F238E27FC236}">
                <a16:creationId xmlns:a16="http://schemas.microsoft.com/office/drawing/2014/main" id="{5540726F-0333-4805-8680-20509A4AC254}"/>
              </a:ext>
            </a:extLst>
          </p:cNvPr>
          <p:cNvSpPr>
            <a:spLocks xmlns:a="http://schemas.openxmlformats.org/drawingml/2006/main" noGrp="1"/>
          </p:cNvSpPr>
          <p:nvPr/>
        </p:nvSpPr>
        <p:spPr>
          <a:xfrm xmlns:a="http://schemas.openxmlformats.org/drawingml/2006/main">
            <a:off x="4334256"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33" name="Misma precisión círculo">
            <a:extLst xmlns:a="http://schemas.openxmlformats.org/drawingml/2006/main">
              <a:ext uri="{FF2B5EF4-FFF2-40B4-BE49-F238E27FC236}">
                <a16:creationId xmlns:a16="http://schemas.microsoft.com/office/drawing/2014/main" id="{5A99AE9A-EE8D-4672-BB63-291F20E9B99B}"/>
              </a:ext>
            </a:extLst>
          </p:cNvPr>
          <p:cNvSpPr>
            <a:spLocks xmlns:a="http://schemas.openxmlformats.org/drawingml/2006/main" noGrp="1"/>
          </p:cNvSpPr>
          <p:nvPr/>
        </p:nvSpPr>
        <p:spPr>
          <a:xfrm xmlns:a="http://schemas.openxmlformats.org/drawingml/2006/main">
            <a:off x="4517136" y="4023360"/>
            <a:ext cx="548640" cy="548640"/>
          </a:xfrm>
          <a:prstGeom xmlns:a="http://schemas.openxmlformats.org/drawingml/2006/main" prst="ellipse">
            <a:avLst/>
          </a:prstGeom>
          <a:solidFill xmlns:a="http://schemas.openxmlformats.org/drawingml/2006/main">
            <a:schemeClr val="accent2"/>
          </a:solidFill>
        </p:spPr>
      </p:sp>
      <p:pic>
        <p:nvPicPr>
          <p:cNvPr id="34" name="Misma precisión ícono">
            <a:extLst xmlns:a="http://schemas.openxmlformats.org/drawingml/2006/main">
              <a:ext uri="{FF2B5EF4-FFF2-40B4-BE49-F238E27FC236}">
                <a16:creationId xmlns:a16="http://schemas.microsoft.com/office/drawing/2014/main" id="{5B220F36-D6BD-4CF0-B315-08A98F66F8E8}"/>
              </a:ext>
            </a:extLst>
          </p:cNvPr>
          <p:cNvPicPr>
            <a:picLocks xmlns:a="http://schemas.openxmlformats.org/drawingml/2006/main" noChangeAspect="1"/>
          </p:cNvPicPr>
          <p:nvPr/>
        </p:nvPicPr>
        <p:blipFill>
          <a:blip xmlns:r="http://schemas.openxmlformats.org/officeDocument/2006/relationships" xmlns:a="http://schemas.openxmlformats.org/drawingml/2006/main" r:embed="R36227a4c38e04255"/>
          <a:stretch xmlns:a="http://schemas.openxmlformats.org/drawingml/2006/main">
            <a:fillRect l="0" t="0" r="0" b="0"/>
          </a:stretch>
        </p:blipFill>
        <p:spPr>
          <a:xfrm xmlns:a="http://schemas.openxmlformats.org/drawingml/2006/main">
            <a:off x="4637837" y="4144061"/>
            <a:ext cx="307238" cy="307238"/>
          </a:xfrm>
          <a:prstGeom xmlns:a="http://schemas.openxmlformats.org/drawingml/2006/main" prst="rect">
            <a:avLst/>
          </a:prstGeom>
        </p:spPr>
      </p:pic>
      <p:sp>
        <p:nvSpPr>
          <p:cNvPr id="35" name="Text 27">
            <a:extLst xmlns:a="http://schemas.openxmlformats.org/drawingml/2006/main">
              <a:ext uri="{FF2B5EF4-FFF2-40B4-BE49-F238E27FC236}">
                <a16:creationId xmlns:a16="http://schemas.microsoft.com/office/drawing/2014/main" id="{14A72B1E-8615-4D4C-B67F-C5BBEF0A9D11}"/>
              </a:ext>
            </a:extLst>
          </p:cNvPr>
          <p:cNvSpPr>
            <a:spLocks xmlns:a="http://schemas.openxmlformats.org/drawingml/2006/main" noGrp="1"/>
          </p:cNvSpPr>
          <p:nvPr/>
        </p:nvSpPr>
        <p:spPr>
          <a:xfrm xmlns:a="http://schemas.openxmlformats.org/drawingml/2006/main">
            <a:off x="5248656"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Same ranking</a:t>
            </a:r>
            <a:endParaRPr sz="1500"/>
          </a:p>
        </p:txBody>
      </p:sp>
      <p:sp>
        <p:nvSpPr>
          <p:cNvPr id="36" name="Text 28">
            <a:extLst xmlns:a="http://schemas.openxmlformats.org/drawingml/2006/main">
              <a:ext uri="{FF2B5EF4-FFF2-40B4-BE49-F238E27FC236}">
                <a16:creationId xmlns:a16="http://schemas.microsoft.com/office/drawing/2014/main" id="{9658A50C-A03A-4BA7-8B6E-D39AA8B175AB}"/>
              </a:ext>
            </a:extLst>
          </p:cNvPr>
          <p:cNvSpPr>
            <a:spLocks xmlns:a="http://schemas.openxmlformats.org/drawingml/2006/main" noGrp="1"/>
          </p:cNvSpPr>
          <p:nvPr/>
        </p:nvSpPr>
        <p:spPr>
          <a:xfrm xmlns:a="http://schemas.openxmlformats.org/drawingml/2006/main">
            <a:off x="5248656"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Local sample: encrypted AUC equals plaintext AUC</a:t>
            </a:r>
            <a:endParaRPr sz="1200"/>
          </a:p>
        </p:txBody>
      </p:sp>
      <p:sp>
        <p:nvSpPr>
          <p:cNvPr id="37" name="Tamizaje, no diagnóstico">
            <a:extLst xmlns:a="http://schemas.openxmlformats.org/drawingml/2006/main">
              <a:ext uri="{FF2B5EF4-FFF2-40B4-BE49-F238E27FC236}">
                <a16:creationId xmlns:a16="http://schemas.microsoft.com/office/drawing/2014/main" id="{E847152B-1957-4ABA-8229-5D3DF2D2A17E}"/>
              </a:ext>
            </a:extLst>
          </p:cNvPr>
          <p:cNvSpPr>
            <a:spLocks xmlns:a="http://schemas.openxmlformats.org/drawingml/2006/main" noGrp="1"/>
          </p:cNvSpPr>
          <p:nvPr/>
        </p:nvSpPr>
        <p:spPr>
          <a:xfrm xmlns:a="http://schemas.openxmlformats.org/drawingml/2006/main">
            <a:off x="8119872" y="3794760"/>
            <a:ext cx="3520440" cy="1097280"/>
          </a:xfrm>
          <a:prstGeom xmlns:a="http://schemas.openxmlformats.org/drawingml/2006/main" prst="roundRect">
            <a:avLst>
              <a:gd name="adj" fmla="val 8333"/>
            </a:avLst>
          </a:prstGeom>
          <a:solidFill xmlns:a="http://schemas.openxmlformats.org/drawingml/2006/main">
            <a:schemeClr val="accent2">
              <a:alpha val="12000"/>
            </a:schemeClr>
          </a:solidFill>
          <a:ln xmlns:a="http://schemas.openxmlformats.org/drawingml/2006/main" w="9525">
            <a:solidFill>
              <a:schemeClr val="accent2">
                <a:alpha val="50000"/>
              </a:schemeClr>
            </a:solidFill>
            <a:prstDash val="solid"/>
          </a:ln>
        </p:spPr>
      </p:sp>
      <p:sp>
        <p:nvSpPr>
          <p:cNvPr id="38" name="Tamizaje, no diagnóstico círculo">
            <a:extLst xmlns:a="http://schemas.openxmlformats.org/drawingml/2006/main">
              <a:ext uri="{FF2B5EF4-FFF2-40B4-BE49-F238E27FC236}">
                <a16:creationId xmlns:a16="http://schemas.microsoft.com/office/drawing/2014/main" id="{66D7FCA0-6176-482E-ABEA-1CFED0477DCD}"/>
              </a:ext>
            </a:extLst>
          </p:cNvPr>
          <p:cNvSpPr>
            <a:spLocks xmlns:a="http://schemas.openxmlformats.org/drawingml/2006/main" noGrp="1"/>
          </p:cNvSpPr>
          <p:nvPr/>
        </p:nvSpPr>
        <p:spPr>
          <a:xfrm xmlns:a="http://schemas.openxmlformats.org/drawingml/2006/main">
            <a:off x="8302752" y="4023360"/>
            <a:ext cx="548640" cy="548640"/>
          </a:xfrm>
          <a:prstGeom xmlns:a="http://schemas.openxmlformats.org/drawingml/2006/main" prst="ellipse">
            <a:avLst/>
          </a:prstGeom>
          <a:solidFill xmlns:a="http://schemas.openxmlformats.org/drawingml/2006/main">
            <a:schemeClr val="accent2"/>
          </a:solidFill>
        </p:spPr>
      </p:sp>
      <p:pic>
        <p:nvPicPr>
          <p:cNvPr id="39" name="Tamizaje, no diagnóstico ícono">
            <a:extLst xmlns:a="http://schemas.openxmlformats.org/drawingml/2006/main">
              <a:ext uri="{FF2B5EF4-FFF2-40B4-BE49-F238E27FC236}">
                <a16:creationId xmlns:a16="http://schemas.microsoft.com/office/drawing/2014/main" id="{DA860361-1A77-40E9-80A3-B8873D7F1B3C}"/>
              </a:ext>
            </a:extLst>
          </p:cNvPr>
          <p:cNvPicPr>
            <a:picLocks xmlns:a="http://schemas.openxmlformats.org/drawingml/2006/main" noChangeAspect="1"/>
          </p:cNvPicPr>
          <p:nvPr/>
        </p:nvPicPr>
        <p:blipFill>
          <a:blip xmlns:r="http://schemas.openxmlformats.org/officeDocument/2006/relationships" xmlns:a="http://schemas.openxmlformats.org/drawingml/2006/main" r:embed="R7404a57d67ee4d5f"/>
          <a:stretch xmlns:a="http://schemas.openxmlformats.org/drawingml/2006/main">
            <a:fillRect l="0" t="0" r="0" b="0"/>
          </a:stretch>
        </p:blipFill>
        <p:spPr>
          <a:xfrm xmlns:a="http://schemas.openxmlformats.org/drawingml/2006/main">
            <a:off x="8423453" y="4144061"/>
            <a:ext cx="307238" cy="307238"/>
          </a:xfrm>
          <a:prstGeom xmlns:a="http://schemas.openxmlformats.org/drawingml/2006/main" prst="rect">
            <a:avLst/>
          </a:prstGeom>
        </p:spPr>
      </p:pic>
      <p:sp>
        <p:nvSpPr>
          <p:cNvPr id="40" name="Text 31">
            <a:extLst xmlns:a="http://schemas.openxmlformats.org/drawingml/2006/main">
              <a:ext uri="{FF2B5EF4-FFF2-40B4-BE49-F238E27FC236}">
                <a16:creationId xmlns:a16="http://schemas.microsoft.com/office/drawing/2014/main" id="{6E81E34E-CFD5-41D5-9987-059AF3ED187D}"/>
              </a:ext>
            </a:extLst>
          </p:cNvPr>
          <p:cNvSpPr>
            <a:spLocks xmlns:a="http://schemas.openxmlformats.org/drawingml/2006/main" noGrp="1"/>
          </p:cNvSpPr>
          <p:nvPr/>
        </p:nvSpPr>
        <p:spPr>
          <a:xfrm xmlns:a="http://schemas.openxmlformats.org/drawingml/2006/main">
            <a:off x="9034272" y="3904488"/>
            <a:ext cx="24688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Screening support</a:t>
            </a:r>
            <a:endParaRPr sz="1500"/>
          </a:p>
        </p:txBody>
      </p:sp>
      <p:sp>
        <p:nvSpPr>
          <p:cNvPr id="41" name="Text 32">
            <a:extLst xmlns:a="http://schemas.openxmlformats.org/drawingml/2006/main">
              <a:ext uri="{FF2B5EF4-FFF2-40B4-BE49-F238E27FC236}">
                <a16:creationId xmlns:a16="http://schemas.microsoft.com/office/drawing/2014/main" id="{EADC0458-C119-43A7-95AB-3CFCD0363B74}"/>
              </a:ext>
            </a:extLst>
          </p:cNvPr>
          <p:cNvSpPr>
            <a:spLocks xmlns:a="http://schemas.openxmlformats.org/drawingml/2006/main" noGrp="1"/>
          </p:cNvSpPr>
          <p:nvPr/>
        </p:nvSpPr>
        <p:spPr>
          <a:xfrm xmlns:a="http://schemas.openxmlformats.org/drawingml/2006/main">
            <a:off x="9034272" y="4261104"/>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Prioritize confirmatory glucose testing; this is not a diagnosis</a:t>
            </a:r>
            <a:endParaRPr sz="1200"/>
          </a:p>
        </p:txBody>
      </p:sp>
      <p:sp>
        <p:nvSpPr>
          <p:cNvPr id="42" name="Text 33">
            <a:extLst xmlns:a="http://schemas.openxmlformats.org/drawingml/2006/main">
              <a:ext uri="{FF2B5EF4-FFF2-40B4-BE49-F238E27FC236}">
                <a16:creationId xmlns:a16="http://schemas.microsoft.com/office/drawing/2014/main" id="{2C3FB9F2-1EF4-4D4A-BFC0-6F6C4D398CAB}"/>
              </a:ext>
            </a:extLst>
          </p:cNvPr>
          <p:cNvSpPr>
            <a:spLocks xmlns:a="http://schemas.openxmlformats.org/drawingml/2006/main" noGrp="1"/>
          </p:cNvSpPr>
          <p:nvPr/>
        </p:nvSpPr>
        <p:spPr>
          <a:xfrm xmlns:a="http://schemas.openxmlformats.org/drawingml/2006/main">
            <a:off x="548640" y="5120640"/>
            <a:ext cx="11091672"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chemeClr val="bg1"/>
                </a:solidFill>
              </a:rPr>
              <a:t>AI sees the risk. Nobody sees the patient.</a:t>
            </a:r>
            <a:endParaRPr sz="2600"/>
          </a:p>
        </p:txBody>
      </p:sp>
      <p:sp>
        <p:nvSpPr>
          <p:cNvPr id="43" name="Text 34">
            <a:extLst xmlns:a="http://schemas.openxmlformats.org/drawingml/2006/main">
              <a:ext uri="{FF2B5EF4-FFF2-40B4-BE49-F238E27FC236}">
                <a16:creationId xmlns:a16="http://schemas.microsoft.com/office/drawing/2014/main" id="{5D929F97-76AA-4BD2-97C0-3B521FBA3CD8}"/>
              </a:ext>
            </a:extLst>
          </p:cNvPr>
          <p:cNvSpPr>
            <a:spLocks xmlns:a="http://schemas.openxmlformats.org/drawingml/2006/main" noGrp="1"/>
          </p:cNvSpPr>
          <p:nvPr/>
        </p:nvSpPr>
        <p:spPr>
          <a:xfrm xmlns:a="http://schemas.openxmlformats.org/drawingml/2006/main">
            <a:off x="548640" y="5641848"/>
            <a:ext cx="110916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Scope: the risk service receives ciphertexts only. The planned LinuxONE demo uses two containers on one VM with a trusted administrator and synthetic patients. VM execution is still pending.</a:t>
            </a:r>
            <a:endParaRPr sz="1100"/>
          </a:p>
        </p:txBody>
      </p:sp>
      <p:sp>
        <p:nvSpPr>
          <p:cNvPr id="44" name="Slide Number Placeholder 0">
            <a:extLst xmlns:a="http://schemas.openxmlformats.org/drawingml/2006/main">
              <a:ext uri="{FF2B5EF4-FFF2-40B4-BE49-F238E27FC236}">
                <a16:creationId xmlns:a16="http://schemas.microsoft.com/office/drawing/2014/main" id="{C2A89A8F-6ACC-41AB-AD7A-A61E621FC0F1}"/>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3</a:t>
            </a:fld>
            <a:endParaRPr/>
          </a:p>
        </p:txBody>
      </p:sp>
    </p:spTree>
    <p:extLst>
      <p:ext uri="{BB962C8B-B14F-4D97-AF65-F5344CB8AC3E}">
        <p14:creationId xmlns:p14="http://schemas.microsoft.com/office/powerpoint/2010/main" val="213257289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6533432-8C2D-40B0-B54B-55868719ADFF}"/>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03 · HOMOMORPHIC ENCRYPTION</a:t>
            </a:r>
            <a:endParaRPr sz="1200"/>
          </a:p>
        </p:txBody>
      </p:sp>
      <p:sp>
        <p:nvSpPr>
          <p:cNvPr id="3" name="Text 1">
            <a:extLst xmlns:a="http://schemas.openxmlformats.org/drawingml/2006/main">
              <a:ext uri="{FF2B5EF4-FFF2-40B4-BE49-F238E27FC236}">
                <a16:creationId xmlns:a16="http://schemas.microsoft.com/office/drawing/2014/main" id="{34EAA67D-365A-4F05-A8E0-BEDC1602C917}"/>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Calculate a score without decrypting inputs</a:t>
            </a:r>
            <a:endParaRPr sz="3000"/>
          </a:p>
        </p:txBody>
      </p:sp>
      <p:sp>
        <p:nvSpPr>
          <p:cNvPr id="4" name="Matemática">
            <a:extLst xmlns:a="http://schemas.openxmlformats.org/drawingml/2006/main">
              <a:ext uri="{FF2B5EF4-FFF2-40B4-BE49-F238E27FC236}">
                <a16:creationId xmlns:a16="http://schemas.microsoft.com/office/drawing/2014/main" id="{3B557888-2D02-4990-BF68-B0D22445D5FB}"/>
              </a:ext>
            </a:extLst>
          </p:cNvPr>
          <p:cNvSpPr>
            <a:spLocks xmlns:a="http://schemas.openxmlformats.org/drawingml/2006/main" noGrp="1"/>
          </p:cNvSpPr>
          <p:nvPr/>
        </p:nvSpPr>
        <p:spPr>
          <a:xfrm xmlns:a="http://schemas.openxmlformats.org/drawingml/2006/main">
            <a:off x="548640" y="1783080"/>
            <a:ext cx="5989320" cy="2194560"/>
          </a:xfrm>
          <a:prstGeom xmlns:a="http://schemas.openxmlformats.org/drawingml/2006/main" prst="roundRect">
            <a:avLst>
              <a:gd name="adj" fmla="val 4167"/>
            </a:avLst>
          </a:prstGeom>
          <a:solidFill xmlns:a="http://schemas.openxmlformats.org/drawingml/2006/main">
            <a:schemeClr val="tx2"/>
          </a:solidFill>
          <a:ln xmlns:a="http://schemas.openxmlformats.org/drawingml/2006/main" w="9525">
            <a:solidFill>
              <a:schemeClr val="accent5">
                <a:alpha val="70000"/>
              </a:schemeClr>
            </a:solidFill>
            <a:prstDash val="solid"/>
          </a:ln>
        </p:spPr>
      </p:sp>
      <p:sp>
        <p:nvSpPr>
          <p:cNvPr id="5" name="Text 3">
            <a:extLst xmlns:a="http://schemas.openxmlformats.org/drawingml/2006/main">
              <a:ext uri="{FF2B5EF4-FFF2-40B4-BE49-F238E27FC236}">
                <a16:creationId xmlns:a16="http://schemas.microsoft.com/office/drawing/2014/main" id="{43B2EDF9-A877-4F7A-A194-D8B39EDED447}"/>
              </a:ext>
            </a:extLst>
          </p:cNvPr>
          <p:cNvSpPr>
            <a:spLocks xmlns:a="http://schemas.openxmlformats.org/drawingml/2006/main" noGrp="1"/>
          </p:cNvSpPr>
          <p:nvPr/>
        </p:nvSpPr>
        <p:spPr>
          <a:xfrm xmlns:a="http://schemas.openxmlformats.org/drawingml/2006/main">
            <a:off x="777240" y="1920240"/>
            <a:ext cx="5577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spc="100">
                <a:solidFill>
                  <a:schemeClr val="accent5"/>
                </a:solidFill>
              </a:rPr>
              <a:t>THE PAILLIER PROPERTY</a:t>
            </a:r>
            <a:endParaRPr sz="1100"/>
          </a:p>
        </p:txBody>
      </p:sp>
      <p:sp>
        <p:nvSpPr>
          <p:cNvPr id="6" name="Text 4">
            <a:extLst xmlns:a="http://schemas.openxmlformats.org/drawingml/2006/main">
              <a:ext uri="{FF2B5EF4-FFF2-40B4-BE49-F238E27FC236}">
                <a16:creationId xmlns:a16="http://schemas.microsoft.com/office/drawing/2014/main" id="{0D817571-E3EE-4975-B67A-353E9C48987D}"/>
              </a:ext>
            </a:extLst>
          </p:cNvPr>
          <p:cNvSpPr>
            <a:spLocks xmlns:a="http://schemas.openxmlformats.org/drawingml/2006/main" noGrp="1"/>
          </p:cNvSpPr>
          <p:nvPr/>
        </p:nvSpPr>
        <p:spPr>
          <a:xfrm xmlns:a="http://schemas.openxmlformats.org/drawingml/2006/main">
            <a:off x="777240" y="2286000"/>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bg1"/>
                </a:solidFill>
                <a:latin typeface="Courier New"/>
                <a:ea typeface="Courier New"/>
                <a:cs typeface="Courier New"/>
              </a:rPr>
              <a:t>Enc(a) · Enc(b)  =  Enc(a + b)</a:t>
            </a:r>
            <a:endParaRPr sz="1700"/>
          </a:p>
        </p:txBody>
      </p:sp>
      <p:sp>
        <p:nvSpPr>
          <p:cNvPr id="7" name="Text 5">
            <a:extLst xmlns:a="http://schemas.openxmlformats.org/drawingml/2006/main">
              <a:ext uri="{FF2B5EF4-FFF2-40B4-BE49-F238E27FC236}">
                <a16:creationId xmlns:a16="http://schemas.microsoft.com/office/drawing/2014/main" id="{6F824285-6BA6-4E12-AB34-E50DD160131E}"/>
              </a:ext>
            </a:extLst>
          </p:cNvPr>
          <p:cNvSpPr>
            <a:spLocks xmlns:a="http://schemas.openxmlformats.org/drawingml/2006/main" noGrp="1"/>
          </p:cNvSpPr>
          <p:nvPr/>
        </p:nvSpPr>
        <p:spPr>
          <a:xfrm xmlns:a="http://schemas.openxmlformats.org/drawingml/2006/main">
            <a:off x="777240" y="2670048"/>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bg1"/>
                </a:solidFill>
                <a:latin typeface="Courier New"/>
                <a:ea typeface="Courier New"/>
                <a:cs typeface="Courier New"/>
              </a:rPr>
              <a:t>Enc(a) ^ k       =  Enc(k · a)</a:t>
            </a:r>
            <a:endParaRPr sz="1700"/>
          </a:p>
        </p:txBody>
      </p:sp>
      <p:sp>
        <p:nvSpPr>
          <p:cNvPr id="8" name="Text 6">
            <a:extLst xmlns:a="http://schemas.openxmlformats.org/drawingml/2006/main">
              <a:ext uri="{FF2B5EF4-FFF2-40B4-BE49-F238E27FC236}">
                <a16:creationId xmlns:a16="http://schemas.microsoft.com/office/drawing/2014/main" id="{C3A6FB25-6521-4ECB-BA9D-B2138BBD5404}"/>
              </a:ext>
            </a:extLst>
          </p:cNvPr>
          <p:cNvSpPr>
            <a:spLocks xmlns:a="http://schemas.openxmlformats.org/drawingml/2006/main" noGrp="1"/>
          </p:cNvSpPr>
          <p:nvPr/>
        </p:nvSpPr>
        <p:spPr>
          <a:xfrm xmlns:a="http://schemas.openxmlformats.org/drawingml/2006/main">
            <a:off x="777240" y="3054096"/>
            <a:ext cx="55778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chemeClr val="accent2"/>
                </a:solidFill>
                <a:latin typeface="Courier New"/>
                <a:ea typeface="Courier New"/>
                <a:cs typeface="Courier New"/>
              </a:rPr>
              <a:t>∏ Enc(xᵢ) ^ wᵢ   =  Enc(w · x)</a:t>
            </a:r>
            <a:endParaRPr sz="1700"/>
          </a:p>
        </p:txBody>
      </p:sp>
      <p:sp>
        <p:nvSpPr>
          <p:cNvPr id="9" name="Text 7">
            <a:extLst xmlns:a="http://schemas.openxmlformats.org/drawingml/2006/main">
              <a:ext uri="{FF2B5EF4-FFF2-40B4-BE49-F238E27FC236}">
                <a16:creationId xmlns:a16="http://schemas.microsoft.com/office/drawing/2014/main" id="{266B8741-FE59-49AC-8C56-160BFA4BF129}"/>
              </a:ext>
            </a:extLst>
          </p:cNvPr>
          <p:cNvSpPr>
            <a:spLocks xmlns:a="http://schemas.openxmlformats.org/drawingml/2006/main" noGrp="1"/>
          </p:cNvSpPr>
          <p:nvPr/>
        </p:nvSpPr>
        <p:spPr>
          <a:xfrm xmlns:a="http://schemas.openxmlformats.org/drawingml/2006/main">
            <a:off x="777240" y="3456432"/>
            <a:ext cx="5577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The service combines ciphertexts with model weights to obtain an encrypted score. The hospital decrypts and applies the sigmoid.</a:t>
            </a:r>
            <a:endParaRPr sz="1100"/>
          </a:p>
        </p:txBody>
      </p:sp>
      <p:sp>
        <p:nvSpPr>
          <p:cNvPr id="10" name="En tránsito">
            <a:extLst xmlns:a="http://schemas.openxmlformats.org/drawingml/2006/main">
              <a:ext uri="{FF2B5EF4-FFF2-40B4-BE49-F238E27FC236}">
                <a16:creationId xmlns:a16="http://schemas.microsoft.com/office/drawing/2014/main" id="{E4AE1323-2EAD-4526-ABE9-F825D6EAF45E}"/>
              </a:ext>
            </a:extLst>
          </p:cNvPr>
          <p:cNvSpPr>
            <a:spLocks xmlns:a="http://schemas.openxmlformats.org/drawingml/2006/main" noGrp="1"/>
          </p:cNvSpPr>
          <p:nvPr/>
        </p:nvSpPr>
        <p:spPr>
          <a:xfrm xmlns:a="http://schemas.openxmlformats.org/drawingml/2006/main">
            <a:off x="6812280" y="1783080"/>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1" name="En tránsito círculo">
            <a:extLst xmlns:a="http://schemas.openxmlformats.org/drawingml/2006/main">
              <a:ext uri="{FF2B5EF4-FFF2-40B4-BE49-F238E27FC236}">
                <a16:creationId xmlns:a16="http://schemas.microsoft.com/office/drawing/2014/main" id="{0241EEBB-34A4-41DE-A576-8784EA985012}"/>
              </a:ext>
            </a:extLst>
          </p:cNvPr>
          <p:cNvSpPr>
            <a:spLocks xmlns:a="http://schemas.openxmlformats.org/drawingml/2006/main" noGrp="1"/>
          </p:cNvSpPr>
          <p:nvPr/>
        </p:nvSpPr>
        <p:spPr>
          <a:xfrm xmlns:a="http://schemas.openxmlformats.org/drawingml/2006/main">
            <a:off x="6949440" y="1901952"/>
            <a:ext cx="420624" cy="420624"/>
          </a:xfrm>
          <a:prstGeom xmlns:a="http://schemas.openxmlformats.org/drawingml/2006/main" prst="ellipse">
            <a:avLst/>
          </a:prstGeom>
          <a:solidFill xmlns:a="http://schemas.openxmlformats.org/drawingml/2006/main">
            <a:schemeClr val="accent1"/>
          </a:solidFill>
        </p:spPr>
      </p:sp>
      <p:pic>
        <p:nvPicPr>
          <p:cNvPr id="12" name="En tránsito ícono">
            <a:extLst xmlns:a="http://schemas.openxmlformats.org/drawingml/2006/main">
              <a:ext uri="{FF2B5EF4-FFF2-40B4-BE49-F238E27FC236}">
                <a16:creationId xmlns:a16="http://schemas.microsoft.com/office/drawing/2014/main" id="{3B936CD6-E243-4806-A8C2-1EF7ED126F7A}"/>
              </a:ext>
            </a:extLst>
          </p:cNvPr>
          <p:cNvPicPr>
            <a:picLocks xmlns:a="http://schemas.openxmlformats.org/drawingml/2006/main" noChangeAspect="1"/>
          </p:cNvPicPr>
          <p:nvPr/>
        </p:nvPicPr>
        <p:blipFill>
          <a:blip xmlns:r="http://schemas.openxmlformats.org/officeDocument/2006/relationships" xmlns:a="http://schemas.openxmlformats.org/drawingml/2006/main" r:embed="R37a4abbe65dd464a"/>
          <a:stretch xmlns:a="http://schemas.openxmlformats.org/drawingml/2006/main">
            <a:fillRect l="0" t="0" r="0" b="0"/>
          </a:stretch>
        </p:blipFill>
        <p:spPr>
          <a:xfrm xmlns:a="http://schemas.openxmlformats.org/drawingml/2006/main">
            <a:off x="7041977" y="1994489"/>
            <a:ext cx="235549" cy="235549"/>
          </a:xfrm>
          <a:prstGeom xmlns:a="http://schemas.openxmlformats.org/drawingml/2006/main" prst="rect">
            <a:avLst/>
          </a:prstGeom>
        </p:spPr>
      </p:pic>
      <p:sp>
        <p:nvSpPr>
          <p:cNvPr id="13" name="Text 10">
            <a:extLst xmlns:a="http://schemas.openxmlformats.org/drawingml/2006/main">
              <a:ext uri="{FF2B5EF4-FFF2-40B4-BE49-F238E27FC236}">
                <a16:creationId xmlns:a16="http://schemas.microsoft.com/office/drawing/2014/main" id="{610178B8-6968-4746-BB08-BC9424EDB41E}"/>
              </a:ext>
            </a:extLst>
          </p:cNvPr>
          <p:cNvSpPr>
            <a:spLocks xmlns:a="http://schemas.openxmlformats.org/drawingml/2006/main" noGrp="1"/>
          </p:cNvSpPr>
          <p:nvPr/>
        </p:nvSpPr>
        <p:spPr>
          <a:xfrm xmlns:a="http://schemas.openxmlformats.org/drawingml/2006/main">
            <a:off x="7498080" y="1837944"/>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In transit</a:t>
            </a:r>
            <a:endParaRPr sz="1400"/>
          </a:p>
        </p:txBody>
      </p:sp>
      <p:sp>
        <p:nvSpPr>
          <p:cNvPr id="14" name="Text 11">
            <a:extLst xmlns:a="http://schemas.openxmlformats.org/drawingml/2006/main">
              <a:ext uri="{FF2B5EF4-FFF2-40B4-BE49-F238E27FC236}">
                <a16:creationId xmlns:a16="http://schemas.microsoft.com/office/drawing/2014/main" id="{DC7B0697-5E9C-404D-8CF9-9ADBB56F7195}"/>
              </a:ext>
            </a:extLst>
          </p:cNvPr>
          <p:cNvSpPr>
            <a:spLocks xmlns:a="http://schemas.openxmlformats.org/drawingml/2006/main" noGrp="1"/>
          </p:cNvSpPr>
          <p:nvPr/>
        </p:nvSpPr>
        <p:spPr>
          <a:xfrm xmlns:a="http://schemas.openxmlformats.org/drawingml/2006/main">
            <a:off x="8732520" y="1837944"/>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Mutual TLS 1.3 between hospital and service</a:t>
            </a:r>
            <a:endParaRPr sz="1200"/>
          </a:p>
        </p:txBody>
      </p:sp>
      <p:sp>
        <p:nvSpPr>
          <p:cNvPr id="15" name="En reposo">
            <a:extLst xmlns:a="http://schemas.openxmlformats.org/drawingml/2006/main">
              <a:ext uri="{FF2B5EF4-FFF2-40B4-BE49-F238E27FC236}">
                <a16:creationId xmlns:a16="http://schemas.microsoft.com/office/drawing/2014/main" id="{7CB95DDC-2E81-4721-8E39-A27E7BB13FC9}"/>
              </a:ext>
            </a:extLst>
          </p:cNvPr>
          <p:cNvSpPr>
            <a:spLocks xmlns:a="http://schemas.openxmlformats.org/drawingml/2006/main" noGrp="1"/>
          </p:cNvSpPr>
          <p:nvPr/>
        </p:nvSpPr>
        <p:spPr>
          <a:xfrm xmlns:a="http://schemas.openxmlformats.org/drawingml/2006/main">
            <a:off x="6812280" y="2532888"/>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6" name="En reposo círculo">
            <a:extLst xmlns:a="http://schemas.openxmlformats.org/drawingml/2006/main">
              <a:ext uri="{FF2B5EF4-FFF2-40B4-BE49-F238E27FC236}">
                <a16:creationId xmlns:a16="http://schemas.microsoft.com/office/drawing/2014/main" id="{B20FB49E-A688-455B-B835-FC8F8164EF1E}"/>
              </a:ext>
            </a:extLst>
          </p:cNvPr>
          <p:cNvSpPr>
            <a:spLocks xmlns:a="http://schemas.openxmlformats.org/drawingml/2006/main" noGrp="1"/>
          </p:cNvSpPr>
          <p:nvPr/>
        </p:nvSpPr>
        <p:spPr>
          <a:xfrm xmlns:a="http://schemas.openxmlformats.org/drawingml/2006/main">
            <a:off x="6949440" y="2651760"/>
            <a:ext cx="420624" cy="420624"/>
          </a:xfrm>
          <a:prstGeom xmlns:a="http://schemas.openxmlformats.org/drawingml/2006/main" prst="ellipse">
            <a:avLst/>
          </a:prstGeom>
          <a:solidFill xmlns:a="http://schemas.openxmlformats.org/drawingml/2006/main">
            <a:schemeClr val="accent1"/>
          </a:solidFill>
        </p:spPr>
      </p:sp>
      <p:pic>
        <p:nvPicPr>
          <p:cNvPr id="17" name="En reposo ícono">
            <a:extLst xmlns:a="http://schemas.openxmlformats.org/drawingml/2006/main">
              <a:ext uri="{FF2B5EF4-FFF2-40B4-BE49-F238E27FC236}">
                <a16:creationId xmlns:a16="http://schemas.microsoft.com/office/drawing/2014/main" id="{9893E73B-8EB7-4D86-A06F-43AF2810EEF3}"/>
              </a:ext>
            </a:extLst>
          </p:cNvPr>
          <p:cNvPicPr>
            <a:picLocks xmlns:a="http://schemas.openxmlformats.org/drawingml/2006/main" noChangeAspect="1"/>
          </p:cNvPicPr>
          <p:nvPr/>
        </p:nvPicPr>
        <p:blipFill>
          <a:blip xmlns:r="http://schemas.openxmlformats.org/officeDocument/2006/relationships" xmlns:a="http://schemas.openxmlformats.org/drawingml/2006/main" r:embed="R1cec68eb66424305"/>
          <a:stretch xmlns:a="http://schemas.openxmlformats.org/drawingml/2006/main">
            <a:fillRect l="0" t="0" r="0" b="0"/>
          </a:stretch>
        </p:blipFill>
        <p:spPr>
          <a:xfrm xmlns:a="http://schemas.openxmlformats.org/drawingml/2006/main">
            <a:off x="7041977" y="2744297"/>
            <a:ext cx="235549" cy="235549"/>
          </a:xfrm>
          <a:prstGeom xmlns:a="http://schemas.openxmlformats.org/drawingml/2006/main" prst="rect">
            <a:avLst/>
          </a:prstGeom>
        </p:spPr>
      </p:pic>
      <p:sp>
        <p:nvSpPr>
          <p:cNvPr id="18" name="Text 14">
            <a:extLst xmlns:a="http://schemas.openxmlformats.org/drawingml/2006/main">
              <a:ext uri="{FF2B5EF4-FFF2-40B4-BE49-F238E27FC236}">
                <a16:creationId xmlns:a16="http://schemas.microsoft.com/office/drawing/2014/main" id="{57651D80-A3F8-488C-A5A0-7B62AB72A7EF}"/>
              </a:ext>
            </a:extLst>
          </p:cNvPr>
          <p:cNvSpPr>
            <a:spLocks xmlns:a="http://schemas.openxmlformats.org/drawingml/2006/main" noGrp="1"/>
          </p:cNvSpPr>
          <p:nvPr/>
        </p:nvSpPr>
        <p:spPr>
          <a:xfrm xmlns:a="http://schemas.openxmlformats.org/drawingml/2006/main">
            <a:off x="7498080" y="2587752"/>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At rest</a:t>
            </a:r>
            <a:endParaRPr sz="1400"/>
          </a:p>
        </p:txBody>
      </p:sp>
      <p:sp>
        <p:nvSpPr>
          <p:cNvPr id="19" name="Text 15">
            <a:extLst xmlns:a="http://schemas.openxmlformats.org/drawingml/2006/main">
              <a:ext uri="{FF2B5EF4-FFF2-40B4-BE49-F238E27FC236}">
                <a16:creationId xmlns:a16="http://schemas.microsoft.com/office/drawing/2014/main" id="{E7E28C50-35FB-4EEB-8BB9-B7E16C0C27C2}"/>
              </a:ext>
            </a:extLst>
          </p:cNvPr>
          <p:cNvSpPr>
            <a:spLocks xmlns:a="http://schemas.openxmlformats.org/drawingml/2006/main" noGrp="1"/>
          </p:cNvSpPr>
          <p:nvPr/>
        </p:nvSpPr>
        <p:spPr>
          <a:xfrm xmlns:a="http://schemas.openxmlformats.org/drawingml/2006/main">
            <a:off x="8732520" y="2587752"/>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AES-256-GCM in the hospital vault</a:t>
            </a:r>
            <a:endParaRPr sz="1200"/>
          </a:p>
        </p:txBody>
      </p:sp>
      <p:sp>
        <p:nvSpPr>
          <p:cNvPr id="20" name="En uso">
            <a:extLst xmlns:a="http://schemas.openxmlformats.org/drawingml/2006/main">
              <a:ext uri="{FF2B5EF4-FFF2-40B4-BE49-F238E27FC236}">
                <a16:creationId xmlns:a16="http://schemas.microsoft.com/office/drawing/2014/main" id="{17439297-157A-4BC1-BB93-3133BCFBA45C}"/>
              </a:ext>
            </a:extLst>
          </p:cNvPr>
          <p:cNvSpPr>
            <a:spLocks xmlns:a="http://schemas.openxmlformats.org/drawingml/2006/main" noGrp="1"/>
          </p:cNvSpPr>
          <p:nvPr/>
        </p:nvSpPr>
        <p:spPr>
          <a:xfrm xmlns:a="http://schemas.openxmlformats.org/drawingml/2006/main">
            <a:off x="6812280" y="3282696"/>
            <a:ext cx="4828032" cy="658368"/>
          </a:xfrm>
          <a:prstGeom xmlns:a="http://schemas.openxmlformats.org/drawingml/2006/main" prst="roundRect">
            <a:avLst>
              <a:gd name="adj" fmla="val 13889"/>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21" name="En uso círculo">
            <a:extLst xmlns:a="http://schemas.openxmlformats.org/drawingml/2006/main">
              <a:ext uri="{FF2B5EF4-FFF2-40B4-BE49-F238E27FC236}">
                <a16:creationId xmlns:a16="http://schemas.microsoft.com/office/drawing/2014/main" id="{BE6EFB16-510B-4E7D-AAEF-388519BAD095}"/>
              </a:ext>
            </a:extLst>
          </p:cNvPr>
          <p:cNvSpPr>
            <a:spLocks xmlns:a="http://schemas.openxmlformats.org/drawingml/2006/main" noGrp="1"/>
          </p:cNvSpPr>
          <p:nvPr/>
        </p:nvSpPr>
        <p:spPr>
          <a:xfrm xmlns:a="http://schemas.openxmlformats.org/drawingml/2006/main">
            <a:off x="6949440" y="3401568"/>
            <a:ext cx="420624" cy="420624"/>
          </a:xfrm>
          <a:prstGeom xmlns:a="http://schemas.openxmlformats.org/drawingml/2006/main" prst="ellipse">
            <a:avLst/>
          </a:prstGeom>
          <a:solidFill xmlns:a="http://schemas.openxmlformats.org/drawingml/2006/main">
            <a:schemeClr val="accent1"/>
          </a:solidFill>
        </p:spPr>
      </p:sp>
      <p:pic>
        <p:nvPicPr>
          <p:cNvPr id="22" name="En uso ícono">
            <a:extLst xmlns:a="http://schemas.openxmlformats.org/drawingml/2006/main">
              <a:ext uri="{FF2B5EF4-FFF2-40B4-BE49-F238E27FC236}">
                <a16:creationId xmlns:a16="http://schemas.microsoft.com/office/drawing/2014/main" id="{BF84971F-9714-477B-AE42-A0F66D64B5EB}"/>
              </a:ext>
            </a:extLst>
          </p:cNvPr>
          <p:cNvPicPr>
            <a:picLocks xmlns:a="http://schemas.openxmlformats.org/drawingml/2006/main" noChangeAspect="1"/>
          </p:cNvPicPr>
          <p:nvPr/>
        </p:nvPicPr>
        <p:blipFill>
          <a:blip xmlns:r="http://schemas.openxmlformats.org/officeDocument/2006/relationships" xmlns:a="http://schemas.openxmlformats.org/drawingml/2006/main" r:embed="Rc28d656cd9f8478b"/>
          <a:stretch xmlns:a="http://schemas.openxmlformats.org/drawingml/2006/main">
            <a:fillRect l="0" t="0" r="0" b="0"/>
          </a:stretch>
        </p:blipFill>
        <p:spPr>
          <a:xfrm xmlns:a="http://schemas.openxmlformats.org/drawingml/2006/main">
            <a:off x="7041977" y="3494105"/>
            <a:ext cx="235549" cy="235549"/>
          </a:xfrm>
          <a:prstGeom xmlns:a="http://schemas.openxmlformats.org/drawingml/2006/main" prst="rect">
            <a:avLst/>
          </a:prstGeom>
        </p:spPr>
      </p:pic>
      <p:sp>
        <p:nvSpPr>
          <p:cNvPr id="23" name="Text 18">
            <a:extLst xmlns:a="http://schemas.openxmlformats.org/drawingml/2006/main">
              <a:ext uri="{FF2B5EF4-FFF2-40B4-BE49-F238E27FC236}">
                <a16:creationId xmlns:a16="http://schemas.microsoft.com/office/drawing/2014/main" id="{FB0B5BFB-CA40-4A1C-98AB-F84B2404BE0E}"/>
              </a:ext>
            </a:extLst>
          </p:cNvPr>
          <p:cNvSpPr>
            <a:spLocks xmlns:a="http://schemas.openxmlformats.org/drawingml/2006/main" noGrp="1"/>
          </p:cNvSpPr>
          <p:nvPr/>
        </p:nvSpPr>
        <p:spPr>
          <a:xfrm xmlns:a="http://schemas.openxmlformats.org/drawingml/2006/main">
            <a:off x="7498080" y="3337560"/>
            <a:ext cx="1280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During use</a:t>
            </a:r>
            <a:endParaRPr sz="1400"/>
          </a:p>
        </p:txBody>
      </p:sp>
      <p:sp>
        <p:nvSpPr>
          <p:cNvPr id="24" name="Text 19">
            <a:extLst xmlns:a="http://schemas.openxmlformats.org/drawingml/2006/main">
              <a:ext uri="{FF2B5EF4-FFF2-40B4-BE49-F238E27FC236}">
                <a16:creationId xmlns:a16="http://schemas.microsoft.com/office/drawing/2014/main" id="{AF7374AB-213F-4702-833B-911464EF439F}"/>
              </a:ext>
            </a:extLst>
          </p:cNvPr>
          <p:cNvSpPr>
            <a:spLocks xmlns:a="http://schemas.openxmlformats.org/drawingml/2006/main" noGrp="1"/>
          </p:cNvSpPr>
          <p:nvPr/>
        </p:nvSpPr>
        <p:spPr>
          <a:xfrm xmlns:a="http://schemas.openxmlformats.org/drawingml/2006/main">
            <a:off x="8732520" y="3337560"/>
            <a:ext cx="2788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chemeClr val="bg2"/>
                </a:solidFill>
              </a:rPr>
              <a:t>2048-bit Paillier: calculation without decryption</a:t>
            </a:r>
            <a:endParaRPr sz="1200"/>
          </a:p>
        </p:txBody>
      </p:sp>
      <p:sp>
        <p:nvSpPr>
          <p:cNvPr id="25" name="Text 20">
            <a:extLst xmlns:a="http://schemas.openxmlformats.org/drawingml/2006/main">
              <a:ext uri="{FF2B5EF4-FFF2-40B4-BE49-F238E27FC236}">
                <a16:creationId xmlns:a16="http://schemas.microsoft.com/office/drawing/2014/main" id="{A20AD98B-AD25-424F-B488-2D7CF0D3D25D}"/>
              </a:ext>
            </a:extLst>
          </p:cNvPr>
          <p:cNvSpPr>
            <a:spLocks xmlns:a="http://schemas.openxmlformats.org/drawingml/2006/main" noGrp="1"/>
          </p:cNvSpPr>
          <p:nvPr/>
        </p:nvSpPr>
        <p:spPr>
          <a:xfrm xmlns:a="http://schemas.openxmlformats.org/drawingml/2006/main">
            <a:off x="548640" y="4114800"/>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Who can see what?</a:t>
            </a:r>
            <a:endParaRPr sz="1600"/>
          </a:p>
        </p:txBody>
      </p:sp>
      <p:graphicFrame>
        <p:nvGraphicFramePr>
          <p:cNvPr id="26" name="Quién ve qué">
            <a:extLst xmlns:a="http://schemas.openxmlformats.org/drawingml/2006/main">
              <a:ext uri="{FF2B5EF4-FFF2-40B4-BE49-F238E27FC236}">
                <a16:creationId xmlns:a16="http://schemas.microsoft.com/office/drawing/2014/main" id="{1150C1D5-F446-48B9-BCED-1598B3744405}"/>
              </a:ext>
            </a:extLst>
          </p:cNvPr>
          <p:cNvGraphicFramePr/>
          <p:nvPr/>
        </p:nvGraphicFramePr>
        <p:xfrm>
          <a:off xmlns:a="http://schemas.openxmlformats.org/drawingml/2006/main" x="548640" y="4480560"/>
          <a:ext xmlns:a="http://schemas.openxmlformats.org/drawingml/2006/main" cx="11091672" cy="914400"/>
        </p:xfrm>
        <a:graphic xmlns:a="http://schemas.openxmlformats.org/drawingml/2006/main">
          <a:graphicData uri="http://schemas.openxmlformats.org/drawingml/2006/table">
            <a:tbl>
              <a:tblPr/>
              <a:tblGrid>
                <a:gridCol w="3931920"/>
                <a:gridCol w="3749040"/>
                <a:gridCol w="3410712"/>
              </a:tblGrid>
              <a:tr h="301752">
                <a:tc>
                  <a:txBody>
                    <a:bodyPr/>
                    <a:lstStyle/>
                    <a:p>
                      <a:pPr marL="0" indent="0">
                        <a:buNone/>
                      </a:pPr>
                      <a:r>
                        <a:rPr sz="1200" b="1">
                          <a:solidFill>
                            <a:schemeClr val="accent5"/>
                          </a:solidFill>
                          <a:latin typeface="Arial"/>
                          <a:ea typeface="Arial"/>
                          <a:cs typeface="Arial"/>
                        </a:rPr>
                        <a:t>Component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c>
                  <a:txBody>
                    <a:bodyPr/>
                    <a:lstStyle/>
                    <a:p>
                      <a:pPr marL="0" indent="0">
                        <a:buNone/>
                      </a:pPr>
                      <a:r>
                        <a:rPr sz="1200" b="1">
                          <a:solidFill>
                            <a:schemeClr val="accent5"/>
                          </a:solidFill>
                          <a:latin typeface="Arial"/>
                          <a:ea typeface="Arial"/>
                          <a:cs typeface="Arial"/>
                        </a:rPr>
                        <a:t>Patient inputs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c>
                  <a:txBody>
                    <a:bodyPr/>
                    <a:lstStyle/>
                    <a:p>
                      <a:pPr marL="0" indent="0">
                        <a:buNone/>
                      </a:pPr>
                      <a:r>
                        <a:rPr sz="1200" b="1">
                          <a:solidFill>
                            <a:schemeClr val="accent5"/>
                          </a:solidFill>
                          <a:latin typeface="Arial"/>
                          <a:ea typeface="Arial"/>
                          <a:cs typeface="Arial"/>
                        </a:rPr>
                        <a:t>Risk result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solidFill>
                      <a:schemeClr val="tx2"/>
                    </a:solidFill>
                  </a:tcPr>
                </a:tc>
              </a:tr>
              <a:tr h="301752">
                <a:tc>
                  <a:txBody>
                    <a:bodyPr/>
                    <a:lstStyle/>
                    <a:p>
                      <a:pPr marL="0" indent="0">
                        <a:buNone/>
                      </a:pPr>
                      <a:r>
                        <a:rPr sz="1200">
                          <a:solidFill>
                            <a:schemeClr val="bg1"/>
                          </a:solidFill>
                          <a:latin typeface="Arial"/>
                          <a:ea typeface="Arial"/>
                          <a:cs typeface="Arial"/>
                        </a:rPr>
                        <a:t>Hospital (private-key holder)</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a:solidFill>
                            <a:schemeClr val="bg2"/>
                          </a:solidFill>
                          <a:latin typeface="Arial"/>
                          <a:ea typeface="Arial"/>
                          <a:cs typeface="Arial"/>
                        </a:rPr>
                        <a:t>Plaintext: its own patients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a:solidFill>
                            <a:schemeClr val="bg2"/>
                          </a:solidFill>
                          <a:latin typeface="Arial"/>
                          <a:ea typeface="Arial"/>
                          <a:cs typeface="Arial"/>
                        </a:rPr>
                        <a:t>Plaintext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Risk service (no private key)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Ciphertexts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Ciphertext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Hospital vault records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AES-256-GCM ciphertext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AES-256-GCM ciphertext</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r h="301752">
                <a:tc>
                  <a:txBody>
                    <a:bodyPr/>
                    <a:lstStyle/>
                    <a:p>
                      <a:pPr marL="0" indent="0">
                        <a:buNone/>
                      </a:pPr>
                      <a:r>
                        <a:rPr sz="1200">
                          <a:solidFill>
                            <a:schemeClr val="bg1"/>
                          </a:solidFill>
                          <a:latin typeface="Arial"/>
                          <a:ea typeface="Arial"/>
                          <a:cs typeface="Arial"/>
                        </a:rPr>
                        <a:t>Service logs</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No: IDs, ms and byte counts only</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c>
                  <a:txBody>
                    <a:bodyPr/>
                    <a:lstStyle/>
                    <a:p>
                      <a:pPr marL="0" indent="0">
                        <a:buNone/>
                      </a:pPr>
                      <a:r>
                        <a:rPr sz="1200" b="1">
                          <a:solidFill>
                            <a:schemeClr val="accent2"/>
                          </a:solidFill>
                          <a:latin typeface="Arial"/>
                          <a:ea typeface="Arial"/>
                          <a:cs typeface="Arial"/>
                        </a:rPr>
                        <a:t>No</a:t>
                      </a:r>
                      <a:endParaRPr sz="1200">
                        <a:latin typeface="Arial"/>
                        <a:ea typeface="Arial"/>
                        <a:cs typeface="Arial"/>
                      </a:endParaRPr>
                    </a:p>
                  </a:txBody>
                  <a:tcPr marL="109728" marR="109728" marT="0" marB="0" anchor="ctr">
                    <a:lnL w="9525" cmpd="sng">
                      <a:solidFill>
                        <a:srgbClr val="2E2E3A"/>
                      </a:solidFill>
                      <a:prstDash val="solid"/>
                    </a:lnL>
                    <a:lnR w="9525" cmpd="sng">
                      <a:solidFill>
                        <a:srgbClr val="2E2E3A"/>
                      </a:solidFill>
                      <a:prstDash val="solid"/>
                    </a:lnR>
                    <a:lnT w="9525" cmpd="sng">
                      <a:solidFill>
                        <a:srgbClr val="2E2E3A"/>
                      </a:solidFill>
                      <a:prstDash val="solid"/>
                    </a:lnT>
                    <a:lnB w="9525" cmpd="sng">
                      <a:solidFill>
                        <a:srgbClr val="2E2E3A"/>
                      </a:solidFill>
                      <a:prstDash val="solid"/>
                    </a:lnB>
                  </a:tcPr>
                </a:tc>
              </a:tr>
            </a:tbl>
          </a:graphicData>
        </a:graphic>
      </p:graphicFrame>
      <p:sp>
        <p:nvSpPr>
          <p:cNvPr id="27" name="Slide Number Placeholder 0">
            <a:extLst xmlns:a="http://schemas.openxmlformats.org/drawingml/2006/main">
              <a:ext uri="{FF2B5EF4-FFF2-40B4-BE49-F238E27FC236}">
                <a16:creationId xmlns:a16="http://schemas.microsoft.com/office/drawing/2014/main" id="{4E296B7B-EE99-4C60-92F6-EF9A347F153A}"/>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4</a:t>
            </a:fld>
            <a:endParaRPr/>
          </a:p>
        </p:txBody>
      </p:sp>
    </p:spTree>
    <p:extLst>
      <p:ext uri="{BB962C8B-B14F-4D97-AF65-F5344CB8AC3E}">
        <p14:creationId xmlns:p14="http://schemas.microsoft.com/office/powerpoint/2010/main" val="124557080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640BF8C6-1D07-4173-936C-61282B3082DD}"/>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04 · WHY IBM Z</a:t>
            </a:r>
            <a:endParaRPr sz="1200"/>
          </a:p>
        </p:txBody>
      </p:sp>
      <p:sp>
        <p:nvSpPr>
          <p:cNvPr id="3" name="Text 1">
            <a:extLst xmlns:a="http://schemas.openxmlformats.org/drawingml/2006/main">
              <a:ext uri="{FF2B5EF4-FFF2-40B4-BE49-F238E27FC236}">
                <a16:creationId xmlns:a16="http://schemas.microsoft.com/office/drawing/2014/main" id="{13067362-509E-44A2-9E00-A91D3D01E2DB}"/>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Two containers; the private key stays at the hospital</a:t>
            </a:r>
            <a:endParaRPr sz="3000"/>
          </a:p>
        </p:txBody>
      </p:sp>
      <p:sp>
        <p:nvSpPr>
          <p:cNvPr id="4" name="Clínicas">
            <a:extLst xmlns:a="http://schemas.openxmlformats.org/drawingml/2006/main">
              <a:ext uri="{FF2B5EF4-FFF2-40B4-BE49-F238E27FC236}">
                <a16:creationId xmlns:a16="http://schemas.microsoft.com/office/drawing/2014/main" id="{640CDDA5-508D-4EDC-9F5F-E47EF6B19247}"/>
              </a:ext>
            </a:extLst>
          </p:cNvPr>
          <p:cNvSpPr>
            <a:spLocks xmlns:a="http://schemas.openxmlformats.org/drawingml/2006/main" noGrp="1"/>
          </p:cNvSpPr>
          <p:nvPr/>
        </p:nvSpPr>
        <p:spPr>
          <a:xfrm xmlns:a="http://schemas.openxmlformats.org/drawingml/2006/main">
            <a:off x="548640" y="2926080"/>
            <a:ext cx="1325880" cy="1005840"/>
          </a:xfrm>
          <a:prstGeom xmlns:a="http://schemas.openxmlformats.org/drawingml/2006/main" prst="roundRect">
            <a:avLst>
              <a:gd name="adj" fmla="val 9091"/>
            </a:avLst>
          </a:prstGeom>
          <a:solidFill xmlns:a="http://schemas.openxmlformats.org/drawingml/2006/main">
            <a:schemeClr val="tx2"/>
          </a:solidFill>
          <a:ln xmlns:a="http://schemas.openxmlformats.org/drawingml/2006/main" w="9525">
            <a:solidFill>
              <a:schemeClr val="accent6">
                <a:alpha val="60000"/>
              </a:schemeClr>
            </a:solidFill>
            <a:prstDash val="solid"/>
          </a:ln>
        </p:spPr>
      </p:sp>
      <p:sp>
        <p:nvSpPr>
          <p:cNvPr id="5" name="Clínicas círculo">
            <a:extLst xmlns:a="http://schemas.openxmlformats.org/drawingml/2006/main">
              <a:ext uri="{FF2B5EF4-FFF2-40B4-BE49-F238E27FC236}">
                <a16:creationId xmlns:a16="http://schemas.microsoft.com/office/drawing/2014/main" id="{3C11A5F0-2109-44EA-97A1-4A7150DCA122}"/>
              </a:ext>
            </a:extLst>
          </p:cNvPr>
          <p:cNvSpPr>
            <a:spLocks xmlns:a="http://schemas.openxmlformats.org/drawingml/2006/main" noGrp="1"/>
          </p:cNvSpPr>
          <p:nvPr/>
        </p:nvSpPr>
        <p:spPr>
          <a:xfrm xmlns:a="http://schemas.openxmlformats.org/drawingml/2006/main">
            <a:off x="987552" y="3035808"/>
            <a:ext cx="438912" cy="438912"/>
          </a:xfrm>
          <a:prstGeom xmlns:a="http://schemas.openxmlformats.org/drawingml/2006/main" prst="ellipse">
            <a:avLst/>
          </a:prstGeom>
          <a:solidFill xmlns:a="http://schemas.openxmlformats.org/drawingml/2006/main">
            <a:schemeClr val="tx2"/>
          </a:solidFill>
        </p:spPr>
      </p:sp>
      <p:pic>
        <p:nvPicPr>
          <p:cNvPr id="6" name="Clínicas ícono">
            <a:extLst xmlns:a="http://schemas.openxmlformats.org/drawingml/2006/main">
              <a:ext uri="{FF2B5EF4-FFF2-40B4-BE49-F238E27FC236}">
                <a16:creationId xmlns:a16="http://schemas.microsoft.com/office/drawing/2014/main" id="{463E7860-9AD5-4515-A0F2-5BD2EF16C297}"/>
              </a:ext>
            </a:extLst>
          </p:cNvPr>
          <p:cNvPicPr>
            <a:picLocks xmlns:a="http://schemas.openxmlformats.org/drawingml/2006/main" noChangeAspect="1"/>
          </p:cNvPicPr>
          <p:nvPr/>
        </p:nvPicPr>
        <p:blipFill>
          <a:blip xmlns:r="http://schemas.openxmlformats.org/officeDocument/2006/relationships" xmlns:a="http://schemas.openxmlformats.org/drawingml/2006/main" r:embed="R9d72d4337a69458f"/>
          <a:stretch xmlns:a="http://schemas.openxmlformats.org/drawingml/2006/main">
            <a:fillRect l="0" t="0" r="0" b="0"/>
          </a:stretch>
        </p:blipFill>
        <p:spPr>
          <a:xfrm xmlns:a="http://schemas.openxmlformats.org/drawingml/2006/main">
            <a:off x="1084113" y="3132369"/>
            <a:ext cx="245791" cy="245791"/>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4E4EC430-E873-4F5A-80DF-5E22253594A9}"/>
              </a:ext>
            </a:extLst>
          </p:cNvPr>
          <p:cNvSpPr>
            <a:spLocks xmlns:a="http://schemas.openxmlformats.org/drawingml/2006/main" noGrp="1"/>
          </p:cNvSpPr>
          <p:nvPr/>
        </p:nvSpPr>
        <p:spPr>
          <a:xfrm xmlns:a="http://schemas.openxmlformats.org/drawingml/2006/main">
            <a:off x="548640" y="3520440"/>
            <a:ext cx="1325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chemeClr val="bg1"/>
                </a:solidFill>
              </a:rPr>
              <a:t>Clinics</a:t>
            </a:r>
            <a:endParaRPr sz="1200"/>
          </a:p>
        </p:txBody>
      </p:sp>
      <p:sp>
        <p:nvSpPr>
          <p:cNvPr id="8" name="flecha">
            <a:extLst xmlns:a="http://schemas.openxmlformats.org/drawingml/2006/main">
              <a:ext uri="{FF2B5EF4-FFF2-40B4-BE49-F238E27FC236}">
                <a16:creationId xmlns:a16="http://schemas.microsoft.com/office/drawing/2014/main" id="{FDBC6DDD-C6B1-46DB-85E1-E84B24F0F9C6}"/>
              </a:ext>
            </a:extLst>
          </p:cNvPr>
          <p:cNvSpPr>
            <a:spLocks xmlns:a="http://schemas.openxmlformats.org/drawingml/2006/main" noGrp="1"/>
          </p:cNvSpPr>
          <p:nvPr/>
        </p:nvSpPr>
        <p:spPr>
          <a:xfrm xmlns:a="http://schemas.openxmlformats.org/drawingml/2006/main">
            <a:off x="1920240" y="3429000"/>
            <a:ext cx="365760" cy="0"/>
          </a:xfrm>
          <a:prstGeom xmlns:a="http://schemas.openxmlformats.org/drawingml/2006/main" prst="line">
            <a:avLst/>
          </a:prstGeom>
          <a:noFill xmlns:a="http://schemas.openxmlformats.org/drawingml/2006/main"/>
          <a:ln xmlns:a="http://schemas.openxmlformats.org/drawingml/2006/main" w="22225">
            <a:solidFill>
              <a:schemeClr val="accent5"/>
            </a:solidFill>
            <a:prstDash val="solid"/>
            <a:tailEnd type="triangle"/>
          </a:ln>
        </p:spPr>
      </p:sp>
      <p:sp>
        <p:nvSpPr>
          <p:cNvPr id="9" name="Text 6">
            <a:extLst xmlns:a="http://schemas.openxmlformats.org/drawingml/2006/main">
              <a:ext uri="{FF2B5EF4-FFF2-40B4-BE49-F238E27FC236}">
                <a16:creationId xmlns:a16="http://schemas.microsoft.com/office/drawing/2014/main" id="{D7C46676-BB8E-4AAE-A41B-2A5318D88827}"/>
              </a:ext>
            </a:extLst>
          </p:cNvPr>
          <p:cNvSpPr>
            <a:spLocks xmlns:a="http://schemas.openxmlformats.org/drawingml/2006/main" noGrp="1"/>
          </p:cNvSpPr>
          <p:nvPr/>
        </p:nvSpPr>
        <p:spPr>
          <a:xfrm xmlns:a="http://schemas.openxmlformats.org/drawingml/2006/main">
            <a:off x="548640" y="4160520"/>
            <a:ext cx="164592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chemeClr val="accent5"/>
                </a:solidFill>
              </a:rPr>
              <a:t>Planned demo</a:t>
            </a:r>
            <a:endParaRPr sz="900"/>
          </a:p>
          <a:p xmlns:a="http://schemas.openxmlformats.org/drawingml/2006/main">
            <a:pPr marL="0" indent="0">
              <a:buNone/>
            </a:pPr>
            <a:r>
              <a:rPr sz="900" b="1">
                <a:solidFill>
                  <a:schemeClr val="accent5"/>
                </a:solidFill>
              </a:rPr>
              <a:t>Both containers share one VM with a trusted administrator. A production hospital would run its container on its own infrastructure.</a:t>
            </a:r>
          </a:p>
        </p:txBody>
      </p:sp>
      <p:sp>
        <p:nvSpPr>
          <p:cNvPr id="10" name="IBM LinuxONE">
            <a:extLst xmlns:a="http://schemas.openxmlformats.org/drawingml/2006/main">
              <a:ext uri="{FF2B5EF4-FFF2-40B4-BE49-F238E27FC236}">
                <a16:creationId xmlns:a16="http://schemas.microsoft.com/office/drawing/2014/main" id="{1315C7B7-501A-4A7B-8FDF-94D3B9AAE83A}"/>
              </a:ext>
            </a:extLst>
          </p:cNvPr>
          <p:cNvSpPr>
            <a:spLocks xmlns:a="http://schemas.openxmlformats.org/drawingml/2006/main" noGrp="1"/>
          </p:cNvSpPr>
          <p:nvPr/>
        </p:nvSpPr>
        <p:spPr>
          <a:xfrm xmlns:a="http://schemas.openxmlformats.org/drawingml/2006/main">
            <a:off x="2331720" y="1783080"/>
            <a:ext cx="5806440" cy="3977640"/>
          </a:xfrm>
          <a:prstGeom xmlns:a="http://schemas.openxmlformats.org/drawingml/2006/main" prst="roundRect">
            <a:avLst>
              <a:gd name="adj" fmla="val 2299"/>
            </a:avLst>
          </a:prstGeom>
          <a:solidFill xmlns:a="http://schemas.openxmlformats.org/drawingml/2006/main">
            <a:schemeClr val="accent1">
              <a:alpha val="10000"/>
            </a:schemeClr>
          </a:solidFill>
          <a:ln xmlns:a="http://schemas.openxmlformats.org/drawingml/2006/main" w="22225">
            <a:solidFill>
              <a:schemeClr val="accent1"/>
            </a:solidFill>
            <a:prstDash val="solid"/>
          </a:ln>
        </p:spPr>
      </p:sp>
      <p:sp>
        <p:nvSpPr>
          <p:cNvPr id="11" name="LinuxONE círculo">
            <a:extLst xmlns:a="http://schemas.openxmlformats.org/drawingml/2006/main">
              <a:ext uri="{FF2B5EF4-FFF2-40B4-BE49-F238E27FC236}">
                <a16:creationId xmlns:a16="http://schemas.microsoft.com/office/drawing/2014/main" id="{3A0CB6DF-342F-46A9-9F95-313520EA9D62}"/>
              </a:ext>
            </a:extLst>
          </p:cNvPr>
          <p:cNvSpPr>
            <a:spLocks xmlns:a="http://schemas.openxmlformats.org/drawingml/2006/main" noGrp="1"/>
          </p:cNvSpPr>
          <p:nvPr/>
        </p:nvSpPr>
        <p:spPr>
          <a:xfrm xmlns:a="http://schemas.openxmlformats.org/drawingml/2006/main">
            <a:off x="2496312" y="1920240"/>
            <a:ext cx="384048" cy="384048"/>
          </a:xfrm>
          <a:prstGeom xmlns:a="http://schemas.openxmlformats.org/drawingml/2006/main" prst="ellipse">
            <a:avLst/>
          </a:prstGeom>
          <a:solidFill xmlns:a="http://schemas.openxmlformats.org/drawingml/2006/main">
            <a:schemeClr val="accent1"/>
          </a:solidFill>
        </p:spPr>
      </p:sp>
      <p:pic>
        <p:nvPicPr>
          <p:cNvPr id="12" name="LinuxONE ícono">
            <a:extLst xmlns:a="http://schemas.openxmlformats.org/drawingml/2006/main">
              <a:ext uri="{FF2B5EF4-FFF2-40B4-BE49-F238E27FC236}">
                <a16:creationId xmlns:a16="http://schemas.microsoft.com/office/drawing/2014/main" id="{DFBBE32B-C1FE-4242-9C61-E921C62673E4}"/>
              </a:ext>
            </a:extLst>
          </p:cNvPr>
          <p:cNvPicPr>
            <a:picLocks xmlns:a="http://schemas.openxmlformats.org/drawingml/2006/main" noChangeAspect="1"/>
          </p:cNvPicPr>
          <p:nvPr/>
        </p:nvPicPr>
        <p:blipFill>
          <a:blip xmlns:r="http://schemas.openxmlformats.org/officeDocument/2006/relationships" xmlns:a="http://schemas.openxmlformats.org/drawingml/2006/main" r:embed="Rc0ae13d1cb374e45"/>
          <a:stretch xmlns:a="http://schemas.openxmlformats.org/drawingml/2006/main">
            <a:fillRect l="0" t="0" r="0" b="0"/>
          </a:stretch>
        </p:blipFill>
        <p:spPr>
          <a:xfrm xmlns:a="http://schemas.openxmlformats.org/drawingml/2006/main">
            <a:off x="2580803" y="2004731"/>
            <a:ext cx="215067" cy="215067"/>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EE32C2FD-A9FB-46A3-A460-196636C8CF8A}"/>
              </a:ext>
            </a:extLst>
          </p:cNvPr>
          <p:cNvSpPr>
            <a:spLocks xmlns:a="http://schemas.openxmlformats.org/drawingml/2006/main" noGrp="1"/>
          </p:cNvSpPr>
          <p:nvPr/>
        </p:nvSpPr>
        <p:spPr>
          <a:xfrm xmlns:a="http://schemas.openxmlformats.org/drawingml/2006/main">
            <a:off x="2971800" y="1920240"/>
            <a:ext cx="27432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IBM LinuxONE · s390x</a:t>
            </a:r>
            <a:endParaRPr sz="1400"/>
          </a:p>
        </p:txBody>
      </p:sp>
      <p:sp>
        <p:nvSpPr>
          <p:cNvPr id="14" name="Text 10">
            <a:extLst xmlns:a="http://schemas.openxmlformats.org/drawingml/2006/main">
              <a:ext uri="{FF2B5EF4-FFF2-40B4-BE49-F238E27FC236}">
                <a16:creationId xmlns:a16="http://schemas.microsoft.com/office/drawing/2014/main" id="{1B1ABCBC-07D8-424D-9D74-097B93719F14}"/>
              </a:ext>
            </a:extLst>
          </p:cNvPr>
          <p:cNvSpPr>
            <a:spLocks xmlns:a="http://schemas.openxmlformats.org/drawingml/2006/main" noGrp="1"/>
          </p:cNvSpPr>
          <p:nvPr/>
        </p:nvSpPr>
        <p:spPr>
          <a:xfrm xmlns:a="http://schemas.openxmlformats.org/drawingml/2006/main">
            <a:off x="7223760" y="1965960"/>
            <a:ext cx="7498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a:solidFill>
                  <a:schemeClr val="accent5"/>
                </a:solidFill>
              </a:rPr>
              <a:t>Docker</a:t>
            </a:r>
            <a:endParaRPr sz="1000"/>
          </a:p>
        </p:txBody>
      </p:sp>
      <p:sp>
        <p:nvSpPr>
          <p:cNvPr id="15" name="Contenedor del hospital">
            <a:extLst xmlns:a="http://schemas.openxmlformats.org/drawingml/2006/main">
              <a:ext uri="{FF2B5EF4-FFF2-40B4-BE49-F238E27FC236}">
                <a16:creationId xmlns:a16="http://schemas.microsoft.com/office/drawing/2014/main" id="{8C415C5B-1FFB-49A2-8109-2BD7E2B426C5}"/>
              </a:ext>
            </a:extLst>
          </p:cNvPr>
          <p:cNvSpPr>
            <a:spLocks xmlns:a="http://schemas.openxmlformats.org/drawingml/2006/main" noGrp="1"/>
          </p:cNvSpPr>
          <p:nvPr/>
        </p:nvSpPr>
        <p:spPr>
          <a:xfrm xmlns:a="http://schemas.openxmlformats.org/drawingml/2006/main">
            <a:off x="2514600" y="2468880"/>
            <a:ext cx="2468880" cy="3108960"/>
          </a:xfrm>
          <a:prstGeom xmlns:a="http://schemas.openxmlformats.org/drawingml/2006/main" prst="roundRect">
            <a:avLst>
              <a:gd name="adj" fmla="val 3704"/>
            </a:avLst>
          </a:prstGeom>
          <a:solidFill xmlns:a="http://schemas.openxmlformats.org/drawingml/2006/main">
            <a:schemeClr val="tx2"/>
          </a:solidFill>
          <a:ln xmlns:a="http://schemas.openxmlformats.org/drawingml/2006/main" w="9525">
            <a:solidFill>
              <a:schemeClr val="accent2">
                <a:alpha val="70000"/>
              </a:schemeClr>
            </a:solidFill>
            <a:prstDash val="dash"/>
          </a:ln>
        </p:spPr>
      </p:sp>
      <p:sp>
        <p:nvSpPr>
          <p:cNvPr id="16" name="Text 12">
            <a:extLst xmlns:a="http://schemas.openxmlformats.org/drawingml/2006/main">
              <a:ext uri="{FF2B5EF4-FFF2-40B4-BE49-F238E27FC236}">
                <a16:creationId xmlns:a16="http://schemas.microsoft.com/office/drawing/2014/main" id="{1E655AB2-BBD9-41B3-A12C-AE7E671260EB}"/>
              </a:ext>
            </a:extLst>
          </p:cNvPr>
          <p:cNvSpPr>
            <a:spLocks xmlns:a="http://schemas.openxmlformats.org/drawingml/2006/main" noGrp="1"/>
          </p:cNvSpPr>
          <p:nvPr/>
        </p:nvSpPr>
        <p:spPr>
          <a:xfrm xmlns:a="http://schemas.openxmlformats.org/drawingml/2006/main">
            <a:off x="2651760" y="2560320"/>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accent2"/>
                </a:solidFill>
              </a:rPr>
              <a:t>Hospital container</a:t>
            </a:r>
            <a:endParaRPr sz="1300"/>
          </a:p>
        </p:txBody>
      </p:sp>
      <p:sp>
        <p:nvSpPr>
          <p:cNvPr id="17" name="Llave privada Paillier">
            <a:extLst xmlns:a="http://schemas.openxmlformats.org/drawingml/2006/main">
              <a:ext uri="{FF2B5EF4-FFF2-40B4-BE49-F238E27FC236}">
                <a16:creationId xmlns:a16="http://schemas.microsoft.com/office/drawing/2014/main" id="{E1394DD5-088B-4A65-8167-B3EF1549E015}"/>
              </a:ext>
            </a:extLst>
          </p:cNvPr>
          <p:cNvSpPr>
            <a:spLocks xmlns:a="http://schemas.openxmlformats.org/drawingml/2006/main" noGrp="1"/>
          </p:cNvSpPr>
          <p:nvPr/>
        </p:nvSpPr>
        <p:spPr>
          <a:xfrm xmlns:a="http://schemas.openxmlformats.org/drawingml/2006/main">
            <a:off x="2651760" y="2971800"/>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18" name="Text 14">
            <a:extLst xmlns:a="http://schemas.openxmlformats.org/drawingml/2006/main">
              <a:ext uri="{FF2B5EF4-FFF2-40B4-BE49-F238E27FC236}">
                <a16:creationId xmlns:a16="http://schemas.microsoft.com/office/drawing/2014/main" id="{A2824131-22A9-4471-8B63-3FB21B1DC01F}"/>
              </a:ext>
            </a:extLst>
          </p:cNvPr>
          <p:cNvSpPr>
            <a:spLocks xmlns:a="http://schemas.openxmlformats.org/drawingml/2006/main" noGrp="1"/>
          </p:cNvSpPr>
          <p:nvPr/>
        </p:nvSpPr>
        <p:spPr>
          <a:xfrm xmlns:a="http://schemas.openxmlformats.org/drawingml/2006/main">
            <a:off x="2770632" y="3044952"/>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Paillier private key</a:t>
            </a:r>
            <a:endParaRPr sz="1200"/>
          </a:p>
        </p:txBody>
      </p:sp>
      <p:sp>
        <p:nvSpPr>
          <p:cNvPr id="19" name="Text 15">
            <a:extLst xmlns:a="http://schemas.openxmlformats.org/drawingml/2006/main">
              <a:ext uri="{FF2B5EF4-FFF2-40B4-BE49-F238E27FC236}">
                <a16:creationId xmlns:a16="http://schemas.microsoft.com/office/drawing/2014/main" id="{C2CAB365-EE50-4DCA-AD31-124EDE95807D}"/>
              </a:ext>
            </a:extLst>
          </p:cNvPr>
          <p:cNvSpPr>
            <a:spLocks xmlns:a="http://schemas.openxmlformats.org/drawingml/2006/main" noGrp="1"/>
          </p:cNvSpPr>
          <p:nvPr/>
        </p:nvSpPr>
        <p:spPr>
          <a:xfrm xmlns:a="http://schemas.openxmlformats.org/drawingml/2006/main">
            <a:off x="2770632" y="3364992"/>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stays in this container</a:t>
            </a:r>
            <a:endParaRPr sz="1000"/>
          </a:p>
        </p:txBody>
      </p:sp>
      <p:sp>
        <p:nvSpPr>
          <p:cNvPr id="20" name="Cifrar, descifrar, explicar">
            <a:extLst xmlns:a="http://schemas.openxmlformats.org/drawingml/2006/main">
              <a:ext uri="{FF2B5EF4-FFF2-40B4-BE49-F238E27FC236}">
                <a16:creationId xmlns:a16="http://schemas.microsoft.com/office/drawing/2014/main" id="{B63811E8-E195-411D-A1A6-8DC52E5D6369}"/>
              </a:ext>
            </a:extLst>
          </p:cNvPr>
          <p:cNvSpPr>
            <a:spLocks xmlns:a="http://schemas.openxmlformats.org/drawingml/2006/main" noGrp="1"/>
          </p:cNvSpPr>
          <p:nvPr/>
        </p:nvSpPr>
        <p:spPr>
          <a:xfrm xmlns:a="http://schemas.openxmlformats.org/drawingml/2006/main">
            <a:off x="2651760" y="3813048"/>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1" name="Text 17">
            <a:extLst xmlns:a="http://schemas.openxmlformats.org/drawingml/2006/main">
              <a:ext uri="{FF2B5EF4-FFF2-40B4-BE49-F238E27FC236}">
                <a16:creationId xmlns:a16="http://schemas.microsoft.com/office/drawing/2014/main" id="{18BC038A-1456-4546-A338-29EBBEB52343}"/>
              </a:ext>
            </a:extLst>
          </p:cNvPr>
          <p:cNvSpPr>
            <a:spLocks xmlns:a="http://schemas.openxmlformats.org/drawingml/2006/main" noGrp="1"/>
          </p:cNvSpPr>
          <p:nvPr/>
        </p:nvSpPr>
        <p:spPr>
          <a:xfrm xmlns:a="http://schemas.openxmlformats.org/drawingml/2006/main">
            <a:off x="2770632" y="3886200"/>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Encrypt, decrypt, explain</a:t>
            </a:r>
            <a:endParaRPr sz="1200"/>
          </a:p>
        </p:txBody>
      </p:sp>
      <p:sp>
        <p:nvSpPr>
          <p:cNvPr id="22" name="Text 18">
            <a:extLst xmlns:a="http://schemas.openxmlformats.org/drawingml/2006/main">
              <a:ext uri="{FF2B5EF4-FFF2-40B4-BE49-F238E27FC236}">
                <a16:creationId xmlns:a16="http://schemas.microsoft.com/office/drawing/2014/main" id="{D5E9FB65-5394-44DE-BDE9-0E94667695B1}"/>
              </a:ext>
            </a:extLst>
          </p:cNvPr>
          <p:cNvSpPr>
            <a:spLocks xmlns:a="http://schemas.openxmlformats.org/drawingml/2006/main" noGrp="1"/>
          </p:cNvSpPr>
          <p:nvPr/>
        </p:nvSpPr>
        <p:spPr>
          <a:xfrm xmlns:a="http://schemas.openxmlformats.org/drawingml/2006/main">
            <a:off x="2770632" y="42062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python-paillier + gmpy2</a:t>
            </a:r>
            <a:endParaRPr sz="1000"/>
          </a:p>
        </p:txBody>
      </p:sp>
      <p:sp>
        <p:nvSpPr>
          <p:cNvPr id="23" name="Bóveda cifrada">
            <a:extLst xmlns:a="http://schemas.openxmlformats.org/drawingml/2006/main">
              <a:ext uri="{FF2B5EF4-FFF2-40B4-BE49-F238E27FC236}">
                <a16:creationId xmlns:a16="http://schemas.microsoft.com/office/drawing/2014/main" id="{4ED07F46-37BC-40FE-9F24-C42643054F08}"/>
              </a:ext>
            </a:extLst>
          </p:cNvPr>
          <p:cNvSpPr>
            <a:spLocks xmlns:a="http://schemas.openxmlformats.org/drawingml/2006/main" noGrp="1"/>
          </p:cNvSpPr>
          <p:nvPr/>
        </p:nvSpPr>
        <p:spPr>
          <a:xfrm xmlns:a="http://schemas.openxmlformats.org/drawingml/2006/main">
            <a:off x="2651760" y="4654296"/>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4" name="Text 20">
            <a:extLst xmlns:a="http://schemas.openxmlformats.org/drawingml/2006/main">
              <a:ext uri="{FF2B5EF4-FFF2-40B4-BE49-F238E27FC236}">
                <a16:creationId xmlns:a16="http://schemas.microsoft.com/office/drawing/2014/main" id="{3EC3ADB1-3C37-4AB9-BE1B-1176C817C90A}"/>
              </a:ext>
            </a:extLst>
          </p:cNvPr>
          <p:cNvSpPr>
            <a:spLocks xmlns:a="http://schemas.openxmlformats.org/drawingml/2006/main" noGrp="1"/>
          </p:cNvSpPr>
          <p:nvPr/>
        </p:nvSpPr>
        <p:spPr>
          <a:xfrm xmlns:a="http://schemas.openxmlformats.org/drawingml/2006/main">
            <a:off x="2770632" y="4727448"/>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Encrypted vault</a:t>
            </a:r>
            <a:endParaRPr sz="1200"/>
          </a:p>
        </p:txBody>
      </p:sp>
      <p:sp>
        <p:nvSpPr>
          <p:cNvPr id="25" name="Text 21">
            <a:extLst xmlns:a="http://schemas.openxmlformats.org/drawingml/2006/main">
              <a:ext uri="{FF2B5EF4-FFF2-40B4-BE49-F238E27FC236}">
                <a16:creationId xmlns:a16="http://schemas.microsoft.com/office/drawing/2014/main" id="{860B57CE-E303-4171-B17C-6E62A9AD703D}"/>
              </a:ext>
            </a:extLst>
          </p:cNvPr>
          <p:cNvSpPr>
            <a:spLocks xmlns:a="http://schemas.openxmlformats.org/drawingml/2006/main" noGrp="1"/>
          </p:cNvSpPr>
          <p:nvPr/>
        </p:nvSpPr>
        <p:spPr>
          <a:xfrm xmlns:a="http://schemas.openxmlformats.org/drawingml/2006/main">
            <a:off x="2770632" y="5047488"/>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chemeClr val="accent2"/>
                </a:solidFill>
              </a:rPr>
              <a:t>AES-256-GCM · external key</a:t>
            </a:r>
            <a:endParaRPr sz="1000"/>
          </a:p>
        </p:txBody>
      </p:sp>
      <p:sp>
        <p:nvSpPr>
          <p:cNvPr id="26" name="Servicio de riesgo">
            <a:extLst xmlns:a="http://schemas.openxmlformats.org/drawingml/2006/main">
              <a:ext uri="{FF2B5EF4-FFF2-40B4-BE49-F238E27FC236}">
                <a16:creationId xmlns:a16="http://schemas.microsoft.com/office/drawing/2014/main" id="{889D3404-BB31-4281-A8EE-EB8712C163AF}"/>
              </a:ext>
            </a:extLst>
          </p:cNvPr>
          <p:cNvSpPr>
            <a:spLocks xmlns:a="http://schemas.openxmlformats.org/drawingml/2006/main" noGrp="1"/>
          </p:cNvSpPr>
          <p:nvPr/>
        </p:nvSpPr>
        <p:spPr>
          <a:xfrm xmlns:a="http://schemas.openxmlformats.org/drawingml/2006/main">
            <a:off x="5486400" y="2468880"/>
            <a:ext cx="2468880" cy="3108960"/>
          </a:xfrm>
          <a:prstGeom xmlns:a="http://schemas.openxmlformats.org/drawingml/2006/main" prst="roundRect">
            <a:avLst>
              <a:gd name="adj" fmla="val 3704"/>
            </a:avLst>
          </a:prstGeom>
          <a:solidFill xmlns:a="http://schemas.openxmlformats.org/drawingml/2006/main">
            <a:schemeClr val="tx2"/>
          </a:solidFill>
          <a:ln xmlns:a="http://schemas.openxmlformats.org/drawingml/2006/main" w="9525">
            <a:solidFill>
              <a:schemeClr val="accent5">
                <a:alpha val="70000"/>
              </a:schemeClr>
            </a:solidFill>
            <a:prstDash val="dash"/>
          </a:ln>
        </p:spPr>
      </p:sp>
      <p:sp>
        <p:nvSpPr>
          <p:cNvPr id="27" name="Text 23">
            <a:extLst xmlns:a="http://schemas.openxmlformats.org/drawingml/2006/main">
              <a:ext uri="{FF2B5EF4-FFF2-40B4-BE49-F238E27FC236}">
                <a16:creationId xmlns:a16="http://schemas.microsoft.com/office/drawing/2014/main" id="{7AF9046F-CE21-434C-96FE-D88FB4D03B48}"/>
              </a:ext>
            </a:extLst>
          </p:cNvPr>
          <p:cNvSpPr>
            <a:spLocks xmlns:a="http://schemas.openxmlformats.org/drawingml/2006/main" noGrp="1"/>
          </p:cNvSpPr>
          <p:nvPr/>
        </p:nvSpPr>
        <p:spPr>
          <a:xfrm xmlns:a="http://schemas.openxmlformats.org/drawingml/2006/main">
            <a:off x="5623560" y="2560320"/>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chemeClr val="accent5"/>
                </a:solidFill>
              </a:rPr>
              <a:t>Risk service</a:t>
            </a:r>
            <a:endParaRPr sz="1300"/>
          </a:p>
        </p:txBody>
      </p:sp>
      <p:sp>
        <p:nvSpPr>
          <p:cNvPr id="28" name="Modelo logístico">
            <a:extLst xmlns:a="http://schemas.openxmlformats.org/drawingml/2006/main">
              <a:ext uri="{FF2B5EF4-FFF2-40B4-BE49-F238E27FC236}">
                <a16:creationId xmlns:a16="http://schemas.microsoft.com/office/drawing/2014/main" id="{19E42D3D-8CD8-4949-BDF3-E357859269E1}"/>
              </a:ext>
            </a:extLst>
          </p:cNvPr>
          <p:cNvSpPr>
            <a:spLocks xmlns:a="http://schemas.openxmlformats.org/drawingml/2006/main" noGrp="1"/>
          </p:cNvSpPr>
          <p:nvPr/>
        </p:nvSpPr>
        <p:spPr>
          <a:xfrm xmlns:a="http://schemas.openxmlformats.org/drawingml/2006/main">
            <a:off x="5623560" y="2971800"/>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29" name="Text 25">
            <a:extLst xmlns:a="http://schemas.openxmlformats.org/drawingml/2006/main">
              <a:ext uri="{FF2B5EF4-FFF2-40B4-BE49-F238E27FC236}">
                <a16:creationId xmlns:a16="http://schemas.microsoft.com/office/drawing/2014/main" id="{40EDF72D-B4D9-4D2C-A4C9-20ED97FB57CF}"/>
              </a:ext>
            </a:extLst>
          </p:cNvPr>
          <p:cNvSpPr>
            <a:spLocks xmlns:a="http://schemas.openxmlformats.org/drawingml/2006/main" noGrp="1"/>
          </p:cNvSpPr>
          <p:nvPr/>
        </p:nvSpPr>
        <p:spPr>
          <a:xfrm xmlns:a="http://schemas.openxmlformats.org/drawingml/2006/main">
            <a:off x="5742432" y="3044952"/>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Logistic model</a:t>
            </a:r>
            <a:endParaRPr sz="1200"/>
          </a:p>
        </p:txBody>
      </p:sp>
      <p:sp>
        <p:nvSpPr>
          <p:cNvPr id="30" name="Text 26">
            <a:extLst xmlns:a="http://schemas.openxmlformats.org/drawingml/2006/main">
              <a:ext uri="{FF2B5EF4-FFF2-40B4-BE49-F238E27FC236}">
                <a16:creationId xmlns:a16="http://schemas.microsoft.com/office/drawing/2014/main" id="{C20D52D6-E607-498A-BE7E-4FF0AFD0A0B2}"/>
              </a:ext>
            </a:extLst>
          </p:cNvPr>
          <p:cNvSpPr>
            <a:spLocks xmlns:a="http://schemas.openxmlformats.org/drawingml/2006/main" noGrp="1"/>
          </p:cNvSpPr>
          <p:nvPr/>
        </p:nvSpPr>
        <p:spPr>
          <a:xfrm xmlns:a="http://schemas.openxmlformats.org/drawingml/2006/main">
            <a:off x="5742432" y="3364992"/>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integer weights × 10⁹</a:t>
            </a:r>
            <a:endParaRPr sz="1000"/>
          </a:p>
        </p:txBody>
      </p:sp>
      <p:sp>
        <p:nvSpPr>
          <p:cNvPr id="31" name="Aritmética homomórfica">
            <a:extLst xmlns:a="http://schemas.openxmlformats.org/drawingml/2006/main">
              <a:ext uri="{FF2B5EF4-FFF2-40B4-BE49-F238E27FC236}">
                <a16:creationId xmlns:a16="http://schemas.microsoft.com/office/drawing/2014/main" id="{0526D595-A253-43E4-9A54-C3A3EDB95259}"/>
              </a:ext>
            </a:extLst>
          </p:cNvPr>
          <p:cNvSpPr>
            <a:spLocks xmlns:a="http://schemas.openxmlformats.org/drawingml/2006/main" noGrp="1"/>
          </p:cNvSpPr>
          <p:nvPr/>
        </p:nvSpPr>
        <p:spPr>
          <a:xfrm xmlns:a="http://schemas.openxmlformats.org/drawingml/2006/main">
            <a:off x="5623560" y="3813048"/>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32" name="Text 28">
            <a:extLst xmlns:a="http://schemas.openxmlformats.org/drawingml/2006/main">
              <a:ext uri="{FF2B5EF4-FFF2-40B4-BE49-F238E27FC236}">
                <a16:creationId xmlns:a16="http://schemas.microsoft.com/office/drawing/2014/main" id="{3FC03026-178B-4D87-94D5-5F0C1CA9A24F}"/>
              </a:ext>
            </a:extLst>
          </p:cNvPr>
          <p:cNvSpPr>
            <a:spLocks xmlns:a="http://schemas.openxmlformats.org/drawingml/2006/main" noGrp="1"/>
          </p:cNvSpPr>
          <p:nvPr/>
        </p:nvSpPr>
        <p:spPr>
          <a:xfrm xmlns:a="http://schemas.openxmlformats.org/drawingml/2006/main">
            <a:off x="5742432" y="3886200"/>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Homomorphic arithmetic</a:t>
            </a:r>
            <a:endParaRPr sz="1200"/>
          </a:p>
        </p:txBody>
      </p:sp>
      <p:sp>
        <p:nvSpPr>
          <p:cNvPr id="33" name="Text 29">
            <a:extLst xmlns:a="http://schemas.openxmlformats.org/drawingml/2006/main">
              <a:ext uri="{FF2B5EF4-FFF2-40B4-BE49-F238E27FC236}">
                <a16:creationId xmlns:a16="http://schemas.microsoft.com/office/drawing/2014/main" id="{729F76D3-FB4B-4135-B917-42E1E87F7068}"/>
              </a:ext>
            </a:extLst>
          </p:cNvPr>
          <p:cNvSpPr>
            <a:spLocks xmlns:a="http://schemas.openxmlformats.org/drawingml/2006/main" noGrp="1"/>
          </p:cNvSpPr>
          <p:nvPr/>
        </p:nvSpPr>
        <p:spPr>
          <a:xfrm xmlns:a="http://schemas.openxmlformats.org/drawingml/2006/main">
            <a:off x="5742432" y="4206240"/>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4096-bit integers (mod n²)</a:t>
            </a:r>
            <a:endParaRPr sz="1000"/>
          </a:p>
        </p:txBody>
      </p:sp>
      <p:sp>
        <p:nvSpPr>
          <p:cNvPr id="34" name="Logs mínimos">
            <a:extLst xmlns:a="http://schemas.openxmlformats.org/drawingml/2006/main">
              <a:ext uri="{FF2B5EF4-FFF2-40B4-BE49-F238E27FC236}">
                <a16:creationId xmlns:a16="http://schemas.microsoft.com/office/drawing/2014/main" id="{16A25A9A-21C4-4C44-81EB-C3545B794AD2}"/>
              </a:ext>
            </a:extLst>
          </p:cNvPr>
          <p:cNvSpPr>
            <a:spLocks xmlns:a="http://schemas.openxmlformats.org/drawingml/2006/main" noGrp="1"/>
          </p:cNvSpPr>
          <p:nvPr/>
        </p:nvSpPr>
        <p:spPr>
          <a:xfrm xmlns:a="http://schemas.openxmlformats.org/drawingml/2006/main">
            <a:off x="5623560" y="4654296"/>
            <a:ext cx="2194560" cy="731520"/>
          </a:xfrm>
          <a:prstGeom xmlns:a="http://schemas.openxmlformats.org/drawingml/2006/main" prst="roundRect">
            <a:avLst>
              <a:gd name="adj" fmla="val 12500"/>
            </a:avLst>
          </a:prstGeom>
          <a:solidFill xmlns:a="http://schemas.openxmlformats.org/drawingml/2006/main">
            <a:schemeClr val="accent1">
              <a:alpha val="15000"/>
            </a:schemeClr>
          </a:solidFill>
        </p:spPr>
      </p:sp>
      <p:sp>
        <p:nvSpPr>
          <p:cNvPr id="35" name="Text 31">
            <a:extLst xmlns:a="http://schemas.openxmlformats.org/drawingml/2006/main">
              <a:ext uri="{FF2B5EF4-FFF2-40B4-BE49-F238E27FC236}">
                <a16:creationId xmlns:a16="http://schemas.microsoft.com/office/drawing/2014/main" id="{B7D23AD0-EBA7-4E03-B207-46DEFE181BDF}"/>
              </a:ext>
            </a:extLst>
          </p:cNvPr>
          <p:cNvSpPr>
            <a:spLocks xmlns:a="http://schemas.openxmlformats.org/drawingml/2006/main" noGrp="1"/>
          </p:cNvSpPr>
          <p:nvPr/>
        </p:nvSpPr>
        <p:spPr>
          <a:xfrm xmlns:a="http://schemas.openxmlformats.org/drawingml/2006/main">
            <a:off x="5742432" y="4727448"/>
            <a:ext cx="1965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chemeClr val="bg1"/>
                </a:solidFill>
              </a:rPr>
              <a:t>Minimal logs</a:t>
            </a:r>
            <a:endParaRPr sz="1200"/>
          </a:p>
        </p:txBody>
      </p:sp>
      <p:sp>
        <p:nvSpPr>
          <p:cNvPr id="36" name="Text 32">
            <a:extLst xmlns:a="http://schemas.openxmlformats.org/drawingml/2006/main">
              <a:ext uri="{FF2B5EF4-FFF2-40B4-BE49-F238E27FC236}">
                <a16:creationId xmlns:a16="http://schemas.microsoft.com/office/drawing/2014/main" id="{D9414185-1CFC-4C85-A3AA-C59580CACF90}"/>
              </a:ext>
            </a:extLst>
          </p:cNvPr>
          <p:cNvSpPr>
            <a:spLocks xmlns:a="http://schemas.openxmlformats.org/drawingml/2006/main" noGrp="1"/>
          </p:cNvSpPr>
          <p:nvPr/>
        </p:nvSpPr>
        <p:spPr>
          <a:xfrm xmlns:a="http://schemas.openxmlformats.org/drawingml/2006/main">
            <a:off x="5742432" y="5047488"/>
            <a:ext cx="1965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bg2"/>
                </a:solidFill>
              </a:rPr>
              <a:t>IDs, timings and byte counts</a:t>
            </a:r>
            <a:endParaRPr sz="1000"/>
          </a:p>
        </p:txBody>
      </p:sp>
      <p:sp>
        <p:nvSpPr>
          <p:cNvPr id="37" name="flecha">
            <a:extLst xmlns:a="http://schemas.openxmlformats.org/drawingml/2006/main">
              <a:ext uri="{FF2B5EF4-FFF2-40B4-BE49-F238E27FC236}">
                <a16:creationId xmlns:a16="http://schemas.microsoft.com/office/drawing/2014/main" id="{7FCF218D-1412-4C43-ADBD-3BB824A04D3E}"/>
              </a:ext>
            </a:extLst>
          </p:cNvPr>
          <p:cNvSpPr>
            <a:spLocks xmlns:a="http://schemas.openxmlformats.org/drawingml/2006/main" noGrp="1"/>
          </p:cNvSpPr>
          <p:nvPr/>
        </p:nvSpPr>
        <p:spPr>
          <a:xfrm xmlns:a="http://schemas.openxmlformats.org/drawingml/2006/main">
            <a:off x="5020056" y="3931920"/>
            <a:ext cx="429768" cy="0"/>
          </a:xfrm>
          <a:prstGeom xmlns:a="http://schemas.openxmlformats.org/drawingml/2006/main" prst="line">
            <a:avLst/>
          </a:prstGeom>
          <a:noFill xmlns:a="http://schemas.openxmlformats.org/drawingml/2006/main"/>
          <a:ln xmlns:a="http://schemas.openxmlformats.org/drawingml/2006/main" w="22225">
            <a:solidFill>
              <a:schemeClr val="accent2"/>
            </a:solidFill>
            <a:prstDash val="solid"/>
            <a:tailEnd type="triangle"/>
          </a:ln>
        </p:spPr>
      </p:sp>
      <p:sp>
        <p:nvSpPr>
          <p:cNvPr id="38" name="flecha regreso">
            <a:extLst xmlns:a="http://schemas.openxmlformats.org/drawingml/2006/main">
              <a:ext uri="{FF2B5EF4-FFF2-40B4-BE49-F238E27FC236}">
                <a16:creationId xmlns:a16="http://schemas.microsoft.com/office/drawing/2014/main" id="{38F533F7-B200-4F23-9C69-B1058F5AB198}"/>
              </a:ext>
            </a:extLst>
          </p:cNvPr>
          <p:cNvSpPr>
            <a:spLocks xmlns:a="http://schemas.openxmlformats.org/drawingml/2006/main" noGrp="1"/>
          </p:cNvSpPr>
          <p:nvPr/>
        </p:nvSpPr>
        <p:spPr>
          <a:xfrm xmlns:a="http://schemas.openxmlformats.org/drawingml/2006/main">
            <a:off x="5020056" y="4297680"/>
            <a:ext cx="429768" cy="0"/>
          </a:xfrm>
          <a:prstGeom xmlns:a="http://schemas.openxmlformats.org/drawingml/2006/main" prst="line">
            <a:avLst/>
          </a:prstGeom>
          <a:noFill xmlns:a="http://schemas.openxmlformats.org/drawingml/2006/main"/>
          <a:ln xmlns:a="http://schemas.openxmlformats.org/drawingml/2006/main" w="22225">
            <a:solidFill>
              <a:schemeClr val="accent2"/>
            </a:solidFill>
            <a:prstDash val="solid"/>
            <a:headEnd type="triangle"/>
          </a:ln>
        </p:spPr>
      </p:sp>
      <p:sp>
        <p:nvSpPr>
          <p:cNvPr id="39" name="Text 35">
            <a:extLst xmlns:a="http://schemas.openxmlformats.org/drawingml/2006/main">
              <a:ext uri="{FF2B5EF4-FFF2-40B4-BE49-F238E27FC236}">
                <a16:creationId xmlns:a16="http://schemas.microsoft.com/office/drawing/2014/main" id="{F9D893C3-C6FB-453C-9083-A008F05F2725}"/>
              </a:ext>
            </a:extLst>
          </p:cNvPr>
          <p:cNvSpPr>
            <a:spLocks xmlns:a="http://schemas.openxmlformats.org/drawingml/2006/main" noGrp="1"/>
          </p:cNvSpPr>
          <p:nvPr/>
        </p:nvSpPr>
        <p:spPr>
          <a:xfrm xmlns:a="http://schemas.openxmlformats.org/drawingml/2006/main">
            <a:off x="4791456" y="3566160"/>
            <a:ext cx="88696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chemeClr val="accent2"/>
                </a:solidFill>
              </a:rPr>
              <a:t>ciphertexts only</a:t>
            </a:r>
            <a:endParaRPr sz="900"/>
          </a:p>
        </p:txBody>
      </p:sp>
      <p:sp>
        <p:nvSpPr>
          <p:cNvPr id="40" name="Cómputo pesado, en serio círculo">
            <a:extLst xmlns:a="http://schemas.openxmlformats.org/drawingml/2006/main">
              <a:ext uri="{FF2B5EF4-FFF2-40B4-BE49-F238E27FC236}">
                <a16:creationId xmlns:a16="http://schemas.microsoft.com/office/drawing/2014/main" id="{AB93805A-64F3-4103-9232-06249FF42DED}"/>
              </a:ext>
            </a:extLst>
          </p:cNvPr>
          <p:cNvSpPr>
            <a:spLocks xmlns:a="http://schemas.openxmlformats.org/drawingml/2006/main" noGrp="1"/>
          </p:cNvSpPr>
          <p:nvPr/>
        </p:nvSpPr>
        <p:spPr>
          <a:xfrm xmlns:a="http://schemas.openxmlformats.org/drawingml/2006/main">
            <a:off x="8458200" y="1874520"/>
            <a:ext cx="502920" cy="502920"/>
          </a:xfrm>
          <a:prstGeom xmlns:a="http://schemas.openxmlformats.org/drawingml/2006/main" prst="ellipse">
            <a:avLst/>
          </a:prstGeom>
          <a:solidFill xmlns:a="http://schemas.openxmlformats.org/drawingml/2006/main">
            <a:schemeClr val="accent1"/>
          </a:solidFill>
        </p:spPr>
      </p:sp>
      <p:pic>
        <p:nvPicPr>
          <p:cNvPr id="41" name="Cómputo pesado, en serio ícono">
            <a:extLst xmlns:a="http://schemas.openxmlformats.org/drawingml/2006/main">
              <a:ext uri="{FF2B5EF4-FFF2-40B4-BE49-F238E27FC236}">
                <a16:creationId xmlns:a16="http://schemas.microsoft.com/office/drawing/2014/main" id="{1A3404E9-83F4-4F01-BF15-3204B28BF7F0}"/>
              </a:ext>
            </a:extLst>
          </p:cNvPr>
          <p:cNvPicPr>
            <a:picLocks xmlns:a="http://schemas.openxmlformats.org/drawingml/2006/main" noChangeAspect="1"/>
          </p:cNvPicPr>
          <p:nvPr/>
        </p:nvPicPr>
        <p:blipFill>
          <a:blip xmlns:r="http://schemas.openxmlformats.org/officeDocument/2006/relationships" xmlns:a="http://schemas.openxmlformats.org/drawingml/2006/main" r:embed="R7a2acbddf8094521"/>
          <a:stretch xmlns:a="http://schemas.openxmlformats.org/drawingml/2006/main">
            <a:fillRect l="0" t="0" r="0" b="0"/>
          </a:stretch>
        </p:blipFill>
        <p:spPr>
          <a:xfrm xmlns:a="http://schemas.openxmlformats.org/drawingml/2006/main">
            <a:off x="8568842" y="1985162"/>
            <a:ext cx="281635" cy="281635"/>
          </a:xfrm>
          <a:prstGeom xmlns:a="http://schemas.openxmlformats.org/drawingml/2006/main" prst="rect">
            <a:avLst/>
          </a:prstGeom>
        </p:spPr>
      </p:pic>
      <p:sp>
        <p:nvSpPr>
          <p:cNvPr id="42" name="Text 37">
            <a:extLst xmlns:a="http://schemas.openxmlformats.org/drawingml/2006/main">
              <a:ext uri="{FF2B5EF4-FFF2-40B4-BE49-F238E27FC236}">
                <a16:creationId xmlns:a16="http://schemas.microsoft.com/office/drawing/2014/main" id="{0518457C-9FD1-4248-A4FC-1E537EB4D6C6}"/>
              </a:ext>
            </a:extLst>
          </p:cNvPr>
          <p:cNvSpPr>
            <a:spLocks xmlns:a="http://schemas.openxmlformats.org/drawingml/2006/main" noGrp="1"/>
          </p:cNvSpPr>
          <p:nvPr/>
        </p:nvSpPr>
        <p:spPr>
          <a:xfrm xmlns:a="http://schemas.openxmlformats.org/drawingml/2006/main">
            <a:off x="9098280" y="182880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Large-integer workload</a:t>
            </a:r>
            <a:endParaRPr sz="1400"/>
          </a:p>
        </p:txBody>
      </p:sp>
      <p:sp>
        <p:nvSpPr>
          <p:cNvPr id="43" name="Text 38">
            <a:extLst xmlns:a="http://schemas.openxmlformats.org/drawingml/2006/main">
              <a:ext uri="{FF2B5EF4-FFF2-40B4-BE49-F238E27FC236}">
                <a16:creationId xmlns:a16="http://schemas.microsoft.com/office/drawing/2014/main" id="{DD1B8706-1A3D-4C19-9EFA-F65831346C9F}"/>
              </a:ext>
            </a:extLst>
          </p:cNvPr>
          <p:cNvSpPr>
            <a:spLocks xmlns:a="http://schemas.openxmlformats.org/drawingml/2006/main" noGrp="1"/>
          </p:cNvSpPr>
          <p:nvPr/>
        </p:nvSpPr>
        <p:spPr>
          <a:xfrm xmlns:a="http://schemas.openxmlformats.org/drawingml/2006/main">
            <a:off x="9098280" y="221284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Modular exponentiation over integers thousands of bits long for every patient</a:t>
            </a:r>
            <a:endParaRPr sz="1200"/>
          </a:p>
        </p:txBody>
      </p:sp>
      <p:sp>
        <p:nvSpPr>
          <p:cNvPr id="44" name="Aislamiento y cifrado círculo">
            <a:extLst xmlns:a="http://schemas.openxmlformats.org/drawingml/2006/main">
              <a:ext uri="{FF2B5EF4-FFF2-40B4-BE49-F238E27FC236}">
                <a16:creationId xmlns:a16="http://schemas.microsoft.com/office/drawing/2014/main" id="{1BF6F595-8AB3-4178-A26A-1A28A64D4A44}"/>
              </a:ext>
            </a:extLst>
          </p:cNvPr>
          <p:cNvSpPr>
            <a:spLocks xmlns:a="http://schemas.openxmlformats.org/drawingml/2006/main" noGrp="1"/>
          </p:cNvSpPr>
          <p:nvPr/>
        </p:nvSpPr>
        <p:spPr>
          <a:xfrm xmlns:a="http://schemas.openxmlformats.org/drawingml/2006/main">
            <a:off x="8458200" y="3154680"/>
            <a:ext cx="502920" cy="502920"/>
          </a:xfrm>
          <a:prstGeom xmlns:a="http://schemas.openxmlformats.org/drawingml/2006/main" prst="ellipse">
            <a:avLst/>
          </a:prstGeom>
          <a:solidFill xmlns:a="http://schemas.openxmlformats.org/drawingml/2006/main">
            <a:schemeClr val="accent1"/>
          </a:solidFill>
        </p:spPr>
      </p:sp>
      <p:pic>
        <p:nvPicPr>
          <p:cNvPr id="45" name="Aislamiento y cifrado ícono">
            <a:extLst xmlns:a="http://schemas.openxmlformats.org/drawingml/2006/main">
              <a:ext uri="{FF2B5EF4-FFF2-40B4-BE49-F238E27FC236}">
                <a16:creationId xmlns:a16="http://schemas.microsoft.com/office/drawing/2014/main" id="{2CE1C10A-D836-43E8-9472-7D2D372A33D5}"/>
              </a:ext>
            </a:extLst>
          </p:cNvPr>
          <p:cNvPicPr>
            <a:picLocks xmlns:a="http://schemas.openxmlformats.org/drawingml/2006/main" noChangeAspect="1"/>
          </p:cNvPicPr>
          <p:nvPr/>
        </p:nvPicPr>
        <p:blipFill>
          <a:blip xmlns:r="http://schemas.openxmlformats.org/officeDocument/2006/relationships" xmlns:a="http://schemas.openxmlformats.org/drawingml/2006/main" r:embed="R0905397fcb184773"/>
          <a:stretch xmlns:a="http://schemas.openxmlformats.org/drawingml/2006/main">
            <a:fillRect l="0" t="0" r="0" b="0"/>
          </a:stretch>
        </p:blipFill>
        <p:spPr>
          <a:xfrm xmlns:a="http://schemas.openxmlformats.org/drawingml/2006/main">
            <a:off x="8568842" y="3265322"/>
            <a:ext cx="281635" cy="281635"/>
          </a:xfrm>
          <a:prstGeom xmlns:a="http://schemas.openxmlformats.org/drawingml/2006/main" prst="rect">
            <a:avLst/>
          </a:prstGeom>
        </p:spPr>
      </p:pic>
      <p:sp>
        <p:nvSpPr>
          <p:cNvPr id="46" name="Text 40">
            <a:extLst xmlns:a="http://schemas.openxmlformats.org/drawingml/2006/main">
              <a:ext uri="{FF2B5EF4-FFF2-40B4-BE49-F238E27FC236}">
                <a16:creationId xmlns:a16="http://schemas.microsoft.com/office/drawing/2014/main" id="{5CC05172-1D9F-4780-9A51-B900FAC51D86}"/>
              </a:ext>
            </a:extLst>
          </p:cNvPr>
          <p:cNvSpPr>
            <a:spLocks xmlns:a="http://schemas.openxmlformats.org/drawingml/2006/main" noGrp="1"/>
          </p:cNvSpPr>
          <p:nvPr/>
        </p:nvSpPr>
        <p:spPr>
          <a:xfrm xmlns:a="http://schemas.openxmlformats.org/drawingml/2006/main">
            <a:off x="9098280" y="310896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Isolation and encryption</a:t>
            </a:r>
            <a:endParaRPr sz="1400"/>
          </a:p>
        </p:txBody>
      </p:sp>
      <p:sp>
        <p:nvSpPr>
          <p:cNvPr id="47" name="Text 41">
            <a:extLst xmlns:a="http://schemas.openxmlformats.org/drawingml/2006/main">
              <a:ext uri="{FF2B5EF4-FFF2-40B4-BE49-F238E27FC236}">
                <a16:creationId xmlns:a16="http://schemas.microsoft.com/office/drawing/2014/main" id="{9F0BCFD0-3108-487B-B41E-9096EFBC1E2E}"/>
              </a:ext>
            </a:extLst>
          </p:cNvPr>
          <p:cNvSpPr>
            <a:spLocks xmlns:a="http://schemas.openxmlformats.org/drawingml/2006/main" noGrp="1"/>
          </p:cNvSpPr>
          <p:nvPr/>
        </p:nvSpPr>
        <p:spPr>
          <a:xfrm xmlns:a="http://schemas.openxmlformats.org/drawingml/2006/main">
            <a:off x="9098280" y="349300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Separate containers and mutual TLS; effective CPACF use has not been measured</a:t>
            </a:r>
            <a:endParaRPr sz="1200"/>
          </a:p>
        </p:txBody>
      </p:sp>
      <p:sp>
        <p:nvSpPr>
          <p:cNvPr id="48" name="Medido, no prometido círculo">
            <a:extLst xmlns:a="http://schemas.openxmlformats.org/drawingml/2006/main">
              <a:ext uri="{FF2B5EF4-FFF2-40B4-BE49-F238E27FC236}">
                <a16:creationId xmlns:a16="http://schemas.microsoft.com/office/drawing/2014/main" id="{146D59BD-5077-41DD-B66D-FA24AE6EA072}"/>
              </a:ext>
            </a:extLst>
          </p:cNvPr>
          <p:cNvSpPr>
            <a:spLocks xmlns:a="http://schemas.openxmlformats.org/drawingml/2006/main" noGrp="1"/>
          </p:cNvSpPr>
          <p:nvPr/>
        </p:nvSpPr>
        <p:spPr>
          <a:xfrm xmlns:a="http://schemas.openxmlformats.org/drawingml/2006/main">
            <a:off x="8458200" y="4434840"/>
            <a:ext cx="502920" cy="502920"/>
          </a:xfrm>
          <a:prstGeom xmlns:a="http://schemas.openxmlformats.org/drawingml/2006/main" prst="ellipse">
            <a:avLst/>
          </a:prstGeom>
          <a:solidFill xmlns:a="http://schemas.openxmlformats.org/drawingml/2006/main">
            <a:schemeClr val="accent1"/>
          </a:solidFill>
        </p:spPr>
      </p:sp>
      <p:pic>
        <p:nvPicPr>
          <p:cNvPr id="49" name="Medido, no prometido ícono">
            <a:extLst xmlns:a="http://schemas.openxmlformats.org/drawingml/2006/main">
              <a:ext uri="{FF2B5EF4-FFF2-40B4-BE49-F238E27FC236}">
                <a16:creationId xmlns:a16="http://schemas.microsoft.com/office/drawing/2014/main" id="{98E39BF0-63FE-4D7E-9E2D-4C1C7CEF69A9}"/>
              </a:ext>
            </a:extLst>
          </p:cNvPr>
          <p:cNvPicPr>
            <a:picLocks xmlns:a="http://schemas.openxmlformats.org/drawingml/2006/main" noChangeAspect="1"/>
          </p:cNvPicPr>
          <p:nvPr/>
        </p:nvPicPr>
        <p:blipFill>
          <a:blip xmlns:r="http://schemas.openxmlformats.org/officeDocument/2006/relationships" xmlns:a="http://schemas.openxmlformats.org/drawingml/2006/main" r:embed="R98c10fae67824321"/>
          <a:stretch xmlns:a="http://schemas.openxmlformats.org/drawingml/2006/main">
            <a:fillRect l="0" t="0" r="0" b="0"/>
          </a:stretch>
        </p:blipFill>
        <p:spPr>
          <a:xfrm xmlns:a="http://schemas.openxmlformats.org/drawingml/2006/main">
            <a:off x="8568842" y="4545482"/>
            <a:ext cx="281635" cy="281635"/>
          </a:xfrm>
          <a:prstGeom xmlns:a="http://schemas.openxmlformats.org/drawingml/2006/main" prst="rect">
            <a:avLst/>
          </a:prstGeom>
        </p:spPr>
      </p:pic>
      <p:sp>
        <p:nvSpPr>
          <p:cNvPr id="50" name="Text 43">
            <a:extLst xmlns:a="http://schemas.openxmlformats.org/drawingml/2006/main">
              <a:ext uri="{FF2B5EF4-FFF2-40B4-BE49-F238E27FC236}">
                <a16:creationId xmlns:a16="http://schemas.microsoft.com/office/drawing/2014/main" id="{5B1C956A-B56C-40F8-AB92-8EF6AC5DE0B9}"/>
              </a:ext>
            </a:extLst>
          </p:cNvPr>
          <p:cNvSpPr>
            <a:spLocks xmlns:a="http://schemas.openxmlformats.org/drawingml/2006/main" noGrp="1"/>
          </p:cNvSpPr>
          <p:nvPr/>
        </p:nvSpPr>
        <p:spPr>
          <a:xfrm xmlns:a="http://schemas.openxmlformats.org/drawingml/2006/main">
            <a:off x="9098280" y="4389120"/>
            <a:ext cx="254203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Measure the actual platform</a:t>
            </a:r>
            <a:endParaRPr sz="1400"/>
          </a:p>
        </p:txBody>
      </p:sp>
      <p:sp>
        <p:nvSpPr>
          <p:cNvPr id="51" name="Text 44">
            <a:extLst xmlns:a="http://schemas.openxmlformats.org/drawingml/2006/main">
              <a:ext uri="{FF2B5EF4-FFF2-40B4-BE49-F238E27FC236}">
                <a16:creationId xmlns:a16="http://schemas.microsoft.com/office/drawing/2014/main" id="{40C8F160-9132-4AFC-B9F1-7F768C57337E}"/>
              </a:ext>
            </a:extLst>
          </p:cNvPr>
          <p:cNvSpPr>
            <a:spLocks xmlns:a="http://schemas.openxmlformats.org/drawingml/2006/main" noGrp="1"/>
          </p:cNvSpPr>
          <p:nvPr/>
        </p:nvSpPr>
        <p:spPr>
          <a:xfrm xmlns:a="http://schemas.openxmlformats.org/drawingml/2006/main">
            <a:off x="9098280" y="4773168"/>
            <a:ext cx="254203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Local results available; repeat the same benchmark on LinuxONE</a:t>
            </a:r>
            <a:endParaRPr sz="1200"/>
          </a:p>
        </p:txBody>
      </p:sp>
      <p:sp>
        <p:nvSpPr>
          <p:cNvPr id="52" name="Text 45">
            <a:extLst xmlns:a="http://schemas.openxmlformats.org/drawingml/2006/main">
              <a:ext uri="{FF2B5EF4-FFF2-40B4-BE49-F238E27FC236}">
                <a16:creationId xmlns:a16="http://schemas.microsoft.com/office/drawing/2014/main" id="{DAB61E1C-E923-432D-AE46-69CC7EDE1D2D}"/>
              </a:ext>
            </a:extLst>
          </p:cNvPr>
          <p:cNvSpPr>
            <a:spLocks xmlns:a="http://schemas.openxmlformats.org/drawingml/2006/main" noGrp="1"/>
          </p:cNvSpPr>
          <p:nvPr/>
        </p:nvSpPr>
        <p:spPr>
          <a:xfrm xmlns:a="http://schemas.openxmlformats.org/drawingml/2006/main">
            <a:off x="548640" y="5897880"/>
            <a:ext cx="11091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chemeClr val="accent5"/>
                </a:solidFill>
              </a:rPr>
              <a:t>Stack: Python · scikit-learn · python-paillier + gmpy2 · cryptography (TLS 1.3, AES-256-GCM) · Docker (Ubuntu 24.04, s390x)</a:t>
            </a:r>
            <a:endParaRPr sz="1200"/>
          </a:p>
        </p:txBody>
      </p:sp>
      <p:sp>
        <p:nvSpPr>
          <p:cNvPr id="53" name="Slide Number Placeholder 0">
            <a:extLst xmlns:a="http://schemas.openxmlformats.org/drawingml/2006/main">
              <a:ext uri="{FF2B5EF4-FFF2-40B4-BE49-F238E27FC236}">
                <a16:creationId xmlns:a16="http://schemas.microsoft.com/office/drawing/2014/main" id="{8FA508FE-42C0-457D-8AFC-1EA4D797E2A4}"/>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5</a:t>
            </a:fld>
            <a:endParaRPr/>
          </a:p>
        </p:txBody>
      </p:sp>
    </p:spTree>
    <p:extLst>
      <p:ext uri="{BB962C8B-B14F-4D97-AF65-F5344CB8AC3E}">
        <p14:creationId xmlns:p14="http://schemas.microsoft.com/office/powerpoint/2010/main" val="64861111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AB675727-45C6-4D40-A1C1-EE3223BF19F8}"/>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05 · ACTUAL LOCAL DEMO</a:t>
            </a:r>
            <a:endParaRPr sz="1200"/>
          </a:p>
        </p:txBody>
      </p:sp>
      <p:sp>
        <p:nvSpPr>
          <p:cNvPr id="3" name="Text 1">
            <a:extLst xmlns:a="http://schemas.openxmlformats.org/drawingml/2006/main">
              <a:ext uri="{FF2B5EF4-FFF2-40B4-BE49-F238E27FC236}">
                <a16:creationId xmlns:a16="http://schemas.microsoft.com/office/drawing/2014/main" id="{7613E905-00E0-427C-AFCA-AC3A97BF44D2}"/>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The service sees ciphertexts; the hospital sees risk</a:t>
            </a:r>
            <a:endParaRPr sz="3000"/>
          </a:p>
        </p:txBody>
      </p:sp>
      <p:pic>
        <p:nvPicPr>
          <p:cNvPr id="4" name="Captura real de la demo">
            <a:extLst xmlns:a="http://schemas.openxmlformats.org/drawingml/2006/main">
              <a:ext uri="{FF2B5EF4-FFF2-40B4-BE49-F238E27FC236}">
                <a16:creationId xmlns:a16="http://schemas.microsoft.com/office/drawing/2014/main" id="{008B5CC7-78EC-407B-A0E3-FC8B6BC40F2B}"/>
              </a:ext>
            </a:extLst>
          </p:cNvPr>
          <p:cNvPicPr>
            <a:picLocks xmlns:a="http://schemas.openxmlformats.org/drawingml/2006/main" noChangeAspect="1"/>
          </p:cNvPicPr>
          <p:nvPr/>
        </p:nvPicPr>
        <p:blipFill>
          <a:blip xmlns:r="http://schemas.openxmlformats.org/officeDocument/2006/relationships" xmlns:a="http://schemas.openxmlformats.org/drawingml/2006/main" r:embed="R861481f7edbb45f1"/>
          <a:stretch xmlns:a="http://schemas.openxmlformats.org/drawingml/2006/main"/>
        </p:blipFill>
        <p:spPr>
          <a:xfrm xmlns:a="http://schemas.openxmlformats.org/drawingml/2006/main">
            <a:off x="694748" y="1691640"/>
            <a:ext cx="5633095" cy="411480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56218E3-8D87-4D95-B1BC-7374C4CB8593}"/>
              </a:ext>
            </a:extLst>
          </p:cNvPr>
          <p:cNvSpPr>
            <a:spLocks xmlns:a="http://schemas.openxmlformats.org/drawingml/2006/main" noGrp="1"/>
          </p:cNvSpPr>
          <p:nvPr/>
        </p:nvSpPr>
        <p:spPr>
          <a:xfrm xmlns:a="http://schemas.openxmlformats.org/drawingml/2006/main">
            <a:off x="548640" y="5852160"/>
            <a:ext cx="592531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Actual English UI with a synthetic patient · local containers · LinuxONE run pending</a:t>
            </a:r>
            <a:endParaRPr sz="1000"/>
          </a:p>
        </p:txBody>
      </p:sp>
      <p:sp>
        <p:nvSpPr>
          <p:cNvPr id="6" name="2,000 de 2,000">
            <a:extLst xmlns:a="http://schemas.openxmlformats.org/drawingml/2006/main">
              <a:ext uri="{FF2B5EF4-FFF2-40B4-BE49-F238E27FC236}">
                <a16:creationId xmlns:a16="http://schemas.microsoft.com/office/drawing/2014/main" id="{7CE73FB1-5AAE-44CE-9A90-D2568710A9C9}"/>
              </a:ext>
            </a:extLst>
          </p:cNvPr>
          <p:cNvSpPr>
            <a:spLocks xmlns:a="http://schemas.openxmlformats.org/drawingml/2006/main" noGrp="1"/>
          </p:cNvSpPr>
          <p:nvPr/>
        </p:nvSpPr>
        <p:spPr>
          <a:xfrm xmlns:a="http://schemas.openxmlformats.org/drawingml/2006/main">
            <a:off x="6720840" y="169164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7" name="2,000 de 2,000 círculo">
            <a:extLst xmlns:a="http://schemas.openxmlformats.org/drawingml/2006/main">
              <a:ext uri="{FF2B5EF4-FFF2-40B4-BE49-F238E27FC236}">
                <a16:creationId xmlns:a16="http://schemas.microsoft.com/office/drawing/2014/main" id="{4326DF7E-32FB-4955-B3B0-BCA4CF3D8F2A}"/>
              </a:ext>
            </a:extLst>
          </p:cNvPr>
          <p:cNvSpPr>
            <a:spLocks xmlns:a="http://schemas.openxmlformats.org/drawingml/2006/main" noGrp="1"/>
          </p:cNvSpPr>
          <p:nvPr/>
        </p:nvSpPr>
        <p:spPr>
          <a:xfrm xmlns:a="http://schemas.openxmlformats.org/drawingml/2006/main">
            <a:off x="6858000" y="1874520"/>
            <a:ext cx="512064" cy="512064"/>
          </a:xfrm>
          <a:prstGeom xmlns:a="http://schemas.openxmlformats.org/drawingml/2006/main" prst="ellipse">
            <a:avLst/>
          </a:prstGeom>
          <a:solidFill xmlns:a="http://schemas.openxmlformats.org/drawingml/2006/main">
            <a:schemeClr val="accent1"/>
          </a:solidFill>
        </p:spPr>
      </p:sp>
      <p:pic>
        <p:nvPicPr>
          <p:cNvPr id="8" name="2,000 de 2,000 ícono">
            <a:extLst xmlns:a="http://schemas.openxmlformats.org/drawingml/2006/main">
              <a:ext uri="{FF2B5EF4-FFF2-40B4-BE49-F238E27FC236}">
                <a16:creationId xmlns:a16="http://schemas.microsoft.com/office/drawing/2014/main" id="{5765FD82-A536-4CDD-BF16-969653F11331}"/>
              </a:ext>
            </a:extLst>
          </p:cNvPr>
          <p:cNvPicPr>
            <a:picLocks xmlns:a="http://schemas.openxmlformats.org/drawingml/2006/main" noChangeAspect="1"/>
          </p:cNvPicPr>
          <p:nvPr/>
        </p:nvPicPr>
        <p:blipFill>
          <a:blip xmlns:r="http://schemas.openxmlformats.org/officeDocument/2006/relationships" xmlns:a="http://schemas.openxmlformats.org/drawingml/2006/main" r:embed="R810a6a31aa3e400e"/>
          <a:stretch xmlns:a="http://schemas.openxmlformats.org/drawingml/2006/main">
            <a:fillRect l="0" t="0" r="0" b="0"/>
          </a:stretch>
        </p:blipFill>
        <p:spPr>
          <a:xfrm xmlns:a="http://schemas.openxmlformats.org/drawingml/2006/main">
            <a:off x="6970654" y="1987174"/>
            <a:ext cx="286756" cy="286756"/>
          </a:xfrm>
          <a:prstGeom xmlns:a="http://schemas.openxmlformats.org/drawingml/2006/main" prst="rect">
            <a:avLst/>
          </a:prstGeom>
        </p:spPr>
      </p:pic>
      <p:sp>
        <p:nvSpPr>
          <p:cNvPr id="9" name="Text 5">
            <a:extLst xmlns:a="http://schemas.openxmlformats.org/drawingml/2006/main">
              <a:ext uri="{FF2B5EF4-FFF2-40B4-BE49-F238E27FC236}">
                <a16:creationId xmlns:a16="http://schemas.microsoft.com/office/drawing/2014/main" id="{E3248989-0352-4093-9B04-DD8173E6B903}"/>
              </a:ext>
            </a:extLst>
          </p:cNvPr>
          <p:cNvSpPr>
            <a:spLocks xmlns:a="http://schemas.openxmlformats.org/drawingml/2006/main" noGrp="1"/>
          </p:cNvSpPr>
          <p:nvPr/>
        </p:nvSpPr>
        <p:spPr>
          <a:xfrm xmlns:a="http://schemas.openxmlformats.org/drawingml/2006/main">
            <a:off x="7498080" y="174650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2,000 of 2,000</a:t>
            </a:r>
            <a:endParaRPr sz="1700"/>
          </a:p>
        </p:txBody>
      </p:sp>
      <p:sp>
        <p:nvSpPr>
          <p:cNvPr id="10" name="Text 6">
            <a:extLst xmlns:a="http://schemas.openxmlformats.org/drawingml/2006/main">
              <a:ext uri="{FF2B5EF4-FFF2-40B4-BE49-F238E27FC236}">
                <a16:creationId xmlns:a16="http://schemas.microsoft.com/office/drawing/2014/main" id="{261B7668-C5D4-44B4-ABCE-9D21CA0C599A}"/>
              </a:ext>
            </a:extLst>
          </p:cNvPr>
          <p:cNvSpPr>
            <a:spLocks xmlns:a="http://schemas.openxmlformats.org/drawingml/2006/main" noGrp="1"/>
          </p:cNvSpPr>
          <p:nvPr/>
        </p:nvSpPr>
        <p:spPr>
          <a:xfrm xmlns:a="http://schemas.openxmlformats.org/drawingml/2006/main">
            <a:off x="7498080" y="211226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decrypted integers exactly match the fixed-point reference</a:t>
            </a:r>
            <a:endParaRPr sz="1100"/>
          </a:p>
        </p:txBody>
      </p:sp>
      <p:sp>
        <p:nvSpPr>
          <p:cNvPr id="11" name="ROC-AUC 0.808">
            <a:extLst xmlns:a="http://schemas.openxmlformats.org/drawingml/2006/main">
              <a:ext uri="{FF2B5EF4-FFF2-40B4-BE49-F238E27FC236}">
                <a16:creationId xmlns:a16="http://schemas.microsoft.com/office/drawing/2014/main" id="{37D825E5-7C1D-48C8-9B91-B337403F2C6D}"/>
              </a:ext>
            </a:extLst>
          </p:cNvPr>
          <p:cNvSpPr>
            <a:spLocks xmlns:a="http://schemas.openxmlformats.org/drawingml/2006/main" noGrp="1"/>
          </p:cNvSpPr>
          <p:nvPr/>
        </p:nvSpPr>
        <p:spPr>
          <a:xfrm xmlns:a="http://schemas.openxmlformats.org/drawingml/2006/main">
            <a:off x="6720840" y="269748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2" name="ROC-AUC 0.808 círculo">
            <a:extLst xmlns:a="http://schemas.openxmlformats.org/drawingml/2006/main">
              <a:ext uri="{FF2B5EF4-FFF2-40B4-BE49-F238E27FC236}">
                <a16:creationId xmlns:a16="http://schemas.microsoft.com/office/drawing/2014/main" id="{E00F4279-DA0D-497A-9FDF-78FC0146727F}"/>
              </a:ext>
            </a:extLst>
          </p:cNvPr>
          <p:cNvSpPr>
            <a:spLocks xmlns:a="http://schemas.openxmlformats.org/drawingml/2006/main" noGrp="1"/>
          </p:cNvSpPr>
          <p:nvPr/>
        </p:nvSpPr>
        <p:spPr>
          <a:xfrm xmlns:a="http://schemas.openxmlformats.org/drawingml/2006/main">
            <a:off x="6858000" y="2880360"/>
            <a:ext cx="512064" cy="512064"/>
          </a:xfrm>
          <a:prstGeom xmlns:a="http://schemas.openxmlformats.org/drawingml/2006/main" prst="ellipse">
            <a:avLst/>
          </a:prstGeom>
          <a:solidFill xmlns:a="http://schemas.openxmlformats.org/drawingml/2006/main">
            <a:schemeClr val="accent1"/>
          </a:solidFill>
        </p:spPr>
      </p:sp>
      <p:pic>
        <p:nvPicPr>
          <p:cNvPr id="13" name="ROC-AUC 0.808 ícono">
            <a:extLst xmlns:a="http://schemas.openxmlformats.org/drawingml/2006/main">
              <a:ext uri="{FF2B5EF4-FFF2-40B4-BE49-F238E27FC236}">
                <a16:creationId xmlns:a16="http://schemas.microsoft.com/office/drawing/2014/main" id="{A2DDA2EB-06B4-4851-BAAA-12A03D2477A5}"/>
              </a:ext>
            </a:extLst>
          </p:cNvPr>
          <p:cNvPicPr>
            <a:picLocks xmlns:a="http://schemas.openxmlformats.org/drawingml/2006/main" noChangeAspect="1"/>
          </p:cNvPicPr>
          <p:nvPr/>
        </p:nvPicPr>
        <p:blipFill>
          <a:blip xmlns:r="http://schemas.openxmlformats.org/officeDocument/2006/relationships" xmlns:a="http://schemas.openxmlformats.org/drawingml/2006/main" r:embed="Rc2eb216ab6b447b8"/>
          <a:stretch xmlns:a="http://schemas.openxmlformats.org/drawingml/2006/main">
            <a:fillRect l="0" t="0" r="0" b="0"/>
          </a:stretch>
        </p:blipFill>
        <p:spPr>
          <a:xfrm xmlns:a="http://schemas.openxmlformats.org/drawingml/2006/main">
            <a:off x="6970654" y="2993014"/>
            <a:ext cx="286756" cy="2867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E57C77C6-985E-413D-A351-949649F46735}"/>
              </a:ext>
            </a:extLst>
          </p:cNvPr>
          <p:cNvSpPr>
            <a:spLocks xmlns:a="http://schemas.openxmlformats.org/drawingml/2006/main" noGrp="1"/>
          </p:cNvSpPr>
          <p:nvPr/>
        </p:nvSpPr>
        <p:spPr>
          <a:xfrm xmlns:a="http://schemas.openxmlformats.org/drawingml/2006/main">
            <a:off x="7498080" y="275234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ROC-AUC 0.808</a:t>
            </a:r>
            <a:endParaRPr sz="1700"/>
          </a:p>
        </p:txBody>
      </p:sp>
      <p:sp>
        <p:nvSpPr>
          <p:cNvPr id="15" name="Text 10">
            <a:extLst xmlns:a="http://schemas.openxmlformats.org/drawingml/2006/main">
              <a:ext uri="{FF2B5EF4-FFF2-40B4-BE49-F238E27FC236}">
                <a16:creationId xmlns:a16="http://schemas.microsoft.com/office/drawing/2014/main" id="{AAF6A046-2F22-4F2E-8802-37C78E6CDC4F}"/>
              </a:ext>
            </a:extLst>
          </p:cNvPr>
          <p:cNvSpPr>
            <a:spLocks xmlns:a="http://schemas.openxmlformats.org/drawingml/2006/main" noGrp="1"/>
          </p:cNvSpPr>
          <p:nvPr/>
        </p:nvSpPr>
        <p:spPr>
          <a:xfrm xmlns:a="http://schemas.openxmlformats.org/drawingml/2006/main">
            <a:off x="7498080" y="311810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equal across float, fixed point and encryption on the same 2,000 records</a:t>
            </a:r>
            <a:endParaRPr sz="1100"/>
          </a:p>
        </p:txBody>
      </p:sp>
      <p:sp>
        <p:nvSpPr>
          <p:cNvPr id="16" name="129 ms (p50)">
            <a:extLst xmlns:a="http://schemas.openxmlformats.org/drawingml/2006/main">
              <a:ext uri="{FF2B5EF4-FFF2-40B4-BE49-F238E27FC236}">
                <a16:creationId xmlns:a16="http://schemas.microsoft.com/office/drawing/2014/main" id="{2B2729FC-8028-4E60-AC24-AF472CC25151}"/>
              </a:ext>
            </a:extLst>
          </p:cNvPr>
          <p:cNvSpPr>
            <a:spLocks xmlns:a="http://schemas.openxmlformats.org/drawingml/2006/main" noGrp="1"/>
          </p:cNvSpPr>
          <p:nvPr/>
        </p:nvSpPr>
        <p:spPr>
          <a:xfrm xmlns:a="http://schemas.openxmlformats.org/drawingml/2006/main">
            <a:off x="6720840" y="370332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17" name="129 ms (p50) círculo">
            <a:extLst xmlns:a="http://schemas.openxmlformats.org/drawingml/2006/main">
              <a:ext uri="{FF2B5EF4-FFF2-40B4-BE49-F238E27FC236}">
                <a16:creationId xmlns:a16="http://schemas.microsoft.com/office/drawing/2014/main" id="{1EF0AFFD-6B6A-4E8C-B91D-53F832900A77}"/>
              </a:ext>
            </a:extLst>
          </p:cNvPr>
          <p:cNvSpPr>
            <a:spLocks xmlns:a="http://schemas.openxmlformats.org/drawingml/2006/main" noGrp="1"/>
          </p:cNvSpPr>
          <p:nvPr/>
        </p:nvSpPr>
        <p:spPr>
          <a:xfrm xmlns:a="http://schemas.openxmlformats.org/drawingml/2006/main">
            <a:off x="6858000" y="3886200"/>
            <a:ext cx="512064" cy="512064"/>
          </a:xfrm>
          <a:prstGeom xmlns:a="http://schemas.openxmlformats.org/drawingml/2006/main" prst="ellipse">
            <a:avLst/>
          </a:prstGeom>
          <a:solidFill xmlns:a="http://schemas.openxmlformats.org/drawingml/2006/main">
            <a:schemeClr val="accent1"/>
          </a:solidFill>
        </p:spPr>
      </p:sp>
      <p:pic>
        <p:nvPicPr>
          <p:cNvPr id="18" name="129 ms (p50) ícono">
            <a:extLst xmlns:a="http://schemas.openxmlformats.org/drawingml/2006/main">
              <a:ext uri="{FF2B5EF4-FFF2-40B4-BE49-F238E27FC236}">
                <a16:creationId xmlns:a16="http://schemas.microsoft.com/office/drawing/2014/main" id="{81359516-5B01-4130-A6CD-59F22014468F}"/>
              </a:ext>
            </a:extLst>
          </p:cNvPr>
          <p:cNvPicPr>
            <a:picLocks xmlns:a="http://schemas.openxmlformats.org/drawingml/2006/main" noChangeAspect="1"/>
          </p:cNvPicPr>
          <p:nvPr/>
        </p:nvPicPr>
        <p:blipFill>
          <a:blip xmlns:r="http://schemas.openxmlformats.org/officeDocument/2006/relationships" xmlns:a="http://schemas.openxmlformats.org/drawingml/2006/main" r:embed="Rb66977b74f2747fc"/>
          <a:stretch xmlns:a="http://schemas.openxmlformats.org/drawingml/2006/main">
            <a:fillRect l="0" t="0" r="0" b="0"/>
          </a:stretch>
        </p:blipFill>
        <p:spPr>
          <a:xfrm xmlns:a="http://schemas.openxmlformats.org/drawingml/2006/main">
            <a:off x="6970654" y="3998854"/>
            <a:ext cx="286756" cy="286756"/>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C417450E-D581-48B5-8767-2EA3E2E61C6E}"/>
              </a:ext>
            </a:extLst>
          </p:cNvPr>
          <p:cNvSpPr>
            <a:spLocks xmlns:a="http://schemas.openxmlformats.org/drawingml/2006/main" noGrp="1"/>
          </p:cNvSpPr>
          <p:nvPr/>
        </p:nvSpPr>
        <p:spPr>
          <a:xfrm xmlns:a="http://schemas.openxmlformats.org/drawingml/2006/main">
            <a:off x="7498080" y="375818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141 ms (p50)</a:t>
            </a:r>
            <a:endParaRPr sz="1700"/>
          </a:p>
        </p:txBody>
      </p:sp>
      <p:sp>
        <p:nvSpPr>
          <p:cNvPr id="20" name="Text 14">
            <a:extLst xmlns:a="http://schemas.openxmlformats.org/drawingml/2006/main">
              <a:ext uri="{FF2B5EF4-FFF2-40B4-BE49-F238E27FC236}">
                <a16:creationId xmlns:a16="http://schemas.microsoft.com/office/drawing/2014/main" id="{8FC20039-96AE-4834-A624-03E28BF05507}"/>
              </a:ext>
            </a:extLst>
          </p:cNvPr>
          <p:cNvSpPr>
            <a:spLocks xmlns:a="http://schemas.openxmlformats.org/drawingml/2006/main" noGrp="1"/>
          </p:cNvSpPr>
          <p:nvPr/>
        </p:nvSpPr>
        <p:spPr>
          <a:xfrm xmlns:a="http://schemas.openxmlformats.org/drawingml/2006/main">
            <a:off x="7498080" y="412394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Hospital API: encrypt, mTLS, evaluate, decrypt and vault write (200 synthetic requests)</a:t>
            </a:r>
            <a:endParaRPr sz="1100"/>
          </a:p>
        </p:txBody>
      </p:sp>
      <p:sp>
        <p:nvSpPr>
          <p:cNvPr id="21" name="26.8 KB → 1.4 KB">
            <a:extLst xmlns:a="http://schemas.openxmlformats.org/drawingml/2006/main">
              <a:ext uri="{FF2B5EF4-FFF2-40B4-BE49-F238E27FC236}">
                <a16:creationId xmlns:a16="http://schemas.microsoft.com/office/drawing/2014/main" id="{60C7EE51-4110-4BD6-AA06-1022932EF1C0}"/>
              </a:ext>
            </a:extLst>
          </p:cNvPr>
          <p:cNvSpPr>
            <a:spLocks xmlns:a="http://schemas.openxmlformats.org/drawingml/2006/main" noGrp="1"/>
          </p:cNvSpPr>
          <p:nvPr/>
        </p:nvSpPr>
        <p:spPr>
          <a:xfrm xmlns:a="http://schemas.openxmlformats.org/drawingml/2006/main">
            <a:off x="6720840" y="4709160"/>
            <a:ext cx="4919472" cy="877824"/>
          </a:xfrm>
          <a:prstGeom xmlns:a="http://schemas.openxmlformats.org/drawingml/2006/main" prst="roundRect">
            <a:avLst>
              <a:gd name="adj" fmla="val 10417"/>
            </a:avLst>
          </a:prstGeom>
          <a:solidFill xmlns:a="http://schemas.openxmlformats.org/drawingml/2006/main">
            <a:schemeClr val="accent1">
              <a:alpha val="15000"/>
            </a:schemeClr>
          </a:solidFill>
        </p:spPr>
      </p:sp>
      <p:sp>
        <p:nvSpPr>
          <p:cNvPr id="22" name="26.8 KB → 1.4 KB círculo">
            <a:extLst xmlns:a="http://schemas.openxmlformats.org/drawingml/2006/main">
              <a:ext uri="{FF2B5EF4-FFF2-40B4-BE49-F238E27FC236}">
                <a16:creationId xmlns:a16="http://schemas.microsoft.com/office/drawing/2014/main" id="{41095B4A-AE0B-4A0C-B98C-4EBB205BBFA6}"/>
              </a:ext>
            </a:extLst>
          </p:cNvPr>
          <p:cNvSpPr>
            <a:spLocks xmlns:a="http://schemas.openxmlformats.org/drawingml/2006/main" noGrp="1"/>
          </p:cNvSpPr>
          <p:nvPr/>
        </p:nvSpPr>
        <p:spPr>
          <a:xfrm xmlns:a="http://schemas.openxmlformats.org/drawingml/2006/main">
            <a:off x="6858000" y="4892040"/>
            <a:ext cx="512064" cy="512064"/>
          </a:xfrm>
          <a:prstGeom xmlns:a="http://schemas.openxmlformats.org/drawingml/2006/main" prst="ellipse">
            <a:avLst/>
          </a:prstGeom>
          <a:solidFill xmlns:a="http://schemas.openxmlformats.org/drawingml/2006/main">
            <a:schemeClr val="accent1"/>
          </a:solidFill>
        </p:spPr>
      </p:sp>
      <p:pic>
        <p:nvPicPr>
          <p:cNvPr id="23" name="26.8 KB → 1.4 KB ícono">
            <a:extLst xmlns:a="http://schemas.openxmlformats.org/drawingml/2006/main">
              <a:ext uri="{FF2B5EF4-FFF2-40B4-BE49-F238E27FC236}">
                <a16:creationId xmlns:a16="http://schemas.microsoft.com/office/drawing/2014/main" id="{846666A8-EF27-445E-9C2A-A2DAF5AE7D59}"/>
              </a:ext>
            </a:extLst>
          </p:cNvPr>
          <p:cNvPicPr>
            <a:picLocks xmlns:a="http://schemas.openxmlformats.org/drawingml/2006/main" noChangeAspect="1"/>
          </p:cNvPicPr>
          <p:nvPr/>
        </p:nvPicPr>
        <p:blipFill>
          <a:blip xmlns:r="http://schemas.openxmlformats.org/officeDocument/2006/relationships" xmlns:a="http://schemas.openxmlformats.org/drawingml/2006/main" r:embed="Rf2537821b9c445ed"/>
          <a:stretch xmlns:a="http://schemas.openxmlformats.org/drawingml/2006/main">
            <a:fillRect l="0" t="0" r="0" b="0"/>
          </a:stretch>
        </p:blipFill>
        <p:spPr>
          <a:xfrm xmlns:a="http://schemas.openxmlformats.org/drawingml/2006/main">
            <a:off x="6970654" y="5004694"/>
            <a:ext cx="286756" cy="286756"/>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1275C137-C6F7-4E94-AB80-197B491E98D2}"/>
              </a:ext>
            </a:extLst>
          </p:cNvPr>
          <p:cNvSpPr>
            <a:spLocks xmlns:a="http://schemas.openxmlformats.org/drawingml/2006/main" noGrp="1"/>
          </p:cNvSpPr>
          <p:nvPr/>
        </p:nvSpPr>
        <p:spPr>
          <a:xfrm xmlns:a="http://schemas.openxmlformats.org/drawingml/2006/main">
            <a:off x="7498080" y="4764024"/>
            <a:ext cx="4023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chemeClr val="bg1"/>
                </a:solidFill>
              </a:rPr>
              <a:t>26.8 KB → 1.4 KB</a:t>
            </a:r>
            <a:endParaRPr sz="1700"/>
          </a:p>
        </p:txBody>
      </p:sp>
      <p:sp>
        <p:nvSpPr>
          <p:cNvPr id="25" name="Text 18">
            <a:extLst xmlns:a="http://schemas.openxmlformats.org/drawingml/2006/main">
              <a:ext uri="{FF2B5EF4-FFF2-40B4-BE49-F238E27FC236}">
                <a16:creationId xmlns:a16="http://schemas.microsoft.com/office/drawing/2014/main" id="{ABCABECA-0125-4198-A58A-221CB8CB3349}"/>
              </a:ext>
            </a:extLst>
          </p:cNvPr>
          <p:cNvSpPr>
            <a:spLocks xmlns:a="http://schemas.openxmlformats.org/drawingml/2006/main" noGrp="1"/>
          </p:cNvSpPr>
          <p:nvPr/>
        </p:nvSpPr>
        <p:spPr>
          <a:xfrm xmlns:a="http://schemas.openxmlformats.org/drawingml/2006/main">
            <a:off x="7498080" y="5129784"/>
            <a:ext cx="40233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bg2"/>
                </a:solidFill>
              </a:rPr>
              <a:t>21 input ciphertexts → one encrypted score</a:t>
            </a:r>
            <a:endParaRPr sz="1100"/>
          </a:p>
        </p:txBody>
      </p:sp>
      <p:sp>
        <p:nvSpPr>
          <p:cNvPr id="26" name="Text 19">
            <a:extLst xmlns:a="http://schemas.openxmlformats.org/drawingml/2006/main">
              <a:ext uri="{FF2B5EF4-FFF2-40B4-BE49-F238E27FC236}">
                <a16:creationId xmlns:a16="http://schemas.microsoft.com/office/drawing/2014/main" id="{18A1E4D6-A93C-46F3-BEA5-070896256DA1}"/>
              </a:ext>
            </a:extLst>
          </p:cNvPr>
          <p:cNvSpPr>
            <a:spLocks xmlns:a="http://schemas.openxmlformats.org/drawingml/2006/main" noGrp="1"/>
          </p:cNvSpPr>
          <p:nvPr/>
        </p:nvSpPr>
        <p:spPr>
          <a:xfrm xmlns:a="http://schemas.openxmlformats.org/drawingml/2006/main">
            <a:off x="6720840" y="5760720"/>
            <a:ext cx="4919472"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4"/>
                </a:solidFill>
              </a:rPr>
              <a:t>Historical LOCAL benchmark, clean commit 65ae4ef, macOS arm64 / Docker, 2048-bit key. Not LinuxONE. Repeat on the VM with make measure-api-docker.</a:t>
            </a:r>
            <a:endParaRPr sz="1000"/>
          </a:p>
        </p:txBody>
      </p:sp>
      <p:sp>
        <p:nvSpPr>
          <p:cNvPr id="27" name="Slide Number Placeholder 0">
            <a:extLst xmlns:a="http://schemas.openxmlformats.org/drawingml/2006/main">
              <a:ext uri="{FF2B5EF4-FFF2-40B4-BE49-F238E27FC236}">
                <a16:creationId xmlns:a16="http://schemas.microsoft.com/office/drawing/2014/main" id="{36E123FC-56CD-4511-8432-2489215E3D9C}"/>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6</a:t>
            </a:fld>
            <a:endParaRPr/>
          </a:p>
        </p:txBody>
      </p:sp>
    </p:spTree>
    <p:extLst>
      <p:ext uri="{BB962C8B-B14F-4D97-AF65-F5344CB8AC3E}">
        <p14:creationId xmlns:p14="http://schemas.microsoft.com/office/powerpoint/2010/main" val="47016726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BC4DE0A9-A01E-4E2F-8CCE-A01F49FF6800}"/>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06 · DATA, MODEL AND LIMITS</a:t>
            </a:r>
            <a:endParaRPr sz="1200"/>
          </a:p>
        </p:txBody>
      </p:sp>
      <p:sp>
        <p:nvSpPr>
          <p:cNvPr id="3" name="Text 1">
            <a:extLst xmlns:a="http://schemas.openxmlformats.org/drawingml/2006/main">
              <a:ext uri="{FF2B5EF4-FFF2-40B4-BE49-F238E27FC236}">
                <a16:creationId xmlns:a16="http://schemas.microsoft.com/office/drawing/2014/main" id="{B3910DF6-87A9-44A1-BAA5-F88DB36CD224}"/>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Train on public data; evaluate encrypted patient inputs</a:t>
            </a:r>
            <a:endParaRPr sz="3000"/>
          </a:p>
        </p:txBody>
      </p:sp>
      <p:sp>
        <p:nvSpPr>
          <p:cNvPr id="4" name="253,680">
            <a:extLst xmlns:a="http://schemas.openxmlformats.org/drawingml/2006/main">
              <a:ext uri="{FF2B5EF4-FFF2-40B4-BE49-F238E27FC236}">
                <a16:creationId xmlns:a16="http://schemas.microsoft.com/office/drawing/2014/main" id="{E7DB1422-41EA-46E9-B916-641630ADF8B8}"/>
              </a:ext>
            </a:extLst>
          </p:cNvPr>
          <p:cNvSpPr>
            <a:spLocks xmlns:a="http://schemas.openxmlformats.org/drawingml/2006/main" noGrp="1"/>
          </p:cNvSpPr>
          <p:nvPr/>
        </p:nvSpPr>
        <p:spPr>
          <a:xfrm xmlns:a="http://schemas.openxmlformats.org/drawingml/2006/main">
            <a:off x="548640"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5" name="Text 3">
            <a:extLst xmlns:a="http://schemas.openxmlformats.org/drawingml/2006/main">
              <a:ext uri="{FF2B5EF4-FFF2-40B4-BE49-F238E27FC236}">
                <a16:creationId xmlns:a16="http://schemas.microsoft.com/office/drawing/2014/main" id="{DDEA2EAD-C407-4010-A33F-443D6F496F2C}"/>
              </a:ext>
            </a:extLst>
          </p:cNvPr>
          <p:cNvSpPr>
            <a:spLocks xmlns:a="http://schemas.openxmlformats.org/drawingml/2006/main" noGrp="1"/>
          </p:cNvSpPr>
          <p:nvPr/>
        </p:nvSpPr>
        <p:spPr>
          <a:xfrm xmlns:a="http://schemas.openxmlformats.org/drawingml/2006/main">
            <a:off x="731520"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253,680</a:t>
            </a:r>
            <a:endParaRPr sz="3000"/>
          </a:p>
        </p:txBody>
      </p:sp>
      <p:sp>
        <p:nvSpPr>
          <p:cNvPr id="6" name="Text 4">
            <a:extLst xmlns:a="http://schemas.openxmlformats.org/drawingml/2006/main">
              <a:ext uri="{FF2B5EF4-FFF2-40B4-BE49-F238E27FC236}">
                <a16:creationId xmlns:a16="http://schemas.microsoft.com/office/drawing/2014/main" id="{6CD34BAF-1C57-4863-9F84-A3CD5EAE8526}"/>
              </a:ext>
            </a:extLst>
          </p:cNvPr>
          <p:cNvSpPr>
            <a:spLocks xmlns:a="http://schemas.openxmlformats.org/drawingml/2006/main" noGrp="1"/>
          </p:cNvSpPr>
          <p:nvPr/>
        </p:nvSpPr>
        <p:spPr>
          <a:xfrm xmlns:a="http://schemas.openxmlformats.org/drawingml/2006/main">
            <a:off x="2331720"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public CDC BRFSS 2015 health survey records (UCI ID 891)</a:t>
            </a:r>
            <a:endParaRPr sz="1100"/>
          </a:p>
        </p:txBody>
      </p:sp>
      <p:sp>
        <p:nvSpPr>
          <p:cNvPr id="7" name="21">
            <a:extLst xmlns:a="http://schemas.openxmlformats.org/drawingml/2006/main">
              <a:ext uri="{FF2B5EF4-FFF2-40B4-BE49-F238E27FC236}">
                <a16:creationId xmlns:a16="http://schemas.microsoft.com/office/drawing/2014/main" id="{9916D5D1-6F81-4737-930F-F52170FCF3AC}"/>
              </a:ext>
            </a:extLst>
          </p:cNvPr>
          <p:cNvSpPr>
            <a:spLocks xmlns:a="http://schemas.openxmlformats.org/drawingml/2006/main" noGrp="1"/>
          </p:cNvSpPr>
          <p:nvPr/>
        </p:nvSpPr>
        <p:spPr>
          <a:xfrm xmlns:a="http://schemas.openxmlformats.org/drawingml/2006/main">
            <a:off x="4334256"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8" name="Text 6">
            <a:extLst xmlns:a="http://schemas.openxmlformats.org/drawingml/2006/main">
              <a:ext uri="{FF2B5EF4-FFF2-40B4-BE49-F238E27FC236}">
                <a16:creationId xmlns:a16="http://schemas.microsoft.com/office/drawing/2014/main" id="{CE696A82-1D0E-4B07-BC70-ACF6F2471003}"/>
              </a:ext>
            </a:extLst>
          </p:cNvPr>
          <p:cNvSpPr>
            <a:spLocks xmlns:a="http://schemas.openxmlformats.org/drawingml/2006/main" noGrp="1"/>
          </p:cNvSpPr>
          <p:nvPr/>
        </p:nvSpPr>
        <p:spPr>
          <a:xfrm xmlns:a="http://schemas.openxmlformats.org/drawingml/2006/main">
            <a:off x="4517136"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21</a:t>
            </a:r>
            <a:endParaRPr sz="3000"/>
          </a:p>
        </p:txBody>
      </p:sp>
      <p:sp>
        <p:nvSpPr>
          <p:cNvPr id="9" name="Text 7">
            <a:extLst xmlns:a="http://schemas.openxmlformats.org/drawingml/2006/main">
              <a:ext uri="{FF2B5EF4-FFF2-40B4-BE49-F238E27FC236}">
                <a16:creationId xmlns:a16="http://schemas.microsoft.com/office/drawing/2014/main" id="{1207F869-1A8A-4165-BEB7-44092934CC06}"/>
              </a:ext>
            </a:extLst>
          </p:cNvPr>
          <p:cNvSpPr>
            <a:spLocks xmlns:a="http://schemas.openxmlformats.org/drawingml/2006/main" noGrp="1"/>
          </p:cNvSpPr>
          <p:nvPr/>
        </p:nvSpPr>
        <p:spPr>
          <a:xfrm xmlns:a="http://schemas.openxmlformats.org/drawingml/2006/main">
            <a:off x="6117336"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indicators: BMI, blood pressure, cholesterol, physical activity, age…</a:t>
            </a:r>
            <a:endParaRPr sz="1100"/>
          </a:p>
        </p:txBody>
      </p:sp>
      <p:sp>
        <p:nvSpPr>
          <p:cNvPr id="10" name="13.9%">
            <a:extLst xmlns:a="http://schemas.openxmlformats.org/drawingml/2006/main">
              <a:ext uri="{FF2B5EF4-FFF2-40B4-BE49-F238E27FC236}">
                <a16:creationId xmlns:a16="http://schemas.microsoft.com/office/drawing/2014/main" id="{55EF02D7-8155-49C3-A3FA-97FB89D9A58C}"/>
              </a:ext>
            </a:extLst>
          </p:cNvPr>
          <p:cNvSpPr>
            <a:spLocks xmlns:a="http://schemas.openxmlformats.org/drawingml/2006/main" noGrp="1"/>
          </p:cNvSpPr>
          <p:nvPr/>
        </p:nvSpPr>
        <p:spPr>
          <a:xfrm xmlns:a="http://schemas.openxmlformats.org/drawingml/2006/main">
            <a:off x="8119872" y="1783080"/>
            <a:ext cx="3520440" cy="960120"/>
          </a:xfrm>
          <a:prstGeom xmlns:a="http://schemas.openxmlformats.org/drawingml/2006/main" prst="roundRect">
            <a:avLst>
              <a:gd name="adj" fmla="val 9524"/>
            </a:avLst>
          </a:prstGeom>
          <a:solidFill xmlns:a="http://schemas.openxmlformats.org/drawingml/2006/main">
            <a:schemeClr val="tx2"/>
          </a:solidFill>
        </p:spPr>
      </p:sp>
      <p:sp>
        <p:nvSpPr>
          <p:cNvPr id="11" name="Text 9">
            <a:extLst xmlns:a="http://schemas.openxmlformats.org/drawingml/2006/main">
              <a:ext uri="{FF2B5EF4-FFF2-40B4-BE49-F238E27FC236}">
                <a16:creationId xmlns:a16="http://schemas.microsoft.com/office/drawing/2014/main" id="{B394A62B-9F83-4191-8537-C51D027A16D3}"/>
              </a:ext>
            </a:extLst>
          </p:cNvPr>
          <p:cNvSpPr>
            <a:spLocks xmlns:a="http://schemas.openxmlformats.org/drawingml/2006/main" noGrp="1"/>
          </p:cNvSpPr>
          <p:nvPr/>
        </p:nvSpPr>
        <p:spPr>
          <a:xfrm xmlns:a="http://schemas.openxmlformats.org/drawingml/2006/main">
            <a:off x="8302752" y="1783080"/>
            <a:ext cx="160020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chemeClr val="accent5"/>
                </a:solidFill>
              </a:rPr>
              <a:t>13.9%</a:t>
            </a:r>
            <a:endParaRPr sz="3000"/>
          </a:p>
        </p:txBody>
      </p:sp>
      <p:sp>
        <p:nvSpPr>
          <p:cNvPr id="12" name="Text 10">
            <a:extLst xmlns:a="http://schemas.openxmlformats.org/drawingml/2006/main">
              <a:ext uri="{FF2B5EF4-FFF2-40B4-BE49-F238E27FC236}">
                <a16:creationId xmlns:a16="http://schemas.microsoft.com/office/drawing/2014/main" id="{EA0BF3AB-F17E-46FE-B05B-1404BD5A20DE}"/>
              </a:ext>
            </a:extLst>
          </p:cNvPr>
          <p:cNvSpPr>
            <a:spLocks xmlns:a="http://schemas.openxmlformats.org/drawingml/2006/main" noGrp="1"/>
          </p:cNvSpPr>
          <p:nvPr/>
        </p:nvSpPr>
        <p:spPr>
          <a:xfrm xmlns:a="http://schemas.openxmlformats.org/drawingml/2006/main">
            <a:off x="9902952" y="1828800"/>
            <a:ext cx="16002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chemeClr val="bg2"/>
                </a:solidFill>
              </a:rPr>
              <a:t>self-reported prediabetes or diabetes: account for class imbalance</a:t>
            </a:r>
            <a:endParaRPr sz="1100"/>
          </a:p>
        </p:txBody>
      </p:sp>
      <p:sp>
        <p:nvSpPr>
          <p:cNvPr id="13" name="conector">
            <a:extLst xmlns:a="http://schemas.openxmlformats.org/drawingml/2006/main">
              <a:ext uri="{FF2B5EF4-FFF2-40B4-BE49-F238E27FC236}">
                <a16:creationId xmlns:a16="http://schemas.microsoft.com/office/drawing/2014/main" id="{FB0E6C64-14D6-4A41-A1ED-3E768F170DC5}"/>
              </a:ext>
            </a:extLst>
          </p:cNvPr>
          <p:cNvSpPr>
            <a:spLocks xmlns:a="http://schemas.openxmlformats.org/drawingml/2006/main" noGrp="1"/>
          </p:cNvSpPr>
          <p:nvPr/>
        </p:nvSpPr>
        <p:spPr>
          <a:xfrm xmlns:a="http://schemas.openxmlformats.org/drawingml/2006/main">
            <a:off x="777240" y="3493008"/>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4" name="paso 1">
            <a:extLst xmlns:a="http://schemas.openxmlformats.org/drawingml/2006/main">
              <a:ext uri="{FF2B5EF4-FFF2-40B4-BE49-F238E27FC236}">
                <a16:creationId xmlns:a16="http://schemas.microsoft.com/office/drawing/2014/main" id="{B20B6246-4475-4131-888A-3C1EE22FF08E}"/>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ellipse">
            <a:avLst/>
          </a:prstGeom>
          <a:solidFill xmlns:a="http://schemas.openxmlformats.org/drawingml/2006/main">
            <a:schemeClr val="accent1"/>
          </a:solidFill>
        </p:spPr>
      </p:sp>
      <p:sp>
        <p:nvSpPr>
          <p:cNvPr id="15" name="Text 13">
            <a:extLst xmlns:a="http://schemas.openxmlformats.org/drawingml/2006/main">
              <a:ext uri="{FF2B5EF4-FFF2-40B4-BE49-F238E27FC236}">
                <a16:creationId xmlns:a16="http://schemas.microsoft.com/office/drawing/2014/main" id="{41CC5E54-AC20-4425-A6E7-86ABFCED5C05}"/>
              </a:ext>
            </a:extLst>
          </p:cNvPr>
          <p:cNvSpPr>
            <a:spLocks xmlns:a="http://schemas.openxmlformats.org/drawingml/2006/main" noGrp="1"/>
          </p:cNvSpPr>
          <p:nvPr/>
        </p:nvSpPr>
        <p:spPr>
          <a:xfrm xmlns:a="http://schemas.openxmlformats.org/drawingml/2006/main">
            <a:off x="548640" y="30175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1</a:t>
            </a:r>
            <a:endParaRPr sz="1600"/>
          </a:p>
        </p:txBody>
      </p:sp>
      <p:sp>
        <p:nvSpPr>
          <p:cNvPr id="16" name="Text 14">
            <a:extLst xmlns:a="http://schemas.openxmlformats.org/drawingml/2006/main">
              <a:ext uri="{FF2B5EF4-FFF2-40B4-BE49-F238E27FC236}">
                <a16:creationId xmlns:a16="http://schemas.microsoft.com/office/drawing/2014/main" id="{48A08C5C-56AA-4EBF-B2FD-0990EB3F52AE}"/>
              </a:ext>
            </a:extLst>
          </p:cNvPr>
          <p:cNvSpPr>
            <a:spLocks xmlns:a="http://schemas.openxmlformats.org/drawingml/2006/main" noGrp="1"/>
          </p:cNvSpPr>
          <p:nvPr/>
        </p:nvSpPr>
        <p:spPr>
          <a:xfrm xmlns:a="http://schemas.openxmlformats.org/drawingml/2006/main">
            <a:off x="1188720" y="2990088"/>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Train on public records</a:t>
            </a:r>
            <a:endParaRPr sz="1400"/>
          </a:p>
        </p:txBody>
      </p:sp>
      <p:sp>
        <p:nvSpPr>
          <p:cNvPr id="17" name="Text 15">
            <a:extLst xmlns:a="http://schemas.openxmlformats.org/drawingml/2006/main">
              <a:ext uri="{FF2B5EF4-FFF2-40B4-BE49-F238E27FC236}">
                <a16:creationId xmlns:a16="http://schemas.microsoft.com/office/drawing/2014/main" id="{343A8BF2-9A36-4F9E-A8C7-036378FBE170}"/>
              </a:ext>
            </a:extLst>
          </p:cNvPr>
          <p:cNvSpPr>
            <a:spLocks xmlns:a="http://schemas.openxmlformats.org/drawingml/2006/main" noGrp="1"/>
          </p:cNvSpPr>
          <p:nvPr/>
        </p:nvSpPr>
        <p:spPr>
          <a:xfrm xmlns:a="http://schemas.openxmlformats.org/drawingml/2006/main">
            <a:off x="1188720" y="3282696"/>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Logistic regression; standardization folded into model weights</a:t>
            </a:r>
            <a:endParaRPr sz="1200"/>
          </a:p>
        </p:txBody>
      </p:sp>
      <p:sp>
        <p:nvSpPr>
          <p:cNvPr id="18" name="conector">
            <a:extLst xmlns:a="http://schemas.openxmlformats.org/drawingml/2006/main">
              <a:ext uri="{FF2B5EF4-FFF2-40B4-BE49-F238E27FC236}">
                <a16:creationId xmlns:a16="http://schemas.microsoft.com/office/drawing/2014/main" id="{D1B83B55-12E1-48D8-8A22-CA1D5E5E0851}"/>
              </a:ext>
            </a:extLst>
          </p:cNvPr>
          <p:cNvSpPr>
            <a:spLocks xmlns:a="http://schemas.openxmlformats.org/drawingml/2006/main" noGrp="1"/>
          </p:cNvSpPr>
          <p:nvPr/>
        </p:nvSpPr>
        <p:spPr>
          <a:xfrm xmlns:a="http://schemas.openxmlformats.org/drawingml/2006/main">
            <a:off x="777240" y="4242816"/>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19" name="paso 2">
            <a:extLst xmlns:a="http://schemas.openxmlformats.org/drawingml/2006/main">
              <a:ext uri="{FF2B5EF4-FFF2-40B4-BE49-F238E27FC236}">
                <a16:creationId xmlns:a16="http://schemas.microsoft.com/office/drawing/2014/main" id="{E661DC74-84BD-491B-B090-592C5AA9D385}"/>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ellipse">
            <a:avLst/>
          </a:prstGeom>
          <a:solidFill xmlns:a="http://schemas.openxmlformats.org/drawingml/2006/main">
            <a:schemeClr val="accent1"/>
          </a:solidFill>
        </p:spPr>
      </p:sp>
      <p:sp>
        <p:nvSpPr>
          <p:cNvPr id="20" name="Text 18">
            <a:extLst xmlns:a="http://schemas.openxmlformats.org/drawingml/2006/main">
              <a:ext uri="{FF2B5EF4-FFF2-40B4-BE49-F238E27FC236}">
                <a16:creationId xmlns:a16="http://schemas.microsoft.com/office/drawing/2014/main" id="{C42B77C1-DD0C-4985-BE7F-B88E08D78C9D}"/>
              </a:ext>
            </a:extLst>
          </p:cNvPr>
          <p:cNvSpPr>
            <a:spLocks xmlns:a="http://schemas.openxmlformats.org/drawingml/2006/main" noGrp="1"/>
          </p:cNvSpPr>
          <p:nvPr/>
        </p:nvSpPr>
        <p:spPr>
          <a:xfrm xmlns:a="http://schemas.openxmlformats.org/drawingml/2006/main">
            <a:off x="548640" y="3767328"/>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2</a:t>
            </a:r>
            <a:endParaRPr sz="1600"/>
          </a:p>
        </p:txBody>
      </p:sp>
      <p:sp>
        <p:nvSpPr>
          <p:cNvPr id="21" name="Text 19">
            <a:extLst xmlns:a="http://schemas.openxmlformats.org/drawingml/2006/main">
              <a:ext uri="{FF2B5EF4-FFF2-40B4-BE49-F238E27FC236}">
                <a16:creationId xmlns:a16="http://schemas.microsoft.com/office/drawing/2014/main" id="{5A8C9266-8697-4DC6-811F-2FAAE8B5993F}"/>
              </a:ext>
            </a:extLst>
          </p:cNvPr>
          <p:cNvSpPr>
            <a:spLocks xmlns:a="http://schemas.openxmlformats.org/drawingml/2006/main" noGrp="1"/>
          </p:cNvSpPr>
          <p:nvPr/>
        </p:nvSpPr>
        <p:spPr>
          <a:xfrm xmlns:a="http://schemas.openxmlformats.org/drawingml/2006/main">
            <a:off x="1188720" y="3739896"/>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Quantize the weights</a:t>
            </a:r>
            <a:endParaRPr sz="1400"/>
          </a:p>
        </p:txBody>
      </p:sp>
      <p:sp>
        <p:nvSpPr>
          <p:cNvPr id="22" name="Text 20">
            <a:extLst xmlns:a="http://schemas.openxmlformats.org/drawingml/2006/main">
              <a:ext uri="{FF2B5EF4-FFF2-40B4-BE49-F238E27FC236}">
                <a16:creationId xmlns:a16="http://schemas.microsoft.com/office/drawing/2014/main" id="{A65400F7-27C0-48D5-9AD8-6E6ECB8451AD}"/>
              </a:ext>
            </a:extLst>
          </p:cNvPr>
          <p:cNvSpPr>
            <a:spLocks xmlns:a="http://schemas.openxmlformats.org/drawingml/2006/main" noGrp="1"/>
          </p:cNvSpPr>
          <p:nvPr/>
        </p:nvSpPr>
        <p:spPr>
          <a:xfrm xmlns:a="http://schemas.openxmlformats.org/drawingml/2006/main">
            <a:off x="1188720" y="4032504"/>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Round weights × 10⁹; all 21 inputs are already integers</a:t>
            </a:r>
            <a:endParaRPr sz="1200"/>
          </a:p>
        </p:txBody>
      </p:sp>
      <p:sp>
        <p:nvSpPr>
          <p:cNvPr id="23" name="conector">
            <a:extLst xmlns:a="http://schemas.openxmlformats.org/drawingml/2006/main">
              <a:ext uri="{FF2B5EF4-FFF2-40B4-BE49-F238E27FC236}">
                <a16:creationId xmlns:a16="http://schemas.microsoft.com/office/drawing/2014/main" id="{88745128-50ED-4238-8ABF-DC68B8212344}"/>
              </a:ext>
            </a:extLst>
          </p:cNvPr>
          <p:cNvSpPr>
            <a:spLocks xmlns:a="http://schemas.openxmlformats.org/drawingml/2006/main" noGrp="1"/>
          </p:cNvSpPr>
          <p:nvPr/>
        </p:nvSpPr>
        <p:spPr>
          <a:xfrm xmlns:a="http://schemas.openxmlformats.org/drawingml/2006/main">
            <a:off x="777240" y="4992624"/>
            <a:ext cx="0" cy="274320"/>
          </a:xfrm>
          <a:prstGeom xmlns:a="http://schemas.openxmlformats.org/drawingml/2006/main" prst="line">
            <a:avLst/>
          </a:prstGeom>
          <a:noFill xmlns:a="http://schemas.openxmlformats.org/drawingml/2006/main"/>
          <a:ln xmlns:a="http://schemas.openxmlformats.org/drawingml/2006/main" w="19050">
            <a:solidFill>
              <a:schemeClr val="accent5"/>
            </a:solidFill>
            <a:prstDash val="dash"/>
          </a:ln>
        </p:spPr>
      </p:sp>
      <p:sp>
        <p:nvSpPr>
          <p:cNvPr id="24" name="paso 3">
            <a:extLst xmlns:a="http://schemas.openxmlformats.org/drawingml/2006/main">
              <a:ext uri="{FF2B5EF4-FFF2-40B4-BE49-F238E27FC236}">
                <a16:creationId xmlns:a16="http://schemas.microsoft.com/office/drawing/2014/main" id="{5AF7996F-81F4-41CB-9C00-2DBD9AF91D87}"/>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ellipse">
            <a:avLst/>
          </a:prstGeom>
          <a:solidFill xmlns:a="http://schemas.openxmlformats.org/drawingml/2006/main">
            <a:schemeClr val="accent1"/>
          </a:solidFill>
        </p:spPr>
      </p:sp>
      <p:sp>
        <p:nvSpPr>
          <p:cNvPr id="25" name="Text 23">
            <a:extLst xmlns:a="http://schemas.openxmlformats.org/drawingml/2006/main">
              <a:ext uri="{FF2B5EF4-FFF2-40B4-BE49-F238E27FC236}">
                <a16:creationId xmlns:a16="http://schemas.microsoft.com/office/drawing/2014/main" id="{8EFC69D7-A5A6-41F6-A5A0-E3FB688FE902}"/>
              </a:ext>
            </a:extLst>
          </p:cNvPr>
          <p:cNvSpPr>
            <a:spLocks xmlns:a="http://schemas.openxmlformats.org/drawingml/2006/main" noGrp="1"/>
          </p:cNvSpPr>
          <p:nvPr/>
        </p:nvSpPr>
        <p:spPr>
          <a:xfrm xmlns:a="http://schemas.openxmlformats.org/drawingml/2006/main">
            <a:off x="548640" y="4517136"/>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3</a:t>
            </a:r>
            <a:endParaRPr sz="1600"/>
          </a:p>
        </p:txBody>
      </p:sp>
      <p:sp>
        <p:nvSpPr>
          <p:cNvPr id="26" name="Text 24">
            <a:extLst xmlns:a="http://schemas.openxmlformats.org/drawingml/2006/main">
              <a:ext uri="{FF2B5EF4-FFF2-40B4-BE49-F238E27FC236}">
                <a16:creationId xmlns:a16="http://schemas.microsoft.com/office/drawing/2014/main" id="{B276AEAC-162E-422A-9703-217C1CBAD153}"/>
              </a:ext>
            </a:extLst>
          </p:cNvPr>
          <p:cNvSpPr>
            <a:spLocks xmlns:a="http://schemas.openxmlformats.org/drawingml/2006/main" noGrp="1"/>
          </p:cNvSpPr>
          <p:nvPr/>
        </p:nvSpPr>
        <p:spPr>
          <a:xfrm xmlns:a="http://schemas.openxmlformats.org/drawingml/2006/main">
            <a:off x="1188720" y="4489704"/>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Encrypt patient inputs</a:t>
            </a:r>
            <a:endParaRPr sz="1400"/>
          </a:p>
        </p:txBody>
      </p:sp>
      <p:sp>
        <p:nvSpPr>
          <p:cNvPr id="27" name="Text 25">
            <a:extLst xmlns:a="http://schemas.openxmlformats.org/drawingml/2006/main">
              <a:ext uri="{FF2B5EF4-FFF2-40B4-BE49-F238E27FC236}">
                <a16:creationId xmlns:a16="http://schemas.microsoft.com/office/drawing/2014/main" id="{BB2C4072-759B-4306-8B51-29C31CD34B0B}"/>
              </a:ext>
            </a:extLst>
          </p:cNvPr>
          <p:cNvSpPr>
            <a:spLocks xmlns:a="http://schemas.openxmlformats.org/drawingml/2006/main" noGrp="1"/>
          </p:cNvSpPr>
          <p:nvPr/>
        </p:nvSpPr>
        <p:spPr>
          <a:xfrm xmlns:a="http://schemas.openxmlformats.org/drawingml/2006/main">
            <a:off x="1188720" y="4782312"/>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Encrypt 21 indicators using the hospital’s key</a:t>
            </a:r>
            <a:endParaRPr sz="1200"/>
          </a:p>
        </p:txBody>
      </p:sp>
      <p:sp>
        <p:nvSpPr>
          <p:cNvPr id="28" name="paso 4">
            <a:extLst xmlns:a="http://schemas.openxmlformats.org/drawingml/2006/main">
              <a:ext uri="{FF2B5EF4-FFF2-40B4-BE49-F238E27FC236}">
                <a16:creationId xmlns:a16="http://schemas.microsoft.com/office/drawing/2014/main" id="{4E22729E-6EC3-4972-8B8C-CC0996F9CCF1}"/>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ellipse">
            <a:avLst/>
          </a:prstGeom>
          <a:solidFill xmlns:a="http://schemas.openxmlformats.org/drawingml/2006/main">
            <a:schemeClr val="accent1"/>
          </a:solidFill>
        </p:spPr>
      </p:sp>
      <p:sp>
        <p:nvSpPr>
          <p:cNvPr id="29" name="Text 27">
            <a:extLst xmlns:a="http://schemas.openxmlformats.org/drawingml/2006/main">
              <a:ext uri="{FF2B5EF4-FFF2-40B4-BE49-F238E27FC236}">
                <a16:creationId xmlns:a16="http://schemas.microsoft.com/office/drawing/2014/main" id="{67F8C2C1-D674-4FBA-BCF9-F6F8118DE65D}"/>
              </a:ext>
            </a:extLst>
          </p:cNvPr>
          <p:cNvSpPr>
            <a:spLocks xmlns:a="http://schemas.openxmlformats.org/drawingml/2006/main" noGrp="1"/>
          </p:cNvSpPr>
          <p:nvPr/>
        </p:nvSpPr>
        <p:spPr>
          <a:xfrm xmlns:a="http://schemas.openxmlformats.org/drawingml/2006/main">
            <a:off x="548640" y="5266944"/>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chemeClr val="bg1"/>
                </a:solidFill>
              </a:rPr>
              <a:t>4</a:t>
            </a:r>
            <a:endParaRPr sz="1600"/>
          </a:p>
        </p:txBody>
      </p:sp>
      <p:sp>
        <p:nvSpPr>
          <p:cNvPr id="30" name="Text 28">
            <a:extLst xmlns:a="http://schemas.openxmlformats.org/drawingml/2006/main">
              <a:ext uri="{FF2B5EF4-FFF2-40B4-BE49-F238E27FC236}">
                <a16:creationId xmlns:a16="http://schemas.microsoft.com/office/drawing/2014/main" id="{2BBB1881-04FB-4CA5-BA21-4C92316E4731}"/>
              </a:ext>
            </a:extLst>
          </p:cNvPr>
          <p:cNvSpPr>
            <a:spLocks xmlns:a="http://schemas.openxmlformats.org/drawingml/2006/main" noGrp="1"/>
          </p:cNvSpPr>
          <p:nvPr/>
        </p:nvSpPr>
        <p:spPr>
          <a:xfrm xmlns:a="http://schemas.openxmlformats.org/drawingml/2006/main">
            <a:off x="1188720" y="5239512"/>
            <a:ext cx="47548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chemeClr val="bg1"/>
                </a:solidFill>
              </a:rPr>
              <a:t>Encrypted score → risk</a:t>
            </a:r>
            <a:endParaRPr sz="1400"/>
          </a:p>
        </p:txBody>
      </p:sp>
      <p:sp>
        <p:nvSpPr>
          <p:cNvPr id="31" name="Text 29">
            <a:extLst xmlns:a="http://schemas.openxmlformats.org/drawingml/2006/main">
              <a:ext uri="{FF2B5EF4-FFF2-40B4-BE49-F238E27FC236}">
                <a16:creationId xmlns:a16="http://schemas.microsoft.com/office/drawing/2014/main" id="{0AB77F81-8D4C-467D-8AA3-42FE77048006}"/>
              </a:ext>
            </a:extLst>
          </p:cNvPr>
          <p:cNvSpPr>
            <a:spLocks xmlns:a="http://schemas.openxmlformats.org/drawingml/2006/main" noGrp="1"/>
          </p:cNvSpPr>
          <p:nvPr/>
        </p:nvSpPr>
        <p:spPr>
          <a:xfrm xmlns:a="http://schemas.openxmlformats.org/drawingml/2006/main">
            <a:off x="1188720" y="5532120"/>
            <a:ext cx="47548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service evaluates w · x on ciphertexts; the hospital decrypts and applies sigmoid</a:t>
            </a:r>
            <a:endParaRPr sz="1200"/>
          </a:p>
        </p:txBody>
      </p:sp>
      <p:sp>
        <p:nvSpPr>
          <p:cNvPr id="32" name="Text 30">
            <a:extLst xmlns:a="http://schemas.openxmlformats.org/drawingml/2006/main">
              <a:ext uri="{FF2B5EF4-FFF2-40B4-BE49-F238E27FC236}">
                <a16:creationId xmlns:a16="http://schemas.microsoft.com/office/drawing/2014/main" id="{7FEF0A0A-7ACA-4D2B-A43E-82C24CE44D1D}"/>
              </a:ext>
            </a:extLst>
          </p:cNvPr>
          <p:cNvSpPr>
            <a:spLocks xmlns:a="http://schemas.openxmlformats.org/drawingml/2006/main" noGrp="1"/>
          </p:cNvSpPr>
          <p:nvPr/>
        </p:nvSpPr>
        <p:spPr>
          <a:xfrm xmlns:a="http://schemas.openxmlformats.org/drawingml/2006/main">
            <a:off x="6263640" y="3017520"/>
            <a:ext cx="5376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spc="100">
                <a:solidFill>
                  <a:schemeClr val="accent5"/>
                </a:solidFill>
              </a:rPr>
              <a:t>TEST RESULTS (38,052 RECORDS)</a:t>
            </a:r>
            <a:endParaRPr sz="1100"/>
          </a:p>
        </p:txBody>
      </p:sp>
      <p:sp>
        <p:nvSpPr>
          <p:cNvPr id="33" name="Métricas">
            <a:extLst xmlns:a="http://schemas.openxmlformats.org/drawingml/2006/main">
              <a:ext uri="{FF2B5EF4-FFF2-40B4-BE49-F238E27FC236}">
                <a16:creationId xmlns:a16="http://schemas.microsoft.com/office/drawing/2014/main" id="{EC880691-5CEA-45FE-920D-8D3CC074F18D}"/>
              </a:ext>
            </a:extLst>
          </p:cNvPr>
          <p:cNvSpPr>
            <a:spLocks xmlns:a="http://schemas.openxmlformats.org/drawingml/2006/main" noGrp="1"/>
          </p:cNvSpPr>
          <p:nvPr/>
        </p:nvSpPr>
        <p:spPr>
          <a:xfrm xmlns:a="http://schemas.openxmlformats.org/drawingml/2006/main">
            <a:off x="6263640" y="3383280"/>
            <a:ext cx="5376672" cy="1078992"/>
          </a:xfrm>
          <a:prstGeom xmlns:a="http://schemas.openxmlformats.org/drawingml/2006/main" prst="roundRect">
            <a:avLst>
              <a:gd name="adj" fmla="val 8475"/>
            </a:avLst>
          </a:prstGeom>
          <a:solidFill xmlns:a="http://schemas.openxmlformats.org/drawingml/2006/main">
            <a:schemeClr val="accent2">
              <a:alpha val="15000"/>
            </a:schemeClr>
          </a:solidFill>
          <a:ln xmlns:a="http://schemas.openxmlformats.org/drawingml/2006/main" w="9525">
            <a:solidFill>
              <a:schemeClr val="accent2">
                <a:alpha val="70000"/>
              </a:schemeClr>
            </a:solidFill>
            <a:prstDash val="solid"/>
          </a:ln>
        </p:spPr>
      </p:sp>
      <p:sp>
        <p:nvSpPr>
          <p:cNvPr id="34" name="Métricas círculo">
            <a:extLst xmlns:a="http://schemas.openxmlformats.org/drawingml/2006/main">
              <a:ext uri="{FF2B5EF4-FFF2-40B4-BE49-F238E27FC236}">
                <a16:creationId xmlns:a16="http://schemas.microsoft.com/office/drawing/2014/main" id="{A3ABE300-192A-40E0-82FA-2BFC08D29B68}"/>
              </a:ext>
            </a:extLst>
          </p:cNvPr>
          <p:cNvSpPr>
            <a:spLocks xmlns:a="http://schemas.openxmlformats.org/drawingml/2006/main" noGrp="1"/>
          </p:cNvSpPr>
          <p:nvPr/>
        </p:nvSpPr>
        <p:spPr>
          <a:xfrm xmlns:a="http://schemas.openxmlformats.org/drawingml/2006/main">
            <a:off x="6419088" y="3657600"/>
            <a:ext cx="530352" cy="530352"/>
          </a:xfrm>
          <a:prstGeom xmlns:a="http://schemas.openxmlformats.org/drawingml/2006/main" prst="ellipse">
            <a:avLst/>
          </a:prstGeom>
          <a:solidFill xmlns:a="http://schemas.openxmlformats.org/drawingml/2006/main">
            <a:schemeClr val="accent2"/>
          </a:solidFill>
        </p:spPr>
      </p:sp>
      <p:pic>
        <p:nvPicPr>
          <p:cNvPr id="35" name="Métricas ícono">
            <a:extLst xmlns:a="http://schemas.openxmlformats.org/drawingml/2006/main">
              <a:ext uri="{FF2B5EF4-FFF2-40B4-BE49-F238E27FC236}">
                <a16:creationId xmlns:a16="http://schemas.microsoft.com/office/drawing/2014/main" id="{8897FAD1-FDFA-4A8E-BE0E-B349C99B5233}"/>
              </a:ext>
            </a:extLst>
          </p:cNvPr>
          <p:cNvPicPr>
            <a:picLocks xmlns:a="http://schemas.openxmlformats.org/drawingml/2006/main" noChangeAspect="1"/>
          </p:cNvPicPr>
          <p:nvPr/>
        </p:nvPicPr>
        <p:blipFill>
          <a:blip xmlns:r="http://schemas.openxmlformats.org/officeDocument/2006/relationships" xmlns:a="http://schemas.openxmlformats.org/drawingml/2006/main" r:embed="R73d1fa03f9e74823"/>
          <a:stretch xmlns:a="http://schemas.openxmlformats.org/drawingml/2006/main">
            <a:fillRect l="0" t="0" r="0" b="0"/>
          </a:stretch>
        </p:blipFill>
        <p:spPr>
          <a:xfrm xmlns:a="http://schemas.openxmlformats.org/drawingml/2006/main">
            <a:off x="6535765" y="3774277"/>
            <a:ext cx="296997" cy="296997"/>
          </a:xfrm>
          <a:prstGeom xmlns:a="http://schemas.openxmlformats.org/drawingml/2006/main" prst="rect">
            <a:avLst/>
          </a:prstGeom>
        </p:spPr>
      </p:pic>
      <p:sp>
        <p:nvSpPr>
          <p:cNvPr id="36" name="Text 33">
            <a:extLst xmlns:a="http://schemas.openxmlformats.org/drawingml/2006/main">
              <a:ext uri="{FF2B5EF4-FFF2-40B4-BE49-F238E27FC236}">
                <a16:creationId xmlns:a16="http://schemas.microsoft.com/office/drawing/2014/main" id="{D8184D06-E015-45DA-8D6C-65FA5A71592C}"/>
              </a:ext>
            </a:extLst>
          </p:cNvPr>
          <p:cNvSpPr>
            <a:spLocks xmlns:a="http://schemas.openxmlformats.org/drawingml/2006/main" noGrp="1"/>
          </p:cNvSpPr>
          <p:nvPr/>
        </p:nvSpPr>
        <p:spPr>
          <a:xfrm xmlns:a="http://schemas.openxmlformats.org/drawingml/2006/main">
            <a:off x="7114032" y="3493008"/>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Metrics</a:t>
            </a:r>
            <a:endParaRPr sz="1500"/>
          </a:p>
        </p:txBody>
      </p:sp>
      <p:sp>
        <p:nvSpPr>
          <p:cNvPr id="37" name="Text 34">
            <a:extLst xmlns:a="http://schemas.openxmlformats.org/drawingml/2006/main">
              <a:ext uri="{FF2B5EF4-FFF2-40B4-BE49-F238E27FC236}">
                <a16:creationId xmlns:a16="http://schemas.microsoft.com/office/drawing/2014/main" id="{8CF8D52A-8C74-4D4F-B439-458EBCBF7362}"/>
              </a:ext>
            </a:extLst>
          </p:cNvPr>
          <p:cNvSpPr>
            <a:spLocks xmlns:a="http://schemas.openxmlformats.org/drawingml/2006/main" noGrp="1"/>
          </p:cNvSpPr>
          <p:nvPr/>
        </p:nvSpPr>
        <p:spPr>
          <a:xfrm xmlns:a="http://schemas.openxmlformats.org/drawingml/2006/main">
            <a:off x="7114032" y="3840480"/>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ROC-AUC 0.826 · AP 0.415 · sensitivity 0.805 · specificity 0.691 · PPV 0.297 · Brier 0.098. Threshold selected on validation.</a:t>
            </a:r>
            <a:endParaRPr sz="1200"/>
          </a:p>
        </p:txBody>
      </p:sp>
      <p:sp>
        <p:nvSpPr>
          <p:cNvPr id="38" name="Límites">
            <a:extLst xmlns:a="http://schemas.openxmlformats.org/drawingml/2006/main">
              <a:ext uri="{FF2B5EF4-FFF2-40B4-BE49-F238E27FC236}">
                <a16:creationId xmlns:a16="http://schemas.microsoft.com/office/drawing/2014/main" id="{5C92B429-B5E6-48F6-9A8C-549EB31593BF}"/>
              </a:ext>
            </a:extLst>
          </p:cNvPr>
          <p:cNvSpPr>
            <a:spLocks xmlns:a="http://schemas.openxmlformats.org/drawingml/2006/main" noGrp="1"/>
          </p:cNvSpPr>
          <p:nvPr/>
        </p:nvSpPr>
        <p:spPr>
          <a:xfrm xmlns:a="http://schemas.openxmlformats.org/drawingml/2006/main">
            <a:off x="6263640" y="4590288"/>
            <a:ext cx="5376672" cy="1078992"/>
          </a:xfrm>
          <a:prstGeom xmlns:a="http://schemas.openxmlformats.org/drawingml/2006/main" prst="roundRect">
            <a:avLst>
              <a:gd name="adj" fmla="val 8475"/>
            </a:avLst>
          </a:prstGeom>
          <a:solidFill xmlns:a="http://schemas.openxmlformats.org/drawingml/2006/main">
            <a:schemeClr val="accent4">
              <a:alpha val="15000"/>
            </a:schemeClr>
          </a:solidFill>
          <a:ln xmlns:a="http://schemas.openxmlformats.org/drawingml/2006/main" w="9525">
            <a:solidFill>
              <a:schemeClr val="accent4">
                <a:alpha val="70000"/>
              </a:schemeClr>
            </a:solidFill>
            <a:prstDash val="solid"/>
          </a:ln>
        </p:spPr>
      </p:sp>
      <p:sp>
        <p:nvSpPr>
          <p:cNvPr id="39" name="Límites círculo">
            <a:extLst xmlns:a="http://schemas.openxmlformats.org/drawingml/2006/main">
              <a:ext uri="{FF2B5EF4-FFF2-40B4-BE49-F238E27FC236}">
                <a16:creationId xmlns:a16="http://schemas.microsoft.com/office/drawing/2014/main" id="{E4AA23A6-055A-4D05-9959-328F73D3878A}"/>
              </a:ext>
            </a:extLst>
          </p:cNvPr>
          <p:cNvSpPr>
            <a:spLocks xmlns:a="http://schemas.openxmlformats.org/drawingml/2006/main" noGrp="1"/>
          </p:cNvSpPr>
          <p:nvPr/>
        </p:nvSpPr>
        <p:spPr>
          <a:xfrm xmlns:a="http://schemas.openxmlformats.org/drawingml/2006/main">
            <a:off x="6419088" y="4864608"/>
            <a:ext cx="530352" cy="530352"/>
          </a:xfrm>
          <a:prstGeom xmlns:a="http://schemas.openxmlformats.org/drawingml/2006/main" prst="ellipse">
            <a:avLst/>
          </a:prstGeom>
          <a:solidFill xmlns:a="http://schemas.openxmlformats.org/drawingml/2006/main">
            <a:schemeClr val="accent4"/>
          </a:solidFill>
        </p:spPr>
      </p:sp>
      <p:pic>
        <p:nvPicPr>
          <p:cNvPr id="40" name="Límites ícono">
            <a:extLst xmlns:a="http://schemas.openxmlformats.org/drawingml/2006/main">
              <a:ext uri="{FF2B5EF4-FFF2-40B4-BE49-F238E27FC236}">
                <a16:creationId xmlns:a16="http://schemas.microsoft.com/office/drawing/2014/main" id="{8E0E2B16-D75E-421B-B36C-7350C51D7019}"/>
              </a:ext>
            </a:extLst>
          </p:cNvPr>
          <p:cNvPicPr>
            <a:picLocks xmlns:a="http://schemas.openxmlformats.org/drawingml/2006/main" noChangeAspect="1"/>
          </p:cNvPicPr>
          <p:nvPr/>
        </p:nvPicPr>
        <p:blipFill>
          <a:blip xmlns:r="http://schemas.openxmlformats.org/officeDocument/2006/relationships" xmlns:a="http://schemas.openxmlformats.org/drawingml/2006/main" r:embed="R16761cfbf72d4685"/>
          <a:stretch xmlns:a="http://schemas.openxmlformats.org/drawingml/2006/main">
            <a:fillRect l="0" t="0" r="0" b="0"/>
          </a:stretch>
        </p:blipFill>
        <p:spPr>
          <a:xfrm xmlns:a="http://schemas.openxmlformats.org/drawingml/2006/main">
            <a:off x="6535765" y="4981285"/>
            <a:ext cx="296997" cy="296997"/>
          </a:xfrm>
          <a:prstGeom xmlns:a="http://schemas.openxmlformats.org/drawingml/2006/main" prst="rect">
            <a:avLst/>
          </a:prstGeom>
        </p:spPr>
      </p:pic>
      <p:sp>
        <p:nvSpPr>
          <p:cNvPr id="41" name="Text 37">
            <a:extLst xmlns:a="http://schemas.openxmlformats.org/drawingml/2006/main">
              <a:ext uri="{FF2B5EF4-FFF2-40B4-BE49-F238E27FC236}">
                <a16:creationId xmlns:a16="http://schemas.microsoft.com/office/drawing/2014/main" id="{16742B53-8B34-4477-8001-76AC7441D4F1}"/>
              </a:ext>
            </a:extLst>
          </p:cNvPr>
          <p:cNvSpPr>
            <a:spLocks xmlns:a="http://schemas.openxmlformats.org/drawingml/2006/main" noGrp="1"/>
          </p:cNvSpPr>
          <p:nvPr/>
        </p:nvSpPr>
        <p:spPr>
          <a:xfrm xmlns:a="http://schemas.openxmlformats.org/drawingml/2006/main">
            <a:off x="7114032" y="4700016"/>
            <a:ext cx="43891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chemeClr val="bg1"/>
                </a:solidFill>
              </a:rPr>
              <a:t>Limitations</a:t>
            </a:r>
            <a:endParaRPr sz="1500"/>
          </a:p>
        </p:txBody>
      </p:sp>
      <p:sp>
        <p:nvSpPr>
          <p:cNvPr id="42" name="Text 38">
            <a:extLst xmlns:a="http://schemas.openxmlformats.org/drawingml/2006/main">
              <a:ext uri="{FF2B5EF4-FFF2-40B4-BE49-F238E27FC236}">
                <a16:creationId xmlns:a16="http://schemas.microsoft.com/office/drawing/2014/main" id="{18408005-2C13-4A63-A10B-F3B3AA0B3E39}"/>
              </a:ext>
            </a:extLst>
          </p:cNvPr>
          <p:cNvSpPr>
            <a:spLocks xmlns:a="http://schemas.openxmlformats.org/drawingml/2006/main" noGrp="1"/>
          </p:cNvSpPr>
          <p:nvPr/>
        </p:nvSpPr>
        <p:spPr>
          <a:xfrm xmlns:a="http://schemas.openxmlformats.org/drawingml/2006/main">
            <a:off x="7114032" y="5047488"/>
            <a:ext cx="438912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Label: self-reported U.S. diagnosis, not future diabetes. A separate reduced ten-feature ENSANUT model reaches AUC ≈0.77 and underestimates risk.</a:t>
            </a:r>
            <a:endParaRPr sz="1200"/>
          </a:p>
        </p:txBody>
      </p:sp>
      <p:sp>
        <p:nvSpPr>
          <p:cNvPr id="43" name="Text 39">
            <a:extLst xmlns:a="http://schemas.openxmlformats.org/drawingml/2006/main">
              <a:ext uri="{FF2B5EF4-FFF2-40B4-BE49-F238E27FC236}">
                <a16:creationId xmlns:a16="http://schemas.microsoft.com/office/drawing/2014/main" id="{33CB5153-62BB-444E-9C8B-7D05308C2B51}"/>
              </a:ext>
            </a:extLst>
          </p:cNvPr>
          <p:cNvSpPr>
            <a:spLocks xmlns:a="http://schemas.openxmlformats.org/drawingml/2006/main" noGrp="1"/>
          </p:cNvSpPr>
          <p:nvPr/>
        </p:nvSpPr>
        <p:spPr>
          <a:xfrm xmlns:a="http://schemas.openxmlformats.org/drawingml/2006/main">
            <a:off x="548640" y="6089904"/>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a:solidFill>
                  <a:schemeClr val="accent6"/>
                </a:solidFill>
              </a:rPr>
              <a:t>Source: UCI Machine Learning Repository, CDC Diabetes Health Indicators (ID 891).</a:t>
            </a:r>
            <a:endParaRPr sz="1000"/>
          </a:p>
        </p:txBody>
      </p:sp>
      <p:sp>
        <p:nvSpPr>
          <p:cNvPr id="44" name="Slide Number Placeholder 0">
            <a:extLst xmlns:a="http://schemas.openxmlformats.org/drawingml/2006/main">
              <a:ext uri="{FF2B5EF4-FFF2-40B4-BE49-F238E27FC236}">
                <a16:creationId xmlns:a16="http://schemas.microsoft.com/office/drawing/2014/main" id="{B14CA5A1-588A-4FE4-B866-557619FFB856}"/>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7</a:t>
            </a:fld>
            <a:endParaRPr/>
          </a:p>
        </p:txBody>
      </p:sp>
    </p:spTree>
    <p:extLst>
      <p:ext uri="{BB962C8B-B14F-4D97-AF65-F5344CB8AC3E}">
        <p14:creationId xmlns:p14="http://schemas.microsoft.com/office/powerpoint/2010/main" val="71442793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1">
            <a:extLst xmlns:a="http://schemas.openxmlformats.org/drawingml/2006/main">
              <a:ext uri="{FF2B5EF4-FFF2-40B4-BE49-F238E27FC236}">
                <a16:creationId xmlns:a16="http://schemas.microsoft.com/office/drawing/2014/main" id="{FD705EF4-4361-4EDA-942E-AA4A9F35A576}"/>
              </a:ext>
            </a:extLst>
          </p:cNvPr>
          <p:cNvSpPr>
            <a:spLocks xmlns:a="http://schemas.openxmlformats.org/drawingml/2006/main" noGrp="1"/>
          </p:cNvSpPr>
          <p:nvPr>
            <p:ph type="body" idx="101" hasCustomPrompt="1"/>
          </p:nvPr>
        </p:nvSpPr>
        <p:spPr>
          <a:xfrm xmlns:a="http://schemas.openxmlformats.org/drawingml/2006/main">
            <a:off x="768096" y="411480"/>
            <a:ext cx="8229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chemeClr val="accent5"/>
                </a:solidFill>
              </a:rPr>
              <a:t>07 · IMPACT · AI FOR GOOD</a:t>
            </a:r>
            <a:endParaRPr sz="1200"/>
          </a:p>
        </p:txBody>
      </p:sp>
      <p:sp>
        <p:nvSpPr>
          <p:cNvPr id="3" name="Text 1">
            <a:extLst xmlns:a="http://schemas.openxmlformats.org/drawingml/2006/main">
              <a:ext uri="{FF2B5EF4-FFF2-40B4-BE49-F238E27FC236}">
                <a16:creationId xmlns:a16="http://schemas.microsoft.com/office/drawing/2014/main" id="{CBB6CD29-5EF7-4AFE-87C7-470A41B91E0F}"/>
              </a:ext>
            </a:extLst>
          </p:cNvPr>
          <p:cNvSpPr>
            <a:spLocks xmlns:a="http://schemas.openxmlformats.org/drawingml/2006/main" noGrp="1"/>
          </p:cNvSpPr>
          <p:nvPr>
            <p:ph type="title" idx="102" hasCustomPrompt="1"/>
          </p:nvPr>
        </p:nvSpPr>
        <p:spPr>
          <a:xfrm xmlns:a="http://schemas.openxmlformats.org/drawingml/2006/main">
            <a:off x="548640" y="777240"/>
            <a:ext cx="1109167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000" b="1">
                <a:solidFill>
                  <a:schemeClr val="bg1"/>
                </a:solidFill>
              </a:rPr>
              <a:t>Screening support without sharing readable records</a:t>
            </a:r>
            <a:endParaRPr sz="3000"/>
          </a:p>
        </p:txBody>
      </p:sp>
      <p:sp>
        <p:nvSpPr>
          <p:cNvPr id="4" name="Tamizaje temprano">
            <a:extLst xmlns:a="http://schemas.openxmlformats.org/drawingml/2006/main">
              <a:ext uri="{FF2B5EF4-FFF2-40B4-BE49-F238E27FC236}">
                <a16:creationId xmlns:a16="http://schemas.microsoft.com/office/drawing/2014/main" id="{3327AB26-BE03-4B8B-93CF-BB7C4A0F174F}"/>
              </a:ext>
            </a:extLst>
          </p:cNvPr>
          <p:cNvSpPr>
            <a:spLocks xmlns:a="http://schemas.openxmlformats.org/drawingml/2006/main" noGrp="1"/>
          </p:cNvSpPr>
          <p:nvPr/>
        </p:nvSpPr>
        <p:spPr>
          <a:xfrm xmlns:a="http://schemas.openxmlformats.org/drawingml/2006/main">
            <a:off x="548640"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5" name="Tamizaje temprano círculo">
            <a:extLst xmlns:a="http://schemas.openxmlformats.org/drawingml/2006/main">
              <a:ext uri="{FF2B5EF4-FFF2-40B4-BE49-F238E27FC236}">
                <a16:creationId xmlns:a16="http://schemas.microsoft.com/office/drawing/2014/main" id="{65E6FCD6-4309-4002-B145-3A1F5C577F69}"/>
              </a:ext>
            </a:extLst>
          </p:cNvPr>
          <p:cNvSpPr>
            <a:spLocks xmlns:a="http://schemas.openxmlformats.org/drawingml/2006/main" noGrp="1"/>
          </p:cNvSpPr>
          <p:nvPr/>
        </p:nvSpPr>
        <p:spPr>
          <a:xfrm xmlns:a="http://schemas.openxmlformats.org/drawingml/2006/main">
            <a:off x="777240" y="2103120"/>
            <a:ext cx="566928" cy="566928"/>
          </a:xfrm>
          <a:prstGeom xmlns:a="http://schemas.openxmlformats.org/drawingml/2006/main" prst="ellipse">
            <a:avLst/>
          </a:prstGeom>
          <a:solidFill xmlns:a="http://schemas.openxmlformats.org/drawingml/2006/main">
            <a:schemeClr val="accent1"/>
          </a:solidFill>
        </p:spPr>
      </p:sp>
      <p:pic>
        <p:nvPicPr>
          <p:cNvPr id="6" name="Tamizaje temprano ícono">
            <a:extLst xmlns:a="http://schemas.openxmlformats.org/drawingml/2006/main">
              <a:ext uri="{FF2B5EF4-FFF2-40B4-BE49-F238E27FC236}">
                <a16:creationId xmlns:a16="http://schemas.microsoft.com/office/drawing/2014/main" id="{E3C4774E-825B-47D7-86DE-DF6257B62681}"/>
              </a:ext>
            </a:extLst>
          </p:cNvPr>
          <p:cNvPicPr>
            <a:picLocks xmlns:a="http://schemas.openxmlformats.org/drawingml/2006/main" noChangeAspect="1"/>
          </p:cNvPicPr>
          <p:nvPr/>
        </p:nvPicPr>
        <p:blipFill>
          <a:blip xmlns:r="http://schemas.openxmlformats.org/officeDocument/2006/relationships" xmlns:a="http://schemas.openxmlformats.org/drawingml/2006/main" r:embed="Ra49c414f7efa4182"/>
          <a:stretch xmlns:a="http://schemas.openxmlformats.org/drawingml/2006/main">
            <a:fillRect l="0" t="0" r="0" b="0"/>
          </a:stretch>
        </p:blipFill>
        <p:spPr>
          <a:xfrm xmlns:a="http://schemas.openxmlformats.org/drawingml/2006/main">
            <a:off x="901964" y="2227844"/>
            <a:ext cx="317480" cy="31748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44430A41-395A-40A3-95DC-5F46200EF7BB}"/>
              </a:ext>
            </a:extLst>
          </p:cNvPr>
          <p:cNvSpPr>
            <a:spLocks xmlns:a="http://schemas.openxmlformats.org/drawingml/2006/main" noGrp="1"/>
          </p:cNvSpPr>
          <p:nvPr/>
        </p:nvSpPr>
        <p:spPr>
          <a:xfrm xmlns:a="http://schemas.openxmlformats.org/drawingml/2006/main">
            <a:off x="777240"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Earlier screening</a:t>
            </a:r>
            <a:endParaRPr sz="1600"/>
          </a:p>
        </p:txBody>
      </p:sp>
      <p:sp>
        <p:nvSpPr>
          <p:cNvPr id="8" name="Text 5">
            <a:extLst xmlns:a="http://schemas.openxmlformats.org/drawingml/2006/main">
              <a:ext uri="{FF2B5EF4-FFF2-40B4-BE49-F238E27FC236}">
                <a16:creationId xmlns:a16="http://schemas.microsoft.com/office/drawing/2014/main" id="{0EE33BEF-63D0-43C1-8780-8F99C756593D}"/>
              </a:ext>
            </a:extLst>
          </p:cNvPr>
          <p:cNvSpPr>
            <a:spLocks xmlns:a="http://schemas.openxmlformats.org/drawingml/2006/main" noGrp="1"/>
          </p:cNvSpPr>
          <p:nvPr/>
        </p:nvSpPr>
        <p:spPr>
          <a:xfrm xmlns:a="http://schemas.openxmlformats.org/drawingml/2006/main">
            <a:off x="777240"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Support earlier confirmatory testing for people who may be unaware of diabetes</a:t>
            </a:r>
            <a:endParaRPr sz="1200"/>
          </a:p>
        </p:txBody>
      </p:sp>
      <p:sp>
        <p:nvSpPr>
          <p:cNvPr id="9" name="Confianza del paciente">
            <a:extLst xmlns:a="http://schemas.openxmlformats.org/drawingml/2006/main">
              <a:ext uri="{FF2B5EF4-FFF2-40B4-BE49-F238E27FC236}">
                <a16:creationId xmlns:a16="http://schemas.microsoft.com/office/drawing/2014/main" id="{CBCF7266-B498-4274-AF3A-6CD19934F630}"/>
              </a:ext>
            </a:extLst>
          </p:cNvPr>
          <p:cNvSpPr>
            <a:spLocks xmlns:a="http://schemas.openxmlformats.org/drawingml/2006/main" noGrp="1"/>
          </p:cNvSpPr>
          <p:nvPr/>
        </p:nvSpPr>
        <p:spPr>
          <a:xfrm xmlns:a="http://schemas.openxmlformats.org/drawingml/2006/main">
            <a:off x="3364992"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0" name="Confianza del paciente círculo">
            <a:extLst xmlns:a="http://schemas.openxmlformats.org/drawingml/2006/main">
              <a:ext uri="{FF2B5EF4-FFF2-40B4-BE49-F238E27FC236}">
                <a16:creationId xmlns:a16="http://schemas.microsoft.com/office/drawing/2014/main" id="{7F907A7E-3303-49C9-BEFD-1DAC3C55A67B}"/>
              </a:ext>
            </a:extLst>
          </p:cNvPr>
          <p:cNvSpPr>
            <a:spLocks xmlns:a="http://schemas.openxmlformats.org/drawingml/2006/main" noGrp="1"/>
          </p:cNvSpPr>
          <p:nvPr/>
        </p:nvSpPr>
        <p:spPr>
          <a:xfrm xmlns:a="http://schemas.openxmlformats.org/drawingml/2006/main">
            <a:off x="3593592" y="2103120"/>
            <a:ext cx="566928" cy="566928"/>
          </a:xfrm>
          <a:prstGeom xmlns:a="http://schemas.openxmlformats.org/drawingml/2006/main" prst="ellipse">
            <a:avLst/>
          </a:prstGeom>
          <a:solidFill xmlns:a="http://schemas.openxmlformats.org/drawingml/2006/main">
            <a:schemeClr val="accent1"/>
          </a:solidFill>
        </p:spPr>
      </p:sp>
      <p:pic>
        <p:nvPicPr>
          <p:cNvPr id="11" name="Confianza del paciente ícono">
            <a:extLst xmlns:a="http://schemas.openxmlformats.org/drawingml/2006/main">
              <a:ext uri="{FF2B5EF4-FFF2-40B4-BE49-F238E27FC236}">
                <a16:creationId xmlns:a16="http://schemas.microsoft.com/office/drawing/2014/main" id="{8558E805-C27D-48D9-90F4-B317AD348A2F}"/>
              </a:ext>
            </a:extLst>
          </p:cNvPr>
          <p:cNvPicPr>
            <a:picLocks xmlns:a="http://schemas.openxmlformats.org/drawingml/2006/main" noChangeAspect="1"/>
          </p:cNvPicPr>
          <p:nvPr/>
        </p:nvPicPr>
        <p:blipFill>
          <a:blip xmlns:r="http://schemas.openxmlformats.org/officeDocument/2006/relationships" xmlns:a="http://schemas.openxmlformats.org/drawingml/2006/main" r:embed="R300656ff65ef487f"/>
          <a:stretch xmlns:a="http://schemas.openxmlformats.org/drawingml/2006/main">
            <a:fillRect l="0" t="0" r="0" b="0"/>
          </a:stretch>
        </p:blipFill>
        <p:spPr>
          <a:xfrm xmlns:a="http://schemas.openxmlformats.org/drawingml/2006/main">
            <a:off x="3718316" y="2227844"/>
            <a:ext cx="317480" cy="31748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C7AB0FD-A555-4EE4-9865-9D3BDAFEDDE7}"/>
              </a:ext>
            </a:extLst>
          </p:cNvPr>
          <p:cNvSpPr>
            <a:spLocks xmlns:a="http://schemas.openxmlformats.org/drawingml/2006/main" noGrp="1"/>
          </p:cNvSpPr>
          <p:nvPr/>
        </p:nvSpPr>
        <p:spPr>
          <a:xfrm xmlns:a="http://schemas.openxmlformats.org/drawingml/2006/main">
            <a:off x="3593592"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Patient trust</a:t>
            </a:r>
            <a:endParaRPr sz="1600"/>
          </a:p>
        </p:txBody>
      </p:sp>
      <p:sp>
        <p:nvSpPr>
          <p:cNvPr id="13" name="Text 9">
            <a:extLst xmlns:a="http://schemas.openxmlformats.org/drawingml/2006/main">
              <a:ext uri="{FF2B5EF4-FFF2-40B4-BE49-F238E27FC236}">
                <a16:creationId xmlns:a16="http://schemas.microsoft.com/office/drawing/2014/main" id="{6EAD837E-BB02-49A3-8E47-41DF639FAF72}"/>
              </a:ext>
            </a:extLst>
          </p:cNvPr>
          <p:cNvSpPr>
            <a:spLocks xmlns:a="http://schemas.openxmlformats.org/drawingml/2006/main" noGrp="1"/>
          </p:cNvSpPr>
          <p:nvPr/>
        </p:nvSpPr>
        <p:spPr>
          <a:xfrm xmlns:a="http://schemas.openxmlformats.org/drawingml/2006/main">
            <a:off x="3593592"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The external risk service receives encrypted inputs</a:t>
            </a:r>
            <a:endParaRPr sz="1200"/>
          </a:p>
        </p:txBody>
      </p:sp>
      <p:sp>
        <p:nvSpPr>
          <p:cNvPr id="14" name="Cumplimiento">
            <a:extLst xmlns:a="http://schemas.openxmlformats.org/drawingml/2006/main">
              <a:ext uri="{FF2B5EF4-FFF2-40B4-BE49-F238E27FC236}">
                <a16:creationId xmlns:a16="http://schemas.microsoft.com/office/drawing/2014/main" id="{8EA234C9-C00D-4385-852B-8890B3C88F00}"/>
              </a:ext>
            </a:extLst>
          </p:cNvPr>
          <p:cNvSpPr>
            <a:spLocks xmlns:a="http://schemas.openxmlformats.org/drawingml/2006/main" noGrp="1"/>
          </p:cNvSpPr>
          <p:nvPr/>
        </p:nvSpPr>
        <p:spPr>
          <a:xfrm xmlns:a="http://schemas.openxmlformats.org/drawingml/2006/main">
            <a:off x="6181344"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15" name="Cumplimiento círculo">
            <a:extLst xmlns:a="http://schemas.openxmlformats.org/drawingml/2006/main">
              <a:ext uri="{FF2B5EF4-FFF2-40B4-BE49-F238E27FC236}">
                <a16:creationId xmlns:a16="http://schemas.microsoft.com/office/drawing/2014/main" id="{B3307AA1-1855-4BC5-945C-534E0A1726EE}"/>
              </a:ext>
            </a:extLst>
          </p:cNvPr>
          <p:cNvSpPr>
            <a:spLocks xmlns:a="http://schemas.openxmlformats.org/drawingml/2006/main" noGrp="1"/>
          </p:cNvSpPr>
          <p:nvPr/>
        </p:nvSpPr>
        <p:spPr>
          <a:xfrm xmlns:a="http://schemas.openxmlformats.org/drawingml/2006/main">
            <a:off x="6409944" y="2103120"/>
            <a:ext cx="566928" cy="566928"/>
          </a:xfrm>
          <a:prstGeom xmlns:a="http://schemas.openxmlformats.org/drawingml/2006/main" prst="ellipse">
            <a:avLst/>
          </a:prstGeom>
          <a:solidFill xmlns:a="http://schemas.openxmlformats.org/drawingml/2006/main">
            <a:schemeClr val="accent1"/>
          </a:solidFill>
        </p:spPr>
      </p:sp>
      <p:pic>
        <p:nvPicPr>
          <p:cNvPr id="16" name="Cumplimiento ícono">
            <a:extLst xmlns:a="http://schemas.openxmlformats.org/drawingml/2006/main">
              <a:ext uri="{FF2B5EF4-FFF2-40B4-BE49-F238E27FC236}">
                <a16:creationId xmlns:a16="http://schemas.microsoft.com/office/drawing/2014/main" id="{F90DAFF4-3C0B-460A-83FA-7D6A8E8B9354}"/>
              </a:ext>
            </a:extLst>
          </p:cNvPr>
          <p:cNvPicPr>
            <a:picLocks xmlns:a="http://schemas.openxmlformats.org/drawingml/2006/main" noChangeAspect="1"/>
          </p:cNvPicPr>
          <p:nvPr/>
        </p:nvPicPr>
        <p:blipFill>
          <a:blip xmlns:r="http://schemas.openxmlformats.org/officeDocument/2006/relationships" xmlns:a="http://schemas.openxmlformats.org/drawingml/2006/main" r:embed="R53d77707011540b3"/>
          <a:stretch xmlns:a="http://schemas.openxmlformats.org/drawingml/2006/main">
            <a:fillRect l="0" t="0" r="0" b="0"/>
          </a:stretch>
        </p:blipFill>
        <p:spPr>
          <a:xfrm xmlns:a="http://schemas.openxmlformats.org/drawingml/2006/main">
            <a:off x="6534668" y="2227844"/>
            <a:ext cx="317480" cy="31748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7689E6C0-0C8F-4990-872F-91D1B60DEBC6}"/>
              </a:ext>
            </a:extLst>
          </p:cNvPr>
          <p:cNvSpPr>
            <a:spLocks xmlns:a="http://schemas.openxmlformats.org/drawingml/2006/main" noGrp="1"/>
          </p:cNvSpPr>
          <p:nvPr/>
        </p:nvSpPr>
        <p:spPr>
          <a:xfrm xmlns:a="http://schemas.openxmlformats.org/drawingml/2006/main">
            <a:off x="6409944"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Privacy safeguards</a:t>
            </a:r>
            <a:endParaRPr sz="1600"/>
          </a:p>
        </p:txBody>
      </p:sp>
      <p:sp>
        <p:nvSpPr>
          <p:cNvPr id="18" name="Text 13">
            <a:extLst xmlns:a="http://schemas.openxmlformats.org/drawingml/2006/main">
              <a:ext uri="{FF2B5EF4-FFF2-40B4-BE49-F238E27FC236}">
                <a16:creationId xmlns:a16="http://schemas.microsoft.com/office/drawing/2014/main" id="{D34BD79C-6D2B-45C7-AE6C-E20F60B4A845}"/>
              </a:ext>
            </a:extLst>
          </p:cNvPr>
          <p:cNvSpPr>
            <a:spLocks xmlns:a="http://schemas.openxmlformats.org/drawingml/2006/main" noGrp="1"/>
          </p:cNvSpPr>
          <p:nvPr/>
        </p:nvSpPr>
        <p:spPr>
          <a:xfrm xmlns:a="http://schemas.openxmlformats.org/drawingml/2006/main">
            <a:off x="6409944"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A privacy-preserving design; clinical and legal review remain necessary</a:t>
            </a:r>
            <a:endParaRPr sz="1200"/>
          </a:p>
        </p:txBody>
      </p:sp>
      <p:sp>
        <p:nvSpPr>
          <p:cNvPr id="19" name="Escalable">
            <a:extLst xmlns:a="http://schemas.openxmlformats.org/drawingml/2006/main">
              <a:ext uri="{FF2B5EF4-FFF2-40B4-BE49-F238E27FC236}">
                <a16:creationId xmlns:a16="http://schemas.microsoft.com/office/drawing/2014/main" id="{4C02A60C-658D-4B2D-BBAA-15EA46E6A827}"/>
              </a:ext>
            </a:extLst>
          </p:cNvPr>
          <p:cNvSpPr>
            <a:spLocks xmlns:a="http://schemas.openxmlformats.org/drawingml/2006/main" noGrp="1"/>
          </p:cNvSpPr>
          <p:nvPr/>
        </p:nvSpPr>
        <p:spPr>
          <a:xfrm xmlns:a="http://schemas.openxmlformats.org/drawingml/2006/main">
            <a:off x="8997696" y="1874520"/>
            <a:ext cx="2642616" cy="2103120"/>
          </a:xfrm>
          <a:prstGeom xmlns:a="http://schemas.openxmlformats.org/drawingml/2006/main" prst="roundRect">
            <a:avLst>
              <a:gd name="adj" fmla="val 4348"/>
            </a:avLst>
          </a:prstGeom>
          <a:solidFill xmlns:a="http://schemas.openxmlformats.org/drawingml/2006/main">
            <a:schemeClr val="tx2"/>
          </a:solidFill>
          <a:ln xmlns:a="http://schemas.openxmlformats.org/drawingml/2006/main" w="9525">
            <a:solidFill>
              <a:schemeClr val="accent5">
                <a:alpha val="50000"/>
              </a:schemeClr>
            </a:solidFill>
            <a:prstDash val="solid"/>
          </a:ln>
        </p:spPr>
      </p:sp>
      <p:sp>
        <p:nvSpPr>
          <p:cNvPr id="20" name="Escalable círculo">
            <a:extLst xmlns:a="http://schemas.openxmlformats.org/drawingml/2006/main">
              <a:ext uri="{FF2B5EF4-FFF2-40B4-BE49-F238E27FC236}">
                <a16:creationId xmlns:a16="http://schemas.microsoft.com/office/drawing/2014/main" id="{36E2A0D5-315F-4A4F-B513-D523A76582A7}"/>
              </a:ext>
            </a:extLst>
          </p:cNvPr>
          <p:cNvSpPr>
            <a:spLocks xmlns:a="http://schemas.openxmlformats.org/drawingml/2006/main" noGrp="1"/>
          </p:cNvSpPr>
          <p:nvPr/>
        </p:nvSpPr>
        <p:spPr>
          <a:xfrm xmlns:a="http://schemas.openxmlformats.org/drawingml/2006/main">
            <a:off x="9226296" y="2103120"/>
            <a:ext cx="566928" cy="566928"/>
          </a:xfrm>
          <a:prstGeom xmlns:a="http://schemas.openxmlformats.org/drawingml/2006/main" prst="ellipse">
            <a:avLst/>
          </a:prstGeom>
          <a:solidFill xmlns:a="http://schemas.openxmlformats.org/drawingml/2006/main">
            <a:schemeClr val="accent1"/>
          </a:solidFill>
        </p:spPr>
      </p:sp>
      <p:pic>
        <p:nvPicPr>
          <p:cNvPr id="21" name="Escalable ícono">
            <a:extLst xmlns:a="http://schemas.openxmlformats.org/drawingml/2006/main">
              <a:ext uri="{FF2B5EF4-FFF2-40B4-BE49-F238E27FC236}">
                <a16:creationId xmlns:a16="http://schemas.microsoft.com/office/drawing/2014/main" id="{7F54B95C-1D55-4C9A-B9DD-C7A388259F44}"/>
              </a:ext>
            </a:extLst>
          </p:cNvPr>
          <p:cNvPicPr>
            <a:picLocks xmlns:a="http://schemas.openxmlformats.org/drawingml/2006/main" noChangeAspect="1"/>
          </p:cNvPicPr>
          <p:nvPr/>
        </p:nvPicPr>
        <p:blipFill>
          <a:blip xmlns:r="http://schemas.openxmlformats.org/officeDocument/2006/relationships" xmlns:a="http://schemas.openxmlformats.org/drawingml/2006/main" r:embed="R9946fb13674e4bed"/>
          <a:stretch xmlns:a="http://schemas.openxmlformats.org/drawingml/2006/main">
            <a:fillRect l="0" t="0" r="0" b="0"/>
          </a:stretch>
        </p:blipFill>
        <p:spPr>
          <a:xfrm xmlns:a="http://schemas.openxmlformats.org/drawingml/2006/main">
            <a:off x="9351020" y="2227844"/>
            <a:ext cx="317480" cy="317480"/>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9727743C-A9CE-4B48-B2CD-6EE202AC581A}"/>
              </a:ext>
            </a:extLst>
          </p:cNvPr>
          <p:cNvSpPr>
            <a:spLocks xmlns:a="http://schemas.openxmlformats.org/drawingml/2006/main" noGrp="1"/>
          </p:cNvSpPr>
          <p:nvPr/>
        </p:nvSpPr>
        <p:spPr>
          <a:xfrm xmlns:a="http://schemas.openxmlformats.org/drawingml/2006/main">
            <a:off x="9226296" y="2788920"/>
            <a:ext cx="22402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chemeClr val="bg1"/>
                </a:solidFill>
              </a:rPr>
              <a:t>Further applications</a:t>
            </a:r>
            <a:endParaRPr sz="1600"/>
          </a:p>
        </p:txBody>
      </p:sp>
      <p:sp>
        <p:nvSpPr>
          <p:cNvPr id="23" name="Text 17">
            <a:extLst xmlns:a="http://schemas.openxmlformats.org/drawingml/2006/main">
              <a:ext uri="{FF2B5EF4-FFF2-40B4-BE49-F238E27FC236}">
                <a16:creationId xmlns:a16="http://schemas.microsoft.com/office/drawing/2014/main" id="{374B4776-A173-4D57-B95C-AFB261CA1BBF}"/>
              </a:ext>
            </a:extLst>
          </p:cNvPr>
          <p:cNvSpPr>
            <a:spLocks xmlns:a="http://schemas.openxmlformats.org/drawingml/2006/main" noGrp="1"/>
          </p:cNvSpPr>
          <p:nvPr/>
        </p:nvSpPr>
        <p:spPr>
          <a:xfrm xmlns:a="http://schemas.openxmlformats.org/drawingml/2006/main">
            <a:off x="9226296" y="3154680"/>
            <a:ext cx="224028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bg2"/>
                </a:solidFill>
              </a:rPr>
              <a:t>Explore other linear screening models after separate validation</a:t>
            </a:r>
            <a:endParaRPr sz="1200"/>
          </a:p>
        </p:txBody>
      </p:sp>
      <p:sp>
        <p:nvSpPr>
          <p:cNvPr id="24" name="Text 18">
            <a:extLst xmlns:a="http://schemas.openxmlformats.org/drawingml/2006/main">
              <a:ext uri="{FF2B5EF4-FFF2-40B4-BE49-F238E27FC236}">
                <a16:creationId xmlns:a16="http://schemas.microsoft.com/office/drawing/2014/main" id="{BE9D18D2-B419-473E-9528-DD94C4F40C2E}"/>
              </a:ext>
            </a:extLst>
          </p:cNvPr>
          <p:cNvSpPr>
            <a:spLocks xmlns:a="http://schemas.openxmlformats.org/drawingml/2006/main" noGrp="1"/>
          </p:cNvSpPr>
          <p:nvPr/>
        </p:nvSpPr>
        <p:spPr>
          <a:xfrm xmlns:a="http://schemas.openxmlformats.org/drawingml/2006/main">
            <a:off x="548640" y="4206240"/>
            <a:ext cx="1109167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chemeClr val="bg1"/>
                </a:solidFill>
              </a:rPr>
              <a:t>AI sees the risk. Nobody sees the patient.</a:t>
            </a:r>
            <a:endParaRPr sz="3200"/>
          </a:p>
        </p:txBody>
      </p:sp>
      <p:pic>
        <p:nvPicPr>
          <p:cNvPr id="25" name="Logo del equipo">
            <a:extLst xmlns:a="http://schemas.openxmlformats.org/drawingml/2006/main">
              <a:ext uri="{FF2B5EF4-FFF2-40B4-BE49-F238E27FC236}">
                <a16:creationId xmlns:a16="http://schemas.microsoft.com/office/drawing/2014/main" id="{FB215373-3D4A-486F-95C0-C7C127857E24}"/>
              </a:ext>
            </a:extLst>
          </p:cNvPr>
          <p:cNvPicPr>
            <a:picLocks xmlns:a="http://schemas.openxmlformats.org/drawingml/2006/main" noChangeAspect="1"/>
          </p:cNvPicPr>
          <p:nvPr/>
        </p:nvPicPr>
        <p:blipFill>
          <a:blip xmlns:r="http://schemas.openxmlformats.org/officeDocument/2006/relationships" xmlns:a="http://schemas.openxmlformats.org/drawingml/2006/main" r:embed="R9f6663e23d7140ac"/>
          <a:stretch xmlns:a="http://schemas.openxmlformats.org/drawingml/2006/main">
            <a:fillRect l="0" t="0" r="0" b="0"/>
          </a:stretch>
        </p:blipFill>
        <p:spPr>
          <a:xfrm xmlns:a="http://schemas.openxmlformats.org/drawingml/2006/main">
            <a:off x="548640" y="4983480"/>
            <a:ext cx="1097280" cy="1097280"/>
          </a:xfrm>
          <a:prstGeom xmlns:a="http://schemas.openxmlformats.org/drawingml/2006/main" prst="rect">
            <a:avLst/>
          </a:prstGeom>
        </p:spPr>
      </p:pic>
      <p:sp>
        <p:nvSpPr>
          <p:cNvPr id="26" name="Text 19">
            <a:extLst xmlns:a="http://schemas.openxmlformats.org/drawingml/2006/main">
              <a:ext uri="{FF2B5EF4-FFF2-40B4-BE49-F238E27FC236}">
                <a16:creationId xmlns:a16="http://schemas.microsoft.com/office/drawing/2014/main" id="{5B549140-0DDB-4D90-8A5C-340A3DBCBBA4}"/>
              </a:ext>
            </a:extLst>
          </p:cNvPr>
          <p:cNvSpPr>
            <a:spLocks xmlns:a="http://schemas.openxmlformats.org/drawingml/2006/main" noGrp="1"/>
          </p:cNvSpPr>
          <p:nvPr/>
        </p:nvSpPr>
        <p:spPr>
          <a:xfrm xmlns:a="http://schemas.openxmlformats.org/drawingml/2006/main">
            <a:off x="1828800" y="5029200"/>
            <a:ext cx="640080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spcAft>
                <a:spcPts val="300"/>
              </a:spcAft>
              <a:buNone/>
            </a:pPr>
            <a:r>
              <a:rPr sz="1600" b="1">
                <a:solidFill>
                  <a:schemeClr val="bg1"/>
                </a:solidFill>
              </a:rPr>
              <a:t>Los Antimarrulla · UACJ · MIAAD</a:t>
            </a:r>
            <a:endParaRPr sz="1400"/>
          </a:p>
          <a:p xmlns:a="http://schemas.openxmlformats.org/drawingml/2006/main">
            <a:pPr marL="0" indent="0">
              <a:spcAft>
                <a:spcPts val="300"/>
              </a:spcAft>
              <a:buNone/>
            </a:pPr>
            <a:r>
              <a:rPr sz="1600" b="1">
                <a:solidFill>
                  <a:schemeClr val="bg1"/>
                </a:solidFill>
              </a:rPr>
              <a:t>We challenge idleness and procrastination</a:t>
            </a:r>
          </a:p>
          <a:p xmlns:a="http://schemas.openxmlformats.org/drawingml/2006/main">
            <a:pPr marL="0" indent="0">
              <a:spcAft>
                <a:spcPts val="300"/>
              </a:spcAft>
              <a:buNone/>
            </a:pPr>
            <a:r>
              <a:rPr sz="1600" b="1">
                <a:solidFill>
                  <a:schemeClr val="bg1"/>
                </a:solidFill>
              </a:rPr>
              <a:t>github.com/UACJ-MIAAD/antimarrulla-ibmz-datathon-2026</a:t>
            </a:r>
          </a:p>
        </p:txBody>
      </p:sp>
      <p:sp>
        <p:nvSpPr>
          <p:cNvPr id="27" name="Text 20">
            <a:extLst xmlns:a="http://schemas.openxmlformats.org/drawingml/2006/main">
              <a:ext uri="{FF2B5EF4-FFF2-40B4-BE49-F238E27FC236}">
                <a16:creationId xmlns:a16="http://schemas.microsoft.com/office/drawing/2014/main" id="{41E28C29-45D6-4AC5-9C96-717EA50C7837}"/>
              </a:ext>
            </a:extLst>
          </p:cNvPr>
          <p:cNvSpPr>
            <a:spLocks xmlns:a="http://schemas.openxmlformats.org/drawingml/2006/main" noGrp="1"/>
          </p:cNvSpPr>
          <p:nvPr/>
        </p:nvSpPr>
        <p:spPr>
          <a:xfrm xmlns:a="http://schemas.openxmlformats.org/drawingml/2006/main">
            <a:off x="8503920" y="5029200"/>
            <a:ext cx="3136392"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4400" b="1">
                <a:solidFill>
                  <a:schemeClr val="bg1"/>
                </a:solidFill>
              </a:rPr>
              <a:t>Thank you</a:t>
            </a:r>
            <a:endParaRPr sz="4400"/>
          </a:p>
        </p:txBody>
      </p:sp>
      <p:sp>
        <p:nvSpPr>
          <p:cNvPr id="28" name="Text 21">
            <a:extLst xmlns:a="http://schemas.openxmlformats.org/drawingml/2006/main">
              <a:ext uri="{FF2B5EF4-FFF2-40B4-BE49-F238E27FC236}">
                <a16:creationId xmlns:a16="http://schemas.microsoft.com/office/drawing/2014/main" id="{513642D4-4527-4D05-8816-E635F155E789}"/>
              </a:ext>
            </a:extLst>
          </p:cNvPr>
          <p:cNvSpPr>
            <a:spLocks xmlns:a="http://schemas.openxmlformats.org/drawingml/2006/main" noGrp="1"/>
          </p:cNvSpPr>
          <p:nvPr/>
        </p:nvSpPr>
        <p:spPr>
          <a:xfrm xmlns:a="http://schemas.openxmlformats.org/drawingml/2006/main">
            <a:off x="7315200" y="5760720"/>
            <a:ext cx="4325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chemeClr val="bg2"/>
                </a:solidFill>
              </a:rPr>
              <a:t>Screening support does not replace medical diagnosis.</a:t>
            </a:r>
            <a:endParaRPr sz="1000"/>
          </a:p>
        </p:txBody>
      </p:sp>
      <p:sp>
        <p:nvSpPr>
          <p:cNvPr id="29" name="Slide Number Placeholder 0">
            <a:extLst xmlns:a="http://schemas.openxmlformats.org/drawingml/2006/main">
              <a:ext uri="{FF2B5EF4-FFF2-40B4-BE49-F238E27FC236}">
                <a16:creationId xmlns:a16="http://schemas.microsoft.com/office/drawing/2014/main" id="{E6FC8190-5F61-424F-97F9-5A4FF70C2E6D}"/>
              </a:ext>
            </a:extLst>
          </p:cNvPr>
          <p:cNvSpPr>
            <a:spLocks xmlns:a="http://schemas.openxmlformats.org/drawingml/2006/main" noGrp="1"/>
          </p:cNvSpPr>
          <p:nvPr>
            <p:ph type="sldNum" idx="4294967295"/>
          </p:nvPr>
        </p:nvSpPr>
        <p:spPr>
          <a:xfrm xmlns:a="http://schemas.openxmlformats.org/drawingml/2006/main">
            <a:off x="11183112" y="6400800"/>
            <a:ext cx="457200" cy="274320"/>
          </a:xfrm>
          <a:prstGeom xmlns:a="http://schemas.openxmlformats.org/drawingml/2006/main" prst="rect">
            <a:avLst/>
          </a:prstGeom>
        </p:spPr>
        <p:txBody>
          <a:bodyPr xmlns:a="http://schemas.openxmlformats.org/drawingml/2006/main"/>
          <a:lstStyle xmlns:a="http://schemas.openxmlformats.org/drawingml/2006/main">
            <a:lvl1pPr>
              <a:buNone/>
              <a:defRPr sz="900">
                <a:solidFill>
                  <a:schemeClr val="accent6"/>
                </a:solidFill>
              </a:defRPr>
            </a:lvl1pPr>
          </a:lstStyle>
          <a:p xmlns:a="http://schemas.openxmlformats.org/drawingml/2006/main">
            <a:pPr algn="r">
              <a:buNone/>
            </a:pPr>
            <a:fld id="{F7021451-1387-4CA6-816F-3879F97B5CBC}" type="slidenum">
              <a:rPr b="0"/>
              <a:t>8</a:t>
            </a:fld>
            <a:endParaRPr/>
          </a:p>
        </p:txBody>
      </p:sp>
    </p:spTree>
    <p:extLst>
      <p:ext uri="{BB962C8B-B14F-4D97-AF65-F5344CB8AC3E}">
        <p14:creationId xmlns:p14="http://schemas.microsoft.com/office/powerpoint/2010/main" val="1008111892"/>
      </p:ext>
    </p:extLst>
  </p:cSld>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Antimarrulla Tamizaj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2026-10-17T19:26:33.2800000Z</dcterms:created>
  <dcterms:modified xsi:type="dcterms:W3CDTF">2026-10-17T19:26:33.2800000Z</dcterms:modified>
</coreProperties>
</file>