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a92fb93bf164580" /><Relationship Type="http://schemas.openxmlformats.org/officeDocument/2006/relationships/extended-properties" Target="/docProps/app.xml" Id="R4bbbc295ed7d4418" /><Relationship Type="http://schemas.openxmlformats.org/officeDocument/2006/relationships/officeDocument" Target="/ppt/presentation.xml" Id="R0e3d7462b5684625" /></Relationships>
</file>

<file path=ppt/presentation.xml><?xml version="1.0" encoding="utf-8"?>
<p:presentation xmlns:p="http://schemas.openxmlformats.org/presentationml/2006/main">
  <p:sldMasterIdLst>
    <p:sldMasterId xmlns:r="http://schemas.openxmlformats.org/officeDocument/2006/relationships" id="2147483648" r:id="R7c1021274c3443c5"/>
    <p:sldMasterId xmlns:r="http://schemas.openxmlformats.org/officeDocument/2006/relationships" id="2147483660" r:id="R40cbdb96639843a1"/>
  </p:sldMasterIdLst>
  <p:notesMasterIdLst>
    <p:notesMasterId xmlns:r="http://schemas.openxmlformats.org/officeDocument/2006/relationships" r:id="R548d4ef448194bcb"/>
  </p:notesMasterIdLst>
  <p:sldIdLst>
    <p:sldId xmlns:r="http://schemas.openxmlformats.org/officeDocument/2006/relationships" id="256" r:id="Rbfe8500362374bfe"/>
    <p:sldId xmlns:r="http://schemas.openxmlformats.org/officeDocument/2006/relationships" id="257" r:id="Raaec597959894dbd"/>
    <p:sldId xmlns:r="http://schemas.openxmlformats.org/officeDocument/2006/relationships" id="258" r:id="R29304f3e8bfa4204"/>
    <p:sldId xmlns:r="http://schemas.openxmlformats.org/officeDocument/2006/relationships" id="259" r:id="R6fbee93fd1364f7f"/>
    <p:sldId xmlns:r="http://schemas.openxmlformats.org/officeDocument/2006/relationships" id="260" r:id="Ra77cf843217746a8"/>
    <p:sldId xmlns:r="http://schemas.openxmlformats.org/officeDocument/2006/relationships" id="261" r:id="Rbedddf71f13048e5"/>
    <p:sldId xmlns:r="http://schemas.openxmlformats.org/officeDocument/2006/relationships" id="262" r:id="R0e8bd8c74dad43ea"/>
    <p:sldId xmlns:r="http://schemas.openxmlformats.org/officeDocument/2006/relationships" id="263" r:id="Re35ada699c614796"/>
    <p:sldId xmlns:r="http://schemas.openxmlformats.org/officeDocument/2006/relationships" id="264" r:id="R20d0678c85dc4cdf"/>
    <p:sldId xmlns:r="http://schemas.openxmlformats.org/officeDocument/2006/relationships" id="265" r:id="R8e8365de9c4f4508"/>
    <p:sldId xmlns:r="http://schemas.openxmlformats.org/officeDocument/2006/relationships" id="266" r:id="Rc312b9e90589435e"/>
    <p:sldId xmlns:r="http://schemas.openxmlformats.org/officeDocument/2006/relationships" id="267" r:id="Rc2b9a673ff9e4a60"/>
    <p:sldId xmlns:r="http://schemas.openxmlformats.org/officeDocument/2006/relationships" id="268" r:id="R4005f0c3f14a44ad"/>
    <p:sldId xmlns:r="http://schemas.openxmlformats.org/officeDocument/2006/relationships" id="269" r:id="Rff01b185cc664b60"/>
    <p:sldId xmlns:r="http://schemas.openxmlformats.org/officeDocument/2006/relationships" id="270" r:id="Rbe15026940dc4f05"/>
    <p:sldId xmlns:r="http://schemas.openxmlformats.org/officeDocument/2006/relationships" id="271" r:id="R03442d6130d74d61"/>
    <p:sldId xmlns:r="http://schemas.openxmlformats.org/officeDocument/2006/relationships" id="272" r:id="Rc006729aad5f4ab2"/>
    <p:sldId xmlns:r="http://schemas.openxmlformats.org/officeDocument/2006/relationships" id="273" r:id="Ra033f09b70294e48"/>
    <p:sldId xmlns:r="http://schemas.openxmlformats.org/officeDocument/2006/relationships" id="274" r:id="R613be62128db484d"/>
  </p:sldIdLst>
  <p:sldSz cx="9144000" cy="51435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CEFFDBC9-BA6C-4DAE-8BE7-92019794D4D1}">
  <a:tblStyle styleId="{CEFFDBC9-BA6C-4DAE-8BE7-92019794D4D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c6a216a3ef3d48e8" /><Relationship Type="http://schemas.openxmlformats.org/officeDocument/2006/relationships/slideMaster" Target="/ppt/slideMasters/slideMaster1.xml" Id="R7c1021274c3443c5" /><Relationship Type="http://schemas.openxmlformats.org/officeDocument/2006/relationships/slideMaster" Target="/ppt/slideMasters/slideMaster2.xml" Id="R40cbdb96639843a1" /><Relationship Type="http://schemas.openxmlformats.org/officeDocument/2006/relationships/notesMaster" Target="/ppt/notesMasters/notesMaster1.xml" Id="R548d4ef448194bcb" /><Relationship Type="http://schemas.openxmlformats.org/officeDocument/2006/relationships/presProps" Target="/ppt/presProps.xml" Id="Rf517139415dd4e38" /><Relationship Type="http://schemas.openxmlformats.org/officeDocument/2006/relationships/viewProps" Target="/ppt/viewProps.xml" Id="Rb5ef6a3b639c4841" /><Relationship Type="http://schemas.openxmlformats.org/officeDocument/2006/relationships/tableStyles" Target="/ppt/tableStyles.xml" Id="R8ce60ee0fd4240b0" /><Relationship Type="http://schemas.openxmlformats.org/officeDocument/2006/relationships/slide" Target="/ppt/slides/slide1.xml" Id="Rbfe8500362374bfe" /><Relationship Type="http://schemas.openxmlformats.org/officeDocument/2006/relationships/slide" Target="/ppt/slides/slide2.xml" Id="Raaec597959894dbd" /><Relationship Type="http://schemas.openxmlformats.org/officeDocument/2006/relationships/slide" Target="/ppt/slides/slide3.xml" Id="R29304f3e8bfa4204" /><Relationship Type="http://schemas.openxmlformats.org/officeDocument/2006/relationships/slide" Target="/ppt/slides/slide4.xml" Id="R6fbee93fd1364f7f" /><Relationship Type="http://schemas.openxmlformats.org/officeDocument/2006/relationships/slide" Target="/ppt/slides/slide5.xml" Id="Ra77cf843217746a8" /><Relationship Type="http://schemas.openxmlformats.org/officeDocument/2006/relationships/slide" Target="/ppt/slides/slide6.xml" Id="Rbedddf71f13048e5" /><Relationship Type="http://schemas.openxmlformats.org/officeDocument/2006/relationships/slide" Target="/ppt/slides/slide7.xml" Id="R0e8bd8c74dad43ea" /><Relationship Type="http://schemas.openxmlformats.org/officeDocument/2006/relationships/slide" Target="/ppt/slides/slide8.xml" Id="Re35ada699c614796" /><Relationship Type="http://schemas.openxmlformats.org/officeDocument/2006/relationships/slide" Target="/ppt/slides/slide9.xml" Id="R20d0678c85dc4cdf" /><Relationship Type="http://schemas.openxmlformats.org/officeDocument/2006/relationships/slide" Target="/ppt/slides/slide10.xml" Id="R8e8365de9c4f4508" /><Relationship Type="http://schemas.openxmlformats.org/officeDocument/2006/relationships/slide" Target="/ppt/slides/slide11.xml" Id="Rc312b9e90589435e" /><Relationship Type="http://schemas.openxmlformats.org/officeDocument/2006/relationships/slide" Target="/ppt/slides/slide12.xml" Id="Rc2b9a673ff9e4a60" /><Relationship Type="http://schemas.openxmlformats.org/officeDocument/2006/relationships/slide" Target="/ppt/slides/slide13.xml" Id="R4005f0c3f14a44ad" /><Relationship Type="http://schemas.openxmlformats.org/officeDocument/2006/relationships/slide" Target="/ppt/slides/slide14.xml" Id="Rff01b185cc664b60" /><Relationship Type="http://schemas.openxmlformats.org/officeDocument/2006/relationships/slide" Target="/ppt/slides/slide15.xml" Id="Rbe15026940dc4f05" /><Relationship Type="http://schemas.openxmlformats.org/officeDocument/2006/relationships/slide" Target="/ppt/slides/slide16.xml" Id="R03442d6130d74d61" /><Relationship Type="http://schemas.openxmlformats.org/officeDocument/2006/relationships/slide" Target="/ppt/slides/slide17.xml" Id="Rc006729aad5f4ab2" /><Relationship Type="http://schemas.openxmlformats.org/officeDocument/2006/relationships/slide" Target="/ppt/slides/slide18.xml" Id="Ra033f09b70294e48" /><Relationship Type="http://schemas.openxmlformats.org/officeDocument/2006/relationships/slide" Target="/ppt/slides/slide19.xml" Id="R613be62128db48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cc417bc9f2274e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b63442836e49dc" /><Relationship Type="http://schemas.openxmlformats.org/officeDocument/2006/relationships/notesMaster" Target="/ppt/notesMasters/notesMaster1.xml" Id="R0faf5318acee4a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415d59a47b4a49" /><Relationship Type="http://schemas.openxmlformats.org/officeDocument/2006/relationships/notesMaster" Target="/ppt/notesMasters/notesMaster1.xml" Id="Ra14c686f0ff445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d5dedc61e6497e" /><Relationship Type="http://schemas.openxmlformats.org/officeDocument/2006/relationships/notesMaster" Target="/ppt/notesMasters/notesMaster1.xml" Id="R13db81a754a74d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df5f6054b44793" /><Relationship Type="http://schemas.openxmlformats.org/officeDocument/2006/relationships/notesMaster" Target="/ppt/notesMasters/notesMaster1.xml" Id="R31ca5048b6cd44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c536d085a24ff7" /><Relationship Type="http://schemas.openxmlformats.org/officeDocument/2006/relationships/notesMaster" Target="/ppt/notesMasters/notesMaster1.xml" Id="Rc72f4e4a9f5546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de2668533047ea" /><Relationship Type="http://schemas.openxmlformats.org/officeDocument/2006/relationships/notesMaster" Target="/ppt/notesMasters/notesMaster1.xml" Id="R215d89fdf4fa48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158e3f1b7749d8" /><Relationship Type="http://schemas.openxmlformats.org/officeDocument/2006/relationships/notesMaster" Target="/ppt/notesMasters/notesMaster1.xml" Id="R17c2c904396d4c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0b58de7f78475e" /><Relationship Type="http://schemas.openxmlformats.org/officeDocument/2006/relationships/notesMaster" Target="/ppt/notesMasters/notesMaster1.xml" Id="Rbdd1226202bd4b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9d952fac984f22" /><Relationship Type="http://schemas.openxmlformats.org/officeDocument/2006/relationships/notesMaster" Target="/ppt/notesMasters/notesMaster1.xml" Id="Reb30a53c296846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e139f437934828" /><Relationship Type="http://schemas.openxmlformats.org/officeDocument/2006/relationships/notesMaster" Target="/ppt/notesMasters/notesMaster1.xml" Id="Rdafae6862b7a49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9e1e300650467f" /><Relationship Type="http://schemas.openxmlformats.org/officeDocument/2006/relationships/notesMaster" Target="/ppt/notesMasters/notesMaster1.xml" Id="Rb452e8468a5647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92ada65270486b" /><Relationship Type="http://schemas.openxmlformats.org/officeDocument/2006/relationships/notesMaster" Target="/ppt/notesMasters/notesMaster1.xml" Id="R24688407f0c544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41b68dc655479a" /><Relationship Type="http://schemas.openxmlformats.org/officeDocument/2006/relationships/notesMaster" Target="/ppt/notesMasters/notesMaster1.xml" Id="R98c1bb2e5bb441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42cf20e77ee40e1" /><Relationship Type="http://schemas.openxmlformats.org/officeDocument/2006/relationships/notesMaster" Target="/ppt/notesMasters/notesMaster1.xml" Id="R333d99a395df405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c768dd8b5944ae" /><Relationship Type="http://schemas.openxmlformats.org/officeDocument/2006/relationships/notesMaster" Target="/ppt/notesMasters/notesMaster1.xml" Id="Rf21ccda3d9b64e0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7606fc5e5b4eaf" /><Relationship Type="http://schemas.openxmlformats.org/officeDocument/2006/relationships/notesMaster" Target="/ppt/notesMasters/notesMaster1.xml" Id="R81974d102cae4e4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006758896cd4f6f" /><Relationship Type="http://schemas.openxmlformats.org/officeDocument/2006/relationships/notesMaster" Target="/ppt/notesMasters/notesMaster1.xml" Id="R5344ccbe3b0c432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581eeee9fb14f57" /><Relationship Type="http://schemas.openxmlformats.org/officeDocument/2006/relationships/notesMaster" Target="/ppt/notesMasters/notesMaster1.xml" Id="R3bdeda7c1b264ec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9cae2cd8a1640ae" /><Relationship Type="http://schemas.openxmlformats.org/officeDocument/2006/relationships/notesMaster" Target="/ppt/notesMasters/notesMaster1.xml" Id="R85ed7152139846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HISTORICAL CONCEPT ONLY. The selected implementation is the Paillier screening MVP; this remittance proposal was not implemented.</a:t>
            </a:r>
            <a:endParaRPr/>
          </a:p>
          <a:p xmlns:a="http://schemas.openxmlformats.org/drawingml/2006/main">
            <a:pPr marL="0" lvl="0" indent="0" algn="l">
              <a:spcBef>
                <a:spcPts val="0"/>
              </a:spcBef>
              <a:spcAft>
                <a:spcPts val="0"/>
              </a:spcAft>
              <a:buNone/>
            </a:pPr>
            <a:r>
              <a:t>Historical concept: Transfers without borders. Proposed instant, fee-free remittances protected by three AI layers on LinuxONE. This was a planning proposal, not an implemented or validated product.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HISTORICAL CONCEPT ONLY. The selected implementation is the Paillier screening MVP; this remittance proposal was not implemented.</a:t>
            </a:r>
            <a:endParaRPr/>
          </a:p>
          <a:p xmlns:a="http://schemas.openxmlformats.org/drawingml/2006/main">
            <a:pPr marL="0" lvl="0" indent="0" algn="l">
              <a:spcBef>
                <a:spcPts val="0"/>
              </a:spcBef>
              <a:spcAft>
                <a:spcPts val="0"/>
              </a:spcAft>
              <a:buNone/>
            </a:pPr>
            <a:r>
              <a:t>Historical proposal. The original concept cited a 6.49% average remittance cost, a 3% UN target and US$61.7 billion in remittances to Mexico. These figures are retained as proposal assumptions, not newly verified facts. The proposal explored fast, affordable, encrypted transfers with fraud screening.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HISTORICAL CONCEPT ONLY. The selected implementation is the Paillier screening MVP; this remittance proposal was not implemented.</a:t>
            </a:r>
            <a:endParaRPr/>
          </a:p>
          <a:p xmlns:a="http://schemas.openxmlformats.org/drawingml/2006/main">
            <a:pPr marL="0" lvl="0" indent="0" algn="l">
              <a:spcBef>
                <a:spcPts val="0"/>
              </a:spcBef>
              <a:spcAft>
                <a:spcPts val="0"/>
              </a:spcAft>
              <a:buNone/>
            </a:pPr>
            <a:r>
              <a:t>Historical concept: encrypted transport, OFAC screening, XGBoost fraud/AML scoring and simulated settlement. Potential matches require review. Granite explanations and instant fee-free settlement were proposed, not implemented or demonstrated.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HISTORICAL CONCEPT ONLY. The selected implementation is the Paillier screening MVP; this remittance proposal was not implemented.</a:t>
            </a:r>
            <a:endParaRPr/>
          </a:p>
          <a:p xmlns:a="http://schemas.openxmlformats.org/drawingml/2006/main">
            <a:pPr marL="0" lvl="0" indent="0" algn="l">
              <a:spcBef>
                <a:spcPts val="0"/>
              </a:spcBef>
              <a:spcAft>
                <a:spcPts val="0"/>
              </a:spcAft>
              <a:buNone/>
            </a:pPr>
            <a:r>
              <a:t>Historical concept. Proposed TLS 1.3 transport, AES-256-GCM storage and HMAC tokenization. Tokenization is not homomorphic encryption or a guarantee of anonymity. OFAC matching would inspect names in a trusted component. The original automatic CPACF claim was unverified; measure effective use before claiming acceleration.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HISTORICAL CONCEPT ONLY. The selected implementation is the Paillier screening MVP; this remittance proposal was not implemented.</a:t>
            </a:r>
            <a:endParaRPr/>
          </a:p>
          <a:p xmlns:a="http://schemas.openxmlformats.org/drawingml/2006/main">
            <a:pPr marL="0" lvl="0" indent="0" algn="l">
              <a:spcBef>
                <a:spcPts val="0"/>
              </a:spcBef>
              <a:spcAft>
                <a:spcPts val="0"/>
              </a:spcAft>
              <a:buNone/>
            </a:pPr>
            <a:r>
              <a:t>Historical architecture proposal: containerized API, tokenizer, sanctions screening, risk model, Granite and encrypted vault on LinuxONE. No current implementation or benchmark is claimed. The selected project is the Paillier screening MVP described in docs/PROJECT.md.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HISTORICAL CONCEPT ONLY. The selected implementation is the Paillier screening MVP; this remittance proposal was not implemented.</a:t>
            </a:r>
            <a:endParaRPr/>
          </a:p>
          <a:p xmlns:a="http://schemas.openxmlformats.org/drawingml/2006/main">
            <a:pPr marL="0" lvl="0" indent="0" algn="l">
              <a:spcBef>
                <a:spcPts val="0"/>
              </a:spcBef>
              <a:spcAft>
                <a:spcPts val="0"/>
              </a:spcAft>
              <a:buNone/>
            </a:pPr>
            <a:r>
              <a:t>Historical proposed demo: one ordinary transfer, one possible sanctions match and one smurfing pattern in a simulated Mexico/U.S./Colombia network. All metrics, Granite explanations and LinuxONE execution were planned rather than measured.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HISTORICAL CONCEPT ONLY. The selected implementation is the Paillier screening MVP; this remittance proposal was not implemented.</a:t>
            </a:r>
            <a:endParaRPr/>
          </a:p>
          <a:p xmlns:a="http://schemas.openxmlformats.org/drawingml/2006/main">
            <a:pPr marL="0" lvl="0" indent="0" algn="l">
              <a:spcBef>
                <a:spcPts val="0"/>
              </a:spcBef>
              <a:spcAft>
                <a:spcPts val="0"/>
              </a:spcAft>
              <a:buNone/>
            </a:pPr>
            <a:r>
              <a:t>Historical proposal: generate synthetic cross-border transactions and simulated sanctions lists, inject labeled smurfing/layering patterns, then measure precision, recall, F1, latency and false positives. The original US$8,400 split over six transfers was illustrative, not an observed fraud case.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HISTORICAL CONCEPT ONLY. The selected implementation is the Paillier screening MVP; this remittance proposal was not implemented.</a:t>
            </a:r>
            <a:endParaRPr/>
          </a:p>
          <a:p xmlns:a="http://schemas.openxmlformats.org/drawingml/2006/main">
            <a:pPr marL="0" lvl="0" indent="0" algn="l">
              <a:spcBef>
                <a:spcPts val="0"/>
              </a:spcBef>
              <a:spcAft>
                <a:spcPts val="0"/>
              </a:spcAft>
              <a:buNone/>
            </a:pPr>
            <a:r>
              <a:t>Historical proposal conclusion: explore lower remittance costs, financial inclusion and more efficient compliance. These are intended benefits, not demonstrated outcomes. This proposal was not selected as the delivered project.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c7bf75905648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e5643a535549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a14fa44c434e9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3f0e48121342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b0846d45ac34d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6df0a279674ca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4437149f4f645d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ce8b48a82ca437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2b5e00619e14b2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8011ec7e2e34ee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0b6fd836b9e483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53a9622ad7ee48ac" /><Relationship Type="http://schemas.openxmlformats.org/officeDocument/2006/relationships/image" Target="/ppt/media/image.png" Id="R74069008110f48e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eefb4014060b4ce7" /><Relationship Type="http://schemas.openxmlformats.org/officeDocument/2006/relationships/image" Target="/ppt/media/image2.png" Id="R085d2ce2c85d4938"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396771bdd0bf40b1" /><Relationship Type="http://schemas.openxmlformats.org/officeDocument/2006/relationships/image" Target="/ppt/media/image3.png" Id="Re1e58940c8854171"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35d7e304fe054b28"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B6E6D25E-EE83-4C6D-8B32-BF74F77CFF77}"/>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6C2407AD-5E9A-448B-BBAB-C9170AC769BD}"/>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74986472-9096-4D8C-897A-7087072B244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DD3E8E35-459D-4983-B49B-AF453B371EEE}"/>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A5B82AD4-A13E-457B-95AF-D32D7114459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F45C830A-F9E7-4647-84DF-FC1BB22BE93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980B27D6-40DE-429F-905F-1921F9B4C9B6}"/>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DEBFD38F-0C84-4315-91B4-DD2BC199E04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651CB314-0ABF-444E-8F30-33C1C313946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A39F88D0-0A81-4553-B525-5789C644BC9A}"/>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413C7C11-7473-45FB-A494-D22C34BEC15C}"/>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608FA4E9-3AC2-4F50-87DC-6A14993AA0D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E471E8DB-241A-4905-AB8D-EB203BC9C2A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F1C8ED00-C88A-4748-B775-E21C0837DE0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78F255AB-0D41-4679-9575-A3617C65AE1C}"/>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9685DB76-3EC6-4960-8DCD-565174B96A74}"/>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2FB8CA15-4382-4932-A22B-E149AB2992A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352C1F7E-4D1D-4A69-82EE-D9C336411E62}"/>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804E4049-F6D5-4BFE-9741-844F06F160C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628C41B4-6AF5-451A-9B1E-ABBF2B827AF6}"/>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56E3C393-502D-4358-92D9-0E71DCD18D01}"/>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A66A06B4-49C4-4D67-9018-8C535D1D35CC}"/>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194D7AB5-59B4-4B58-9EA4-8093E92E09AB}"/>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186ADE7A-E94B-411C-92E9-D738720A7EE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E67F8EBB-6B18-439C-8A28-5B14BD0F3FBF}"/>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B69EAE68-A90E-488F-9467-1A74C71E75B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93D8201F-F26B-4BF2-91E8-40F1E4A383D7}"/>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BC796EFA-7507-4F21-A20A-6B40FCE09E7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1DE236A5-5D43-4B85-A5C5-BAB3FA45D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5D5C77D6-9793-48C7-B0D5-B70B9C9E466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PORTADA">
  <p:cSld name="PORTADA">
    <p:bg>
      <p:bgPr>
        <a:blipFill xmlns:a="http://schemas.openxmlformats.org/drawingml/2006/main">
          <a:blip xmlns:r="http://schemas.openxmlformats.org/officeDocument/2006/relationships" r:embed="R74069008110f48e1">
            <a:alphaModFix/>
          </a:blip>
          <a:stretch>
            <a:fillRect l="0" t="0" r="0" b="0"/>
          </a:stretch>
        </a:blipFill>
      </p:bgPr>
    </p:bg>
    <p:spTree>
      <p:nvGrpSpPr>
        <p:cNvPr id="1" name=""/>
        <p:cNvGrpSpPr/>
        <p:nvPr/>
      </p:nvGrpSpPr>
      <p:grpSpPr>
        <a:xfrm xmlns:a="http://schemas.openxmlformats.org/drawingml/2006/main"/>
      </p:grpSpPr>
      <p:sp>
        <p:nvSpPr>
          <p:cNvPr id="53" name="Google Shape;53;p14">
            <a:extLst xmlns:a="http://schemas.openxmlformats.org/drawingml/2006/main">
              <a:ext uri="{FF2B5EF4-FFF2-40B4-BE49-F238E27FC236}">
                <a16:creationId xmlns:a16="http://schemas.microsoft.com/office/drawing/2014/main" id="{3A9A06A3-3561-475B-AEFF-B11C46064088}"/>
              </a:ext>
            </a:extLst>
          </p:cNvPr>
          <p:cNvSpPr>
            <a:spLocks xmlns:a="http://schemas.openxmlformats.org/drawingml/2006/main" noGrp="1"/>
          </p:cNvSpPr>
          <p:nvPr>
            <p:ph type="title" idx="0"/>
          </p:nvPr>
        </p:nvSpPr>
        <p:spPr>
          <a:xfrm xmlns:a="http://schemas.openxmlformats.org/drawingml/2006/main">
            <a:off x="480060" y="1337310"/>
            <a:ext cx="521208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Clr>
                <a:schemeClr val="lt1"/>
              </a:buClr>
              <a:buSzPts val="4500"/>
              <a:buFont typeface="Arial"/>
              <a:buNone/>
              <a:defRPr sz="4500" b="1" i="0" u="none" strike="noStrike" cap="none">
                <a:solidFill>
                  <a:schemeClr val="lt1"/>
                </a:solidFill>
                <a:latin typeface="Arial"/>
                <a:ea typeface="Arial"/>
                <a:cs typeface="Arial"/>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54" name="Google Shape;54;p14">
            <a:extLst xmlns:a="http://schemas.openxmlformats.org/drawingml/2006/main">
              <a:ext uri="{FF2B5EF4-FFF2-40B4-BE49-F238E27FC236}">
                <a16:creationId xmlns:a16="http://schemas.microsoft.com/office/drawing/2014/main" id="{1A40FC6B-DEC0-4863-BA91-5B4D648560B1}"/>
              </a:ext>
            </a:extLst>
          </p:cNvPr>
          <p:cNvSpPr>
            <a:spLocks xmlns:a="http://schemas.openxmlformats.org/drawingml/2006/main" noGrp="1"/>
          </p:cNvSpPr>
          <p:nvPr>
            <p:ph type="body" idx="1"/>
          </p:nvPr>
        </p:nvSpPr>
        <p:spPr>
          <a:xfrm xmlns:a="http://schemas.openxmlformats.org/drawingml/2006/main">
            <a:off x="480060" y="2228850"/>
            <a:ext cx="4937760" cy="445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228600" algn="l">
              <a:spcBef>
                <a:spcPts val="500"/>
              </a:spcBef>
              <a:spcAft>
                <a:spcPts val="0"/>
              </a:spcAft>
              <a:buClr>
                <a:schemeClr val="lt2"/>
              </a:buClr>
              <a:buSzPts val="2300"/>
              <a:buFont typeface="Arial"/>
              <a:buNone/>
              <a:defRPr sz="2300" b="0" i="0" u="none" strike="noStrike" cap="none">
                <a:solidFill>
                  <a:schemeClr val="lt2"/>
                </a:solidFill>
                <a:latin typeface="Arial"/>
                <a:ea typeface="Arial"/>
                <a:cs typeface="Arial"/>
              </a:defRPr>
            </a:lvl1pPr>
            <a:lvl2pPr marL="914400" marR="0" indent="-361950" algn="l">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2pPr>
            <a:lvl3pPr marL="1371600" marR="0" indent="-342900" algn="l">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3pPr>
            <a:lvl4pPr marL="18288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4pPr>
            <a:lvl5pPr marL="22860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5pPr>
            <a:lvl6pPr marL="27432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6pPr>
            <a:lvl7pPr marL="32004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7pPr>
            <a:lvl8pPr marL="36576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8pPr>
            <a:lvl9pPr marL="41148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9pPr>
          </a:lstStyle>
          <a:p xmlns:a="http://schemas.openxmlformats.org/drawingml/2006/main"/>
        </p:txBody>
      </p:sp>
    </p:spTree>
  </p:cSld>
</p:sldLayout>
</file>

<file path=ppt/slideLayouts/slideLayout13.xml><?xml version="1.0" encoding="utf-8"?>
<p:sldLayout xmlns:p="http://schemas.openxmlformats.org/presentationml/2006/main" matchingName="CONTENIDO">
  <p:cSld name="CONTENIDO">
    <p:bg>
      <p:bgPr>
        <a:blipFill xmlns:a="http://schemas.openxmlformats.org/drawingml/2006/main">
          <a:blip xmlns:r="http://schemas.openxmlformats.org/officeDocument/2006/relationships" r:embed="R085d2ce2c85d4938">
            <a:alphaModFix/>
          </a:blip>
          <a:stretch>
            <a:fillRect l="0" t="0" r="0" b="0"/>
          </a:stretch>
        </a:blipFill>
      </p:bgPr>
    </p:bg>
    <p:spTree>
      <p:nvGrpSpPr>
        <p:cNvPr id="1" name=""/>
        <p:cNvGrpSpPr/>
        <p:nvPr/>
      </p:nvGrpSpPr>
      <p:grpSpPr>
        <a:xfrm xmlns:a="http://schemas.openxmlformats.org/drawingml/2006/main"/>
      </p:grpSpPr>
      <p:sp>
        <p:nvSpPr>
          <p:cNvPr id="56" name="Google Shape;56;p15">
            <a:extLst xmlns:a="http://schemas.openxmlformats.org/drawingml/2006/main">
              <a:ext uri="{FF2B5EF4-FFF2-40B4-BE49-F238E27FC236}">
                <a16:creationId xmlns:a16="http://schemas.microsoft.com/office/drawing/2014/main" id="{4F794A63-E7E9-4E2A-A82B-3EDFD267160A}"/>
              </a:ext>
            </a:extLst>
          </p:cNvPr>
          <p:cNvSpPr>
            <a:spLocks xmlns:a="http://schemas.openxmlformats.org/drawingml/2006/main" noGrp="1"/>
          </p:cNvSpPr>
          <p:nvPr/>
        </p:nvSpPr>
        <p:spPr>
          <a:xfrm xmlns:a="http://schemas.openxmlformats.org/drawingml/2006/main">
            <a:off x="411480" y="384048"/>
            <a:ext cx="89154" cy="89154"/>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7" name="Google Shape;57;p15">
            <a:extLst xmlns:a="http://schemas.openxmlformats.org/drawingml/2006/main">
              <a:ext uri="{FF2B5EF4-FFF2-40B4-BE49-F238E27FC236}">
                <a16:creationId xmlns:a16="http://schemas.microsoft.com/office/drawing/2014/main" id="{F8542ED7-14A7-4F0B-B46E-2701655946DC}"/>
              </a:ext>
            </a:extLst>
          </p:cNvPr>
          <p:cNvSpPr>
            <a:spLocks xmlns:a="http://schemas.openxmlformats.org/drawingml/2006/main" noGrp="1"/>
          </p:cNvSpPr>
          <p:nvPr>
            <p:ph type="body" idx="1"/>
          </p:nvPr>
        </p:nvSpPr>
        <p:spPr>
          <a:xfrm xmlns:a="http://schemas.openxmlformats.org/drawingml/2006/main">
            <a:off x="576072" y="308610"/>
            <a:ext cx="6172200" cy="233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228600" algn="l">
              <a:spcBef>
                <a:spcPts val="200"/>
              </a:spcBef>
              <a:spcAft>
                <a:spcPts val="0"/>
              </a:spcAft>
              <a:buClr>
                <a:schemeClr val="accent5"/>
              </a:buClr>
              <a:buSzPts val="900"/>
              <a:buFont typeface="Arial"/>
              <a:buNone/>
              <a:defRPr sz="900" b="1" i="0" u="none" strike="noStrike" cap="none">
                <a:solidFill>
                  <a:schemeClr val="accent5"/>
                </a:solidFill>
                <a:latin typeface="Arial"/>
                <a:ea typeface="Arial"/>
                <a:cs typeface="Arial"/>
              </a:defRPr>
            </a:lvl1pPr>
            <a:lvl2pPr marL="914400" marR="0" indent="-361950" algn="l">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2pPr>
            <a:lvl3pPr marL="1371600" marR="0" indent="-342900" algn="l">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3pPr>
            <a:lvl4pPr marL="18288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4pPr>
            <a:lvl5pPr marL="22860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5pPr>
            <a:lvl6pPr marL="27432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6pPr>
            <a:lvl7pPr marL="32004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7pPr>
            <a:lvl8pPr marL="36576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8pPr>
            <a:lvl9pPr marL="41148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9pPr>
          </a:lstStyle>
          <a:p xmlns:a="http://schemas.openxmlformats.org/drawingml/2006/main"/>
        </p:txBody>
      </p:sp>
      <p:sp>
        <p:nvSpPr>
          <p:cNvPr id="58" name="Google Shape;58;p15">
            <a:extLst xmlns:a="http://schemas.openxmlformats.org/drawingml/2006/main">
              <a:ext uri="{FF2B5EF4-FFF2-40B4-BE49-F238E27FC236}">
                <a16:creationId xmlns:a16="http://schemas.microsoft.com/office/drawing/2014/main" id="{51AB999E-4272-45DC-B7AB-84C945D6ADD5}"/>
              </a:ext>
            </a:extLst>
          </p:cNvPr>
          <p:cNvSpPr>
            <a:spLocks xmlns:a="http://schemas.openxmlformats.org/drawingml/2006/main" noGrp="1"/>
          </p:cNvSpPr>
          <p:nvPr>
            <p:ph type="title" idx="0"/>
          </p:nvPr>
        </p:nvSpPr>
        <p:spPr>
          <a:xfrm xmlns:a="http://schemas.openxmlformats.org/drawingml/2006/main">
            <a:off x="411480" y="582930"/>
            <a:ext cx="8318754"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Clr>
                <a:schemeClr val="lt1"/>
              </a:buClr>
              <a:buSzPts val="2300"/>
              <a:buFont typeface="Arial"/>
              <a:buNone/>
              <a:defRPr sz="2300" b="1" i="0" u="none" strike="noStrike" cap="none">
                <a:solidFill>
                  <a:schemeClr val="lt1"/>
                </a:solidFill>
                <a:latin typeface="Arial"/>
                <a:ea typeface="Arial"/>
                <a:cs typeface="Arial"/>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59" name="Google Shape;59;p15">
            <a:extLst xmlns:a="http://schemas.openxmlformats.org/drawingml/2006/main">
              <a:ext uri="{FF2B5EF4-FFF2-40B4-BE49-F238E27FC236}">
                <a16:creationId xmlns:a16="http://schemas.microsoft.com/office/drawing/2014/main" id="{C64DC055-602F-45F0-A6E5-74A423BAC236}"/>
              </a:ext>
            </a:extLst>
          </p:cNvPr>
          <p:cNvSpPr>
            <a:spLocks xmlns:a="http://schemas.openxmlformats.org/drawingml/2006/main" noGrp="1"/>
          </p:cNvSpPr>
          <p:nvPr/>
        </p:nvSpPr>
        <p:spPr>
          <a:xfrm xmlns:a="http://schemas.openxmlformats.org/drawingml/2006/main">
            <a:off x="411480" y="4800600"/>
            <a:ext cx="41148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accent6"/>
              </a:buClr>
              <a:buSzPts val="700"/>
              <a:buFont typeface="Arial"/>
              <a:buNone/>
            </a:pPr>
            <a:r>
              <a:rPr sz="700" b="0" i="0" u="none" strike="noStrike" cap="none">
                <a:solidFill>
                  <a:schemeClr val="accent6"/>
                </a:solidFill>
                <a:latin typeface="Arial"/>
                <a:ea typeface="Arial"/>
                <a:cs typeface="Arial"/>
              </a:rPr>
              <a:t>Los Antimarrulla · IBM Z Datathon 2026</a:t>
            </a:r>
            <a:endParaRPr sz="700" b="0" i="0" u="none" strike="noStrike" cap="none">
              <a:solidFill>
                <a:schemeClr val="dk1"/>
              </a:solidFill>
              <a:latin typeface="Arial"/>
              <a:ea typeface="Arial"/>
              <a:cs typeface="Arial"/>
            </a:endParaRPr>
          </a:p>
        </p:txBody>
      </p:sp>
      <p:sp>
        <p:nvSpPr>
          <p:cNvPr id="60" name="Google Shape;60;p15">
            <a:extLst xmlns:a="http://schemas.openxmlformats.org/drawingml/2006/main">
              <a:ext uri="{FF2B5EF4-FFF2-40B4-BE49-F238E27FC236}">
                <a16:creationId xmlns:a16="http://schemas.microsoft.com/office/drawing/2014/main" id="{6BE1A72A-98A2-4013-BAE5-0F4AFE8D1918}"/>
              </a:ext>
            </a:extLst>
          </p:cNvPr>
          <p:cNvSpPr>
            <a:spLocks xmlns:a="http://schemas.openxmlformats.org/drawingml/2006/main" noGrp="1"/>
          </p:cNvSpPr>
          <p:nvPr>
            <p:ph type="sldNum" idx="12"/>
          </p:nvPr>
        </p:nvSpPr>
        <p:spPr>
          <a:xfrm xmlns:a="http://schemas.openxmlformats.org/drawingml/2006/main">
            <a:off x="8387334" y="4800600"/>
            <a:ext cx="3429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0" marR="0" indent="0" algn="r">
              <a:spcBef>
                <a:spcPts val="0"/>
              </a:spcBef>
              <a:buNone/>
              <a:defRPr sz="700" b="0" i="0" u="none" strike="noStrike" cap="none">
                <a:solidFill>
                  <a:schemeClr val="accent6"/>
                </a:solidFill>
                <a:latin typeface="Arial"/>
                <a:ea typeface="Arial"/>
                <a:cs typeface="Arial"/>
              </a:defRPr>
            </a:lvl1pPr>
            <a:lvl2pPr marL="0" marR="0" indent="0" algn="r">
              <a:spcBef>
                <a:spcPts val="0"/>
              </a:spcBef>
              <a:buNone/>
              <a:defRPr sz="700" b="0" i="0" u="none" strike="noStrike" cap="none">
                <a:solidFill>
                  <a:schemeClr val="accent6"/>
                </a:solidFill>
                <a:latin typeface="Arial"/>
                <a:ea typeface="Arial"/>
                <a:cs typeface="Arial"/>
              </a:defRPr>
            </a:lvl2pPr>
            <a:lvl3pPr marL="0" marR="0" indent="0" algn="r">
              <a:spcBef>
                <a:spcPts val="0"/>
              </a:spcBef>
              <a:buNone/>
              <a:defRPr sz="700" b="0" i="0" u="none" strike="noStrike" cap="none">
                <a:solidFill>
                  <a:schemeClr val="accent6"/>
                </a:solidFill>
                <a:latin typeface="Arial"/>
                <a:ea typeface="Arial"/>
                <a:cs typeface="Arial"/>
              </a:defRPr>
            </a:lvl3pPr>
            <a:lvl4pPr marL="0" marR="0" indent="0" algn="r">
              <a:spcBef>
                <a:spcPts val="0"/>
              </a:spcBef>
              <a:buNone/>
              <a:defRPr sz="700" b="0" i="0" u="none" strike="noStrike" cap="none">
                <a:solidFill>
                  <a:schemeClr val="accent6"/>
                </a:solidFill>
                <a:latin typeface="Arial"/>
                <a:ea typeface="Arial"/>
                <a:cs typeface="Arial"/>
              </a:defRPr>
            </a:lvl4pPr>
            <a:lvl5pPr marL="0" marR="0" indent="0" algn="r">
              <a:spcBef>
                <a:spcPts val="0"/>
              </a:spcBef>
              <a:buNone/>
              <a:defRPr sz="700" b="0" i="0" u="none" strike="noStrike" cap="none">
                <a:solidFill>
                  <a:schemeClr val="accent6"/>
                </a:solidFill>
                <a:latin typeface="Arial"/>
                <a:ea typeface="Arial"/>
                <a:cs typeface="Arial"/>
              </a:defRPr>
            </a:lvl5pPr>
            <a:lvl6pPr marL="0" marR="0" indent="0" algn="r">
              <a:spcBef>
                <a:spcPts val="0"/>
              </a:spcBef>
              <a:buNone/>
              <a:defRPr sz="700" b="0" i="0" u="none" strike="noStrike" cap="none">
                <a:solidFill>
                  <a:schemeClr val="accent6"/>
                </a:solidFill>
                <a:latin typeface="Arial"/>
                <a:ea typeface="Arial"/>
                <a:cs typeface="Arial"/>
              </a:defRPr>
            </a:lvl6pPr>
            <a:lvl7pPr marL="0" marR="0" indent="0" algn="r">
              <a:spcBef>
                <a:spcPts val="0"/>
              </a:spcBef>
              <a:buNone/>
              <a:defRPr sz="700" b="0" i="0" u="none" strike="noStrike" cap="none">
                <a:solidFill>
                  <a:schemeClr val="accent6"/>
                </a:solidFill>
                <a:latin typeface="Arial"/>
                <a:ea typeface="Arial"/>
                <a:cs typeface="Arial"/>
              </a:defRPr>
            </a:lvl7pPr>
            <a:lvl8pPr marL="0" marR="0" indent="0" algn="r">
              <a:spcBef>
                <a:spcPts val="0"/>
              </a:spcBef>
              <a:buNone/>
              <a:defRPr sz="700" b="0" i="0" u="none" strike="noStrike" cap="none">
                <a:solidFill>
                  <a:schemeClr val="accent6"/>
                </a:solidFill>
                <a:latin typeface="Arial"/>
                <a:ea typeface="Arial"/>
                <a:cs typeface="Arial"/>
              </a:defRPr>
            </a:lvl8pPr>
            <a:lvl9pPr marL="0" marR="0" indent="0" algn="r">
              <a:spcBef>
                <a:spcPts val="0"/>
              </a:spcBef>
              <a:buNone/>
              <a:defRPr sz="700" b="0" i="0" u="none" strike="noStrike" cap="none">
                <a:solidFill>
                  <a:schemeClr val="accent6"/>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CIERRE">
  <p:cSld name="CIERRE">
    <p:bg>
      <p:bgPr>
        <a:blipFill xmlns:a="http://schemas.openxmlformats.org/drawingml/2006/main">
          <a:blip xmlns:r="http://schemas.openxmlformats.org/officeDocument/2006/relationships" r:embed="Re1e58940c8854171">
            <a:alphaModFix/>
          </a:blip>
          <a:stretch>
            <a:fillRect l="0" t="0" r="0" b="0"/>
          </a:stretch>
        </a:blipFill>
      </p:bgPr>
    </p:bg>
    <p:spTree>
      <p:nvGrpSpPr>
        <p:cNvPr id="1" name=""/>
        <p:cNvGrpSpPr/>
        <p:nvPr/>
      </p:nvGrpSpPr>
      <p:grpSpPr>
        <a:xfrm xmlns:a="http://schemas.openxmlformats.org/drawingml/2006/main"/>
      </p:grpSpPr>
      <p:sp>
        <p:nvSpPr>
          <p:cNvPr id="62" name="Google Shape;62;p16">
            <a:extLst xmlns:a="http://schemas.openxmlformats.org/drawingml/2006/main">
              <a:ext uri="{FF2B5EF4-FFF2-40B4-BE49-F238E27FC236}">
                <a16:creationId xmlns:a16="http://schemas.microsoft.com/office/drawing/2014/main" id="{5AC7809E-2A3B-4F33-AE9C-87E1D48E7852}"/>
              </a:ext>
            </a:extLst>
          </p:cNvPr>
          <p:cNvSpPr>
            <a:spLocks xmlns:a="http://schemas.openxmlformats.org/drawingml/2006/main" noGrp="1"/>
          </p:cNvSpPr>
          <p:nvPr/>
        </p:nvSpPr>
        <p:spPr>
          <a:xfrm xmlns:a="http://schemas.openxmlformats.org/drawingml/2006/main">
            <a:off x="411480" y="384048"/>
            <a:ext cx="89154" cy="89154"/>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3" name="Google Shape;63;p16">
            <a:extLst xmlns:a="http://schemas.openxmlformats.org/drawingml/2006/main">
              <a:ext uri="{FF2B5EF4-FFF2-40B4-BE49-F238E27FC236}">
                <a16:creationId xmlns:a16="http://schemas.microsoft.com/office/drawing/2014/main" id="{2E1CE6F8-A441-4CD4-B5E0-646FFBA15140}"/>
              </a:ext>
            </a:extLst>
          </p:cNvPr>
          <p:cNvSpPr>
            <a:spLocks xmlns:a="http://schemas.openxmlformats.org/drawingml/2006/main" noGrp="1"/>
          </p:cNvSpPr>
          <p:nvPr>
            <p:ph type="body" idx="1"/>
          </p:nvPr>
        </p:nvSpPr>
        <p:spPr>
          <a:xfrm xmlns:a="http://schemas.openxmlformats.org/drawingml/2006/main">
            <a:off x="576072" y="308610"/>
            <a:ext cx="6172200" cy="233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228600" algn="l">
              <a:spcBef>
                <a:spcPts val="200"/>
              </a:spcBef>
              <a:spcAft>
                <a:spcPts val="0"/>
              </a:spcAft>
              <a:buClr>
                <a:schemeClr val="accent5"/>
              </a:buClr>
              <a:buSzPts val="900"/>
              <a:buFont typeface="Arial"/>
              <a:buNone/>
              <a:defRPr sz="900" b="1" i="0" u="none" strike="noStrike" cap="none">
                <a:solidFill>
                  <a:schemeClr val="accent5"/>
                </a:solidFill>
                <a:latin typeface="Arial"/>
                <a:ea typeface="Arial"/>
                <a:cs typeface="Arial"/>
              </a:defRPr>
            </a:lvl1pPr>
            <a:lvl2pPr marL="914400" marR="0" indent="-361950" algn="l">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2pPr>
            <a:lvl3pPr marL="1371600" marR="0" indent="-342900" algn="l">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3pPr>
            <a:lvl4pPr marL="18288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4pPr>
            <a:lvl5pPr marL="22860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5pPr>
            <a:lvl6pPr marL="27432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6pPr>
            <a:lvl7pPr marL="32004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7pPr>
            <a:lvl8pPr marL="36576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8pPr>
            <a:lvl9pPr marL="4114800" marR="0" indent="-323850" algn="l">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9pPr>
          </a:lstStyle>
          <a:p xmlns:a="http://schemas.openxmlformats.org/drawingml/2006/main"/>
        </p:txBody>
      </p:sp>
      <p:sp>
        <p:nvSpPr>
          <p:cNvPr id="64" name="Google Shape;64;p16">
            <a:extLst xmlns:a="http://schemas.openxmlformats.org/drawingml/2006/main">
              <a:ext uri="{FF2B5EF4-FFF2-40B4-BE49-F238E27FC236}">
                <a16:creationId xmlns:a16="http://schemas.microsoft.com/office/drawing/2014/main" id="{2B861ADD-8CBA-4724-A8D3-9FDA5E1B5F89}"/>
              </a:ext>
            </a:extLst>
          </p:cNvPr>
          <p:cNvSpPr>
            <a:spLocks xmlns:a="http://schemas.openxmlformats.org/drawingml/2006/main" noGrp="1"/>
          </p:cNvSpPr>
          <p:nvPr>
            <p:ph type="title" idx="0"/>
          </p:nvPr>
        </p:nvSpPr>
        <p:spPr>
          <a:xfrm xmlns:a="http://schemas.openxmlformats.org/drawingml/2006/main">
            <a:off x="411480" y="582930"/>
            <a:ext cx="8318754"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Clr>
                <a:schemeClr val="lt1"/>
              </a:buClr>
              <a:buSzPts val="2300"/>
              <a:buFont typeface="Arial"/>
              <a:buNone/>
              <a:defRPr sz="2300" b="1" i="0" u="none" strike="noStrike" cap="none">
                <a:solidFill>
                  <a:schemeClr val="lt1"/>
                </a:solidFill>
                <a:latin typeface="Arial"/>
                <a:ea typeface="Arial"/>
                <a:cs typeface="Arial"/>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65" name="Google Shape;65;p16">
            <a:extLst xmlns:a="http://schemas.openxmlformats.org/drawingml/2006/main">
              <a:ext uri="{FF2B5EF4-FFF2-40B4-BE49-F238E27FC236}">
                <a16:creationId xmlns:a16="http://schemas.microsoft.com/office/drawing/2014/main" id="{A4C5BD7B-7E4E-44B8-89BB-D6E3B53099C1}"/>
              </a:ext>
            </a:extLst>
          </p:cNvPr>
          <p:cNvSpPr>
            <a:spLocks xmlns:a="http://schemas.openxmlformats.org/drawingml/2006/main" noGrp="1"/>
          </p:cNvSpPr>
          <p:nvPr/>
        </p:nvSpPr>
        <p:spPr>
          <a:xfrm xmlns:a="http://schemas.openxmlformats.org/drawingml/2006/main">
            <a:off x="411480" y="4800600"/>
            <a:ext cx="41148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accent6"/>
              </a:buClr>
              <a:buSzPts val="700"/>
              <a:buFont typeface="Arial"/>
              <a:buNone/>
            </a:pPr>
            <a:r>
              <a:rPr sz="700" b="0" i="0" u="none" strike="noStrike" cap="none">
                <a:solidFill>
                  <a:schemeClr val="accent6"/>
                </a:solidFill>
                <a:latin typeface="Arial"/>
                <a:ea typeface="Arial"/>
                <a:cs typeface="Arial"/>
              </a:rPr>
              <a:t>Los Antimarrulla · IBM Z Datathon 2026</a:t>
            </a:r>
            <a:endParaRPr sz="700" b="0" i="0" u="none" strike="noStrike" cap="none">
              <a:solidFill>
                <a:schemeClr val="dk1"/>
              </a:solidFill>
              <a:latin typeface="Arial"/>
              <a:ea typeface="Arial"/>
              <a:cs typeface="Arial"/>
            </a:endParaRPr>
          </a:p>
        </p:txBody>
      </p:sp>
      <p:sp>
        <p:nvSpPr>
          <p:cNvPr id="66" name="Google Shape;66;p16">
            <a:extLst xmlns:a="http://schemas.openxmlformats.org/drawingml/2006/main">
              <a:ext uri="{FF2B5EF4-FFF2-40B4-BE49-F238E27FC236}">
                <a16:creationId xmlns:a16="http://schemas.microsoft.com/office/drawing/2014/main" id="{71DF9019-C3B1-4E81-BB3A-4FF59A3ED02F}"/>
              </a:ext>
            </a:extLst>
          </p:cNvPr>
          <p:cNvSpPr>
            <a:spLocks xmlns:a="http://schemas.openxmlformats.org/drawingml/2006/main" noGrp="1"/>
          </p:cNvSpPr>
          <p:nvPr>
            <p:ph type="sldNum" idx="12"/>
          </p:nvPr>
        </p:nvSpPr>
        <p:spPr>
          <a:xfrm xmlns:a="http://schemas.openxmlformats.org/drawingml/2006/main">
            <a:off x="8387334" y="4800600"/>
            <a:ext cx="3429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0" marR="0" indent="0" algn="r">
              <a:spcBef>
                <a:spcPts val="0"/>
              </a:spcBef>
              <a:buNone/>
              <a:defRPr sz="700" b="0" i="0" u="none" strike="noStrike" cap="none">
                <a:solidFill>
                  <a:schemeClr val="accent6"/>
                </a:solidFill>
                <a:latin typeface="Arial"/>
                <a:ea typeface="Arial"/>
                <a:cs typeface="Arial"/>
              </a:defRPr>
            </a:lvl1pPr>
            <a:lvl2pPr marL="0" marR="0" indent="0" algn="r">
              <a:spcBef>
                <a:spcPts val="0"/>
              </a:spcBef>
              <a:buNone/>
              <a:defRPr sz="700" b="0" i="0" u="none" strike="noStrike" cap="none">
                <a:solidFill>
                  <a:schemeClr val="accent6"/>
                </a:solidFill>
                <a:latin typeface="Arial"/>
                <a:ea typeface="Arial"/>
                <a:cs typeface="Arial"/>
              </a:defRPr>
            </a:lvl2pPr>
            <a:lvl3pPr marL="0" marR="0" indent="0" algn="r">
              <a:spcBef>
                <a:spcPts val="0"/>
              </a:spcBef>
              <a:buNone/>
              <a:defRPr sz="700" b="0" i="0" u="none" strike="noStrike" cap="none">
                <a:solidFill>
                  <a:schemeClr val="accent6"/>
                </a:solidFill>
                <a:latin typeface="Arial"/>
                <a:ea typeface="Arial"/>
                <a:cs typeface="Arial"/>
              </a:defRPr>
            </a:lvl3pPr>
            <a:lvl4pPr marL="0" marR="0" indent="0" algn="r">
              <a:spcBef>
                <a:spcPts val="0"/>
              </a:spcBef>
              <a:buNone/>
              <a:defRPr sz="700" b="0" i="0" u="none" strike="noStrike" cap="none">
                <a:solidFill>
                  <a:schemeClr val="accent6"/>
                </a:solidFill>
                <a:latin typeface="Arial"/>
                <a:ea typeface="Arial"/>
                <a:cs typeface="Arial"/>
              </a:defRPr>
            </a:lvl4pPr>
            <a:lvl5pPr marL="0" marR="0" indent="0" algn="r">
              <a:spcBef>
                <a:spcPts val="0"/>
              </a:spcBef>
              <a:buNone/>
              <a:defRPr sz="700" b="0" i="0" u="none" strike="noStrike" cap="none">
                <a:solidFill>
                  <a:schemeClr val="accent6"/>
                </a:solidFill>
                <a:latin typeface="Arial"/>
                <a:ea typeface="Arial"/>
                <a:cs typeface="Arial"/>
              </a:defRPr>
            </a:lvl5pPr>
            <a:lvl6pPr marL="0" marR="0" indent="0" algn="r">
              <a:spcBef>
                <a:spcPts val="0"/>
              </a:spcBef>
              <a:buNone/>
              <a:defRPr sz="700" b="0" i="0" u="none" strike="noStrike" cap="none">
                <a:solidFill>
                  <a:schemeClr val="accent6"/>
                </a:solidFill>
                <a:latin typeface="Arial"/>
                <a:ea typeface="Arial"/>
                <a:cs typeface="Arial"/>
              </a:defRPr>
            </a:lvl6pPr>
            <a:lvl7pPr marL="0" marR="0" indent="0" algn="r">
              <a:spcBef>
                <a:spcPts val="0"/>
              </a:spcBef>
              <a:buNone/>
              <a:defRPr sz="700" b="0" i="0" u="none" strike="noStrike" cap="none">
                <a:solidFill>
                  <a:schemeClr val="accent6"/>
                </a:solidFill>
                <a:latin typeface="Arial"/>
                <a:ea typeface="Arial"/>
                <a:cs typeface="Arial"/>
              </a:defRPr>
            </a:lvl7pPr>
            <a:lvl8pPr marL="0" marR="0" indent="0" algn="r">
              <a:spcBef>
                <a:spcPts val="0"/>
              </a:spcBef>
              <a:buNone/>
              <a:defRPr sz="700" b="0" i="0" u="none" strike="noStrike" cap="none">
                <a:solidFill>
                  <a:schemeClr val="accent6"/>
                </a:solidFill>
                <a:latin typeface="Arial"/>
                <a:ea typeface="Arial"/>
                <a:cs typeface="Arial"/>
              </a:defRPr>
            </a:lvl8pPr>
            <a:lvl9pPr marL="0" marR="0" indent="0" algn="r">
              <a:spcBef>
                <a:spcPts val="0"/>
              </a:spcBef>
              <a:buNone/>
              <a:defRPr sz="700" b="0" i="0" u="none" strike="noStrike" cap="none">
                <a:solidFill>
                  <a:schemeClr val="accent6"/>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5.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e21f05df05413d" /><Relationship Type="http://schemas.openxmlformats.org/officeDocument/2006/relationships/slideLayout" Target="/ppt/slideLayouts/slideLayout1.xml" Id="R427e3081a71b440b" /><Relationship Type="http://schemas.openxmlformats.org/officeDocument/2006/relationships/slideLayout" Target="/ppt/slideLayouts/slideLayout2.xml" Id="Rff97e8536b7648f2" /><Relationship Type="http://schemas.openxmlformats.org/officeDocument/2006/relationships/slideLayout" Target="/ppt/slideLayouts/slideLayout3.xml" Id="R93b132e5cab74a20" /><Relationship Type="http://schemas.openxmlformats.org/officeDocument/2006/relationships/slideLayout" Target="/ppt/slideLayouts/slideLayout4.xml" Id="Rcd88846157c1443b" /><Relationship Type="http://schemas.openxmlformats.org/officeDocument/2006/relationships/slideLayout" Target="/ppt/slideLayouts/slideLayout5.xml" Id="R0bf55018669f46df" /><Relationship Type="http://schemas.openxmlformats.org/officeDocument/2006/relationships/slideLayout" Target="/ppt/slideLayouts/slideLayout6.xml" Id="R51f9736582074ee8" /><Relationship Type="http://schemas.openxmlformats.org/officeDocument/2006/relationships/slideLayout" Target="/ppt/slideLayouts/slideLayout7.xml" Id="R533ede7da84d4996" /><Relationship Type="http://schemas.openxmlformats.org/officeDocument/2006/relationships/slideLayout" Target="/ppt/slideLayouts/slideLayout8.xml" Id="Rdb743977226a412b" /><Relationship Type="http://schemas.openxmlformats.org/officeDocument/2006/relationships/slideLayout" Target="/ppt/slideLayouts/slideLayout9.xml" Id="Rdb7906b700ee43d3" /><Relationship Type="http://schemas.openxmlformats.org/officeDocument/2006/relationships/slideLayout" Target="/ppt/slideLayouts/slideLayout10.xml" Id="R0ce7d7ffaba64081" /><Relationship Type="http://schemas.openxmlformats.org/officeDocument/2006/relationships/slideLayout" Target="/ppt/slideLayouts/slideLayout11.xml" Id="Rff4793fc4f90422c"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4304bf74e8074709" /><Relationship Type="http://schemas.openxmlformats.org/officeDocument/2006/relationships/slideLayout" Target="/ppt/slideLayouts/slideLayout12.xml" Id="R8a92ed765a024fcc" /><Relationship Type="http://schemas.openxmlformats.org/officeDocument/2006/relationships/slideLayout" Target="/ppt/slideLayouts/slideLayout13.xml" Id="R9c56e25d387e4774" /><Relationship Type="http://schemas.openxmlformats.org/officeDocument/2006/relationships/slideLayout" Target="/ppt/slideLayouts/slideLayout14.xml" Id="R78d99dd9f0be4c13" /><Relationship Type="http://schemas.openxmlformats.org/officeDocument/2006/relationships/slideLayout" Target="/ppt/slideLayouts/slideLayout15.xml" Id="Re93c25974e634b86"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2B6440E0-ADB7-412C-BB78-32401FD02C5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1E179435-2723-4DC4-9FAB-284F56F1FB20}"/>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9CE27C80-15AC-4278-9F0F-8F9CE5F974F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27e3081a71b440b"/>
    <p:sldLayoutId xmlns:r="http://schemas.openxmlformats.org/officeDocument/2006/relationships" id="2147483650" r:id="Rff97e8536b7648f2"/>
    <p:sldLayoutId xmlns:r="http://schemas.openxmlformats.org/officeDocument/2006/relationships" id="2147483651" r:id="R93b132e5cab74a20"/>
    <p:sldLayoutId xmlns:r="http://schemas.openxmlformats.org/officeDocument/2006/relationships" id="2147483652" r:id="Rcd88846157c1443b"/>
    <p:sldLayoutId xmlns:r="http://schemas.openxmlformats.org/officeDocument/2006/relationships" id="2147483653" r:id="R0bf55018669f46df"/>
    <p:sldLayoutId xmlns:r="http://schemas.openxmlformats.org/officeDocument/2006/relationships" id="2147483654" r:id="R51f9736582074ee8"/>
    <p:sldLayoutId xmlns:r="http://schemas.openxmlformats.org/officeDocument/2006/relationships" id="2147483655" r:id="R533ede7da84d4996"/>
    <p:sldLayoutId xmlns:r="http://schemas.openxmlformats.org/officeDocument/2006/relationships" id="2147483656" r:id="Rdb743977226a412b"/>
    <p:sldLayoutId xmlns:r="http://schemas.openxmlformats.org/officeDocument/2006/relationships" id="2147483657" r:id="Rdb7906b700ee43d3"/>
    <p:sldLayoutId xmlns:r="http://schemas.openxmlformats.org/officeDocument/2006/relationships" id="2147483658" r:id="R0ce7d7ffaba64081"/>
    <p:sldLayoutId xmlns:r="http://schemas.openxmlformats.org/officeDocument/2006/relationships" id="2147483659" r:id="Rff4793fc4f90422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F94C0214-EFAD-43AE-AEA7-1FFF5F73EDD4}"/>
              </a:ext>
            </a:extLst>
          </p:cNvPr>
          <p:cNvSpPr>
            <a:spLocks xmlns:a="http://schemas.openxmlformats.org/drawingml/2006/main" noGrp="1"/>
          </p:cNvSpPr>
          <p:nvPr>
            <p:ph type="sldNum" idx="12"/>
          </p:nvPr>
        </p:nvSpPr>
        <p:spPr>
          <a:xfrm xmlns:a="http://schemas.openxmlformats.org/drawingml/2006/main">
            <a:off x="8387334" y="4800600"/>
            <a:ext cx="3429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0" marR="0" indent="0" algn="r">
              <a:spcBef>
                <a:spcPts val="0"/>
              </a:spcBef>
              <a:buNone/>
              <a:defRPr sz="700" b="0" i="0" u="none" strike="noStrike" cap="none">
                <a:solidFill>
                  <a:schemeClr val="accent6"/>
                </a:solidFill>
                <a:latin typeface="Arial"/>
                <a:ea typeface="Arial"/>
                <a:cs typeface="Arial"/>
              </a:defRPr>
            </a:lvl1pPr>
            <a:lvl2pPr marL="0" marR="0" indent="0" algn="r">
              <a:spcBef>
                <a:spcPts val="0"/>
              </a:spcBef>
              <a:buNone/>
              <a:defRPr sz="700" b="0" i="0" u="none" strike="noStrike" cap="none">
                <a:solidFill>
                  <a:schemeClr val="accent6"/>
                </a:solidFill>
                <a:latin typeface="Arial"/>
                <a:ea typeface="Arial"/>
                <a:cs typeface="Arial"/>
              </a:defRPr>
            </a:lvl2pPr>
            <a:lvl3pPr marL="0" marR="0" indent="0" algn="r">
              <a:spcBef>
                <a:spcPts val="0"/>
              </a:spcBef>
              <a:buNone/>
              <a:defRPr sz="700" b="0" i="0" u="none" strike="noStrike" cap="none">
                <a:solidFill>
                  <a:schemeClr val="accent6"/>
                </a:solidFill>
                <a:latin typeface="Arial"/>
                <a:ea typeface="Arial"/>
                <a:cs typeface="Arial"/>
              </a:defRPr>
            </a:lvl3pPr>
            <a:lvl4pPr marL="0" marR="0" indent="0" algn="r">
              <a:spcBef>
                <a:spcPts val="0"/>
              </a:spcBef>
              <a:buNone/>
              <a:defRPr sz="700" b="0" i="0" u="none" strike="noStrike" cap="none">
                <a:solidFill>
                  <a:schemeClr val="accent6"/>
                </a:solidFill>
                <a:latin typeface="Arial"/>
                <a:ea typeface="Arial"/>
                <a:cs typeface="Arial"/>
              </a:defRPr>
            </a:lvl4pPr>
            <a:lvl5pPr marL="0" marR="0" indent="0" algn="r">
              <a:spcBef>
                <a:spcPts val="0"/>
              </a:spcBef>
              <a:buNone/>
              <a:defRPr sz="700" b="0" i="0" u="none" strike="noStrike" cap="none">
                <a:solidFill>
                  <a:schemeClr val="accent6"/>
                </a:solidFill>
                <a:latin typeface="Arial"/>
                <a:ea typeface="Arial"/>
                <a:cs typeface="Arial"/>
              </a:defRPr>
            </a:lvl5pPr>
            <a:lvl6pPr marL="0" marR="0" indent="0" algn="r">
              <a:spcBef>
                <a:spcPts val="0"/>
              </a:spcBef>
              <a:buNone/>
              <a:defRPr sz="700" b="0" i="0" u="none" strike="noStrike" cap="none">
                <a:solidFill>
                  <a:schemeClr val="accent6"/>
                </a:solidFill>
                <a:latin typeface="Arial"/>
                <a:ea typeface="Arial"/>
                <a:cs typeface="Arial"/>
              </a:defRPr>
            </a:lvl6pPr>
            <a:lvl7pPr marL="0" marR="0" indent="0" algn="r">
              <a:spcBef>
                <a:spcPts val="0"/>
              </a:spcBef>
              <a:buNone/>
              <a:defRPr sz="700" b="0" i="0" u="none" strike="noStrike" cap="none">
                <a:solidFill>
                  <a:schemeClr val="accent6"/>
                </a:solidFill>
                <a:latin typeface="Arial"/>
                <a:ea typeface="Arial"/>
                <a:cs typeface="Arial"/>
              </a:defRPr>
            </a:lvl7pPr>
            <a:lvl8pPr marL="0" marR="0" indent="0" algn="r">
              <a:spcBef>
                <a:spcPts val="0"/>
              </a:spcBef>
              <a:buNone/>
              <a:defRPr sz="700" b="0" i="0" u="none" strike="noStrike" cap="none">
                <a:solidFill>
                  <a:schemeClr val="accent6"/>
                </a:solidFill>
                <a:latin typeface="Arial"/>
                <a:ea typeface="Arial"/>
                <a:cs typeface="Arial"/>
              </a:defRPr>
            </a:lvl8pPr>
            <a:lvl9pPr marL="0" marR="0" indent="0" algn="r">
              <a:spcBef>
                <a:spcPts val="0"/>
              </a:spcBef>
              <a:buNone/>
              <a:defRPr sz="700" b="0" i="0" u="none" strike="noStrike" cap="none">
                <a:solidFill>
                  <a:schemeClr val="accent6"/>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8a92ed765a024fcc"/>
    <p:sldLayoutId xmlns:r="http://schemas.openxmlformats.org/officeDocument/2006/relationships" id="2147483662" r:id="R9c56e25d387e4774"/>
    <p:sldLayoutId xmlns:r="http://schemas.openxmlformats.org/officeDocument/2006/relationships" id="2147483663" r:id="R78d99dd9f0be4c13"/>
    <p:sldLayoutId xmlns:r="http://schemas.openxmlformats.org/officeDocument/2006/relationships" id="2147483664" r:id="Re93c25974e634b8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Antimarrulla IBM Dark">
  <a:themeElements>
    <a:clrScheme name="Antimarrulla IBM Dark">
      <a:dk1>
        <a:srgbClr val="0E0E13"/>
      </a:dk1>
      <a:lt1>
        <a:srgbClr val="FFFFFF"/>
      </a:lt1>
      <a:dk2>
        <a:srgbClr val="1A1A24"/>
      </a:dk2>
      <a:lt2>
        <a:srgbClr val="E0E0E0"/>
      </a:lt2>
      <a:accent1>
        <a:srgbClr val="0F62FE"/>
      </a:accent1>
      <a:accent2>
        <a:srgbClr val="24A148"/>
      </a:accent2>
      <a:accent3>
        <a:srgbClr val="FA4D56"/>
      </a:accent3>
      <a:accent4>
        <a:srgbClr val="F1C21B"/>
      </a:accent4>
      <a:accent5>
        <a:srgbClr val="78A9FF"/>
      </a:accent5>
      <a:accent6>
        <a:srgbClr val="8D8D8D"/>
      </a:accent6>
      <a:hlink>
        <a:srgbClr val="78A9FF"/>
      </a:hlink>
      <a:folHlink>
        <a:srgbClr val="A6C8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timarrulla IBM 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ae5af04311104e3c" /><Relationship Type="http://schemas.openxmlformats.org/officeDocument/2006/relationships/notesSlide" Target="/ppt/notesSlides/notesSlide1.xml" Id="Reea5dba2984e42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c96b1d7fc46b4516" /><Relationship Type="http://schemas.openxmlformats.org/officeDocument/2006/relationships/notesSlide" Target="/ppt/notesSlides/notesSlide2.xml" Id="R4280d0f647e348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23f7e9ba84584b9b" /><Relationship Type="http://schemas.openxmlformats.org/officeDocument/2006/relationships/notesSlide" Target="/ppt/notesSlides/notesSlide3.xml" Id="R264ba295838e49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b0a4fc2882ad4d60" /><Relationship Type="http://schemas.openxmlformats.org/officeDocument/2006/relationships/notesSlide" Target="/ppt/notesSlides/notesSlide4.xml" Id="R11106115dde04d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5ede58b82d614ec0" /><Relationship Type="http://schemas.openxmlformats.org/officeDocument/2006/relationships/notesSlide" Target="/ppt/notesSlides/notesSlide5.xml" Id="Rcab5446b805c47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69bfe52502b54f9d" /><Relationship Type="http://schemas.openxmlformats.org/officeDocument/2006/relationships/notesSlide" Target="/ppt/notesSlides/notesSlide6.xml" Id="R6f87d93e4f0048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b626cd69dd524b6c" /><Relationship Type="http://schemas.openxmlformats.org/officeDocument/2006/relationships/image" Target="/ppt/media/image4.png" Id="R99e135a2c01c4b40" /><Relationship Type="http://schemas.openxmlformats.org/officeDocument/2006/relationships/notesSlide" Target="/ppt/notesSlides/notesSlide7.xml" Id="R80b1d79c2d8d49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619035153087411e" /><Relationship Type="http://schemas.openxmlformats.org/officeDocument/2006/relationships/image" Target="/ppt/media/image5.png" Id="R9323357833424033" /><Relationship Type="http://schemas.openxmlformats.org/officeDocument/2006/relationships/notesSlide" Target="/ppt/notesSlides/notesSlide8.xml" Id="R0ee6de088f3446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7b935b5cf8024d3c" /><Relationship Type="http://schemas.openxmlformats.org/officeDocument/2006/relationships/image" Target="/ppt/media/image6.png" Id="Rd712194f85a840f1" /><Relationship Type="http://schemas.openxmlformats.org/officeDocument/2006/relationships/notesSlide" Target="/ppt/notesSlides/notesSlide9.xml" Id="Rfa6f6bf89fad46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672db534035d4d72" /><Relationship Type="http://schemas.openxmlformats.org/officeDocument/2006/relationships/image" Target="/ppt/media/image7.png" Id="R0dd1a9d6fb5643f6" /><Relationship Type="http://schemas.openxmlformats.org/officeDocument/2006/relationships/notesSlide" Target="/ppt/notesSlides/notesSlide10.xml" Id="R356dcb0652894f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2195f0ef976245b9" /><Relationship Type="http://schemas.openxmlformats.org/officeDocument/2006/relationships/image" Target="/ppt/media/image8.png" Id="Re494d2aee30d4e0a" /><Relationship Type="http://schemas.openxmlformats.org/officeDocument/2006/relationships/notesSlide" Target="/ppt/notesSlides/notesSlide11.xml" Id="Rcb90855779fa4c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2.xml" Id="R1ad7b1809a2c4267" /><Relationship Type="http://schemas.openxmlformats.org/officeDocument/2006/relationships/image" Target="/ppt/media/image9.png" Id="R76f6d0e18edb43b1" /><Relationship Type="http://schemas.openxmlformats.org/officeDocument/2006/relationships/notesSlide" Target="/ppt/notesSlides/notesSlide12.xml" Id="R0c0ba1a5d4a44c4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3.xml" Id="R752826dcb38d422a" /><Relationship Type="http://schemas.openxmlformats.org/officeDocument/2006/relationships/image" Target="/ppt/media/image10.png" Id="R6ab2d38981934e1c" /><Relationship Type="http://schemas.openxmlformats.org/officeDocument/2006/relationships/image" Target="/ppt/media/image11.png" Id="Re69bc665881c45d6" /><Relationship Type="http://schemas.openxmlformats.org/officeDocument/2006/relationships/image" Target="/ppt/media/image12.png" Id="Re5a95d3011fb4391" /><Relationship Type="http://schemas.openxmlformats.org/officeDocument/2006/relationships/notesSlide" Target="/ppt/notesSlides/notesSlide13.xml" Id="R9d3b6cbc484f41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3.xml" Id="R866bdfefd8ea4f18" /><Relationship Type="http://schemas.openxmlformats.org/officeDocument/2006/relationships/image" Target="/ppt/media/image13.png" Id="Ra43f1b4713de480f" /><Relationship Type="http://schemas.openxmlformats.org/officeDocument/2006/relationships/image" Target="/ppt/media/image14.png" Id="R89a703f7a2e74678" /><Relationship Type="http://schemas.openxmlformats.org/officeDocument/2006/relationships/image" Target="/ppt/media/image15.png" Id="R1161ae500f7645a0" /><Relationship Type="http://schemas.openxmlformats.org/officeDocument/2006/relationships/image" Target="/ppt/media/image16.png" Id="Rdedc723657014676" /><Relationship Type="http://schemas.openxmlformats.org/officeDocument/2006/relationships/image" Target="/ppt/media/image17.png" Id="R6bfb3efc5e4c429a" /><Relationship Type="http://schemas.openxmlformats.org/officeDocument/2006/relationships/image" Target="/ppt/media/image18.png" Id="R0cb8d5f6194d4218" /><Relationship Type="http://schemas.openxmlformats.org/officeDocument/2006/relationships/image" Target="/ppt/media/image10.png" Id="R2113494cfbf24000" /><Relationship Type="http://schemas.openxmlformats.org/officeDocument/2006/relationships/image" Target="/ppt/media/image19.png" Id="R2cc4a79c37494dfe" /><Relationship Type="http://schemas.openxmlformats.org/officeDocument/2006/relationships/notesSlide" Target="/ppt/notesSlides/notesSlide14.xml" Id="R091a3d7b26064b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3.xml" Id="Rb8fa4c373dc346d2" /><Relationship Type="http://schemas.openxmlformats.org/officeDocument/2006/relationships/image" Target="/ppt/media/image13.png" Id="Rf53757714c7f47f0" /><Relationship Type="http://schemas.openxmlformats.org/officeDocument/2006/relationships/image" Target="/ppt/media/image20.png" Id="R2aecdb9bc7a940e5" /><Relationship Type="http://schemas.openxmlformats.org/officeDocument/2006/relationships/image" Target="/ppt/media/image21.png" Id="R4764240ff9a044f6" /><Relationship Type="http://schemas.openxmlformats.org/officeDocument/2006/relationships/notesSlide" Target="/ppt/notesSlides/notesSlide15.xml" Id="R866244993042435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3.xml" Id="Ra7dac7c2303d41fd" /><Relationship Type="http://schemas.openxmlformats.org/officeDocument/2006/relationships/image" Target="/ppt/media/image22.png" Id="R9803439dcbf54e77" /><Relationship Type="http://schemas.openxmlformats.org/officeDocument/2006/relationships/image" Target="/ppt/media/image23.png" Id="R98a48827fc054236" /><Relationship Type="http://schemas.openxmlformats.org/officeDocument/2006/relationships/image" Target="/ppt/media/image24.png" Id="R2d518c4c33294b7b" /><Relationship Type="http://schemas.openxmlformats.org/officeDocument/2006/relationships/image" Target="/ppt/media/image11.png" Id="R4ed927c02110456c" /><Relationship Type="http://schemas.openxmlformats.org/officeDocument/2006/relationships/image" Target="/ppt/media/image25.png" Id="Rbe2ab07a36214c38" /><Relationship Type="http://schemas.openxmlformats.org/officeDocument/2006/relationships/notesSlide" Target="/ppt/notesSlides/notesSlide16.xml" Id="Rfc2c3ca1806c48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3.xml" Id="R0499ede085b244a8" /><Relationship Type="http://schemas.openxmlformats.org/officeDocument/2006/relationships/image" Target="/ppt/media/image26.png" Id="Rc3a93912af4049d8" /><Relationship Type="http://schemas.openxmlformats.org/officeDocument/2006/relationships/image" Target="/ppt/media/image19.png" Id="R6d3e1f8395584b97" /><Relationship Type="http://schemas.openxmlformats.org/officeDocument/2006/relationships/image" Target="/ppt/media/image16.png" Id="Rc01453d8ac714d7a" /><Relationship Type="http://schemas.openxmlformats.org/officeDocument/2006/relationships/image" Target="/ppt/media/image18.png" Id="R39d469a81b494c63" /><Relationship Type="http://schemas.openxmlformats.org/officeDocument/2006/relationships/image" Target="/ppt/media/image27.png" Id="Rc08442c02b47403a" /><Relationship Type="http://schemas.openxmlformats.org/officeDocument/2006/relationships/image" Target="/ppt/media/image28.png" Id="Rb19b0e36bcba4ae6" /><Relationship Type="http://schemas.openxmlformats.org/officeDocument/2006/relationships/image" Target="/ppt/media/image29.png" Id="R5eb18d8258144ec4" /><Relationship Type="http://schemas.openxmlformats.org/officeDocument/2006/relationships/image" Target="/ppt/media/image30.png" Id="R4f951b2feb8a401e" /><Relationship Type="http://schemas.openxmlformats.org/officeDocument/2006/relationships/notesSlide" Target="/ppt/notesSlides/notesSlide17.xml" Id="Rfb6d39c8db3745a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3.xml" Id="R5eff3e0a4f1b4a90" /><Relationship Type="http://schemas.openxmlformats.org/officeDocument/2006/relationships/image" Target="/ppt/media/image31.png" Id="Rdba90701f55f4ef1" /><Relationship Type="http://schemas.openxmlformats.org/officeDocument/2006/relationships/chart" Target="/ppt/slides/charts/chart1.xml" Id="R701693dbc0474c03" /><Relationship Type="http://schemas.openxmlformats.org/officeDocument/2006/relationships/notesSlide" Target="/ppt/notesSlides/notesSlide18.xml" Id="Rfc320b0fdb54480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4.xml" Id="Rd7c41959cd594a1b" /><Relationship Type="http://schemas.openxmlformats.org/officeDocument/2006/relationships/image" Target="/ppt/media/image32.png" Id="R20f808299cc64094" /><Relationship Type="http://schemas.openxmlformats.org/officeDocument/2006/relationships/image" Target="/ppt/media/image24.png" Id="R48fa70be8b8e4b20" /><Relationship Type="http://schemas.openxmlformats.org/officeDocument/2006/relationships/image" Target="/ppt/media/image31.png" Id="Ra4f755abb7d74018" /><Relationship Type="http://schemas.openxmlformats.org/officeDocument/2006/relationships/image" Target="/ppt/media/image33.png" Id="R9d08a9ebe82b4cff" /><Relationship Type="http://schemas.openxmlformats.org/officeDocument/2006/relationships/image" Target="/ppt/media/image9.png" Id="R9eb2097645884f76" /><Relationship Type="http://schemas.openxmlformats.org/officeDocument/2006/relationships/notesSlide" Target="/ppt/notesSlides/notesSlide19.xml" Id="Rccf4b103b93e41a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00">
                <a:solidFill>
                  <a:srgbClr val="FFFFFF"/>
                </a:solidFill>
              </a:rPr>
              <a:t>Illustrative smurfing: US$8,400 in 6 transfers</a:t>
            </a:r>
          </a:p>
        </c:rich>
      </c:tx>
      <c:overlay val="0"/>
      <c:txPr>
        <a:bodyPr xmlns:a="http://schemas.openxmlformats.org/drawingml/2006/main" anchorCtr="1"/>
        <a:lstStyle xmlns:a="http://schemas.openxmlformats.org/drawingml/2006/main"/>
        <a:p xmlns:a="http://schemas.openxmlformats.org/drawingml/2006/main">
          <a:pPr>
            <a:defRPr sz="900">
              <a:solidFill>
                <a:srgbClr val="FFFFFF"/>
              </a:solidFill>
            </a:defRPr>
          </a:pPr>
        </a:p>
      </c:txPr>
    </c:title>
    <c:plotArea>
      <c:barChart>
        <c:barDir val="col"/>
        <c:varyColors val="0"/>
        <c:ser>
          <c:idx val="0"/>
          <c:order val="0"/>
          <c:tx>
            <c:v>USD per transfer</c:v>
          </c:tx>
          <c:spPr>
            <a:solidFill xmlns:a="http://schemas.openxmlformats.org/drawingml/2006/main">
              <a:srgbClr val="F1C21B"/>
            </a:solidFill>
          </c:spPr>
          <c:invertIfNegative val="0"/>
          <c:cat>
            <c:numRef>
              <c:f>'Chart Data'!$A$2:$A$7</c:f>
              <c:numCache>
                <c:formatCode>General</c:formatCode>
                <c:ptCount val="6"/>
                <c:pt idx="0">
                  <c:v>1</c:v>
                </c:pt>
                <c:pt idx="1">
                  <c:v>2</c:v>
                </c:pt>
                <c:pt idx="2">
                  <c:v>3</c:v>
                </c:pt>
                <c:pt idx="3">
                  <c:v>4</c:v>
                </c:pt>
                <c:pt idx="4">
                  <c:v>5</c:v>
                </c:pt>
                <c:pt idx="5">
                  <c:v>6</c:v>
                </c:pt>
              </c:numCache>
            </c:numRef>
          </c:cat>
          <c:val>
            <c:numRef>
              <c:f>'Chart Data'!$B$2:$B$7</c:f>
              <c:numCache>
                <c:formatCode>General</c:formatCode>
                <c:ptCount val="6"/>
                <c:pt idx="0">
                  <c:v>1450</c:v>
                </c:pt>
                <c:pt idx="1">
                  <c:v>1380</c:v>
                </c:pt>
                <c:pt idx="2">
                  <c:v>1420</c:v>
                </c:pt>
                <c:pt idx="3">
                  <c:v>1300</c:v>
                </c:pt>
                <c:pt idx="4">
                  <c:v>1460</c:v>
                </c:pt>
                <c:pt idx="5">
                  <c:v>1390</c:v>
                </c:pt>
              </c:numCache>
            </c:numRef>
          </c:val>
        </c:ser>
        <c:dLbls>
          <c:txPr>
            <a:bodyPr xmlns:a="http://schemas.openxmlformats.org/drawingml/2006/main" anchorCtr="1"/>
            <a:lstStyle xmlns:a="http://schemas.openxmlformats.org/drawingml/2006/main"/>
            <a:p xmlns:a="http://schemas.openxmlformats.org/drawingml/2006/main">
              <a:pPr>
                <a:defRPr sz="750">
                  <a:solidFill>
                    <a:srgbClr val="D0D0D8"/>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D0D0D8"/>
                </a:solidFil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191923"/>
        </a:solidFill>
      </c:spPr>
    </c:plotArea>
    <c:plotVisOnly val="1"/>
  </c:chart>
  <c:spPr>
    <a:solidFill xmlns:a="http://schemas.openxmlformats.org/drawingml/2006/main">
      <a:srgbClr val="191923"/>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2" name="Google Shape;72;p18">
            <a:extLst xmlns:a="http://schemas.openxmlformats.org/drawingml/2006/main">
              <a:ext uri="{FF2B5EF4-FFF2-40B4-BE49-F238E27FC236}">
                <a16:creationId xmlns:a16="http://schemas.microsoft.com/office/drawing/2014/main" id="{77DAD5E1-A4C2-492F-B87C-F6C1F28BF25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lvl="0" indent="0" algn="l">
              <a:spcBef>
                <a:spcPts val="0"/>
              </a:spcBef>
              <a:spcAft>
                <a:spcPts val="0"/>
              </a:spcAft>
              <a:buSzPts val="990"/>
              <a:buNone/>
            </a:pPr>
            <a:r>
              <a:rPr sz="2320"/>
              <a:t>Proposal - Theme 1: Real-Time AI for Critical Decisions</a:t>
            </a:r>
            <a:endParaRPr sz="2320"/>
          </a:p>
        </p:txBody>
      </p:sp>
      <p:sp>
        <p:nvSpPr>
          <p:cNvPr id="73" name="Google Shape;73;p18">
            <a:extLst xmlns:a="http://schemas.openxmlformats.org/drawingml/2006/main">
              <a:ext uri="{FF2B5EF4-FFF2-40B4-BE49-F238E27FC236}">
                <a16:creationId xmlns:a16="http://schemas.microsoft.com/office/drawing/2014/main" id="{DB1F9964-E144-4054-9C73-F49FDEDB5C7E}"/>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1200"/>
              </a:spcBef>
              <a:spcAft>
                <a:spcPts val="0"/>
              </a:spcAft>
              <a:buClr>
                <a:schemeClr val="dk1"/>
              </a:buClr>
              <a:buSzPts val="1100"/>
              <a:buFont typeface="Arial"/>
              <a:buNone/>
            </a:pPr>
            <a:r>
              <a:rPr sz="1100" b="1">
                <a:solidFill>
                  <a:schemeClr val="dk1"/>
                </a:solidFill>
              </a:rPr>
              <a:t>1. SPEI Transfer Fraud Shield (Fraud Detection)</a:t>
            </a:r>
            <a:br>
              <a:rPr sz="1100" b="1">
                <a:solidFill>
                  <a:schemeClr val="dk1"/>
                </a:solidFill>
              </a:rPr>
            </a:br>
            <a:r>
              <a:rPr sz="1100">
                <a:solidFill>
                  <a:schemeClr val="dk1"/>
                </a:solidFill>
              </a:rPr>
              <a:t> Instant transfers through SPEI are fast and irreversible, which makes them a prime target for scams like fake sellers on Marketplace and “your account was compromised, transfer your money to this safe account” calls. Build a scoring engine that flags a transfer in real time based on new beneficiary, unusual amount, time of day, and recently created destination accounts, and then shows the user a warning (“This account was created 2 days ago and received 40 transfers today”) before they confirm. </a:t>
            </a:r>
            <a:r>
              <a:rPr sz="1100" i="1">
                <a:solidFill>
                  <a:schemeClr val="dk1"/>
                </a:solidFill>
              </a:rPr>
              <a:t>MVP:</a:t>
            </a:r>
            <a:r>
              <a:rPr sz="1100">
                <a:solidFill>
                  <a:schemeClr val="dk1"/>
                </a:solidFill>
              </a:rPr>
              <a:t> synthetic transaction stream, a simple model (Isolation Forest or rules plus XGBoost), and a mock banking app screen showing the intervention.</a:t>
            </a:r>
            <a:endParaRPr sz="1100">
              <a:solidFill>
                <a:schemeClr val="dk1"/>
              </a:solidFill>
            </a:endParaRPr>
          </a:p>
          <a:p xmlns:a="http://schemas.openxmlformats.org/drawingml/2006/main">
            <a:pPr marL="0" lvl="0" indent="0" algn="l">
              <a:spcBef>
                <a:spcPts val="1200"/>
              </a:spcBef>
              <a:spcAft>
                <a:spcPts val="1200"/>
              </a:spcAft>
              <a:buNone/>
            </a:pPr>
            <a:r>
              <a:t/>
            </a:r>
            <a:endParaRPr/>
          </a:p>
        </p:txBody>
      </p:sp>
    </p:spTree>
    <p:extLst>
      <p:ext uri="{BB962C8B-B14F-4D97-AF65-F5344CB8AC3E}">
        <p14:creationId xmlns:p14="http://schemas.microsoft.com/office/powerpoint/2010/main" val="148902978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8" name="Google Shape;78;p19">
            <a:extLst xmlns:a="http://schemas.openxmlformats.org/drawingml/2006/main">
              <a:ext uri="{FF2B5EF4-FFF2-40B4-BE49-F238E27FC236}">
                <a16:creationId xmlns:a16="http://schemas.microsoft.com/office/drawing/2014/main" id="{73E03F1B-FBDF-422E-BB91-D5B2F64E23AA}"/>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49962"/>
          </a:bodyPr>
          <a:lstStyle xmlns:a="http://schemas.openxmlformats.org/drawingml/2006/main"/>
          <a:p xmlns:a="http://schemas.openxmlformats.org/drawingml/2006/main">
            <a:pPr marL="0" lvl="0" indent="0" algn="l">
              <a:spcBef>
                <a:spcPts val="0"/>
              </a:spcBef>
              <a:spcAft>
                <a:spcPts val="0"/>
              </a:spcAft>
              <a:buNone/>
            </a:pPr>
            <a:r>
              <a:rPr sz="2320"/>
              <a:t>Proposal - Theme 1: Real-Time AI for Critical Decisions</a:t>
            </a:r>
            <a:endParaRPr sz="2320"/>
          </a:p>
          <a:p xmlns:a="http://schemas.openxmlformats.org/drawingml/2006/main">
            <a:pPr marL="0" lvl="0" indent="0" algn="l">
              <a:spcBef>
                <a:spcPts val="0"/>
              </a:spcBef>
              <a:spcAft>
                <a:spcPts val="0"/>
              </a:spcAft>
              <a:buNone/>
            </a:pPr>
            <a:r>
              <a:t/>
            </a:r>
          </a:p>
        </p:txBody>
      </p:sp>
      <p:sp>
        <p:nvSpPr>
          <p:cNvPr id="79" name="Google Shape;79;p19">
            <a:extLst xmlns:a="http://schemas.openxmlformats.org/drawingml/2006/main">
              <a:ext uri="{FF2B5EF4-FFF2-40B4-BE49-F238E27FC236}">
                <a16:creationId xmlns:a16="http://schemas.microsoft.com/office/drawing/2014/main" id="{D9681C9D-782E-46FA-8132-28C30863CDE5}"/>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pPr>
            <a:r>
              <a:rPr sz="1100" b="1">
                <a:solidFill>
                  <a:schemeClr val="dk1"/>
                </a:solidFill>
              </a:rPr>
              <a:t>3. ER Triage Assistant for Saturated Clinics (Healthcare Prioritisation)</a:t>
            </a:r>
            <a:endParaRPr sz="1100" b="1">
              <a:solidFill>
                <a:schemeClr val="dk1"/>
              </a:solidFill>
            </a:endParaRPr>
          </a:p>
          <a:p xmlns:a="http://schemas.openxmlformats.org/drawingml/2006/main">
            <a:pPr marL="0" lvl="0" indent="0" algn="l">
              <a:spcBef>
                <a:spcPts val="1200"/>
              </a:spcBef>
              <a:spcAft>
                <a:spcPts val="1200"/>
              </a:spcAft>
              <a:buNone/>
            </a:pPr>
            <a:r>
              <a:rPr sz="1100">
                <a:solidFill>
                  <a:schemeClr val="dk1"/>
                </a:solidFill>
              </a:rPr>
              <a:t>IMSS and ISSSTE emergency rooms are often overloaded and triage depends on manual judgment under pressure. Build a dashboard that takes vitals and symptoms at check-in and ranks the queue using a triage scale like Manchester, re-prioritizing in real time when someone’s vitals worsen. </a:t>
            </a:r>
            <a:r>
              <a:rPr sz="1100" i="1">
                <a:solidFill>
                  <a:schemeClr val="dk1"/>
                </a:solidFill>
              </a:rPr>
              <a:t>MVP:</a:t>
            </a:r>
            <a:r>
              <a:rPr sz="1100">
                <a:solidFill>
                  <a:schemeClr val="dk1"/>
                </a:solidFill>
              </a:rPr>
              <a:t> a simulated patient queue that reorders live, with an explanation for each priority level. Frame it as decision support for staff, not a replacement for clinicians.</a:t>
            </a:r>
            <a:endParaRPr sz="1300" b="1">
              <a:solidFill>
                <a:schemeClr val="dk1"/>
              </a:solidFill>
            </a:endParaRPr>
          </a:p>
        </p:txBody>
      </p:sp>
    </p:spTree>
    <p:extLst>
      <p:ext uri="{BB962C8B-B14F-4D97-AF65-F5344CB8AC3E}">
        <p14:creationId xmlns:p14="http://schemas.microsoft.com/office/powerpoint/2010/main" val="50888549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84" name="Google Shape;84;p20">
            <a:extLst xmlns:a="http://schemas.openxmlformats.org/drawingml/2006/main">
              <a:ext uri="{FF2B5EF4-FFF2-40B4-BE49-F238E27FC236}">
                <a16:creationId xmlns:a16="http://schemas.microsoft.com/office/drawing/2014/main" id="{009EB78D-6A8C-47EF-9602-04B2280E947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49962"/>
          </a:bodyPr>
          <a:lstStyle xmlns:a="http://schemas.openxmlformats.org/drawingml/2006/main"/>
          <a:p xmlns:a="http://schemas.openxmlformats.org/drawingml/2006/main">
            <a:pPr marL="0" lvl="0" indent="0" algn="l">
              <a:spcBef>
                <a:spcPts val="0"/>
              </a:spcBef>
              <a:spcAft>
                <a:spcPts val="0"/>
              </a:spcAft>
              <a:buNone/>
            </a:pPr>
            <a:r>
              <a:rPr sz="2320"/>
              <a:t>Proposal - Theme 1: Real-Time AI for Critical Decisions</a:t>
            </a:r>
            <a:endParaRPr sz="2320"/>
          </a:p>
          <a:p xmlns:a="http://schemas.openxmlformats.org/drawingml/2006/main">
            <a:pPr marL="0" lvl="0" indent="0" algn="l">
              <a:spcBef>
                <a:spcPts val="0"/>
              </a:spcBef>
              <a:spcAft>
                <a:spcPts val="0"/>
              </a:spcAft>
              <a:buNone/>
            </a:pPr>
            <a:r>
              <a:t/>
            </a:r>
          </a:p>
        </p:txBody>
      </p:sp>
      <p:sp>
        <p:nvSpPr>
          <p:cNvPr id="85" name="Google Shape;85;p20">
            <a:extLst xmlns:a="http://schemas.openxmlformats.org/drawingml/2006/main">
              <a:ext uri="{FF2B5EF4-FFF2-40B4-BE49-F238E27FC236}">
                <a16:creationId xmlns:a16="http://schemas.microsoft.com/office/drawing/2014/main" id="{944D1E09-3762-4DF1-8A03-D3C0EB6A2C16}"/>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pPr>
            <a:r>
              <a:rPr sz="1100" b="1">
                <a:solidFill>
                  <a:schemeClr val="dk1"/>
                </a:solidFill>
              </a:rPr>
              <a:t>5. Auto Insurance Claim Fraud Detector (Insurance Risk)</a:t>
            </a:r>
            <a:endParaRPr sz="1100" b="1">
              <a:solidFill>
                <a:schemeClr val="dk1"/>
              </a:solidFill>
            </a:endParaRPr>
          </a:p>
          <a:p xmlns:a="http://schemas.openxmlformats.org/drawingml/2006/main">
            <a:pPr marL="0" lvl="0" indent="0" algn="l">
              <a:spcBef>
                <a:spcPts val="1200"/>
              </a:spcBef>
              <a:spcAft>
                <a:spcPts val="1200"/>
              </a:spcAft>
              <a:buNone/>
            </a:pPr>
            <a:r>
              <a:rPr sz="1100">
                <a:solidFill>
                  <a:schemeClr val="dk1"/>
                </a:solidFill>
              </a:rPr>
              <a:t>Vehicle theft and staged accidents are common insurance fraud patterns in Mexico. Build a claim-intake system that flags suspicious claims: policy bought days before the incident, repeated workshops or adjusters, claim location inconsistent with history, or damage photos reused from the internet. </a:t>
            </a:r>
            <a:r>
              <a:rPr sz="1100" i="1">
                <a:solidFill>
                  <a:schemeClr val="dk1"/>
                </a:solidFill>
              </a:rPr>
              <a:t>MVP:</a:t>
            </a:r>
            <a:r>
              <a:rPr sz="1100">
                <a:solidFill>
                  <a:schemeClr val="dk1"/>
                </a:solidFill>
              </a:rPr>
              <a:t> claim form, risk score with reasons, and an image check using reverse search or perceptual hashing on uploaded photos.</a:t>
            </a:r>
            <a:endParaRPr sz="1100" b="1">
              <a:solidFill>
                <a:schemeClr val="dk1"/>
              </a:solidFill>
            </a:endParaRPr>
          </a:p>
        </p:txBody>
      </p:sp>
    </p:spTree>
    <p:extLst>
      <p:ext uri="{BB962C8B-B14F-4D97-AF65-F5344CB8AC3E}">
        <p14:creationId xmlns:p14="http://schemas.microsoft.com/office/powerpoint/2010/main" val="9940605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90" name="Google Shape;90;p21">
            <a:extLst xmlns:a="http://schemas.openxmlformats.org/drawingml/2006/main">
              <a:ext uri="{FF2B5EF4-FFF2-40B4-BE49-F238E27FC236}">
                <a16:creationId xmlns:a16="http://schemas.microsoft.com/office/drawing/2014/main" id="{834475B2-6A4A-470B-B961-90A40C7E00A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49962"/>
          </a:bodyPr>
          <a:lstStyle xmlns:a="http://schemas.openxmlformats.org/drawingml/2006/main"/>
          <a:p xmlns:a="http://schemas.openxmlformats.org/drawingml/2006/main">
            <a:pPr marL="0" lvl="0" indent="0" algn="l">
              <a:spcBef>
                <a:spcPts val="0"/>
              </a:spcBef>
              <a:spcAft>
                <a:spcPts val="0"/>
              </a:spcAft>
              <a:buNone/>
            </a:pPr>
            <a:r>
              <a:rPr sz="2320"/>
              <a:t>Proposal - Theme 1: Real-Time AI for Critical Decisions</a:t>
            </a:r>
            <a:endParaRPr sz="2320"/>
          </a:p>
          <a:p xmlns:a="http://schemas.openxmlformats.org/drawingml/2006/main">
            <a:pPr marL="0" lvl="0" indent="0" algn="l">
              <a:spcBef>
                <a:spcPts val="0"/>
              </a:spcBef>
              <a:spcAft>
                <a:spcPts val="0"/>
              </a:spcAft>
              <a:buNone/>
            </a:pPr>
            <a:r>
              <a:t/>
            </a:r>
          </a:p>
        </p:txBody>
      </p:sp>
      <p:sp>
        <p:nvSpPr>
          <p:cNvPr id="91" name="Google Shape;91;p21">
            <a:extLst xmlns:a="http://schemas.openxmlformats.org/drawingml/2006/main">
              <a:ext uri="{FF2B5EF4-FFF2-40B4-BE49-F238E27FC236}">
                <a16:creationId xmlns:a16="http://schemas.microsoft.com/office/drawing/2014/main" id="{EB5BF7A8-A73D-4A0F-8386-64E4CAFADD76}"/>
              </a:ext>
            </a:extLst>
          </p:cNvPr>
          <p:cNvSpPr>
            <a:spLocks xmlns:a="http://schemas.openxmlformats.org/drawingml/2006/main" noGrp="1"/>
          </p:cNvSpPr>
          <p:nvPr>
            <p:ph type="body" idx="1"/>
          </p:nvPr>
        </p:nvSpPr>
        <p:spPr>
          <a:xfrm xmlns:a="http://schemas.openxmlformats.org/drawingml/2006/main">
            <a:off x="311700" y="1152475"/>
            <a:ext cx="8520600" cy="1515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pPr>
            <a:r>
              <a:rPr sz="1100" b="1">
                <a:solidFill>
                  <a:schemeClr val="dk1"/>
                </a:solidFill>
              </a:rPr>
              <a:t>7. Border Crossing Delay Predictor (Supply Chain)</a:t>
            </a:r>
            <a:endParaRPr sz="1100" b="1">
              <a:solidFill>
                <a:schemeClr val="dk1"/>
              </a:solidFill>
            </a:endParaRPr>
          </a:p>
          <a:p xmlns:a="http://schemas.openxmlformats.org/drawingml/2006/main">
            <a:pPr marL="0" lvl="0" indent="0" algn="l">
              <a:spcBef>
                <a:spcPts val="1200"/>
              </a:spcBef>
              <a:spcAft>
                <a:spcPts val="1200"/>
              </a:spcAft>
              <a:buNone/>
            </a:pPr>
            <a:r>
              <a:rPr sz="1100">
                <a:solidFill>
                  <a:schemeClr val="dk1"/>
                </a:solidFill>
              </a:rPr>
              <a:t>Wait times at crossings like Laredo, Piedras Negras, and Reynosa can disrupt just-in-time manufacturing. Build a predictor that estimates crossing delays and recommends which crossing and departure time to use for each shipment. </a:t>
            </a:r>
            <a:r>
              <a:rPr sz="1100" i="1">
                <a:solidFill>
                  <a:schemeClr val="dk1"/>
                </a:solidFill>
              </a:rPr>
              <a:t>MVP:</a:t>
            </a:r>
            <a:r>
              <a:rPr sz="1100">
                <a:solidFill>
                  <a:schemeClr val="dk1"/>
                </a:solidFill>
              </a:rPr>
              <a:t> model trained on historical CBP wait-time data plus a recommendation dashboard for a logistics coordinator.</a:t>
            </a:r>
            <a:endParaRPr sz="1100" b="1">
              <a:solidFill>
                <a:schemeClr val="dk1"/>
              </a:solidFill>
            </a:endParaRPr>
          </a:p>
        </p:txBody>
      </p:sp>
      <p:sp>
        <p:nvSpPr>
          <p:cNvPr id="92" name="Google Shape;92;p21">
            <a:extLst xmlns:a="http://schemas.openxmlformats.org/drawingml/2006/main">
              <a:ext uri="{FF2B5EF4-FFF2-40B4-BE49-F238E27FC236}">
                <a16:creationId xmlns:a16="http://schemas.microsoft.com/office/drawing/2014/main" id="{5016F686-41FC-440D-9054-19A2CEE7CCC6}"/>
              </a:ext>
            </a:extLst>
          </p:cNvPr>
          <p:cNvSpPr>
            <a:spLocks xmlns:a="http://schemas.openxmlformats.org/drawingml/2006/main" noGrp="1"/>
          </p:cNvSpPr>
          <p:nvPr/>
        </p:nvSpPr>
        <p:spPr>
          <a:xfrm xmlns:a="http://schemas.openxmlformats.org/drawingml/2006/main">
            <a:off x="420950" y="2427200"/>
            <a:ext cx="365250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800">
                <a:solidFill>
                  <a:schemeClr val="dk2"/>
                </a:solidFill>
              </a:rPr>
              <a:t>Are historical datasets available?</a:t>
            </a:r>
            <a:endParaRPr sz="1800">
              <a:solidFill>
                <a:schemeClr val="dk2"/>
              </a:solidFill>
            </a:endParaRPr>
          </a:p>
        </p:txBody>
      </p:sp>
    </p:spTree>
    <p:extLst>
      <p:ext uri="{BB962C8B-B14F-4D97-AF65-F5344CB8AC3E}">
        <p14:creationId xmlns:p14="http://schemas.microsoft.com/office/powerpoint/2010/main" val="112714874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97" name="Google Shape;97;p22">
            <a:extLst xmlns:a="http://schemas.openxmlformats.org/drawingml/2006/main">
              <a:ext uri="{FF2B5EF4-FFF2-40B4-BE49-F238E27FC236}">
                <a16:creationId xmlns:a16="http://schemas.microsoft.com/office/drawing/2014/main" id="{C28EB758-990A-4D18-8321-0C4A3849859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0"/>
              </a:spcAft>
              <a:buSzPts val="990"/>
              <a:buNone/>
            </a:pPr>
            <a:r>
              <a:rPr sz="2320"/>
              <a:t>Theme 2: AI Secured – Innovation Without Exposure</a:t>
            </a:r>
            <a:endParaRPr sz="2320"/>
          </a:p>
        </p:txBody>
      </p:sp>
      <p:sp>
        <p:nvSpPr>
          <p:cNvPr id="98" name="Google Shape;98;p22">
            <a:extLst xmlns:a="http://schemas.openxmlformats.org/drawingml/2006/main">
              <a:ext uri="{FF2B5EF4-FFF2-40B4-BE49-F238E27FC236}">
                <a16:creationId xmlns:a16="http://schemas.microsoft.com/office/drawing/2014/main" id="{06308ABA-A1DA-46BA-82CF-A70B3204AFE3}"/>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0"/>
              </a:spcAft>
              <a:buNone/>
            </a:pPr>
            <a:r>
              <a:rPr sz="1100" b="1">
                <a:solidFill>
                  <a:schemeClr val="dk1"/>
                </a:solidFill>
              </a:rPr>
              <a:t>9. Personal Data Anonymizer for Mexican Documents (Sensitive Data Protection)</a:t>
            </a:r>
            <a:endParaRPr sz="1100" b="1">
              <a:solidFill>
                <a:schemeClr val="dk1"/>
              </a:solidFill>
            </a:endParaRPr>
          </a:p>
          <a:p xmlns:a="http://schemas.openxmlformats.org/drawingml/2006/main">
            <a:pPr marL="0" lvl="0" indent="0" algn="l">
              <a:spcBef>
                <a:spcPts val="1200"/>
              </a:spcBef>
              <a:spcAft>
                <a:spcPts val="1200"/>
              </a:spcAft>
              <a:buNone/>
            </a:pPr>
            <a:r>
              <a:rPr sz="1100">
                <a:solidFill>
                  <a:schemeClr val="dk1"/>
                </a:solidFill>
              </a:rPr>
              <a:t>Companies handle tons of documents containing CURP, RFC, INE numbers, CLABE accounts, and addresses, and they’re bound by Mexico’s personal data protection law. Build a tool that detects and masks Mexican-specific identifiers in documents and spreadsheets, while still allowing aggregate analysis (for example, revenue by state without exposing who). </a:t>
            </a:r>
            <a:r>
              <a:rPr sz="1100" i="1">
                <a:solidFill>
                  <a:schemeClr val="dk1"/>
                </a:solidFill>
              </a:rPr>
              <a:t>MVP:</a:t>
            </a:r>
            <a:r>
              <a:rPr sz="1100">
                <a:solidFill>
                  <a:schemeClr val="dk1"/>
                </a:solidFill>
              </a:rPr>
              <a:t> upload a PDF or CSV and get a redacted version plus a privacy report. Regex plus an NER model works well for CURP and RFC since they have predictable formats.</a:t>
            </a:r>
            <a:endParaRPr/>
          </a:p>
        </p:txBody>
      </p:sp>
    </p:spTree>
    <p:extLst>
      <p:ext uri="{BB962C8B-B14F-4D97-AF65-F5344CB8AC3E}">
        <p14:creationId xmlns:p14="http://schemas.microsoft.com/office/powerpoint/2010/main" val="209719860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3" name="Google Shape;103;p23">
            <a:extLst xmlns:a="http://schemas.openxmlformats.org/drawingml/2006/main">
              <a:ext uri="{FF2B5EF4-FFF2-40B4-BE49-F238E27FC236}">
                <a16:creationId xmlns:a16="http://schemas.microsoft.com/office/drawing/2014/main" id="{6F1090C7-5D03-4926-B838-2603B751E63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0"/>
              </a:spcAft>
              <a:buSzPts val="990"/>
              <a:buNone/>
            </a:pPr>
            <a:r>
              <a:rPr sz="2320"/>
              <a:t>Theme 2: AI Secured – Innovation Without Exposure</a:t>
            </a:r>
            <a:endParaRPr sz="2320"/>
          </a:p>
        </p:txBody>
      </p:sp>
      <p:sp>
        <p:nvSpPr>
          <p:cNvPr id="104" name="Google Shape;104;p23">
            <a:extLst xmlns:a="http://schemas.openxmlformats.org/drawingml/2006/main">
              <a:ext uri="{FF2B5EF4-FFF2-40B4-BE49-F238E27FC236}">
                <a16:creationId xmlns:a16="http://schemas.microsoft.com/office/drawing/2014/main" id="{E634DDF6-D479-45D8-A1AC-5BFE89BCF428}"/>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lvl="0" indent="0" algn="l">
              <a:spcBef>
                <a:spcPts val="0"/>
              </a:spcBef>
              <a:spcAft>
                <a:spcPts val="0"/>
              </a:spcAft>
              <a:buNone/>
            </a:pPr>
            <a:r>
              <a:rPr sz="1100" b="1">
                <a:solidFill>
                  <a:schemeClr val="dk1"/>
                </a:solidFill>
              </a:rPr>
              <a:t>10. Fake Invoice (CFDI) Detector (Cybersecurity / Fraud)</a:t>
            </a:r>
            <a:endParaRPr sz="1100" b="1">
              <a:solidFill>
                <a:schemeClr val="dk1"/>
              </a:solidFill>
            </a:endParaRPr>
          </a:p>
          <a:p xmlns:a="http://schemas.openxmlformats.org/drawingml/2006/main">
            <a:pPr marL="0" lvl="0" indent="0" algn="l">
              <a:spcBef>
                <a:spcPts val="0"/>
              </a:spcBef>
              <a:spcAft>
                <a:spcPts val="0"/>
              </a:spcAft>
              <a:buNone/>
            </a:pPr>
            <a:r>
              <a:rPr sz="1100" b="1">
                <a:solidFill>
                  <a:schemeClr val="dk1"/>
                </a:solidFill>
              </a:rPr>
              <a:t>“Shell companies” that sell fake invoices are a big tax fraud problem, and the SAT publishes a list of these companies (EFOS). Build a tool that analyzes a company’s received CFDI invoices and flags suppliers on the SAT list or with suspicious patterns like round amounts, newly registered RFCs, or vague concepts. MVP: upload XML invoices, cross-check against the public list, and show a risk report.</a:t>
            </a:r>
          </a:p>
        </p:txBody>
      </p:sp>
    </p:spTree>
    <p:extLst>
      <p:ext uri="{BB962C8B-B14F-4D97-AF65-F5344CB8AC3E}">
        <p14:creationId xmlns:p14="http://schemas.microsoft.com/office/powerpoint/2010/main" val="132175510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09" name="Google Shape;109;p24">
            <a:extLst xmlns:a="http://schemas.openxmlformats.org/drawingml/2006/main">
              <a:ext uri="{FF2B5EF4-FFF2-40B4-BE49-F238E27FC236}">
                <a16:creationId xmlns:a16="http://schemas.microsoft.com/office/drawing/2014/main" id="{425CA477-771E-485D-BF23-2385926B4E1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0"/>
              </a:spcAft>
              <a:buSzPts val="990"/>
              <a:buNone/>
            </a:pPr>
            <a:r>
              <a:rPr sz="2320"/>
              <a:t>Theme 2: AI Secured – Innovation Without Exposure</a:t>
            </a:r>
            <a:endParaRPr sz="2320"/>
          </a:p>
        </p:txBody>
      </p:sp>
      <p:sp>
        <p:nvSpPr>
          <p:cNvPr id="110" name="Google Shape;110;p24">
            <a:extLst xmlns:a="http://schemas.openxmlformats.org/drawingml/2006/main">
              <a:ext uri="{FF2B5EF4-FFF2-40B4-BE49-F238E27FC236}">
                <a16:creationId xmlns:a16="http://schemas.microsoft.com/office/drawing/2014/main" id="{ADAECF6C-EE78-4351-9084-68A0E17DA10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0"/>
              </a:spcAft>
              <a:buNone/>
            </a:pPr>
            <a:r>
              <a:rPr sz="1100" b="1">
                <a:solidFill>
                  <a:schemeClr val="dk1"/>
                </a:solidFill>
              </a:rPr>
              <a:t>14. Quantum-Readiness Scanner for Mexican Banks &amp; Fintechs (Quantum-Safe Security)</a:t>
            </a:r>
            <a:endParaRPr sz="1100" b="1">
              <a:solidFill>
                <a:schemeClr val="dk1"/>
              </a:solidFill>
            </a:endParaRPr>
          </a:p>
          <a:p xmlns:a="http://schemas.openxmlformats.org/drawingml/2006/main">
            <a:pPr marL="0" lvl="0" indent="0" algn="l">
              <a:spcBef>
                <a:spcPts val="1200"/>
              </a:spcBef>
              <a:spcAft>
                <a:spcPts val="1200"/>
              </a:spcAft>
              <a:buNone/>
            </a:pPr>
            <a:r>
              <a:rPr sz="1100">
                <a:solidFill>
                  <a:schemeClr val="dk1"/>
                </a:solidFill>
              </a:rPr>
              <a:t>Banks and fintechs regulated under the Ley Fintech handle data that needs to stay confidential for years, which makes “harvest now, decrypt later” attacks a real concern. Build a scanner that inspects a domain’s TLS configuration, certificates, and code repositories to find quantum-vulnerable cryptography (RSA, ECC) and produces a prioritized migration report toward the NIST post-quantum standards like ML-KEM. </a:t>
            </a:r>
            <a:r>
              <a:rPr sz="1100" i="1">
                <a:solidFill>
                  <a:schemeClr val="dk1"/>
                </a:solidFill>
              </a:rPr>
              <a:t>MVP:</a:t>
            </a:r>
            <a:r>
              <a:rPr sz="1100">
                <a:solidFill>
                  <a:schemeClr val="dk1"/>
                </a:solidFill>
              </a:rPr>
              <a:t> enter a URL or upload a repo, get a cryptographic inventory and risk score. This is technically impressive and very few teams pick this track, which can help you stand out.</a:t>
            </a:r>
            <a:endParaRPr sz="1100" b="1">
              <a:solidFill>
                <a:schemeClr val="dk1"/>
              </a:solidFill>
            </a:endParaRPr>
          </a:p>
        </p:txBody>
      </p:sp>
      <p:pic>
        <p:nvPicPr>
          <p:cNvPr id="111" name="Google Shape;111;p24">
            <a:extLst xmlns:a="http://schemas.openxmlformats.org/drawingml/2006/main">
              <a:ext uri="{FF2B5EF4-FFF2-40B4-BE49-F238E27FC236}">
                <a16:creationId xmlns:a16="http://schemas.microsoft.com/office/drawing/2014/main" id="{BBD6BAFE-EE5A-482F-8737-5CF8CEAE4835}"/>
              </a:ext>
            </a:extLst>
          </p:cNvPr>
          <p:cNvPicPr>
            <a:picLocks xmlns:a="http://schemas.openxmlformats.org/drawingml/2006/main" noChangeAspect="1"/>
          </p:cNvPicPr>
          <p:nvPr/>
        </p:nvPicPr>
        <p:blipFill>
          <a:blip xmlns:r="http://schemas.openxmlformats.org/officeDocument/2006/relationships" xmlns:a="http://schemas.openxmlformats.org/drawingml/2006/main" r:embed="R99e135a2c01c4b40">
            <a:alphaModFix/>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56767670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16" name="Google Shape;116;p25">
            <a:extLst xmlns:a="http://schemas.openxmlformats.org/drawingml/2006/main">
              <a:ext uri="{FF2B5EF4-FFF2-40B4-BE49-F238E27FC236}">
                <a16:creationId xmlns:a16="http://schemas.microsoft.com/office/drawing/2014/main" id="{5A213ADB-B18E-461F-BC66-4801B6CB4CC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7" name="Google Shape;117;p25">
            <a:extLst xmlns:a="http://schemas.openxmlformats.org/drawingml/2006/main">
              <a:ext uri="{FF2B5EF4-FFF2-40B4-BE49-F238E27FC236}">
                <a16:creationId xmlns:a16="http://schemas.microsoft.com/office/drawing/2014/main" id="{8086B2D9-0689-4A4A-B5E8-467B775A6878}"/>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1200"/>
              </a:spcAft>
              <a:buNone/>
            </a:pPr>
            <a:r>
              <a:t/>
            </a:r>
            <a:endParaRPr/>
          </a:p>
        </p:txBody>
      </p:sp>
      <p:pic>
        <p:nvPicPr>
          <p:cNvPr id="118" name="Google Shape;118;p25">
            <a:extLst xmlns:a="http://schemas.openxmlformats.org/drawingml/2006/main">
              <a:ext uri="{FF2B5EF4-FFF2-40B4-BE49-F238E27FC236}">
                <a16:creationId xmlns:a16="http://schemas.microsoft.com/office/drawing/2014/main" id="{45F0F436-C079-484F-923F-788F6B434038}"/>
              </a:ext>
            </a:extLst>
          </p:cNvPr>
          <p:cNvPicPr>
            <a:picLocks xmlns:a="http://schemas.openxmlformats.org/drawingml/2006/main" noChangeAspect="1"/>
          </p:cNvPicPr>
          <p:nvPr/>
        </p:nvPicPr>
        <p:blipFill>
          <a:blip xmlns:r="http://schemas.openxmlformats.org/officeDocument/2006/relationships" xmlns:a="http://schemas.openxmlformats.org/drawingml/2006/main" r:embed="R9323357833424033">
            <a:alphaModFix/>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4723248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23" name="Google Shape;123;p26">
            <a:extLst xmlns:a="http://schemas.openxmlformats.org/drawingml/2006/main">
              <a:ext uri="{FF2B5EF4-FFF2-40B4-BE49-F238E27FC236}">
                <a16:creationId xmlns:a16="http://schemas.microsoft.com/office/drawing/2014/main" id="{8EACBA5A-9F9D-47B8-B148-E2C8BAA305D1}"/>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4" name="Google Shape;124;p26">
            <a:extLst xmlns:a="http://schemas.openxmlformats.org/drawingml/2006/main">
              <a:ext uri="{FF2B5EF4-FFF2-40B4-BE49-F238E27FC236}">
                <a16:creationId xmlns:a16="http://schemas.microsoft.com/office/drawing/2014/main" id="{2CE100E2-C6E7-49C0-B837-9B9C6E891F33}"/>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1200"/>
              </a:spcAft>
              <a:buNone/>
            </a:pPr>
            <a:r>
              <a:t/>
            </a:r>
            <a:endParaRPr/>
          </a:p>
        </p:txBody>
      </p:sp>
      <p:pic>
        <p:nvPicPr>
          <p:cNvPr id="125" name="Google Shape;125;p26">
            <a:extLst xmlns:a="http://schemas.openxmlformats.org/drawingml/2006/main">
              <a:ext uri="{FF2B5EF4-FFF2-40B4-BE49-F238E27FC236}">
                <a16:creationId xmlns:a16="http://schemas.microsoft.com/office/drawing/2014/main" id="{F2F342EA-636A-4717-B9A5-EE7B0A35C942}"/>
              </a:ext>
            </a:extLst>
          </p:cNvPr>
          <p:cNvPicPr>
            <a:picLocks xmlns:a="http://schemas.openxmlformats.org/drawingml/2006/main" noChangeAspect="1"/>
          </p:cNvPicPr>
          <p:nvPr/>
        </p:nvPicPr>
        <p:blipFill>
          <a:blip xmlns:r="http://schemas.openxmlformats.org/officeDocument/2006/relationships" xmlns:a="http://schemas.openxmlformats.org/drawingml/2006/main" r:embed="Rd712194f85a840f1">
            <a:alphaModFix/>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3993144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30" name="Google Shape;130;p27">
            <a:extLst xmlns:a="http://schemas.openxmlformats.org/drawingml/2006/main">
              <a:ext uri="{FF2B5EF4-FFF2-40B4-BE49-F238E27FC236}">
                <a16:creationId xmlns:a16="http://schemas.microsoft.com/office/drawing/2014/main" id="{696C1C15-BE6B-4D6A-BC81-D3A6586E35F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1" name="Google Shape;131;p27">
            <a:extLst xmlns:a="http://schemas.openxmlformats.org/drawingml/2006/main">
              <a:ext uri="{FF2B5EF4-FFF2-40B4-BE49-F238E27FC236}">
                <a16:creationId xmlns:a16="http://schemas.microsoft.com/office/drawing/2014/main" id="{968337DA-37B2-47E6-8003-CD60368778BA}"/>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1200"/>
              </a:spcAft>
              <a:buNone/>
            </a:pPr>
            <a:r>
              <a:t/>
            </a:r>
            <a:endParaRPr/>
          </a:p>
        </p:txBody>
      </p:sp>
      <p:pic>
        <p:nvPicPr>
          <p:cNvPr id="132" name="Google Shape;132;p27">
            <a:extLst xmlns:a="http://schemas.openxmlformats.org/drawingml/2006/main">
              <a:ext uri="{FF2B5EF4-FFF2-40B4-BE49-F238E27FC236}">
                <a16:creationId xmlns:a16="http://schemas.microsoft.com/office/drawing/2014/main" id="{70FFCE8A-A003-492F-ABCA-D665B89A0A1A}"/>
              </a:ext>
            </a:extLst>
          </p:cNvPr>
          <p:cNvPicPr>
            <a:picLocks xmlns:a="http://schemas.openxmlformats.org/drawingml/2006/main" noChangeAspect="1"/>
          </p:cNvPicPr>
          <p:nvPr/>
        </p:nvPicPr>
        <p:blipFill>
          <a:blip xmlns:r="http://schemas.openxmlformats.org/officeDocument/2006/relationships" xmlns:a="http://schemas.openxmlformats.org/drawingml/2006/main" r:embed="R0dd1a9d6fb5643f6">
            <a:alphaModFix/>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3900824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7" name="Google Shape;137;p28">
            <a:extLst xmlns:a="http://schemas.openxmlformats.org/drawingml/2006/main">
              <a:ext uri="{FF2B5EF4-FFF2-40B4-BE49-F238E27FC236}">
                <a16:creationId xmlns:a16="http://schemas.microsoft.com/office/drawing/2014/main" id="{50E4BDCF-7750-40C3-97F3-912C2722079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8" name="Google Shape;138;p28">
            <a:extLst xmlns:a="http://schemas.openxmlformats.org/drawingml/2006/main">
              <a:ext uri="{FF2B5EF4-FFF2-40B4-BE49-F238E27FC236}">
                <a16:creationId xmlns:a16="http://schemas.microsoft.com/office/drawing/2014/main" id="{5ED588FD-D42B-4233-916E-DB97F8792E82}"/>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1200"/>
              </a:spcAft>
              <a:buNone/>
            </a:pPr>
            <a:r>
              <a:t/>
            </a:r>
            <a:endParaRPr/>
          </a:p>
        </p:txBody>
      </p:sp>
      <p:pic>
        <p:nvPicPr>
          <p:cNvPr id="139" name="Google Shape;139;p28">
            <a:extLst xmlns:a="http://schemas.openxmlformats.org/drawingml/2006/main">
              <a:ext uri="{FF2B5EF4-FFF2-40B4-BE49-F238E27FC236}">
                <a16:creationId xmlns:a16="http://schemas.microsoft.com/office/drawing/2014/main" id="{38E4FF2B-F107-4372-AB39-73E14BABBC16}"/>
              </a:ext>
            </a:extLst>
          </p:cNvPr>
          <p:cNvPicPr>
            <a:picLocks xmlns:a="http://schemas.openxmlformats.org/drawingml/2006/main" noChangeAspect="1"/>
          </p:cNvPicPr>
          <p:nvPr/>
        </p:nvPicPr>
        <p:blipFill>
          <a:blip xmlns:r="http://schemas.openxmlformats.org/officeDocument/2006/relationships" xmlns:a="http://schemas.openxmlformats.org/drawingml/2006/main" r:embed="Re494d2aee30d4e0a">
            <a:alphaModFix/>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94908007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45" name="Google Shape;145;p29">
            <a:extLst xmlns:a="http://schemas.openxmlformats.org/drawingml/2006/main">
              <a:ext uri="{FF2B5EF4-FFF2-40B4-BE49-F238E27FC236}">
                <a16:creationId xmlns:a16="http://schemas.microsoft.com/office/drawing/2014/main" id="{253CC55D-2DC8-4007-905F-6A4C8984221B}"/>
              </a:ext>
            </a:extLst>
          </p:cNvPr>
          <p:cNvSpPr>
            <a:spLocks xmlns:a="http://schemas.openxmlformats.org/drawingml/2006/main" noGrp="1"/>
          </p:cNvSpPr>
          <p:nvPr/>
        </p:nvSpPr>
        <p:spPr>
          <a:xfrm xmlns:a="http://schemas.openxmlformats.org/drawingml/2006/main">
            <a:off x="480060" y="1028700"/>
            <a:ext cx="5212080" cy="2400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accent5"/>
              </a:buClr>
              <a:buSzPts val="1100"/>
              <a:buFont typeface="Arial"/>
              <a:buNone/>
            </a:pPr>
            <a:r>
              <a:rPr sz="1100" b="1" i="0" u="none" strike="noStrike" cap="none">
                <a:solidFill>
                  <a:schemeClr val="accent5"/>
                </a:solidFill>
                <a:latin typeface="Arial"/>
                <a:ea typeface="Arial"/>
                <a:cs typeface="Arial"/>
              </a:rPr>
              <a:t>IBM Z DATATHON 2026  ·  THEME 2: AI SECURED</a:t>
            </a:r>
            <a:endParaRPr sz="1100" b="0" i="0" u="none" strike="noStrike" cap="none">
              <a:solidFill>
                <a:schemeClr val="dk1"/>
              </a:solidFill>
              <a:latin typeface="Arial"/>
              <a:ea typeface="Arial"/>
              <a:cs typeface="Arial"/>
            </a:endParaRPr>
          </a:p>
        </p:txBody>
      </p:sp>
      <p:sp>
        <p:nvSpPr>
          <p:cNvPr id="146" name="Google Shape;146;p29">
            <a:extLst xmlns:a="http://schemas.openxmlformats.org/drawingml/2006/main">
              <a:ext uri="{FF2B5EF4-FFF2-40B4-BE49-F238E27FC236}">
                <a16:creationId xmlns:a16="http://schemas.microsoft.com/office/drawing/2014/main" id="{E6B4EC4D-58BE-46FF-BF2A-52BB7DBC19A5}"/>
              </a:ext>
            </a:extLst>
          </p:cNvPr>
          <p:cNvSpPr>
            <a:spLocks xmlns:a="http://schemas.openxmlformats.org/drawingml/2006/main" noGrp="1"/>
          </p:cNvSpPr>
          <p:nvPr>
            <p:ph type="title" idx="0"/>
          </p:nvPr>
        </p:nvSpPr>
        <p:spPr>
          <a:xfrm xmlns:a="http://schemas.openxmlformats.org/drawingml/2006/main">
            <a:off x="480060" y="1337310"/>
            <a:ext cx="521208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Clr>
                <a:schemeClr val="lt1"/>
              </a:buClr>
              <a:buSzPts val="4500"/>
              <a:buFont typeface="Arial"/>
              <a:buNone/>
            </a:pPr>
            <a:r>
              <a:rPr sz="4500" b="1">
                <a:solidFill>
                  <a:schemeClr val="lt1"/>
                </a:solidFill>
              </a:rPr>
              <a:t>Los Antimarrulla</a:t>
            </a:r>
            <a:endParaRPr sz="4500"/>
          </a:p>
        </p:txBody>
      </p:sp>
      <p:sp>
        <p:nvSpPr>
          <p:cNvPr id="147" name="Google Shape;147;p29">
            <a:extLst xmlns:a="http://schemas.openxmlformats.org/drawingml/2006/main">
              <a:ext uri="{FF2B5EF4-FFF2-40B4-BE49-F238E27FC236}">
                <a16:creationId xmlns:a16="http://schemas.microsoft.com/office/drawing/2014/main" id="{3A7FC032-1F12-41E0-8956-3D1256B6950A}"/>
              </a:ext>
            </a:extLst>
          </p:cNvPr>
          <p:cNvSpPr>
            <a:spLocks xmlns:a="http://schemas.openxmlformats.org/drawingml/2006/main" noGrp="1"/>
          </p:cNvSpPr>
          <p:nvPr>
            <p:ph type="body" idx="1"/>
          </p:nvPr>
        </p:nvSpPr>
        <p:spPr>
          <a:xfrm xmlns:a="http://schemas.openxmlformats.org/drawingml/2006/main">
            <a:off x="480060" y="2228850"/>
            <a:ext cx="4937760" cy="445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Clr>
                <a:schemeClr val="lt2"/>
              </a:buClr>
              <a:buSzPts val="2300"/>
              <a:buNone/>
            </a:pPr>
            <a:r>
              <a:rPr sz="2300">
                <a:solidFill>
                  <a:schemeClr val="lt2"/>
                </a:solidFill>
              </a:rPr>
              <a:t>Transfers without borders</a:t>
            </a:r>
            <a:endParaRPr sz="2300"/>
          </a:p>
        </p:txBody>
      </p:sp>
      <p:sp>
        <p:nvSpPr>
          <p:cNvPr id="148" name="Google Shape;148;p29">
            <a:extLst xmlns:a="http://schemas.openxmlformats.org/drawingml/2006/main">
              <a:ext uri="{FF2B5EF4-FFF2-40B4-BE49-F238E27FC236}">
                <a16:creationId xmlns:a16="http://schemas.microsoft.com/office/drawing/2014/main" id="{91CCD0A0-7574-4355-B3D6-ABFF13865D23}"/>
              </a:ext>
            </a:extLst>
          </p:cNvPr>
          <p:cNvSpPr>
            <a:spLocks xmlns:a="http://schemas.openxmlformats.org/drawingml/2006/main" noGrp="1"/>
          </p:cNvSpPr>
          <p:nvPr/>
        </p:nvSpPr>
        <p:spPr>
          <a:xfrm xmlns:a="http://schemas.openxmlformats.org/drawingml/2006/main">
            <a:off x="480060" y="2777490"/>
            <a:ext cx="45262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1200"/>
              <a:buFont typeface="Arial"/>
              <a:buNone/>
            </a:pPr>
            <a:r>
              <a:rPr sz="1200" b="0" i="0" u="none" strike="noStrike" cap="none">
                <a:solidFill>
                  <a:schemeClr val="lt2"/>
                </a:solidFill>
                <a:latin typeface="Arial"/>
                <a:ea typeface="Arial"/>
                <a:cs typeface="Arial"/>
              </a:rPr>
              <a:t>Proposed fast, fee-free remittances protected by encryption and AI on LinuxONE</a:t>
            </a:r>
            <a:endParaRPr sz="1200" b="0" i="0" u="none" strike="noStrike" cap="none">
              <a:solidFill>
                <a:schemeClr val="dk1"/>
              </a:solidFill>
              <a:latin typeface="Arial"/>
              <a:ea typeface="Arial"/>
              <a:cs typeface="Arial"/>
            </a:endParaRPr>
          </a:p>
        </p:txBody>
      </p:sp>
      <p:pic>
        <p:nvPicPr>
          <p:cNvPr id="149" name="Google Shape;149;p29">
            <a:extLst xmlns:a="http://schemas.openxmlformats.org/drawingml/2006/main">
              <a:ext uri="{FF2B5EF4-FFF2-40B4-BE49-F238E27FC236}">
                <a16:creationId xmlns:a16="http://schemas.microsoft.com/office/drawing/2014/main" id="{74B192F3-5AEB-429F-AF72-A707E3A9521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6f6d0e18edb43b1">
            <a:alphaModFix/>
          </a:blip>
          <a:srcRect xmlns:a="http://schemas.openxmlformats.org/drawingml/2006/main" l="0" t="0" r="0" b="0"/>
          <a:stretch xmlns:a="http://schemas.openxmlformats.org/drawingml/2006/main"/>
        </p:blipFill>
        <p:spPr>
          <a:xfrm xmlns:a="http://schemas.openxmlformats.org/drawingml/2006/main">
            <a:off x="480060" y="3634740"/>
            <a:ext cx="891540" cy="891540"/>
          </a:xfrm>
          <a:prstGeom xmlns:a="http://schemas.openxmlformats.org/drawingml/2006/main" prst="rect">
            <a:avLst/>
          </a:prstGeom>
          <a:ln xmlns:a="http://schemas.openxmlformats.org/drawingml/2006/main">
            <a:noFill/>
          </a:ln>
        </p:spPr>
      </p:pic>
      <p:sp>
        <p:nvSpPr>
          <p:cNvPr id="150" name="Google Shape;150;p29">
            <a:extLst xmlns:a="http://schemas.openxmlformats.org/drawingml/2006/main">
              <a:ext uri="{FF2B5EF4-FFF2-40B4-BE49-F238E27FC236}">
                <a16:creationId xmlns:a16="http://schemas.microsoft.com/office/drawing/2014/main" id="{28993C6B-C83D-4B13-ADD3-D56F344ADEF9}"/>
              </a:ext>
            </a:extLst>
          </p:cNvPr>
          <p:cNvSpPr>
            <a:spLocks xmlns:a="http://schemas.openxmlformats.org/drawingml/2006/main" noGrp="1"/>
          </p:cNvSpPr>
          <p:nvPr/>
        </p:nvSpPr>
        <p:spPr>
          <a:xfrm xmlns:a="http://schemas.openxmlformats.org/drawingml/2006/main">
            <a:off x="1508760" y="3771900"/>
            <a:ext cx="425196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0" i="0" u="none" strike="noStrike" cap="none">
                <a:solidFill>
                  <a:schemeClr val="lt1"/>
                </a:solidFill>
                <a:latin typeface="Arial"/>
                <a:ea typeface="Arial"/>
                <a:cs typeface="Arial"/>
              </a:rPr>
              <a:t>Javier Augusto Rebull Saucedo · Álvaro Hernández Jarquín</a:t>
            </a:r>
            <a:endParaRPr sz="900" b="0" i="0" u="none" strike="noStrike" cap="none">
              <a:solidFill>
                <a:schemeClr val="dk1"/>
              </a:solidFill>
              <a:latin typeface="Arial"/>
              <a:ea typeface="Arial"/>
              <a:cs typeface="Arial"/>
            </a:endParaRPr>
          </a:p>
          <a:p xmlns:a="http://schemas.openxmlformats.org/drawingml/2006/main">
            <a:pPr marL="0" marR="0" lvl="0" indent="0" algn="l">
              <a:spcBef>
                <a:spcPts val="0"/>
              </a:spcBef>
              <a:spcAft>
                <a:spcPts val="0"/>
              </a:spcAft>
              <a:buClr>
                <a:schemeClr val="lt1"/>
              </a:buClr>
              <a:buSzPts val="900"/>
              <a:buFont typeface="Arial"/>
              <a:buNone/>
            </a:pPr>
            <a:r>
              <a:rPr sz="900" b="0" i="0" u="none" strike="noStrike" cap="none">
                <a:solidFill>
                  <a:schemeClr val="lt1"/>
                </a:solidFill>
                <a:latin typeface="Arial"/>
                <a:ea typeface="Arial"/>
                <a:cs typeface="Arial"/>
              </a:rPr>
              <a:t>Carlos Enrique Gonzalez Moran · Yazmin Ivonne Flores Martinez</a:t>
            </a:r>
          </a:p>
          <a:p xmlns:a="http://schemas.openxmlformats.org/drawingml/2006/main">
            <a:pPr marL="0" marR="0" lvl="0" indent="0" algn="l">
              <a:spcBef>
                <a:spcPts val="0"/>
              </a:spcBef>
              <a:spcAft>
                <a:spcPts val="0"/>
              </a:spcAft>
              <a:buClr>
                <a:schemeClr val="lt1"/>
              </a:buClr>
              <a:buSzPts val="900"/>
              <a:buFont typeface="Arial"/>
              <a:buNone/>
            </a:pPr>
            <a:r>
              <a:rPr sz="900" b="0" i="0" u="none" strike="noStrike" cap="none">
                <a:solidFill>
                  <a:schemeClr val="lt1"/>
                </a:solidFill>
                <a:latin typeface="Arial"/>
                <a:ea typeface="Arial"/>
                <a:cs typeface="Arial"/>
              </a:rPr>
              <a:t>UACJ · Master’s in AI and Data Analytics (MIAAD)</a:t>
            </a:r>
          </a:p>
        </p:txBody>
      </p:sp>
      <p:sp>
        <p:nvSpPr>
          <p:cNvPr id="151" name="Google Shape;151;p29">
            <a:extLst xmlns:a="http://schemas.openxmlformats.org/drawingml/2006/main">
              <a:ext uri="{FF2B5EF4-FFF2-40B4-BE49-F238E27FC236}">
                <a16:creationId xmlns:a16="http://schemas.microsoft.com/office/drawing/2014/main" id="{C4AC7D04-FB45-4796-A117-BF0F35263F91}"/>
              </a:ext>
            </a:extLst>
          </p:cNvPr>
          <p:cNvSpPr>
            <a:spLocks xmlns:a="http://schemas.openxmlformats.org/drawingml/2006/main" noGrp="1"/>
          </p:cNvSpPr>
          <p:nvPr/>
        </p:nvSpPr>
        <p:spPr>
          <a:xfrm xmlns:a="http://schemas.openxmlformats.org/drawingml/2006/main">
            <a:off x="6412230" y="1337310"/>
            <a:ext cx="96012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1" i="0" u="none" strike="noStrike" cap="none">
                <a:solidFill>
                  <a:schemeClr val="lt1"/>
                </a:solidFill>
                <a:latin typeface="Arial"/>
                <a:ea typeface="Arial"/>
                <a:cs typeface="Arial"/>
              </a:rPr>
              <a:t>United States</a:t>
            </a:r>
            <a:endParaRPr sz="900" b="0" i="0" u="none" strike="noStrike" cap="none">
              <a:solidFill>
                <a:schemeClr val="dk1"/>
              </a:solidFill>
              <a:latin typeface="Arial"/>
              <a:ea typeface="Arial"/>
              <a:cs typeface="Arial"/>
            </a:endParaRPr>
          </a:p>
        </p:txBody>
      </p:sp>
      <p:sp>
        <p:nvSpPr>
          <p:cNvPr id="152" name="Google Shape;152;p29">
            <a:extLst xmlns:a="http://schemas.openxmlformats.org/drawingml/2006/main">
              <a:ext uri="{FF2B5EF4-FFF2-40B4-BE49-F238E27FC236}">
                <a16:creationId xmlns:a16="http://schemas.microsoft.com/office/drawing/2014/main" id="{5752AC11-39DB-4BE9-9117-A7714552098D}"/>
              </a:ext>
            </a:extLst>
          </p:cNvPr>
          <p:cNvSpPr>
            <a:spLocks xmlns:a="http://schemas.openxmlformats.org/drawingml/2006/main" noGrp="1"/>
          </p:cNvSpPr>
          <p:nvPr/>
        </p:nvSpPr>
        <p:spPr>
          <a:xfrm xmlns:a="http://schemas.openxmlformats.org/drawingml/2006/main">
            <a:off x="5911596" y="2811780"/>
            <a:ext cx="96012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1" i="0" u="none" strike="noStrike" cap="none">
                <a:solidFill>
                  <a:schemeClr val="lt1"/>
                </a:solidFill>
                <a:latin typeface="Arial"/>
                <a:ea typeface="Arial"/>
                <a:cs typeface="Arial"/>
              </a:rPr>
              <a:t>Mexico</a:t>
            </a:r>
            <a:endParaRPr sz="900" b="0" i="0" u="none" strike="noStrike" cap="none">
              <a:solidFill>
                <a:schemeClr val="dk1"/>
              </a:solidFill>
              <a:latin typeface="Arial"/>
              <a:ea typeface="Arial"/>
              <a:cs typeface="Arial"/>
            </a:endParaRPr>
          </a:p>
        </p:txBody>
      </p:sp>
      <p:sp>
        <p:nvSpPr>
          <p:cNvPr id="153" name="Google Shape;153;p29">
            <a:extLst xmlns:a="http://schemas.openxmlformats.org/drawingml/2006/main">
              <a:ext uri="{FF2B5EF4-FFF2-40B4-BE49-F238E27FC236}">
                <a16:creationId xmlns:a16="http://schemas.microsoft.com/office/drawing/2014/main" id="{2A7ABAE4-083C-435E-97EF-183FA9547B78}"/>
              </a:ext>
            </a:extLst>
          </p:cNvPr>
          <p:cNvSpPr>
            <a:spLocks xmlns:a="http://schemas.openxmlformats.org/drawingml/2006/main" noGrp="1"/>
          </p:cNvSpPr>
          <p:nvPr/>
        </p:nvSpPr>
        <p:spPr>
          <a:xfrm xmlns:a="http://schemas.openxmlformats.org/drawingml/2006/main">
            <a:off x="7735824" y="3957066"/>
            <a:ext cx="96012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1" i="0" u="none" strike="noStrike" cap="none">
                <a:solidFill>
                  <a:schemeClr val="lt1"/>
                </a:solidFill>
                <a:latin typeface="Arial"/>
                <a:ea typeface="Arial"/>
                <a:cs typeface="Arial"/>
              </a:rPr>
              <a:t>Colombia</a:t>
            </a:r>
            <a:endParaRPr sz="900" b="0" i="0" u="none" strike="noStrike" cap="none">
              <a:solidFill>
                <a:schemeClr val="dk1"/>
              </a:solidFill>
              <a:latin typeface="Arial"/>
              <a:ea typeface="Arial"/>
              <a:cs typeface="Arial"/>
            </a:endParaRPr>
          </a:p>
        </p:txBody>
      </p:sp>
    </p:spTree>
    <p:extLst>
      <p:ext uri="{BB962C8B-B14F-4D97-AF65-F5344CB8AC3E}">
        <p14:creationId xmlns:p14="http://schemas.microsoft.com/office/powerpoint/2010/main" val="109488450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59" name="Google Shape;159;p30">
            <a:extLst xmlns:a="http://schemas.openxmlformats.org/drawingml/2006/main">
              <a:ext uri="{FF2B5EF4-FFF2-40B4-BE49-F238E27FC236}">
                <a16:creationId xmlns:a16="http://schemas.microsoft.com/office/drawing/2014/main" id="{A5680582-1966-4166-B016-2CDA2E7CEE72}"/>
              </a:ext>
            </a:extLst>
          </p:cNvPr>
          <p:cNvSpPr>
            <a:spLocks xmlns:a="http://schemas.openxmlformats.org/drawingml/2006/main" noGrp="1"/>
          </p:cNvSpPr>
          <p:nvPr>
            <p:ph type="body" idx="1"/>
          </p:nvPr>
        </p:nvSpPr>
        <p:spPr>
          <a:xfrm xmlns:a="http://schemas.openxmlformats.org/drawingml/2006/main">
            <a:off x="576072" y="308610"/>
            <a:ext cx="6172200" cy="233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Clr>
                <a:schemeClr val="accent5"/>
              </a:buClr>
              <a:buSzPts val="900"/>
              <a:buNone/>
            </a:pPr>
            <a:r>
              <a:rPr sz="900" b="1">
                <a:solidFill>
                  <a:schemeClr val="accent5"/>
                </a:solidFill>
              </a:rPr>
              <a:t>01 · THE PROBLEM</a:t>
            </a:r>
            <a:endParaRPr sz="900"/>
          </a:p>
        </p:txBody>
      </p:sp>
      <p:sp>
        <p:nvSpPr>
          <p:cNvPr id="160" name="Google Shape;160;p30">
            <a:extLst xmlns:a="http://schemas.openxmlformats.org/drawingml/2006/main">
              <a:ext uri="{FF2B5EF4-FFF2-40B4-BE49-F238E27FC236}">
                <a16:creationId xmlns:a16="http://schemas.microsoft.com/office/drawing/2014/main" id="{DEFD73F0-1D46-401B-87DE-709A7DC5C776}"/>
              </a:ext>
            </a:extLst>
          </p:cNvPr>
          <p:cNvSpPr>
            <a:spLocks xmlns:a="http://schemas.openxmlformats.org/drawingml/2006/main" noGrp="1"/>
          </p:cNvSpPr>
          <p:nvPr>
            <p:ph type="title" idx="0"/>
          </p:nvPr>
        </p:nvSpPr>
        <p:spPr>
          <a:xfrm xmlns:a="http://schemas.openxmlformats.org/drawingml/2006/main">
            <a:off x="411480" y="582930"/>
            <a:ext cx="8318754"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Clr>
                <a:schemeClr val="lt1"/>
              </a:buClr>
              <a:buSzPts val="2300"/>
              <a:buFont typeface="Arial"/>
              <a:buNone/>
            </a:pPr>
            <a:r>
              <a:rPr sz="2300" b="1">
                <a:solidFill>
                  <a:schemeClr val="lt1"/>
                </a:solidFill>
              </a:rPr>
              <a:t>Cross-border transfers can be costly and slow</a:t>
            </a:r>
            <a:endParaRPr sz="2300"/>
          </a:p>
        </p:txBody>
      </p:sp>
      <p:sp>
        <p:nvSpPr>
          <p:cNvPr id="161" name="Google Shape;161;p30">
            <a:extLst xmlns:a="http://schemas.openxmlformats.org/drawingml/2006/main">
              <a:ext uri="{FF2B5EF4-FFF2-40B4-BE49-F238E27FC236}">
                <a16:creationId xmlns:a16="http://schemas.microsoft.com/office/drawing/2014/main" id="{C027B212-0915-4126-AB12-1B22CAE4427B}"/>
              </a:ext>
            </a:extLst>
          </p:cNvPr>
          <p:cNvSpPr>
            <a:spLocks xmlns:a="http://schemas.openxmlformats.org/drawingml/2006/main" noGrp="1"/>
          </p:cNvSpPr>
          <p:nvPr/>
        </p:nvSpPr>
        <p:spPr>
          <a:xfrm xmlns:a="http://schemas.openxmlformats.org/drawingml/2006/main">
            <a:off x="411480" y="1440180"/>
            <a:ext cx="21259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accent5"/>
              </a:buClr>
              <a:buSzPts val="3300"/>
              <a:buFont typeface="Arial"/>
              <a:buNone/>
            </a:pPr>
            <a:r>
              <a:rPr sz="3300" b="1" i="0" u="none" strike="noStrike" cap="none">
                <a:solidFill>
                  <a:schemeClr val="accent5"/>
                </a:solidFill>
                <a:latin typeface="Arial"/>
                <a:ea typeface="Arial"/>
                <a:cs typeface="Arial"/>
              </a:rPr>
              <a:t>6.49%</a:t>
            </a:r>
            <a:endParaRPr sz="3300" b="0" i="0" u="none" strike="noStrike" cap="none">
              <a:solidFill>
                <a:schemeClr val="dk1"/>
              </a:solidFill>
              <a:latin typeface="Arial"/>
              <a:ea typeface="Arial"/>
              <a:cs typeface="Arial"/>
            </a:endParaRPr>
          </a:p>
        </p:txBody>
      </p:sp>
      <p:sp>
        <p:nvSpPr>
          <p:cNvPr id="162" name="Google Shape;162;p30">
            <a:extLst xmlns:a="http://schemas.openxmlformats.org/drawingml/2006/main">
              <a:ext uri="{FF2B5EF4-FFF2-40B4-BE49-F238E27FC236}">
                <a16:creationId xmlns:a16="http://schemas.microsoft.com/office/drawing/2014/main" id="{491AFF7E-EC90-4F33-9171-30DC4037C540}"/>
              </a:ext>
            </a:extLst>
          </p:cNvPr>
          <p:cNvSpPr>
            <a:spLocks xmlns:a="http://schemas.openxmlformats.org/drawingml/2006/main" noGrp="1"/>
          </p:cNvSpPr>
          <p:nvPr/>
        </p:nvSpPr>
        <p:spPr>
          <a:xfrm xmlns:a="http://schemas.openxmlformats.org/drawingml/2006/main">
            <a:off x="2606040" y="1440180"/>
            <a:ext cx="19888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2"/>
              </a:buClr>
              <a:buSzPts val="1100"/>
              <a:buFont typeface="Arial"/>
              <a:buNone/>
            </a:pPr>
            <a:r>
              <a:rPr sz="1100" b="0" i="0" u="none" strike="noStrike" cap="none">
                <a:solidFill>
                  <a:schemeClr val="lt2"/>
                </a:solidFill>
                <a:latin typeface="Arial"/>
                <a:ea typeface="Arial"/>
                <a:cs typeface="Arial"/>
              </a:rPr>
              <a:t>illustrative global cost to send US$200 abroad</a:t>
            </a:r>
            <a:endParaRPr sz="1100" b="0" i="0" u="none" strike="noStrike" cap="none">
              <a:solidFill>
                <a:schemeClr val="dk1"/>
              </a:solidFill>
              <a:latin typeface="Arial"/>
              <a:ea typeface="Arial"/>
              <a:cs typeface="Arial"/>
            </a:endParaRPr>
          </a:p>
        </p:txBody>
      </p:sp>
      <p:sp>
        <p:nvSpPr>
          <p:cNvPr id="163" name="Google Shape;163;p30">
            <a:extLst xmlns:a="http://schemas.openxmlformats.org/drawingml/2006/main">
              <a:ext uri="{FF2B5EF4-FFF2-40B4-BE49-F238E27FC236}">
                <a16:creationId xmlns:a16="http://schemas.microsoft.com/office/drawing/2014/main" id="{3B177F52-33A6-4786-8775-EF232D3FDB0F}"/>
              </a:ext>
            </a:extLst>
          </p:cNvPr>
          <p:cNvSpPr>
            <a:spLocks xmlns:a="http://schemas.openxmlformats.org/drawingml/2006/main" noGrp="1"/>
          </p:cNvSpPr>
          <p:nvPr/>
        </p:nvSpPr>
        <p:spPr>
          <a:xfrm xmlns:a="http://schemas.openxmlformats.org/drawingml/2006/main">
            <a:off x="411480" y="2208276"/>
            <a:ext cx="21259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accent5"/>
              </a:buClr>
              <a:buSzPts val="3300"/>
              <a:buFont typeface="Arial"/>
              <a:buNone/>
            </a:pPr>
            <a:r>
              <a:rPr sz="3300" b="1" i="0" u="none" strike="noStrike" cap="none">
                <a:solidFill>
                  <a:schemeClr val="accent5"/>
                </a:solidFill>
                <a:latin typeface="Arial"/>
                <a:ea typeface="Arial"/>
                <a:cs typeface="Arial"/>
              </a:rPr>
              <a:t>US$61.7B</a:t>
            </a:r>
            <a:endParaRPr sz="3300" b="0" i="0" u="none" strike="noStrike" cap="none">
              <a:solidFill>
                <a:schemeClr val="dk1"/>
              </a:solidFill>
              <a:latin typeface="Arial"/>
              <a:ea typeface="Arial"/>
              <a:cs typeface="Arial"/>
            </a:endParaRPr>
          </a:p>
        </p:txBody>
      </p:sp>
      <p:sp>
        <p:nvSpPr>
          <p:cNvPr id="164" name="Google Shape;164;p30">
            <a:extLst xmlns:a="http://schemas.openxmlformats.org/drawingml/2006/main">
              <a:ext uri="{FF2B5EF4-FFF2-40B4-BE49-F238E27FC236}">
                <a16:creationId xmlns:a16="http://schemas.microsoft.com/office/drawing/2014/main" id="{FB941212-0BB0-42D5-9490-610E0F83C618}"/>
              </a:ext>
            </a:extLst>
          </p:cNvPr>
          <p:cNvSpPr>
            <a:spLocks xmlns:a="http://schemas.openxmlformats.org/drawingml/2006/main" noGrp="1"/>
          </p:cNvSpPr>
          <p:nvPr/>
        </p:nvSpPr>
        <p:spPr>
          <a:xfrm xmlns:a="http://schemas.openxmlformats.org/drawingml/2006/main">
            <a:off x="2606040" y="2208276"/>
            <a:ext cx="19888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2"/>
              </a:buClr>
              <a:buSzPts val="1100"/>
              <a:buFont typeface="Arial"/>
              <a:buNone/>
            </a:pPr>
            <a:r>
              <a:rPr sz="1100" b="0" i="0" u="none" strike="noStrike" cap="none">
                <a:solidFill>
                  <a:schemeClr val="lt2"/>
                </a:solidFill>
                <a:latin typeface="Arial"/>
                <a:ea typeface="Arial"/>
                <a:cs typeface="Arial"/>
              </a:rPr>
              <a:t>remittances reported for Mexico in the original concept; historical figure, not reverified</a:t>
            </a:r>
            <a:endParaRPr sz="1100" b="0" i="0" u="none" strike="noStrike" cap="none">
              <a:solidFill>
                <a:schemeClr val="dk1"/>
              </a:solidFill>
              <a:latin typeface="Arial"/>
              <a:ea typeface="Arial"/>
              <a:cs typeface="Arial"/>
            </a:endParaRPr>
          </a:p>
        </p:txBody>
      </p:sp>
      <p:sp>
        <p:nvSpPr>
          <p:cNvPr id="165" name="Google Shape;165;p30">
            <a:extLst xmlns:a="http://schemas.openxmlformats.org/drawingml/2006/main">
              <a:ext uri="{FF2B5EF4-FFF2-40B4-BE49-F238E27FC236}">
                <a16:creationId xmlns:a16="http://schemas.microsoft.com/office/drawing/2014/main" id="{0A3DBB29-9E8B-4FB5-8FCE-6034F001DEB2}"/>
              </a:ext>
            </a:extLst>
          </p:cNvPr>
          <p:cNvSpPr>
            <a:spLocks xmlns:a="http://schemas.openxmlformats.org/drawingml/2006/main" noGrp="1"/>
          </p:cNvSpPr>
          <p:nvPr/>
        </p:nvSpPr>
        <p:spPr>
          <a:xfrm xmlns:a="http://schemas.openxmlformats.org/drawingml/2006/main">
            <a:off x="411480" y="2976372"/>
            <a:ext cx="21259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accent5"/>
              </a:buClr>
              <a:buSzPts val="3300"/>
              <a:buFont typeface="Arial"/>
              <a:buNone/>
            </a:pPr>
            <a:r>
              <a:rPr sz="3300" b="1" i="0" u="none" strike="noStrike" cap="none">
                <a:solidFill>
                  <a:schemeClr val="accent5"/>
                </a:solidFill>
                <a:latin typeface="Arial"/>
                <a:ea typeface="Arial"/>
                <a:cs typeface="Arial"/>
              </a:rPr>
              <a:t>3%</a:t>
            </a:r>
            <a:endParaRPr sz="3300" b="0" i="0" u="none" strike="noStrike" cap="none">
              <a:solidFill>
                <a:schemeClr val="dk1"/>
              </a:solidFill>
              <a:latin typeface="Arial"/>
              <a:ea typeface="Arial"/>
              <a:cs typeface="Arial"/>
            </a:endParaRPr>
          </a:p>
        </p:txBody>
      </p:sp>
      <p:sp>
        <p:nvSpPr>
          <p:cNvPr id="166" name="Google Shape;166;p30">
            <a:extLst xmlns:a="http://schemas.openxmlformats.org/drawingml/2006/main">
              <a:ext uri="{FF2B5EF4-FFF2-40B4-BE49-F238E27FC236}">
                <a16:creationId xmlns:a16="http://schemas.microsoft.com/office/drawing/2014/main" id="{344868A6-A098-46F5-B1FB-39288D1C4AB2}"/>
              </a:ext>
            </a:extLst>
          </p:cNvPr>
          <p:cNvSpPr>
            <a:spLocks xmlns:a="http://schemas.openxmlformats.org/drawingml/2006/main" noGrp="1"/>
          </p:cNvSpPr>
          <p:nvPr/>
        </p:nvSpPr>
        <p:spPr>
          <a:xfrm xmlns:a="http://schemas.openxmlformats.org/drawingml/2006/main">
            <a:off x="2606040" y="2976372"/>
            <a:ext cx="19888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2"/>
              </a:buClr>
              <a:buSzPts val="1100"/>
              <a:buFont typeface="Arial"/>
              <a:buNone/>
            </a:pPr>
            <a:r>
              <a:rPr sz="1100" b="0" i="0" u="none" strike="noStrike" cap="none">
                <a:solidFill>
                  <a:schemeClr val="lt2"/>
                </a:solidFill>
                <a:latin typeface="Arial"/>
                <a:ea typeface="Arial"/>
                <a:cs typeface="Arial"/>
              </a:rPr>
              <a:t>UN 2030 target (SDG 10.c)</a:t>
            </a:r>
            <a:endParaRPr sz="1100" b="0" i="0" u="none" strike="noStrike" cap="none">
              <a:solidFill>
                <a:schemeClr val="dk1"/>
              </a:solidFill>
              <a:latin typeface="Arial"/>
              <a:ea typeface="Arial"/>
              <a:cs typeface="Arial"/>
            </a:endParaRPr>
          </a:p>
        </p:txBody>
      </p:sp>
      <p:sp>
        <p:nvSpPr>
          <p:cNvPr id="167" name="Google Shape;167;p30">
            <a:extLst xmlns:a="http://schemas.openxmlformats.org/drawingml/2006/main">
              <a:ext uri="{FF2B5EF4-FFF2-40B4-BE49-F238E27FC236}">
                <a16:creationId xmlns:a16="http://schemas.microsoft.com/office/drawing/2014/main" id="{1E56C86A-2A5E-46DA-8894-486784CA23D0}"/>
              </a:ext>
            </a:extLst>
          </p:cNvPr>
          <p:cNvSpPr>
            <a:spLocks xmlns:a="http://schemas.openxmlformats.org/drawingml/2006/main" noGrp="1"/>
          </p:cNvSpPr>
          <p:nvPr/>
        </p:nvSpPr>
        <p:spPr>
          <a:xfrm xmlns:a="http://schemas.openxmlformats.org/drawingml/2006/main">
            <a:off x="5383530" y="1611630"/>
            <a:ext cx="2811780" cy="1817370"/>
          </a:xfrm>
          <a:prstGeom xmlns:a="http://schemas.openxmlformats.org/drawingml/2006/main" prst="triangle">
            <a:avLst>
              <a:gd name="adj" fmla="val 50000"/>
            </a:avLst>
          </a:prstGeom>
          <a:solidFill xmlns:a="http://schemas.openxmlformats.org/drawingml/2006/main">
            <a:schemeClr val="accent1">
              <a:alpha val="12157"/>
            </a:schemeClr>
          </a:solidFill>
          <a:ln xmlns:a="http://schemas.openxmlformats.org/drawingml/2006/main" w="12700" cap="flat" cmpd="sng">
            <a:solidFill>
              <a:schemeClr val="accent5"/>
            </a:solidFill>
            <a:prstDash val="dash"/>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8" name="Google Shape;168;p30">
            <a:extLst xmlns:a="http://schemas.openxmlformats.org/drawingml/2006/main">
              <a:ext uri="{FF2B5EF4-FFF2-40B4-BE49-F238E27FC236}">
                <a16:creationId xmlns:a16="http://schemas.microsoft.com/office/drawing/2014/main" id="{4C582BD1-5092-4A45-BA51-A1A10C57379C}"/>
              </a:ext>
            </a:extLst>
          </p:cNvPr>
          <p:cNvSpPr>
            <a:spLocks xmlns:a="http://schemas.openxmlformats.org/drawingml/2006/main" noGrp="1"/>
          </p:cNvSpPr>
          <p:nvPr/>
        </p:nvSpPr>
        <p:spPr>
          <a:xfrm xmlns:a="http://schemas.openxmlformats.org/drawingml/2006/main">
            <a:off x="6501384" y="1323594"/>
            <a:ext cx="576072" cy="576072"/>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69" name="Google Shape;169;p30">
            <a:extLst xmlns:a="http://schemas.openxmlformats.org/drawingml/2006/main">
              <a:ext uri="{FF2B5EF4-FFF2-40B4-BE49-F238E27FC236}">
                <a16:creationId xmlns:a16="http://schemas.microsoft.com/office/drawing/2014/main" id="{51C84287-A57A-4349-ADC3-9313FB001E1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ab2d38981934e1c">
            <a:alphaModFix/>
          </a:blip>
          <a:srcRect xmlns:a="http://schemas.openxmlformats.org/drawingml/2006/main" l="0" t="0" r="0" b="0"/>
          <a:stretch xmlns:a="http://schemas.openxmlformats.org/drawingml/2006/main"/>
        </p:blipFill>
        <p:spPr>
          <a:xfrm xmlns:a="http://schemas.openxmlformats.org/drawingml/2006/main">
            <a:off x="6628120" y="1450330"/>
            <a:ext cx="322601" cy="322601"/>
          </a:xfrm>
          <a:prstGeom xmlns:a="http://schemas.openxmlformats.org/drawingml/2006/main" prst="rect">
            <a:avLst/>
          </a:prstGeom>
          <a:ln xmlns:a="http://schemas.openxmlformats.org/drawingml/2006/main">
            <a:noFill/>
          </a:ln>
        </p:spPr>
      </p:pic>
      <p:sp>
        <p:nvSpPr>
          <p:cNvPr id="170" name="Google Shape;170;p30">
            <a:extLst xmlns:a="http://schemas.openxmlformats.org/drawingml/2006/main">
              <a:ext uri="{FF2B5EF4-FFF2-40B4-BE49-F238E27FC236}">
                <a16:creationId xmlns:a16="http://schemas.microsoft.com/office/drawing/2014/main" id="{3D0E0DBD-8271-416C-8E15-1325B6DE35C4}"/>
              </a:ext>
            </a:extLst>
          </p:cNvPr>
          <p:cNvSpPr>
            <a:spLocks xmlns:a="http://schemas.openxmlformats.org/drawingml/2006/main" noGrp="1"/>
          </p:cNvSpPr>
          <p:nvPr/>
        </p:nvSpPr>
        <p:spPr>
          <a:xfrm xmlns:a="http://schemas.openxmlformats.org/drawingml/2006/main">
            <a:off x="5095494" y="3140964"/>
            <a:ext cx="576072" cy="576072"/>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71" name="Google Shape;171;p30">
            <a:extLst xmlns:a="http://schemas.openxmlformats.org/drawingml/2006/main">
              <a:ext uri="{FF2B5EF4-FFF2-40B4-BE49-F238E27FC236}">
                <a16:creationId xmlns:a16="http://schemas.microsoft.com/office/drawing/2014/main" id="{B17FC639-1A4B-4EAD-8F23-F6E85D18DD7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69bc665881c45d6">
            <a:alphaModFix/>
          </a:blip>
          <a:srcRect xmlns:a="http://schemas.openxmlformats.org/drawingml/2006/main" l="0" t="0" r="0" b="0"/>
          <a:stretch xmlns:a="http://schemas.openxmlformats.org/drawingml/2006/main"/>
        </p:blipFill>
        <p:spPr>
          <a:xfrm xmlns:a="http://schemas.openxmlformats.org/drawingml/2006/main">
            <a:off x="5222230" y="3267700"/>
            <a:ext cx="322600" cy="322601"/>
          </a:xfrm>
          <a:prstGeom xmlns:a="http://schemas.openxmlformats.org/drawingml/2006/main" prst="rect">
            <a:avLst/>
          </a:prstGeom>
          <a:ln xmlns:a="http://schemas.openxmlformats.org/drawingml/2006/main">
            <a:noFill/>
          </a:ln>
        </p:spPr>
      </p:pic>
      <p:sp>
        <p:nvSpPr>
          <p:cNvPr id="172" name="Google Shape;172;p30">
            <a:extLst xmlns:a="http://schemas.openxmlformats.org/drawingml/2006/main">
              <a:ext uri="{FF2B5EF4-FFF2-40B4-BE49-F238E27FC236}">
                <a16:creationId xmlns:a16="http://schemas.microsoft.com/office/drawing/2014/main" id="{A9FF60B4-E97A-4B89-849C-EDECCEDA4718}"/>
              </a:ext>
            </a:extLst>
          </p:cNvPr>
          <p:cNvSpPr>
            <a:spLocks xmlns:a="http://schemas.openxmlformats.org/drawingml/2006/main" noGrp="1"/>
          </p:cNvSpPr>
          <p:nvPr/>
        </p:nvSpPr>
        <p:spPr>
          <a:xfrm xmlns:a="http://schemas.openxmlformats.org/drawingml/2006/main">
            <a:off x="7907274" y="3140964"/>
            <a:ext cx="576072" cy="576072"/>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73" name="Google Shape;173;p30">
            <a:extLst xmlns:a="http://schemas.openxmlformats.org/drawingml/2006/main">
              <a:ext uri="{FF2B5EF4-FFF2-40B4-BE49-F238E27FC236}">
                <a16:creationId xmlns:a16="http://schemas.microsoft.com/office/drawing/2014/main" id="{B40FA10C-53E6-4954-99DC-F6A221CCD4D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5a95d3011fb4391">
            <a:alphaModFix/>
          </a:blip>
          <a:srcRect xmlns:a="http://schemas.openxmlformats.org/drawingml/2006/main" l="0" t="0" r="0" b="0"/>
          <a:stretch xmlns:a="http://schemas.openxmlformats.org/drawingml/2006/main"/>
        </p:blipFill>
        <p:spPr>
          <a:xfrm xmlns:a="http://schemas.openxmlformats.org/drawingml/2006/main">
            <a:off x="8034010" y="3267700"/>
            <a:ext cx="322601" cy="322601"/>
          </a:xfrm>
          <a:prstGeom xmlns:a="http://schemas.openxmlformats.org/drawingml/2006/main" prst="rect">
            <a:avLst/>
          </a:prstGeom>
          <a:ln xmlns:a="http://schemas.openxmlformats.org/drawingml/2006/main">
            <a:noFill/>
          </a:ln>
        </p:spPr>
      </p:pic>
      <p:sp>
        <p:nvSpPr>
          <p:cNvPr id="174" name="Google Shape;174;p30">
            <a:extLst xmlns:a="http://schemas.openxmlformats.org/drawingml/2006/main">
              <a:ext uri="{FF2B5EF4-FFF2-40B4-BE49-F238E27FC236}">
                <a16:creationId xmlns:a16="http://schemas.microsoft.com/office/drawing/2014/main" id="{ECC15DA1-18BB-4A62-8830-A46462B4CA13}"/>
              </a:ext>
            </a:extLst>
          </p:cNvPr>
          <p:cNvSpPr>
            <a:spLocks xmlns:a="http://schemas.openxmlformats.org/drawingml/2006/main" noGrp="1"/>
          </p:cNvSpPr>
          <p:nvPr/>
        </p:nvSpPr>
        <p:spPr>
          <a:xfrm xmlns:a="http://schemas.openxmlformats.org/drawingml/2006/main">
            <a:off x="7166610" y="1488186"/>
            <a:ext cx="1028700"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Fast</a:t>
            </a:r>
            <a:endParaRPr sz="1200" b="0" i="0" u="none" strike="noStrike" cap="none">
              <a:solidFill>
                <a:schemeClr val="dk1"/>
              </a:solidFill>
              <a:latin typeface="Arial"/>
              <a:ea typeface="Arial"/>
              <a:cs typeface="Arial"/>
            </a:endParaRPr>
          </a:p>
        </p:txBody>
      </p:sp>
      <p:sp>
        <p:nvSpPr>
          <p:cNvPr id="175" name="Google Shape;175;p30">
            <a:extLst xmlns:a="http://schemas.openxmlformats.org/drawingml/2006/main">
              <a:ext uri="{FF2B5EF4-FFF2-40B4-BE49-F238E27FC236}">
                <a16:creationId xmlns:a16="http://schemas.microsoft.com/office/drawing/2014/main" id="{2F7FE0C5-01BB-4E97-99FE-33B6E6FF92AA}"/>
              </a:ext>
            </a:extLst>
          </p:cNvPr>
          <p:cNvSpPr>
            <a:spLocks xmlns:a="http://schemas.openxmlformats.org/drawingml/2006/main" noGrp="1"/>
          </p:cNvSpPr>
          <p:nvPr/>
        </p:nvSpPr>
        <p:spPr>
          <a:xfrm xmlns:a="http://schemas.openxmlformats.org/drawingml/2006/main">
            <a:off x="4869180" y="3771900"/>
            <a:ext cx="1028700"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Secure</a:t>
            </a:r>
            <a:endParaRPr sz="1200" b="0" i="0" u="none" strike="noStrike" cap="none">
              <a:solidFill>
                <a:schemeClr val="dk1"/>
              </a:solidFill>
              <a:latin typeface="Arial"/>
              <a:ea typeface="Arial"/>
              <a:cs typeface="Arial"/>
            </a:endParaRPr>
          </a:p>
        </p:txBody>
      </p:sp>
      <p:sp>
        <p:nvSpPr>
          <p:cNvPr id="176" name="Google Shape;176;p30">
            <a:extLst xmlns:a="http://schemas.openxmlformats.org/drawingml/2006/main">
              <a:ext uri="{FF2B5EF4-FFF2-40B4-BE49-F238E27FC236}">
                <a16:creationId xmlns:a16="http://schemas.microsoft.com/office/drawing/2014/main" id="{0EF85C9C-4993-4274-9E28-FA17F6CCDA31}"/>
              </a:ext>
            </a:extLst>
          </p:cNvPr>
          <p:cNvSpPr>
            <a:spLocks xmlns:a="http://schemas.openxmlformats.org/drawingml/2006/main" noGrp="1"/>
          </p:cNvSpPr>
          <p:nvPr/>
        </p:nvSpPr>
        <p:spPr>
          <a:xfrm xmlns:a="http://schemas.openxmlformats.org/drawingml/2006/main">
            <a:off x="7680960" y="3771900"/>
            <a:ext cx="1028700"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Affordable</a:t>
            </a:r>
            <a:endParaRPr sz="1200" b="0" i="0" u="none" strike="noStrike" cap="none">
              <a:solidFill>
                <a:schemeClr val="dk1"/>
              </a:solidFill>
              <a:latin typeface="Arial"/>
              <a:ea typeface="Arial"/>
              <a:cs typeface="Arial"/>
            </a:endParaRPr>
          </a:p>
        </p:txBody>
      </p:sp>
      <p:sp>
        <p:nvSpPr>
          <p:cNvPr id="177" name="Google Shape;177;p30">
            <a:extLst xmlns:a="http://schemas.openxmlformats.org/drawingml/2006/main">
              <a:ext uri="{FF2B5EF4-FFF2-40B4-BE49-F238E27FC236}">
                <a16:creationId xmlns:a16="http://schemas.microsoft.com/office/drawing/2014/main" id="{1A35F886-AEE4-4E5F-AC32-78B131852B8A}"/>
              </a:ext>
            </a:extLst>
          </p:cNvPr>
          <p:cNvSpPr>
            <a:spLocks xmlns:a="http://schemas.openxmlformats.org/drawingml/2006/main" noGrp="1"/>
          </p:cNvSpPr>
          <p:nvPr/>
        </p:nvSpPr>
        <p:spPr>
          <a:xfrm xmlns:a="http://schemas.openxmlformats.org/drawingml/2006/main">
            <a:off x="5829300" y="2571750"/>
            <a:ext cx="1920240" cy="2880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chemeClr val="lt1"/>
              </a:buClr>
              <a:buSzPts val="1500"/>
              <a:buFont typeface="Arial"/>
              <a:buNone/>
            </a:pPr>
            <a:r>
              <a:rPr sz="1500" b="1" i="0" u="none" strike="noStrike" cap="none">
                <a:solidFill>
                  <a:schemeClr val="lt1"/>
                </a:solidFill>
                <a:latin typeface="Arial"/>
                <a:ea typeface="Arial"/>
                <a:cs typeface="Arial"/>
              </a:rPr>
              <a:t>Often a trade-off</a:t>
            </a:r>
            <a:endParaRPr sz="1500" b="0" i="0" u="none" strike="noStrike" cap="none">
              <a:solidFill>
                <a:schemeClr val="dk1"/>
              </a:solidFill>
              <a:latin typeface="Arial"/>
              <a:ea typeface="Arial"/>
              <a:cs typeface="Arial"/>
            </a:endParaRPr>
          </a:p>
        </p:txBody>
      </p:sp>
      <p:sp>
        <p:nvSpPr>
          <p:cNvPr id="178" name="Google Shape;178;p30">
            <a:extLst xmlns:a="http://schemas.openxmlformats.org/drawingml/2006/main">
              <a:ext uri="{FF2B5EF4-FFF2-40B4-BE49-F238E27FC236}">
                <a16:creationId xmlns:a16="http://schemas.microsoft.com/office/drawing/2014/main" id="{5B005923-44EC-47D3-B2AD-EBCA84BEF3D5}"/>
              </a:ext>
            </a:extLst>
          </p:cNvPr>
          <p:cNvSpPr>
            <a:spLocks xmlns:a="http://schemas.openxmlformats.org/drawingml/2006/main" noGrp="1"/>
          </p:cNvSpPr>
          <p:nvPr/>
        </p:nvSpPr>
        <p:spPr>
          <a:xfrm xmlns:a="http://schemas.openxmlformats.org/drawingml/2006/main">
            <a:off x="5829300" y="2859786"/>
            <a:ext cx="1920240" cy="2400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fraud adds another risk</a:t>
            </a:r>
            <a:endParaRPr sz="900" b="0" i="0" u="none" strike="noStrike" cap="none">
              <a:solidFill>
                <a:schemeClr val="dk1"/>
              </a:solidFill>
              <a:latin typeface="Arial"/>
              <a:ea typeface="Arial"/>
              <a:cs typeface="Arial"/>
            </a:endParaRPr>
          </a:p>
        </p:txBody>
      </p:sp>
      <p:sp>
        <p:nvSpPr>
          <p:cNvPr id="179" name="Google Shape;179;p30">
            <a:extLst xmlns:a="http://schemas.openxmlformats.org/drawingml/2006/main">
              <a:ext uri="{FF2B5EF4-FFF2-40B4-BE49-F238E27FC236}">
                <a16:creationId xmlns:a16="http://schemas.microsoft.com/office/drawing/2014/main" id="{E72F45DB-AA40-402E-8148-6D5ACB2D1050}"/>
              </a:ext>
            </a:extLst>
          </p:cNvPr>
          <p:cNvSpPr>
            <a:spLocks xmlns:a="http://schemas.openxmlformats.org/drawingml/2006/main" noGrp="1"/>
          </p:cNvSpPr>
          <p:nvPr/>
        </p:nvSpPr>
        <p:spPr>
          <a:xfrm xmlns:a="http://schemas.openxmlformats.org/drawingml/2006/main">
            <a:off x="411480" y="4101084"/>
            <a:ext cx="8318754" cy="411480"/>
          </a:xfrm>
          <a:prstGeom xmlns:a="http://schemas.openxmlformats.org/drawingml/2006/main" prst="roundRect">
            <a:avLst>
              <a:gd name="adj" fmla="val 16667"/>
            </a:avLst>
          </a:prstGeom>
          <a:solidFill xmlns:a="http://schemas.openxmlformats.org/drawingml/2006/main">
            <a:schemeClr val="accent1">
              <a:alpha val="27843"/>
            </a:schemeClr>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0" name="Google Shape;180;p30">
            <a:extLst xmlns:a="http://schemas.openxmlformats.org/drawingml/2006/main">
              <a:ext uri="{FF2B5EF4-FFF2-40B4-BE49-F238E27FC236}">
                <a16:creationId xmlns:a16="http://schemas.microsoft.com/office/drawing/2014/main" id="{657B62D5-52A7-4964-9481-927660594668}"/>
              </a:ext>
            </a:extLst>
          </p:cNvPr>
          <p:cNvSpPr>
            <a:spLocks xmlns:a="http://schemas.openxmlformats.org/drawingml/2006/main" noGrp="1"/>
          </p:cNvSpPr>
          <p:nvPr/>
        </p:nvSpPr>
        <p:spPr>
          <a:xfrm xmlns:a="http://schemas.openxmlformats.org/drawingml/2006/main">
            <a:off x="548640" y="4101084"/>
            <a:ext cx="804443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chemeClr val="lt1"/>
              </a:buClr>
              <a:buSzPts val="1500"/>
              <a:buFont typeface="Arial"/>
              <a:buNone/>
            </a:pPr>
            <a:r>
              <a:rPr sz="1500" b="1" i="1" u="none" strike="noStrike" cap="none">
                <a:solidFill>
                  <a:schemeClr val="lt1"/>
                </a:solidFill>
                <a:latin typeface="Arial"/>
                <a:ea typeface="Arial"/>
                <a:cs typeface="Arial"/>
              </a:rPr>
              <a:t>Could encrypted, automated screening improve cross-border transfers?</a:t>
            </a:r>
            <a:endParaRPr sz="1500" b="0" i="0" u="none" strike="noStrike" cap="none">
              <a:solidFill>
                <a:schemeClr val="dk1"/>
              </a:solidFill>
              <a:latin typeface="Arial"/>
              <a:ea typeface="Arial"/>
              <a:cs typeface="Arial"/>
            </a:endParaRPr>
          </a:p>
        </p:txBody>
      </p:sp>
      <p:sp>
        <p:nvSpPr>
          <p:cNvPr id="181" name="Google Shape;181;p30">
            <a:extLst xmlns:a="http://schemas.openxmlformats.org/drawingml/2006/main">
              <a:ext uri="{FF2B5EF4-FFF2-40B4-BE49-F238E27FC236}">
                <a16:creationId xmlns:a16="http://schemas.microsoft.com/office/drawing/2014/main" id="{A146A10C-EC72-40FB-96DE-FC98E2AF3DFD}"/>
              </a:ext>
            </a:extLst>
          </p:cNvPr>
          <p:cNvSpPr>
            <a:spLocks xmlns:a="http://schemas.openxmlformats.org/drawingml/2006/main" noGrp="1"/>
          </p:cNvSpPr>
          <p:nvPr/>
        </p:nvSpPr>
        <p:spPr>
          <a:xfrm xmlns:a="http://schemas.openxmlformats.org/drawingml/2006/main">
            <a:off x="411480" y="4567428"/>
            <a:ext cx="8318754" cy="1920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accent6"/>
              </a:buClr>
              <a:buSzPts val="800"/>
              <a:buFont typeface="Arial"/>
              <a:buNone/>
            </a:pPr>
            <a:r>
              <a:rPr sz="800" b="0" i="0" u="none" strike="noStrike" cap="none">
                <a:solidFill>
                  <a:schemeClr val="accent6"/>
                </a:solidFill>
                <a:latin typeface="Arial"/>
                <a:ea typeface="Arial"/>
                <a:cs typeface="Arial"/>
              </a:rPr>
              <a:t>Original concept sources: World Bank Remittance Prices Worldwide (Q1 2025); Banxico 2025 remittances; UN SDG 10.c. Historical planning assumptions, not current product results.</a:t>
            </a:r>
            <a:endParaRPr sz="800" b="0" i="0" u="none" strike="noStrike" cap="none">
              <a:solidFill>
                <a:schemeClr val="dk1"/>
              </a:solidFill>
              <a:latin typeface="Arial"/>
              <a:ea typeface="Arial"/>
              <a:cs typeface="Arial"/>
            </a:endParaRPr>
          </a:p>
        </p:txBody>
      </p:sp>
      <p:sp>
        <p:nvSpPr>
          <p:cNvPr id="182" name="Google Shape;182;p30">
            <a:extLst xmlns:a="http://schemas.openxmlformats.org/drawingml/2006/main">
              <a:ext uri="{FF2B5EF4-FFF2-40B4-BE49-F238E27FC236}">
                <a16:creationId xmlns:a16="http://schemas.microsoft.com/office/drawing/2014/main" id="{B5419F09-9BFC-4188-977E-6843E477D5A0}"/>
              </a:ext>
            </a:extLst>
          </p:cNvPr>
          <p:cNvSpPr>
            <a:spLocks xmlns:a="http://schemas.openxmlformats.org/drawingml/2006/main" noGrp="1"/>
          </p:cNvSpPr>
          <p:nvPr>
            <p:ph type="sldNum" idx="4294967295"/>
          </p:nvPr>
        </p:nvSpPr>
        <p:spPr>
          <a:xfrm xmlns:a="http://schemas.openxmlformats.org/drawingml/2006/main">
            <a:off x="8387334" y="4800600"/>
            <a:ext cx="3429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p xmlns:a="http://schemas.openxmlformats.org/drawingml/2006/main">
            <a:pPr marL="0" marR="0" lvl="0" indent="0" algn="r">
              <a:spcBef>
                <a:spcPts val="0"/>
              </a:spcBef>
              <a:spcAft>
                <a:spcPts val="0"/>
              </a:spcAft>
              <a:buNone/>
            </a:pPr>
            <a:fld id="{00000000-1234-1234-1234-123412341234}" type="slidenum">
              <a:rPr sz="700" b="0" i="0" u="none" strike="noStrike" cap="none">
                <a:solidFill>
                  <a:schemeClr val="accent6"/>
                </a:solidFill>
                <a:latin typeface="Arial"/>
                <a:ea typeface="Arial"/>
                <a:cs typeface="Arial"/>
              </a:rPr>
              <a:t>‹#›</a:t>
            </a:fld>
            <a:endParaRPr sz="700" b="0" i="0" u="none" strike="noStrike" cap="none">
              <a:solidFill>
                <a:schemeClr val="accent6"/>
              </a:solidFill>
              <a:latin typeface="Arial"/>
              <a:ea typeface="Arial"/>
              <a:cs typeface="Arial"/>
            </a:endParaRPr>
          </a:p>
        </p:txBody>
      </p:sp>
    </p:spTree>
    <p:extLst>
      <p:ext uri="{BB962C8B-B14F-4D97-AF65-F5344CB8AC3E}">
        <p14:creationId xmlns:p14="http://schemas.microsoft.com/office/powerpoint/2010/main" val="1750231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88" name="Google Shape;188;p31">
            <a:extLst xmlns:a="http://schemas.openxmlformats.org/drawingml/2006/main">
              <a:ext uri="{FF2B5EF4-FFF2-40B4-BE49-F238E27FC236}">
                <a16:creationId xmlns:a16="http://schemas.microsoft.com/office/drawing/2014/main" id="{40BCB9A6-0D53-4BE4-8A54-783CA136C999}"/>
              </a:ext>
            </a:extLst>
          </p:cNvPr>
          <p:cNvSpPr>
            <a:spLocks xmlns:a="http://schemas.openxmlformats.org/drawingml/2006/main" noGrp="1"/>
          </p:cNvSpPr>
          <p:nvPr>
            <p:ph type="body" idx="1"/>
          </p:nvPr>
        </p:nvSpPr>
        <p:spPr>
          <a:xfrm xmlns:a="http://schemas.openxmlformats.org/drawingml/2006/main">
            <a:off x="576072" y="308610"/>
            <a:ext cx="6172200" cy="233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Clr>
                <a:schemeClr val="accent5"/>
              </a:buClr>
              <a:buSzPts val="900"/>
              <a:buNone/>
            </a:pPr>
            <a:r>
              <a:rPr sz="900" b="1">
                <a:solidFill>
                  <a:schemeClr val="accent5"/>
                </a:solidFill>
              </a:rPr>
              <a:t>02 · THE SOLUTION</a:t>
            </a:r>
            <a:endParaRPr sz="900"/>
          </a:p>
        </p:txBody>
      </p:sp>
      <p:sp>
        <p:nvSpPr>
          <p:cNvPr id="189" name="Google Shape;189;p31">
            <a:extLst xmlns:a="http://schemas.openxmlformats.org/drawingml/2006/main">
              <a:ext uri="{FF2B5EF4-FFF2-40B4-BE49-F238E27FC236}">
                <a16:creationId xmlns:a16="http://schemas.microsoft.com/office/drawing/2014/main" id="{2B0B6505-9D30-4CAB-8A99-30B06F51BBE7}"/>
              </a:ext>
            </a:extLst>
          </p:cNvPr>
          <p:cNvSpPr>
            <a:spLocks xmlns:a="http://schemas.openxmlformats.org/drawingml/2006/main" noGrp="1"/>
          </p:cNvSpPr>
          <p:nvPr>
            <p:ph type="title" idx="0"/>
          </p:nvPr>
        </p:nvSpPr>
        <p:spPr>
          <a:xfrm xmlns:a="http://schemas.openxmlformats.org/drawingml/2006/main">
            <a:off x="411480" y="582930"/>
            <a:ext cx="8318754"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Clr>
                <a:schemeClr val="lt1"/>
              </a:buClr>
              <a:buSzPts val="2300"/>
              <a:buFont typeface="Arial"/>
              <a:buNone/>
            </a:pPr>
            <a:r>
              <a:rPr sz="2300" b="1">
                <a:solidFill>
                  <a:schemeClr val="lt1"/>
                </a:solidFill>
              </a:rPr>
              <a:t>Three proposed AI layers screen each transfer</a:t>
            </a:r>
            <a:endParaRPr sz="2300"/>
          </a:p>
        </p:txBody>
      </p:sp>
      <p:sp>
        <p:nvSpPr>
          <p:cNvPr id="190" name="Google Shape;190;p31">
            <a:extLst xmlns:a="http://schemas.openxmlformats.org/drawingml/2006/main">
              <a:ext uri="{FF2B5EF4-FFF2-40B4-BE49-F238E27FC236}">
                <a16:creationId xmlns:a16="http://schemas.microsoft.com/office/drawing/2014/main" id="{818F243B-ED5E-4EE8-9984-1180FB9253CF}"/>
              </a:ext>
            </a:extLst>
          </p:cNvPr>
          <p:cNvSpPr>
            <a:spLocks xmlns:a="http://schemas.openxmlformats.org/drawingml/2006/main" noGrp="1"/>
          </p:cNvSpPr>
          <p:nvPr/>
        </p:nvSpPr>
        <p:spPr>
          <a:xfrm xmlns:a="http://schemas.openxmlformats.org/drawingml/2006/main">
            <a:off x="411480" y="1440180"/>
            <a:ext cx="1817370" cy="1028700"/>
          </a:xfrm>
          <a:prstGeom xmlns:a="http://schemas.openxmlformats.org/drawingml/2006/main" prst="roundRect">
            <a:avLst>
              <a:gd name="adj" fmla="val 6667"/>
            </a:avLst>
          </a:prstGeom>
          <a:solidFill xmlns:a="http://schemas.openxmlformats.org/drawingml/2006/main">
            <a:schemeClr val="dk2"/>
          </a:solidFill>
          <a:ln xmlns:a="http://schemas.openxmlformats.org/drawingml/2006/main" w="9525" cap="flat" cmpd="sng">
            <a:solidFill>
              <a:schemeClr val="accent6">
                <a:alpha val="60000"/>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1" name="Google Shape;191;p31">
            <a:extLst xmlns:a="http://schemas.openxmlformats.org/drawingml/2006/main">
              <a:ext uri="{FF2B5EF4-FFF2-40B4-BE49-F238E27FC236}">
                <a16:creationId xmlns:a16="http://schemas.microsoft.com/office/drawing/2014/main" id="{38D07F55-9CC2-4205-9F4A-7C4D9D5E66C9}"/>
              </a:ext>
            </a:extLst>
          </p:cNvPr>
          <p:cNvSpPr>
            <a:spLocks xmlns:a="http://schemas.openxmlformats.org/drawingml/2006/main" noGrp="1"/>
          </p:cNvSpPr>
          <p:nvPr/>
        </p:nvSpPr>
        <p:spPr>
          <a:xfrm xmlns:a="http://schemas.openxmlformats.org/drawingml/2006/main">
            <a:off x="548640" y="1577340"/>
            <a:ext cx="342900" cy="342900"/>
          </a:xfrm>
          <a:prstGeom xmlns:a="http://schemas.openxmlformats.org/drawingml/2006/main" prst="ellipse">
            <a:avLst/>
          </a:prstGeom>
          <a:solidFill xmlns:a="http://schemas.openxmlformats.org/drawingml/2006/main">
            <a:schemeClr val="accent6"/>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92" name="Google Shape;192;p31">
            <a:extLst xmlns:a="http://schemas.openxmlformats.org/drawingml/2006/main">
              <a:ext uri="{FF2B5EF4-FFF2-40B4-BE49-F238E27FC236}">
                <a16:creationId xmlns:a16="http://schemas.microsoft.com/office/drawing/2014/main" id="{E5935940-D3DE-43E4-93E7-2A9E5CB0C19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43f1b4713de480f">
            <a:alphaModFix/>
          </a:blip>
          <a:srcRect xmlns:a="http://schemas.openxmlformats.org/drawingml/2006/main" l="0" t="0" r="0" b="0"/>
          <a:stretch xmlns:a="http://schemas.openxmlformats.org/drawingml/2006/main"/>
        </p:blipFill>
        <p:spPr>
          <a:xfrm xmlns:a="http://schemas.openxmlformats.org/drawingml/2006/main">
            <a:off x="624078" y="1652778"/>
            <a:ext cx="192024" cy="192024"/>
          </a:xfrm>
          <a:prstGeom xmlns:a="http://schemas.openxmlformats.org/drawingml/2006/main" prst="rect">
            <a:avLst/>
          </a:prstGeom>
          <a:ln xmlns:a="http://schemas.openxmlformats.org/drawingml/2006/main">
            <a:noFill/>
          </a:ln>
        </p:spPr>
      </p:pic>
      <p:sp>
        <p:nvSpPr>
          <p:cNvPr id="193" name="Google Shape;193;p31">
            <a:extLst xmlns:a="http://schemas.openxmlformats.org/drawingml/2006/main">
              <a:ext uri="{FF2B5EF4-FFF2-40B4-BE49-F238E27FC236}">
                <a16:creationId xmlns:a16="http://schemas.microsoft.com/office/drawing/2014/main" id="{A245135D-DF77-4D97-8C4F-D01E8AC16496}"/>
              </a:ext>
            </a:extLst>
          </p:cNvPr>
          <p:cNvSpPr>
            <a:spLocks xmlns:a="http://schemas.openxmlformats.org/drawingml/2006/main" noGrp="1"/>
          </p:cNvSpPr>
          <p:nvPr/>
        </p:nvSpPr>
        <p:spPr>
          <a:xfrm xmlns:a="http://schemas.openxmlformats.org/drawingml/2006/main">
            <a:off x="973836" y="1577340"/>
            <a:ext cx="116586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100"/>
              <a:buFont typeface="Arial"/>
              <a:buNone/>
            </a:pPr>
            <a:r>
              <a:rPr sz="1100" b="1" i="0" u="none" strike="noStrike" cap="none">
                <a:solidFill>
                  <a:schemeClr val="lt1"/>
                </a:solidFill>
                <a:latin typeface="Arial"/>
                <a:ea typeface="Arial"/>
                <a:cs typeface="Arial"/>
              </a:rPr>
              <a:t>Transfer</a:t>
            </a:r>
            <a:endParaRPr sz="1100" b="0" i="0" u="none" strike="noStrike" cap="none">
              <a:solidFill>
                <a:schemeClr val="dk1"/>
              </a:solidFill>
              <a:latin typeface="Arial"/>
              <a:ea typeface="Arial"/>
              <a:cs typeface="Arial"/>
            </a:endParaRPr>
          </a:p>
        </p:txBody>
      </p:sp>
      <p:sp>
        <p:nvSpPr>
          <p:cNvPr id="194" name="Google Shape;194;p31">
            <a:extLst xmlns:a="http://schemas.openxmlformats.org/drawingml/2006/main">
              <a:ext uri="{FF2B5EF4-FFF2-40B4-BE49-F238E27FC236}">
                <a16:creationId xmlns:a16="http://schemas.microsoft.com/office/drawing/2014/main" id="{7A1C8A87-2A1F-4524-A107-1484DFBA6FD0}"/>
              </a:ext>
            </a:extLst>
          </p:cNvPr>
          <p:cNvSpPr>
            <a:spLocks xmlns:a="http://schemas.openxmlformats.org/drawingml/2006/main" noGrp="1"/>
          </p:cNvSpPr>
          <p:nvPr/>
        </p:nvSpPr>
        <p:spPr>
          <a:xfrm xmlns:a="http://schemas.openxmlformats.org/drawingml/2006/main">
            <a:off x="548640" y="2002536"/>
            <a:ext cx="154305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Mexico ↔ United States ↔ Colombia; encrypted transport</a:t>
            </a:r>
            <a:endParaRPr sz="900" b="0" i="0" u="none" strike="noStrike" cap="none">
              <a:solidFill>
                <a:schemeClr val="dk1"/>
              </a:solidFill>
              <a:latin typeface="Arial"/>
              <a:ea typeface="Arial"/>
              <a:cs typeface="Arial"/>
            </a:endParaRPr>
          </a:p>
        </p:txBody>
      </p:sp>
      <p:cxnSp>
        <p:nvCxnSpPr>
          <p:cNvPr id="195" name="Google Shape;195;p31">
            <a:extLst xmlns:a="http://schemas.openxmlformats.org/drawingml/2006/main">
              <a:ext uri="{FF2B5EF4-FFF2-40B4-BE49-F238E27FC236}">
                <a16:creationId xmlns:a16="http://schemas.microsoft.com/office/drawing/2014/main" id="{630A8F42-C5C8-4DA4-90A7-2298E1B2ED3C}"/>
              </a:ext>
            </a:extLst>
          </p:cNvPr>
          <p:cNvCxnSpPr/>
          <p:nvPr/>
        </p:nvCxnSpPr>
        <p:spPr>
          <a:xfrm xmlns:a="http://schemas.openxmlformats.org/drawingml/2006/main">
            <a:off x="2269998" y="1954530"/>
            <a:ext cx="267462" cy="0"/>
          </a:xfrm>
          <a:prstGeom xmlns:a="http://schemas.openxmlformats.org/drawingml/2006/main" prst="straightConnector1">
            <a:avLst/>
          </a:prstGeom>
          <a:ln xmlns:a="http://schemas.openxmlformats.org/drawingml/2006/main" w="22225" cap="flat">
            <a:solidFill>
              <a:schemeClr val="accent5"/>
            </a:solidFill>
            <a:prstDash val="solid"/>
            <a:round/>
            <a:headEnd type="none" w="sm" len="sm"/>
            <a:tailEnd type="triangle" w="med" len="med"/>
          </a:ln>
        </p:spPr>
      </p:cxnSp>
      <p:sp>
        <p:nvSpPr>
          <p:cNvPr id="196" name="Google Shape;196;p31">
            <a:extLst xmlns:a="http://schemas.openxmlformats.org/drawingml/2006/main">
              <a:ext uri="{FF2B5EF4-FFF2-40B4-BE49-F238E27FC236}">
                <a16:creationId xmlns:a16="http://schemas.microsoft.com/office/drawing/2014/main" id="{9DD9A0D1-2EA4-49B4-98B3-389701D43C18}"/>
              </a:ext>
            </a:extLst>
          </p:cNvPr>
          <p:cNvSpPr>
            <a:spLocks xmlns:a="http://schemas.openxmlformats.org/drawingml/2006/main" noGrp="1"/>
          </p:cNvSpPr>
          <p:nvPr/>
        </p:nvSpPr>
        <p:spPr>
          <a:xfrm xmlns:a="http://schemas.openxmlformats.org/drawingml/2006/main">
            <a:off x="411480" y="2914650"/>
            <a:ext cx="1817370" cy="994410"/>
          </a:xfrm>
          <a:prstGeom xmlns:a="http://schemas.openxmlformats.org/drawingml/2006/main" prst="roundRect">
            <a:avLst>
              <a:gd name="adj" fmla="val 6897"/>
            </a:avLst>
          </a:prstGeom>
          <a:solidFill xmlns:a="http://schemas.openxmlformats.org/drawingml/2006/main">
            <a:schemeClr val="accent1">
              <a:alpha val="14902"/>
            </a:schemeClr>
          </a:solidFill>
          <a:ln xmlns:a="http://schemas.openxmlformats.org/drawingml/2006/main" w="9525" cap="flat" cmpd="sng">
            <a:solidFill>
              <a:schemeClr val="accent1">
                <a:alpha val="7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 name="Google Shape;197;p31">
            <a:extLst xmlns:a="http://schemas.openxmlformats.org/drawingml/2006/main">
              <a:ext uri="{FF2B5EF4-FFF2-40B4-BE49-F238E27FC236}">
                <a16:creationId xmlns:a16="http://schemas.microsoft.com/office/drawing/2014/main" id="{5133CD4B-6899-40ED-B2B7-761B6DD53B9D}"/>
              </a:ext>
            </a:extLst>
          </p:cNvPr>
          <p:cNvSpPr>
            <a:spLocks xmlns:a="http://schemas.openxmlformats.org/drawingml/2006/main" noGrp="1"/>
          </p:cNvSpPr>
          <p:nvPr/>
        </p:nvSpPr>
        <p:spPr>
          <a:xfrm xmlns:a="http://schemas.openxmlformats.org/drawingml/2006/main">
            <a:off x="548640" y="3051810"/>
            <a:ext cx="288036" cy="288036"/>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98" name="Google Shape;198;p31">
            <a:extLst xmlns:a="http://schemas.openxmlformats.org/drawingml/2006/main">
              <a:ext uri="{FF2B5EF4-FFF2-40B4-BE49-F238E27FC236}">
                <a16:creationId xmlns:a16="http://schemas.microsoft.com/office/drawing/2014/main" id="{42E0B8D3-A944-4CE3-ABD2-DE82676245E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9a703f7a2e74678">
            <a:alphaModFix/>
          </a:blip>
          <a:srcRect xmlns:a="http://schemas.openxmlformats.org/drawingml/2006/main" l="0" t="0" r="0" b="0"/>
          <a:stretch xmlns:a="http://schemas.openxmlformats.org/drawingml/2006/main"/>
        </p:blipFill>
        <p:spPr>
          <a:xfrm xmlns:a="http://schemas.openxmlformats.org/drawingml/2006/main">
            <a:off x="612008" y="3115178"/>
            <a:ext cx="161300" cy="161300"/>
          </a:xfrm>
          <a:prstGeom xmlns:a="http://schemas.openxmlformats.org/drawingml/2006/main" prst="rect">
            <a:avLst/>
          </a:prstGeom>
          <a:ln xmlns:a="http://schemas.openxmlformats.org/drawingml/2006/main">
            <a:noFill/>
          </a:ln>
        </p:spPr>
      </p:pic>
      <p:sp>
        <p:nvSpPr>
          <p:cNvPr id="199" name="Google Shape;199;p31">
            <a:extLst xmlns:a="http://schemas.openxmlformats.org/drawingml/2006/main">
              <a:ext uri="{FF2B5EF4-FFF2-40B4-BE49-F238E27FC236}">
                <a16:creationId xmlns:a16="http://schemas.microsoft.com/office/drawing/2014/main" id="{D8DE52D7-7C87-404D-B69B-6FA307BAC2B1}"/>
              </a:ext>
            </a:extLst>
          </p:cNvPr>
          <p:cNvSpPr>
            <a:spLocks xmlns:a="http://schemas.openxmlformats.org/drawingml/2006/main" noGrp="1"/>
          </p:cNvSpPr>
          <p:nvPr/>
        </p:nvSpPr>
        <p:spPr>
          <a:xfrm xmlns:a="http://schemas.openxmlformats.org/drawingml/2006/main">
            <a:off x="925830" y="3051810"/>
            <a:ext cx="1200150" cy="2880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accent5"/>
              </a:buClr>
              <a:buSzPts val="1100"/>
              <a:buFont typeface="Arial"/>
              <a:buNone/>
            </a:pPr>
            <a:r>
              <a:rPr sz="1100" b="1" i="0" u="none" strike="noStrike" cap="none">
                <a:solidFill>
                  <a:schemeClr val="accent5"/>
                </a:solidFill>
                <a:latin typeface="Arial"/>
                <a:ea typeface="Arial"/>
                <a:cs typeface="Arial"/>
              </a:rPr>
              <a:t>Encrypted</a:t>
            </a:r>
            <a:endParaRPr sz="1100" b="0" i="0" u="none" strike="noStrike" cap="none">
              <a:solidFill>
                <a:schemeClr val="dk1"/>
              </a:solidFill>
              <a:latin typeface="Arial"/>
              <a:ea typeface="Arial"/>
              <a:cs typeface="Arial"/>
            </a:endParaRPr>
          </a:p>
        </p:txBody>
      </p:sp>
      <p:sp>
        <p:nvSpPr>
          <p:cNvPr id="200" name="Google Shape;200;p31">
            <a:extLst xmlns:a="http://schemas.openxmlformats.org/drawingml/2006/main">
              <a:ext uri="{FF2B5EF4-FFF2-40B4-BE49-F238E27FC236}">
                <a16:creationId xmlns:a16="http://schemas.microsoft.com/office/drawing/2014/main" id="{8623295C-EECF-4926-9A15-CF0E0345AC10}"/>
              </a:ext>
            </a:extLst>
          </p:cNvPr>
          <p:cNvSpPr>
            <a:spLocks xmlns:a="http://schemas.openxmlformats.org/drawingml/2006/main" noGrp="1"/>
          </p:cNvSpPr>
          <p:nvPr/>
        </p:nvSpPr>
        <p:spPr>
          <a:xfrm xmlns:a="http://schemas.openxmlformats.org/drawingml/2006/main">
            <a:off x="548640" y="3408426"/>
            <a:ext cx="1543050"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Names and accounts encrypted; risk model receives tokens</a:t>
            </a:r>
            <a:endParaRPr sz="900" b="0" i="0" u="none" strike="noStrike" cap="none">
              <a:solidFill>
                <a:schemeClr val="dk1"/>
              </a:solidFill>
              <a:latin typeface="Arial"/>
              <a:ea typeface="Arial"/>
              <a:cs typeface="Arial"/>
            </a:endParaRPr>
          </a:p>
        </p:txBody>
      </p:sp>
      <p:sp>
        <p:nvSpPr>
          <p:cNvPr id="201" name="Google Shape;201;p31">
            <a:extLst xmlns:a="http://schemas.openxmlformats.org/drawingml/2006/main">
              <a:ext uri="{FF2B5EF4-FFF2-40B4-BE49-F238E27FC236}">
                <a16:creationId xmlns:a16="http://schemas.microsoft.com/office/drawing/2014/main" id="{9097E482-5A37-4C21-B1C4-BE00100E783B}"/>
              </a:ext>
            </a:extLst>
          </p:cNvPr>
          <p:cNvSpPr>
            <a:spLocks xmlns:a="http://schemas.openxmlformats.org/drawingml/2006/main" noGrp="1"/>
          </p:cNvSpPr>
          <p:nvPr/>
        </p:nvSpPr>
        <p:spPr>
          <a:xfrm xmlns:a="http://schemas.openxmlformats.org/drawingml/2006/main">
            <a:off x="2578608" y="1440180"/>
            <a:ext cx="1817370" cy="1028700"/>
          </a:xfrm>
          <a:prstGeom xmlns:a="http://schemas.openxmlformats.org/drawingml/2006/main" prst="roundRect">
            <a:avLst>
              <a:gd name="adj" fmla="val 6667"/>
            </a:avLst>
          </a:prstGeom>
          <a:solidFill xmlns:a="http://schemas.openxmlformats.org/drawingml/2006/main">
            <a:schemeClr val="dk2"/>
          </a:solidFill>
          <a:ln xmlns:a="http://schemas.openxmlformats.org/drawingml/2006/main" w="9525" cap="flat" cmpd="sng">
            <a:solidFill>
              <a:schemeClr val="accent5">
                <a:alpha val="80000"/>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2" name="Google Shape;202;p31">
            <a:extLst xmlns:a="http://schemas.openxmlformats.org/drawingml/2006/main">
              <a:ext uri="{FF2B5EF4-FFF2-40B4-BE49-F238E27FC236}">
                <a16:creationId xmlns:a16="http://schemas.microsoft.com/office/drawing/2014/main" id="{03B43136-626D-4536-AFBE-4C96E8B2F29E}"/>
              </a:ext>
            </a:extLst>
          </p:cNvPr>
          <p:cNvSpPr>
            <a:spLocks xmlns:a="http://schemas.openxmlformats.org/drawingml/2006/main" noGrp="1"/>
          </p:cNvSpPr>
          <p:nvPr/>
        </p:nvSpPr>
        <p:spPr>
          <a:xfrm xmlns:a="http://schemas.openxmlformats.org/drawingml/2006/main">
            <a:off x="2715768" y="1577340"/>
            <a:ext cx="342900" cy="3429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03" name="Google Shape;203;p31">
            <a:extLst xmlns:a="http://schemas.openxmlformats.org/drawingml/2006/main">
              <a:ext uri="{FF2B5EF4-FFF2-40B4-BE49-F238E27FC236}">
                <a16:creationId xmlns:a16="http://schemas.microsoft.com/office/drawing/2014/main" id="{67E8B833-B1DC-47C7-AFE1-F096261AD5A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161ae500f7645a0">
            <a:alphaModFix/>
          </a:blip>
          <a:srcRect xmlns:a="http://schemas.openxmlformats.org/drawingml/2006/main" l="0" t="0" r="0" b="0"/>
          <a:stretch xmlns:a="http://schemas.openxmlformats.org/drawingml/2006/main"/>
        </p:blipFill>
        <p:spPr>
          <a:xfrm xmlns:a="http://schemas.openxmlformats.org/drawingml/2006/main">
            <a:off x="2791206" y="1652778"/>
            <a:ext cx="192024" cy="192024"/>
          </a:xfrm>
          <a:prstGeom xmlns:a="http://schemas.openxmlformats.org/drawingml/2006/main" prst="rect">
            <a:avLst/>
          </a:prstGeom>
          <a:ln xmlns:a="http://schemas.openxmlformats.org/drawingml/2006/main">
            <a:noFill/>
          </a:ln>
        </p:spPr>
      </p:pic>
      <p:sp>
        <p:nvSpPr>
          <p:cNvPr id="204" name="Google Shape;204;p31">
            <a:extLst xmlns:a="http://schemas.openxmlformats.org/drawingml/2006/main">
              <a:ext uri="{FF2B5EF4-FFF2-40B4-BE49-F238E27FC236}">
                <a16:creationId xmlns:a16="http://schemas.microsoft.com/office/drawing/2014/main" id="{BDC529D8-7459-4141-98F4-106F2F6ED891}"/>
              </a:ext>
            </a:extLst>
          </p:cNvPr>
          <p:cNvSpPr>
            <a:spLocks xmlns:a="http://schemas.openxmlformats.org/drawingml/2006/main" noGrp="1"/>
          </p:cNvSpPr>
          <p:nvPr/>
        </p:nvSpPr>
        <p:spPr>
          <a:xfrm xmlns:a="http://schemas.openxmlformats.org/drawingml/2006/main">
            <a:off x="3140964" y="1577340"/>
            <a:ext cx="116586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100"/>
              <a:buFont typeface="Arial"/>
              <a:buNone/>
            </a:pPr>
            <a:r>
              <a:rPr sz="1100" b="1" i="0" u="none" strike="noStrike" cap="none">
                <a:solidFill>
                  <a:schemeClr val="lt1"/>
                </a:solidFill>
                <a:latin typeface="Arial"/>
                <a:ea typeface="Arial"/>
                <a:cs typeface="Arial"/>
              </a:rPr>
              <a:t>1 · OFAC screening</a:t>
            </a:r>
            <a:endParaRPr sz="1100" b="0" i="0" u="none" strike="noStrike" cap="none">
              <a:solidFill>
                <a:schemeClr val="dk1"/>
              </a:solidFill>
              <a:latin typeface="Arial"/>
              <a:ea typeface="Arial"/>
              <a:cs typeface="Arial"/>
            </a:endParaRPr>
          </a:p>
        </p:txBody>
      </p:sp>
      <p:sp>
        <p:nvSpPr>
          <p:cNvPr id="205" name="Google Shape;205;p31">
            <a:extLst xmlns:a="http://schemas.openxmlformats.org/drawingml/2006/main">
              <a:ext uri="{FF2B5EF4-FFF2-40B4-BE49-F238E27FC236}">
                <a16:creationId xmlns:a16="http://schemas.microsoft.com/office/drawing/2014/main" id="{1D7D75C5-D770-4F74-AEEE-DF99F552985B}"/>
              </a:ext>
            </a:extLst>
          </p:cNvPr>
          <p:cNvSpPr>
            <a:spLocks xmlns:a="http://schemas.openxmlformats.org/drawingml/2006/main" noGrp="1"/>
          </p:cNvSpPr>
          <p:nvPr/>
        </p:nvSpPr>
        <p:spPr>
          <a:xfrm xmlns:a="http://schemas.openxmlformats.org/drawingml/2006/main">
            <a:off x="2715768" y="2002536"/>
            <a:ext cx="154305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Fuzzy matching against sanctions lists</a:t>
            </a:r>
            <a:endParaRPr sz="900" b="0" i="0" u="none" strike="noStrike" cap="none">
              <a:solidFill>
                <a:schemeClr val="dk1"/>
              </a:solidFill>
              <a:latin typeface="Arial"/>
              <a:ea typeface="Arial"/>
              <a:cs typeface="Arial"/>
            </a:endParaRPr>
          </a:p>
        </p:txBody>
      </p:sp>
      <p:cxnSp>
        <p:nvCxnSpPr>
          <p:cNvPr id="206" name="Google Shape;206;p31">
            <a:extLst xmlns:a="http://schemas.openxmlformats.org/drawingml/2006/main">
              <a:ext uri="{FF2B5EF4-FFF2-40B4-BE49-F238E27FC236}">
                <a16:creationId xmlns:a16="http://schemas.microsoft.com/office/drawing/2014/main" id="{BF1A2997-5A3A-422C-88AC-12C4AB7AE495}"/>
              </a:ext>
            </a:extLst>
          </p:cNvPr>
          <p:cNvCxnSpPr/>
          <p:nvPr/>
        </p:nvCxnSpPr>
        <p:spPr>
          <a:xfrm xmlns:a="http://schemas.openxmlformats.org/drawingml/2006/main">
            <a:off x="4437126" y="1954530"/>
            <a:ext cx="267462" cy="0"/>
          </a:xfrm>
          <a:prstGeom xmlns:a="http://schemas.openxmlformats.org/drawingml/2006/main" prst="straightConnector1">
            <a:avLst/>
          </a:prstGeom>
          <a:ln xmlns:a="http://schemas.openxmlformats.org/drawingml/2006/main" w="22225" cap="flat">
            <a:solidFill>
              <a:schemeClr val="accent5"/>
            </a:solidFill>
            <a:prstDash val="solid"/>
            <a:round/>
            <a:headEnd type="none" w="sm" len="sm"/>
            <a:tailEnd type="triangle" w="med" len="med"/>
          </a:ln>
        </p:spPr>
      </p:cxnSp>
      <p:sp>
        <p:nvSpPr>
          <p:cNvPr id="207" name="Google Shape;207;p31">
            <a:extLst xmlns:a="http://schemas.openxmlformats.org/drawingml/2006/main">
              <a:ext uri="{FF2B5EF4-FFF2-40B4-BE49-F238E27FC236}">
                <a16:creationId xmlns:a16="http://schemas.microsoft.com/office/drawing/2014/main" id="{30975929-A335-474E-A3F9-9AD3BE7D9139}"/>
              </a:ext>
            </a:extLst>
          </p:cNvPr>
          <p:cNvSpPr>
            <a:spLocks xmlns:a="http://schemas.openxmlformats.org/drawingml/2006/main" noGrp="1"/>
          </p:cNvSpPr>
          <p:nvPr/>
        </p:nvSpPr>
        <p:spPr>
          <a:xfrm xmlns:a="http://schemas.openxmlformats.org/drawingml/2006/main">
            <a:off x="2578608" y="2914650"/>
            <a:ext cx="1817370" cy="994410"/>
          </a:xfrm>
          <a:prstGeom xmlns:a="http://schemas.openxmlformats.org/drawingml/2006/main" prst="roundRect">
            <a:avLst>
              <a:gd name="adj" fmla="val 6897"/>
            </a:avLst>
          </a:prstGeom>
          <a:solidFill xmlns:a="http://schemas.openxmlformats.org/drawingml/2006/main">
            <a:schemeClr val="accent3">
              <a:alpha val="14902"/>
            </a:schemeClr>
          </a:solidFill>
          <a:ln xmlns:a="http://schemas.openxmlformats.org/drawingml/2006/main" w="9525" cap="flat" cmpd="sng">
            <a:solidFill>
              <a:schemeClr val="accent3">
                <a:alpha val="7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8" name="Google Shape;208;p31">
            <a:extLst xmlns:a="http://schemas.openxmlformats.org/drawingml/2006/main">
              <a:ext uri="{FF2B5EF4-FFF2-40B4-BE49-F238E27FC236}">
                <a16:creationId xmlns:a16="http://schemas.microsoft.com/office/drawing/2014/main" id="{434C1508-A823-47BB-8692-91A299308C31}"/>
              </a:ext>
            </a:extLst>
          </p:cNvPr>
          <p:cNvSpPr>
            <a:spLocks xmlns:a="http://schemas.openxmlformats.org/drawingml/2006/main" noGrp="1"/>
          </p:cNvSpPr>
          <p:nvPr/>
        </p:nvSpPr>
        <p:spPr>
          <a:xfrm xmlns:a="http://schemas.openxmlformats.org/drawingml/2006/main">
            <a:off x="2715768" y="3051810"/>
            <a:ext cx="288036" cy="288036"/>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09" name="Google Shape;209;p31">
            <a:extLst xmlns:a="http://schemas.openxmlformats.org/drawingml/2006/main">
              <a:ext uri="{FF2B5EF4-FFF2-40B4-BE49-F238E27FC236}">
                <a16:creationId xmlns:a16="http://schemas.microsoft.com/office/drawing/2014/main" id="{4E3C21F9-1CD0-4075-B71E-DE1BBC9846A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edc723657014676">
            <a:alphaModFix/>
          </a:blip>
          <a:srcRect xmlns:a="http://schemas.openxmlformats.org/drawingml/2006/main" l="0" t="0" r="0" b="0"/>
          <a:stretch xmlns:a="http://schemas.openxmlformats.org/drawingml/2006/main"/>
        </p:blipFill>
        <p:spPr>
          <a:xfrm xmlns:a="http://schemas.openxmlformats.org/drawingml/2006/main">
            <a:off x="2779136" y="3115178"/>
            <a:ext cx="161300" cy="161300"/>
          </a:xfrm>
          <a:prstGeom xmlns:a="http://schemas.openxmlformats.org/drawingml/2006/main" prst="rect">
            <a:avLst/>
          </a:prstGeom>
          <a:ln xmlns:a="http://schemas.openxmlformats.org/drawingml/2006/main">
            <a:noFill/>
          </a:ln>
        </p:spPr>
      </p:pic>
      <p:sp>
        <p:nvSpPr>
          <p:cNvPr id="210" name="Google Shape;210;p31">
            <a:extLst xmlns:a="http://schemas.openxmlformats.org/drawingml/2006/main">
              <a:ext uri="{FF2B5EF4-FFF2-40B4-BE49-F238E27FC236}">
                <a16:creationId xmlns:a16="http://schemas.microsoft.com/office/drawing/2014/main" id="{C50B7C33-709E-43FD-BE94-3E42279D5064}"/>
              </a:ext>
            </a:extLst>
          </p:cNvPr>
          <p:cNvSpPr>
            <a:spLocks xmlns:a="http://schemas.openxmlformats.org/drawingml/2006/main" noGrp="1"/>
          </p:cNvSpPr>
          <p:nvPr/>
        </p:nvSpPr>
        <p:spPr>
          <a:xfrm xmlns:a="http://schemas.openxmlformats.org/drawingml/2006/main">
            <a:off x="3092958" y="3051810"/>
            <a:ext cx="1200150" cy="2880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accent3"/>
              </a:buClr>
              <a:buSzPts val="1100"/>
              <a:buFont typeface="Arial"/>
              <a:buNone/>
            </a:pPr>
            <a:r>
              <a:rPr sz="1100" b="1" i="0" u="none" strike="noStrike" cap="none">
                <a:solidFill>
                  <a:schemeClr val="accent3"/>
                </a:solidFill>
                <a:latin typeface="Arial"/>
                <a:ea typeface="Arial"/>
                <a:cs typeface="Arial"/>
              </a:rPr>
              <a:t>Blocked</a:t>
            </a:r>
            <a:endParaRPr sz="1100" b="0" i="0" u="none" strike="noStrike" cap="none">
              <a:solidFill>
                <a:schemeClr val="dk1"/>
              </a:solidFill>
              <a:latin typeface="Arial"/>
              <a:ea typeface="Arial"/>
              <a:cs typeface="Arial"/>
            </a:endParaRPr>
          </a:p>
        </p:txBody>
      </p:sp>
      <p:sp>
        <p:nvSpPr>
          <p:cNvPr id="211" name="Google Shape;211;p31">
            <a:extLst xmlns:a="http://schemas.openxmlformats.org/drawingml/2006/main">
              <a:ext uri="{FF2B5EF4-FFF2-40B4-BE49-F238E27FC236}">
                <a16:creationId xmlns:a16="http://schemas.microsoft.com/office/drawing/2014/main" id="{4B199A7B-220F-4C5B-9CC3-E8B0978DA760}"/>
              </a:ext>
            </a:extLst>
          </p:cNvPr>
          <p:cNvSpPr>
            <a:spLocks xmlns:a="http://schemas.openxmlformats.org/drawingml/2006/main" noGrp="1"/>
          </p:cNvSpPr>
          <p:nvPr/>
        </p:nvSpPr>
        <p:spPr>
          <a:xfrm xmlns:a="http://schemas.openxmlformats.org/drawingml/2006/main">
            <a:off x="2715768" y="3408426"/>
            <a:ext cx="1543050"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Possible sanctions match: review required</a:t>
            </a:r>
            <a:endParaRPr sz="900" b="0" i="0" u="none" strike="noStrike" cap="none">
              <a:solidFill>
                <a:schemeClr val="dk1"/>
              </a:solidFill>
              <a:latin typeface="Arial"/>
              <a:ea typeface="Arial"/>
              <a:cs typeface="Arial"/>
            </a:endParaRPr>
          </a:p>
        </p:txBody>
      </p:sp>
      <p:cxnSp>
        <p:nvCxnSpPr>
          <p:cNvPr id="212" name="Google Shape;212;p31">
            <a:extLst xmlns:a="http://schemas.openxmlformats.org/drawingml/2006/main">
              <a:ext uri="{FF2B5EF4-FFF2-40B4-BE49-F238E27FC236}">
                <a16:creationId xmlns:a16="http://schemas.microsoft.com/office/drawing/2014/main" id="{FC498F9B-C328-4D34-8DC9-660D5C9C7EEC}"/>
              </a:ext>
            </a:extLst>
          </p:cNvPr>
          <p:cNvCxnSpPr/>
          <p:nvPr/>
        </p:nvCxnSpPr>
        <p:spPr>
          <a:xfrm xmlns:a="http://schemas.openxmlformats.org/drawingml/2006/main">
            <a:off x="3487293" y="2510028"/>
            <a:ext cx="0" cy="363474"/>
          </a:xfrm>
          <a:prstGeom xmlns:a="http://schemas.openxmlformats.org/drawingml/2006/main" prst="straightConnector1">
            <a:avLst/>
          </a:prstGeom>
          <a:ln xmlns:a="http://schemas.openxmlformats.org/drawingml/2006/main" w="22225" cap="flat">
            <a:solidFill>
              <a:schemeClr val="accent3"/>
            </a:solidFill>
            <a:prstDash val="solid"/>
            <a:round/>
            <a:headEnd type="none" w="sm" len="sm"/>
            <a:tailEnd type="triangle" w="med" len="med"/>
          </a:ln>
        </p:spPr>
      </p:cxnSp>
      <p:sp>
        <p:nvSpPr>
          <p:cNvPr id="213" name="Google Shape;213;p31">
            <a:extLst xmlns:a="http://schemas.openxmlformats.org/drawingml/2006/main">
              <a:ext uri="{FF2B5EF4-FFF2-40B4-BE49-F238E27FC236}">
                <a16:creationId xmlns:a16="http://schemas.microsoft.com/office/drawing/2014/main" id="{68A58DD4-AB25-4D6F-9E6A-72A18867963B}"/>
              </a:ext>
            </a:extLst>
          </p:cNvPr>
          <p:cNvSpPr>
            <a:spLocks xmlns:a="http://schemas.openxmlformats.org/drawingml/2006/main" noGrp="1"/>
          </p:cNvSpPr>
          <p:nvPr/>
        </p:nvSpPr>
        <p:spPr>
          <a:xfrm xmlns:a="http://schemas.openxmlformats.org/drawingml/2006/main">
            <a:off x="4745736" y="1440180"/>
            <a:ext cx="1817370" cy="1028700"/>
          </a:xfrm>
          <a:prstGeom xmlns:a="http://schemas.openxmlformats.org/drawingml/2006/main" prst="roundRect">
            <a:avLst>
              <a:gd name="adj" fmla="val 6667"/>
            </a:avLst>
          </a:prstGeom>
          <a:solidFill xmlns:a="http://schemas.openxmlformats.org/drawingml/2006/main">
            <a:schemeClr val="dk2"/>
          </a:solidFill>
          <a:ln xmlns:a="http://schemas.openxmlformats.org/drawingml/2006/main" w="9525" cap="flat" cmpd="sng">
            <a:solidFill>
              <a:schemeClr val="accent5">
                <a:alpha val="80000"/>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4" name="Google Shape;214;p31">
            <a:extLst xmlns:a="http://schemas.openxmlformats.org/drawingml/2006/main">
              <a:ext uri="{FF2B5EF4-FFF2-40B4-BE49-F238E27FC236}">
                <a16:creationId xmlns:a16="http://schemas.microsoft.com/office/drawing/2014/main" id="{E91FE4CD-8DDA-483F-95B4-ED06E7EAEA72}"/>
              </a:ext>
            </a:extLst>
          </p:cNvPr>
          <p:cNvSpPr>
            <a:spLocks xmlns:a="http://schemas.openxmlformats.org/drawingml/2006/main" noGrp="1"/>
          </p:cNvSpPr>
          <p:nvPr/>
        </p:nvSpPr>
        <p:spPr>
          <a:xfrm xmlns:a="http://schemas.openxmlformats.org/drawingml/2006/main">
            <a:off x="4882896" y="1577340"/>
            <a:ext cx="342900" cy="3429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15" name="Google Shape;215;p31">
            <a:extLst xmlns:a="http://schemas.openxmlformats.org/drawingml/2006/main">
              <a:ext uri="{FF2B5EF4-FFF2-40B4-BE49-F238E27FC236}">
                <a16:creationId xmlns:a16="http://schemas.microsoft.com/office/drawing/2014/main" id="{61984D1B-92C0-4D00-BC4F-560A957DBD1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bfb3efc5e4c429a">
            <a:alphaModFix/>
          </a:blip>
          <a:srcRect xmlns:a="http://schemas.openxmlformats.org/drawingml/2006/main" l="0" t="0" r="0" b="0"/>
          <a:stretch xmlns:a="http://schemas.openxmlformats.org/drawingml/2006/main"/>
        </p:blipFill>
        <p:spPr>
          <a:xfrm xmlns:a="http://schemas.openxmlformats.org/drawingml/2006/main">
            <a:off x="4958334" y="1652778"/>
            <a:ext cx="192024" cy="192024"/>
          </a:xfrm>
          <a:prstGeom xmlns:a="http://schemas.openxmlformats.org/drawingml/2006/main" prst="rect">
            <a:avLst/>
          </a:prstGeom>
          <a:ln xmlns:a="http://schemas.openxmlformats.org/drawingml/2006/main">
            <a:noFill/>
          </a:ln>
        </p:spPr>
      </p:pic>
      <p:sp>
        <p:nvSpPr>
          <p:cNvPr id="216" name="Google Shape;216;p31">
            <a:extLst xmlns:a="http://schemas.openxmlformats.org/drawingml/2006/main">
              <a:ext uri="{FF2B5EF4-FFF2-40B4-BE49-F238E27FC236}">
                <a16:creationId xmlns:a16="http://schemas.microsoft.com/office/drawing/2014/main" id="{ABDF0C43-4FBC-4468-8496-F4798B77ED16}"/>
              </a:ext>
            </a:extLst>
          </p:cNvPr>
          <p:cNvSpPr>
            <a:spLocks xmlns:a="http://schemas.openxmlformats.org/drawingml/2006/main" noGrp="1"/>
          </p:cNvSpPr>
          <p:nvPr/>
        </p:nvSpPr>
        <p:spPr>
          <a:xfrm xmlns:a="http://schemas.openxmlformats.org/drawingml/2006/main">
            <a:off x="5308092" y="1577340"/>
            <a:ext cx="116586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100"/>
              <a:buFont typeface="Arial"/>
              <a:buNone/>
            </a:pPr>
            <a:r>
              <a:rPr sz="1100" b="1" i="0" u="none" strike="noStrike" cap="none">
                <a:solidFill>
                  <a:schemeClr val="lt1"/>
                </a:solidFill>
                <a:latin typeface="Arial"/>
                <a:ea typeface="Arial"/>
                <a:cs typeface="Arial"/>
              </a:rPr>
              <a:t>2 · Fraud / AML risk</a:t>
            </a:r>
            <a:endParaRPr sz="1100" b="0" i="0" u="none" strike="noStrike" cap="none">
              <a:solidFill>
                <a:schemeClr val="dk1"/>
              </a:solidFill>
              <a:latin typeface="Arial"/>
              <a:ea typeface="Arial"/>
              <a:cs typeface="Arial"/>
            </a:endParaRPr>
          </a:p>
        </p:txBody>
      </p:sp>
      <p:sp>
        <p:nvSpPr>
          <p:cNvPr id="217" name="Google Shape;217;p31">
            <a:extLst xmlns:a="http://schemas.openxmlformats.org/drawingml/2006/main">
              <a:ext uri="{FF2B5EF4-FFF2-40B4-BE49-F238E27FC236}">
                <a16:creationId xmlns:a16="http://schemas.microsoft.com/office/drawing/2014/main" id="{418B89DA-D412-4A6F-B93E-77E058D35B6D}"/>
              </a:ext>
            </a:extLst>
          </p:cNvPr>
          <p:cNvSpPr>
            <a:spLocks xmlns:a="http://schemas.openxmlformats.org/drawingml/2006/main" noGrp="1"/>
          </p:cNvSpPr>
          <p:nvPr/>
        </p:nvSpPr>
        <p:spPr>
          <a:xfrm xmlns:a="http://schemas.openxmlformats.org/drawingml/2006/main">
            <a:off x="4882896" y="2002536"/>
            <a:ext cx="154305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XGBoost scores transactions</a:t>
            </a:r>
            <a:endParaRPr sz="900" b="0" i="0" u="none" strike="noStrike" cap="none">
              <a:solidFill>
                <a:schemeClr val="dk1"/>
              </a:solidFill>
              <a:latin typeface="Arial"/>
              <a:ea typeface="Arial"/>
              <a:cs typeface="Arial"/>
            </a:endParaRPr>
          </a:p>
        </p:txBody>
      </p:sp>
      <p:cxnSp>
        <p:nvCxnSpPr>
          <p:cNvPr id="218" name="Google Shape;218;p31">
            <a:extLst xmlns:a="http://schemas.openxmlformats.org/drawingml/2006/main">
              <a:ext uri="{FF2B5EF4-FFF2-40B4-BE49-F238E27FC236}">
                <a16:creationId xmlns:a16="http://schemas.microsoft.com/office/drawing/2014/main" id="{700A58A0-D32E-45FA-85A7-1348C5BBE760}"/>
              </a:ext>
            </a:extLst>
          </p:cNvPr>
          <p:cNvCxnSpPr/>
          <p:nvPr/>
        </p:nvCxnSpPr>
        <p:spPr>
          <a:xfrm xmlns:a="http://schemas.openxmlformats.org/drawingml/2006/main">
            <a:off x="6604254" y="1954530"/>
            <a:ext cx="267462" cy="0"/>
          </a:xfrm>
          <a:prstGeom xmlns:a="http://schemas.openxmlformats.org/drawingml/2006/main" prst="straightConnector1">
            <a:avLst/>
          </a:prstGeom>
          <a:ln xmlns:a="http://schemas.openxmlformats.org/drawingml/2006/main" w="22225" cap="flat">
            <a:solidFill>
              <a:schemeClr val="accent5"/>
            </a:solidFill>
            <a:prstDash val="solid"/>
            <a:round/>
            <a:headEnd type="none" w="sm" len="sm"/>
            <a:tailEnd type="triangle" w="med" len="med"/>
          </a:ln>
        </p:spPr>
      </p:cxnSp>
      <p:sp>
        <p:nvSpPr>
          <p:cNvPr id="219" name="Google Shape;219;p31">
            <a:extLst xmlns:a="http://schemas.openxmlformats.org/drawingml/2006/main">
              <a:ext uri="{FF2B5EF4-FFF2-40B4-BE49-F238E27FC236}">
                <a16:creationId xmlns:a16="http://schemas.microsoft.com/office/drawing/2014/main" id="{1D60DC4D-ACDC-4448-924F-57C91C967D02}"/>
              </a:ext>
            </a:extLst>
          </p:cNvPr>
          <p:cNvSpPr>
            <a:spLocks xmlns:a="http://schemas.openxmlformats.org/drawingml/2006/main" noGrp="1"/>
          </p:cNvSpPr>
          <p:nvPr/>
        </p:nvSpPr>
        <p:spPr>
          <a:xfrm xmlns:a="http://schemas.openxmlformats.org/drawingml/2006/main">
            <a:off x="4745736" y="2914650"/>
            <a:ext cx="1817370" cy="994410"/>
          </a:xfrm>
          <a:prstGeom xmlns:a="http://schemas.openxmlformats.org/drawingml/2006/main" prst="roundRect">
            <a:avLst>
              <a:gd name="adj" fmla="val 6897"/>
            </a:avLst>
          </a:prstGeom>
          <a:solidFill xmlns:a="http://schemas.openxmlformats.org/drawingml/2006/main">
            <a:schemeClr val="accent4">
              <a:alpha val="14902"/>
            </a:schemeClr>
          </a:solidFill>
          <a:ln xmlns:a="http://schemas.openxmlformats.org/drawingml/2006/main" w="9525" cap="flat" cmpd="sng">
            <a:solidFill>
              <a:schemeClr val="accent4">
                <a:alpha val="7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0" name="Google Shape;220;p31">
            <a:extLst xmlns:a="http://schemas.openxmlformats.org/drawingml/2006/main">
              <a:ext uri="{FF2B5EF4-FFF2-40B4-BE49-F238E27FC236}">
                <a16:creationId xmlns:a16="http://schemas.microsoft.com/office/drawing/2014/main" id="{F60DD701-8BFC-48A3-B7EE-5866D0239B60}"/>
              </a:ext>
            </a:extLst>
          </p:cNvPr>
          <p:cNvSpPr>
            <a:spLocks xmlns:a="http://schemas.openxmlformats.org/drawingml/2006/main" noGrp="1"/>
          </p:cNvSpPr>
          <p:nvPr/>
        </p:nvSpPr>
        <p:spPr>
          <a:xfrm xmlns:a="http://schemas.openxmlformats.org/drawingml/2006/main">
            <a:off x="4882896" y="3051810"/>
            <a:ext cx="288036" cy="288036"/>
          </a:xfrm>
          <a:prstGeom xmlns:a="http://schemas.openxmlformats.org/drawingml/2006/main" prst="ellipse">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21" name="Google Shape;221;p31">
            <a:extLst xmlns:a="http://schemas.openxmlformats.org/drawingml/2006/main">
              <a:ext uri="{FF2B5EF4-FFF2-40B4-BE49-F238E27FC236}">
                <a16:creationId xmlns:a16="http://schemas.microsoft.com/office/drawing/2014/main" id="{85F90F40-93AD-431C-82B0-BA004D1260A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cb8d5f6194d4218">
            <a:alphaModFix/>
          </a:blip>
          <a:srcRect xmlns:a="http://schemas.openxmlformats.org/drawingml/2006/main" l="0" t="0" r="0" b="0"/>
          <a:stretch xmlns:a="http://schemas.openxmlformats.org/drawingml/2006/main"/>
        </p:blipFill>
        <p:spPr>
          <a:xfrm xmlns:a="http://schemas.openxmlformats.org/drawingml/2006/main">
            <a:off x="4946264" y="3115178"/>
            <a:ext cx="161300" cy="161300"/>
          </a:xfrm>
          <a:prstGeom xmlns:a="http://schemas.openxmlformats.org/drawingml/2006/main" prst="rect">
            <a:avLst/>
          </a:prstGeom>
          <a:ln xmlns:a="http://schemas.openxmlformats.org/drawingml/2006/main">
            <a:noFill/>
          </a:ln>
        </p:spPr>
      </p:pic>
      <p:sp>
        <p:nvSpPr>
          <p:cNvPr id="222" name="Google Shape;222;p31">
            <a:extLst xmlns:a="http://schemas.openxmlformats.org/drawingml/2006/main">
              <a:ext uri="{FF2B5EF4-FFF2-40B4-BE49-F238E27FC236}">
                <a16:creationId xmlns:a16="http://schemas.microsoft.com/office/drawing/2014/main" id="{C27E2281-929A-4812-BD91-4E97E4A3C124}"/>
              </a:ext>
            </a:extLst>
          </p:cNvPr>
          <p:cNvSpPr>
            <a:spLocks xmlns:a="http://schemas.openxmlformats.org/drawingml/2006/main" noGrp="1"/>
          </p:cNvSpPr>
          <p:nvPr/>
        </p:nvSpPr>
        <p:spPr>
          <a:xfrm xmlns:a="http://schemas.openxmlformats.org/drawingml/2006/main">
            <a:off x="5260086" y="3051810"/>
            <a:ext cx="1200150" cy="2880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accent4"/>
              </a:buClr>
              <a:buSzPts val="1100"/>
              <a:buFont typeface="Arial"/>
              <a:buNone/>
            </a:pPr>
            <a:r>
              <a:rPr sz="1100" b="1" i="0" u="none" strike="noStrike" cap="none">
                <a:solidFill>
                  <a:schemeClr val="accent4"/>
                </a:solidFill>
                <a:latin typeface="Arial"/>
                <a:ea typeface="Arial"/>
                <a:cs typeface="Arial"/>
              </a:rPr>
              <a:t>Held for review</a:t>
            </a:r>
            <a:endParaRPr sz="1100" b="0" i="0" u="none" strike="noStrike" cap="none">
              <a:solidFill>
                <a:schemeClr val="dk1"/>
              </a:solidFill>
              <a:latin typeface="Arial"/>
              <a:ea typeface="Arial"/>
              <a:cs typeface="Arial"/>
            </a:endParaRPr>
          </a:p>
        </p:txBody>
      </p:sp>
      <p:sp>
        <p:nvSpPr>
          <p:cNvPr id="223" name="Google Shape;223;p31">
            <a:extLst xmlns:a="http://schemas.openxmlformats.org/drawingml/2006/main">
              <a:ext uri="{FF2B5EF4-FFF2-40B4-BE49-F238E27FC236}">
                <a16:creationId xmlns:a16="http://schemas.microsoft.com/office/drawing/2014/main" id="{27991D16-D06B-4ED3-8266-745795269510}"/>
              </a:ext>
            </a:extLst>
          </p:cNvPr>
          <p:cNvSpPr>
            <a:spLocks xmlns:a="http://schemas.openxmlformats.org/drawingml/2006/main" noGrp="1"/>
          </p:cNvSpPr>
          <p:nvPr/>
        </p:nvSpPr>
        <p:spPr>
          <a:xfrm xmlns:a="http://schemas.openxmlformats.org/drawingml/2006/main">
            <a:off x="4882896" y="3408426"/>
            <a:ext cx="1543050"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Suspicious pattern: human review with a proposed Granite explanation</a:t>
            </a:r>
            <a:endParaRPr sz="900" b="0" i="0" u="none" strike="noStrike" cap="none">
              <a:solidFill>
                <a:schemeClr val="dk1"/>
              </a:solidFill>
              <a:latin typeface="Arial"/>
              <a:ea typeface="Arial"/>
              <a:cs typeface="Arial"/>
            </a:endParaRPr>
          </a:p>
        </p:txBody>
      </p:sp>
      <p:cxnSp>
        <p:nvCxnSpPr>
          <p:cNvPr id="224" name="Google Shape;224;p31">
            <a:extLst xmlns:a="http://schemas.openxmlformats.org/drawingml/2006/main">
              <a:ext uri="{FF2B5EF4-FFF2-40B4-BE49-F238E27FC236}">
                <a16:creationId xmlns:a16="http://schemas.microsoft.com/office/drawing/2014/main" id="{E1C83C76-046C-4D77-95B0-5ECA07BFFF8D}"/>
              </a:ext>
            </a:extLst>
          </p:cNvPr>
          <p:cNvCxnSpPr/>
          <p:nvPr/>
        </p:nvCxnSpPr>
        <p:spPr>
          <a:xfrm xmlns:a="http://schemas.openxmlformats.org/drawingml/2006/main">
            <a:off x="5654421" y="2510028"/>
            <a:ext cx="0" cy="363474"/>
          </a:xfrm>
          <a:prstGeom xmlns:a="http://schemas.openxmlformats.org/drawingml/2006/main" prst="straightConnector1">
            <a:avLst/>
          </a:prstGeom>
          <a:ln xmlns:a="http://schemas.openxmlformats.org/drawingml/2006/main" w="22225" cap="flat">
            <a:solidFill>
              <a:schemeClr val="accent4"/>
            </a:solidFill>
            <a:prstDash val="solid"/>
            <a:round/>
            <a:headEnd type="none" w="sm" len="sm"/>
            <a:tailEnd type="triangle" w="med" len="med"/>
          </a:ln>
        </p:spPr>
      </p:cxnSp>
      <p:sp>
        <p:nvSpPr>
          <p:cNvPr id="225" name="Google Shape;225;p31">
            <a:extLst xmlns:a="http://schemas.openxmlformats.org/drawingml/2006/main">
              <a:ext uri="{FF2B5EF4-FFF2-40B4-BE49-F238E27FC236}">
                <a16:creationId xmlns:a16="http://schemas.microsoft.com/office/drawing/2014/main" id="{CB2C8C21-C587-4E29-862D-D6325856E215}"/>
              </a:ext>
            </a:extLst>
          </p:cNvPr>
          <p:cNvSpPr>
            <a:spLocks xmlns:a="http://schemas.openxmlformats.org/drawingml/2006/main" noGrp="1"/>
          </p:cNvSpPr>
          <p:nvPr/>
        </p:nvSpPr>
        <p:spPr>
          <a:xfrm xmlns:a="http://schemas.openxmlformats.org/drawingml/2006/main">
            <a:off x="6912864" y="1440180"/>
            <a:ext cx="1817370" cy="1028700"/>
          </a:xfrm>
          <a:prstGeom xmlns:a="http://schemas.openxmlformats.org/drawingml/2006/main" prst="roundRect">
            <a:avLst>
              <a:gd name="adj" fmla="val 6667"/>
            </a:avLst>
          </a:prstGeom>
          <a:solidFill xmlns:a="http://schemas.openxmlformats.org/drawingml/2006/main">
            <a:schemeClr val="dk2"/>
          </a:solidFill>
          <a:ln xmlns:a="http://schemas.openxmlformats.org/drawingml/2006/main" w="9525" cap="flat" cmpd="sng">
            <a:solidFill>
              <a:schemeClr val="accent5">
                <a:alpha val="80000"/>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6" name="Google Shape;226;p31">
            <a:extLst xmlns:a="http://schemas.openxmlformats.org/drawingml/2006/main">
              <a:ext uri="{FF2B5EF4-FFF2-40B4-BE49-F238E27FC236}">
                <a16:creationId xmlns:a16="http://schemas.microsoft.com/office/drawing/2014/main" id="{C0DF3080-301E-4141-9FFE-CD2F3CD2CAB6}"/>
              </a:ext>
            </a:extLst>
          </p:cNvPr>
          <p:cNvSpPr>
            <a:spLocks xmlns:a="http://schemas.openxmlformats.org/drawingml/2006/main" noGrp="1"/>
          </p:cNvSpPr>
          <p:nvPr/>
        </p:nvSpPr>
        <p:spPr>
          <a:xfrm xmlns:a="http://schemas.openxmlformats.org/drawingml/2006/main">
            <a:off x="7050024" y="1577340"/>
            <a:ext cx="342900" cy="3429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27" name="Google Shape;227;p31">
            <a:extLst xmlns:a="http://schemas.openxmlformats.org/drawingml/2006/main">
              <a:ext uri="{FF2B5EF4-FFF2-40B4-BE49-F238E27FC236}">
                <a16:creationId xmlns:a16="http://schemas.microsoft.com/office/drawing/2014/main" id="{02F30FE2-B774-4B74-8CF0-55A2096D3C3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113494cfbf24000">
            <a:alphaModFix/>
          </a:blip>
          <a:srcRect xmlns:a="http://schemas.openxmlformats.org/drawingml/2006/main" l="0" t="0" r="0" b="0"/>
          <a:stretch xmlns:a="http://schemas.openxmlformats.org/drawingml/2006/main"/>
        </p:blipFill>
        <p:spPr>
          <a:xfrm xmlns:a="http://schemas.openxmlformats.org/drawingml/2006/main">
            <a:off x="7125462" y="1652778"/>
            <a:ext cx="192024" cy="192024"/>
          </a:xfrm>
          <a:prstGeom xmlns:a="http://schemas.openxmlformats.org/drawingml/2006/main" prst="rect">
            <a:avLst/>
          </a:prstGeom>
          <a:ln xmlns:a="http://schemas.openxmlformats.org/drawingml/2006/main">
            <a:noFill/>
          </a:ln>
        </p:spPr>
      </p:pic>
      <p:sp>
        <p:nvSpPr>
          <p:cNvPr id="228" name="Google Shape;228;p31">
            <a:extLst xmlns:a="http://schemas.openxmlformats.org/drawingml/2006/main">
              <a:ext uri="{FF2B5EF4-FFF2-40B4-BE49-F238E27FC236}">
                <a16:creationId xmlns:a16="http://schemas.microsoft.com/office/drawing/2014/main" id="{0B94BFD0-85A1-4E1D-911D-F71ACCFE8BC5}"/>
              </a:ext>
            </a:extLst>
          </p:cNvPr>
          <p:cNvSpPr>
            <a:spLocks xmlns:a="http://schemas.openxmlformats.org/drawingml/2006/main" noGrp="1"/>
          </p:cNvSpPr>
          <p:nvPr/>
        </p:nvSpPr>
        <p:spPr>
          <a:xfrm xmlns:a="http://schemas.openxmlformats.org/drawingml/2006/main">
            <a:off x="7475220" y="1577340"/>
            <a:ext cx="116586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100"/>
              <a:buFont typeface="Arial"/>
              <a:buNone/>
            </a:pPr>
            <a:r>
              <a:rPr sz="1100" b="1" i="0" u="none" strike="noStrike" cap="none">
                <a:solidFill>
                  <a:schemeClr val="lt1"/>
                </a:solidFill>
                <a:latin typeface="Arial"/>
                <a:ea typeface="Arial"/>
                <a:cs typeface="Arial"/>
              </a:rPr>
              <a:t>3 · Settlement</a:t>
            </a:r>
            <a:endParaRPr sz="1100" b="0" i="0" u="none" strike="noStrike" cap="none">
              <a:solidFill>
                <a:schemeClr val="dk1"/>
              </a:solidFill>
              <a:latin typeface="Arial"/>
              <a:ea typeface="Arial"/>
              <a:cs typeface="Arial"/>
            </a:endParaRPr>
          </a:p>
        </p:txBody>
      </p:sp>
      <p:sp>
        <p:nvSpPr>
          <p:cNvPr id="229" name="Google Shape;229;p31">
            <a:extLst xmlns:a="http://schemas.openxmlformats.org/drawingml/2006/main">
              <a:ext uri="{FF2B5EF4-FFF2-40B4-BE49-F238E27FC236}">
                <a16:creationId xmlns:a16="http://schemas.microsoft.com/office/drawing/2014/main" id="{71E35CE4-C300-4A17-966C-DFD5B47EE20A}"/>
              </a:ext>
            </a:extLst>
          </p:cNvPr>
          <p:cNvSpPr>
            <a:spLocks xmlns:a="http://schemas.openxmlformats.org/drawingml/2006/main" noGrp="1"/>
          </p:cNvSpPr>
          <p:nvPr/>
        </p:nvSpPr>
        <p:spPr>
          <a:xfrm xmlns:a="http://schemas.openxmlformats.org/drawingml/2006/main">
            <a:off x="7050024" y="2002536"/>
            <a:ext cx="154305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Cleared transfers proceed to simulated settlement</a:t>
            </a:r>
            <a:endParaRPr sz="900" b="0" i="0" u="none" strike="noStrike" cap="none">
              <a:solidFill>
                <a:schemeClr val="dk1"/>
              </a:solidFill>
              <a:latin typeface="Arial"/>
              <a:ea typeface="Arial"/>
              <a:cs typeface="Arial"/>
            </a:endParaRPr>
          </a:p>
        </p:txBody>
      </p:sp>
      <p:sp>
        <p:nvSpPr>
          <p:cNvPr id="230" name="Google Shape;230;p31">
            <a:extLst xmlns:a="http://schemas.openxmlformats.org/drawingml/2006/main">
              <a:ext uri="{FF2B5EF4-FFF2-40B4-BE49-F238E27FC236}">
                <a16:creationId xmlns:a16="http://schemas.microsoft.com/office/drawing/2014/main" id="{293F0D71-8814-4AFC-B677-67BEE4D0B980}"/>
              </a:ext>
            </a:extLst>
          </p:cNvPr>
          <p:cNvSpPr>
            <a:spLocks xmlns:a="http://schemas.openxmlformats.org/drawingml/2006/main" noGrp="1"/>
          </p:cNvSpPr>
          <p:nvPr/>
        </p:nvSpPr>
        <p:spPr>
          <a:xfrm xmlns:a="http://schemas.openxmlformats.org/drawingml/2006/main">
            <a:off x="6912864" y="2914650"/>
            <a:ext cx="1817370" cy="994410"/>
          </a:xfrm>
          <a:prstGeom xmlns:a="http://schemas.openxmlformats.org/drawingml/2006/main" prst="roundRect">
            <a:avLst>
              <a:gd name="adj" fmla="val 6897"/>
            </a:avLst>
          </a:prstGeom>
          <a:solidFill xmlns:a="http://schemas.openxmlformats.org/drawingml/2006/main">
            <a:schemeClr val="accent2">
              <a:alpha val="14902"/>
            </a:schemeClr>
          </a:solidFill>
          <a:ln xmlns:a="http://schemas.openxmlformats.org/drawingml/2006/main" w="9525" cap="flat" cmpd="sng">
            <a:solidFill>
              <a:schemeClr val="accent2">
                <a:alpha val="7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1" name="Google Shape;231;p31">
            <a:extLst xmlns:a="http://schemas.openxmlformats.org/drawingml/2006/main">
              <a:ext uri="{FF2B5EF4-FFF2-40B4-BE49-F238E27FC236}">
                <a16:creationId xmlns:a16="http://schemas.microsoft.com/office/drawing/2014/main" id="{43F429C2-4DEC-4C12-AECD-D340748AD55E}"/>
              </a:ext>
            </a:extLst>
          </p:cNvPr>
          <p:cNvSpPr>
            <a:spLocks xmlns:a="http://schemas.openxmlformats.org/drawingml/2006/main" noGrp="1"/>
          </p:cNvSpPr>
          <p:nvPr/>
        </p:nvSpPr>
        <p:spPr>
          <a:xfrm xmlns:a="http://schemas.openxmlformats.org/drawingml/2006/main">
            <a:off x="7050024" y="3051810"/>
            <a:ext cx="288036" cy="288036"/>
          </a:xfrm>
          <a:prstGeom xmlns:a="http://schemas.openxmlformats.org/drawingml/2006/main" prst="ellipse">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32" name="Google Shape;232;p31">
            <a:extLst xmlns:a="http://schemas.openxmlformats.org/drawingml/2006/main">
              <a:ext uri="{FF2B5EF4-FFF2-40B4-BE49-F238E27FC236}">
                <a16:creationId xmlns:a16="http://schemas.microsoft.com/office/drawing/2014/main" id="{4B517E5F-28B5-4F14-B57A-4D261EEBF53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cc4a79c37494dfe">
            <a:alphaModFix/>
          </a:blip>
          <a:srcRect xmlns:a="http://schemas.openxmlformats.org/drawingml/2006/main" l="0" t="0" r="0" b="0"/>
          <a:stretch xmlns:a="http://schemas.openxmlformats.org/drawingml/2006/main"/>
        </p:blipFill>
        <p:spPr>
          <a:xfrm xmlns:a="http://schemas.openxmlformats.org/drawingml/2006/main">
            <a:off x="7113392" y="3115178"/>
            <a:ext cx="161300" cy="161300"/>
          </a:xfrm>
          <a:prstGeom xmlns:a="http://schemas.openxmlformats.org/drawingml/2006/main" prst="rect">
            <a:avLst/>
          </a:prstGeom>
          <a:ln xmlns:a="http://schemas.openxmlformats.org/drawingml/2006/main">
            <a:noFill/>
          </a:ln>
        </p:spPr>
      </p:pic>
      <p:sp>
        <p:nvSpPr>
          <p:cNvPr id="233" name="Google Shape;233;p31">
            <a:extLst xmlns:a="http://schemas.openxmlformats.org/drawingml/2006/main">
              <a:ext uri="{FF2B5EF4-FFF2-40B4-BE49-F238E27FC236}">
                <a16:creationId xmlns:a16="http://schemas.microsoft.com/office/drawing/2014/main" id="{C7EE5808-62F1-434E-810A-6F3CF54E58B2}"/>
              </a:ext>
            </a:extLst>
          </p:cNvPr>
          <p:cNvSpPr>
            <a:spLocks xmlns:a="http://schemas.openxmlformats.org/drawingml/2006/main" noGrp="1"/>
          </p:cNvSpPr>
          <p:nvPr/>
        </p:nvSpPr>
        <p:spPr>
          <a:xfrm xmlns:a="http://schemas.openxmlformats.org/drawingml/2006/main">
            <a:off x="7427214" y="3051810"/>
            <a:ext cx="1200150" cy="2880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accent2"/>
              </a:buClr>
              <a:buSzPts val="1100"/>
              <a:buFont typeface="Arial"/>
              <a:buNone/>
            </a:pPr>
            <a:r>
              <a:rPr sz="1100" b="1" i="0" u="none" strike="noStrike" cap="none">
                <a:solidFill>
                  <a:schemeClr val="accent2"/>
                </a:solidFill>
                <a:latin typeface="Arial"/>
                <a:ea typeface="Arial"/>
                <a:cs typeface="Arial"/>
              </a:rPr>
              <a:t>Settled</a:t>
            </a:r>
            <a:endParaRPr sz="1100" b="0" i="0" u="none" strike="noStrike" cap="none">
              <a:solidFill>
                <a:schemeClr val="dk1"/>
              </a:solidFill>
              <a:latin typeface="Arial"/>
              <a:ea typeface="Arial"/>
              <a:cs typeface="Arial"/>
            </a:endParaRPr>
          </a:p>
        </p:txBody>
      </p:sp>
      <p:sp>
        <p:nvSpPr>
          <p:cNvPr id="234" name="Google Shape;234;p31">
            <a:extLst xmlns:a="http://schemas.openxmlformats.org/drawingml/2006/main">
              <a:ext uri="{FF2B5EF4-FFF2-40B4-BE49-F238E27FC236}">
                <a16:creationId xmlns:a16="http://schemas.microsoft.com/office/drawing/2014/main" id="{F9BE9BA1-2A58-4992-B76C-324A926A31CA}"/>
              </a:ext>
            </a:extLst>
          </p:cNvPr>
          <p:cNvSpPr>
            <a:spLocks xmlns:a="http://schemas.openxmlformats.org/drawingml/2006/main" noGrp="1"/>
          </p:cNvSpPr>
          <p:nvPr/>
        </p:nvSpPr>
        <p:spPr>
          <a:xfrm xmlns:a="http://schemas.openxmlformats.org/drawingml/2006/main">
            <a:off x="7050024" y="3408426"/>
            <a:ext cx="1543050"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Illustrative fast settlement with no fee</a:t>
            </a:r>
            <a:endParaRPr sz="900" b="0" i="0" u="none" strike="noStrike" cap="none">
              <a:solidFill>
                <a:schemeClr val="dk1"/>
              </a:solidFill>
              <a:latin typeface="Arial"/>
              <a:ea typeface="Arial"/>
              <a:cs typeface="Arial"/>
            </a:endParaRPr>
          </a:p>
        </p:txBody>
      </p:sp>
      <p:cxnSp>
        <p:nvCxnSpPr>
          <p:cNvPr id="235" name="Google Shape;235;p31">
            <a:extLst xmlns:a="http://schemas.openxmlformats.org/drawingml/2006/main">
              <a:ext uri="{FF2B5EF4-FFF2-40B4-BE49-F238E27FC236}">
                <a16:creationId xmlns:a16="http://schemas.microsoft.com/office/drawing/2014/main" id="{E7EB1C22-C79D-40EE-96A9-985B2B97580B}"/>
              </a:ext>
            </a:extLst>
          </p:cNvPr>
          <p:cNvCxnSpPr/>
          <p:nvPr/>
        </p:nvCxnSpPr>
        <p:spPr>
          <a:xfrm xmlns:a="http://schemas.openxmlformats.org/drawingml/2006/main">
            <a:off x="7821549" y="2510028"/>
            <a:ext cx="0" cy="363474"/>
          </a:xfrm>
          <a:prstGeom xmlns:a="http://schemas.openxmlformats.org/drawingml/2006/main" prst="straightConnector1">
            <a:avLst/>
          </a:prstGeom>
          <a:ln xmlns:a="http://schemas.openxmlformats.org/drawingml/2006/main" w="22225" cap="flat">
            <a:solidFill>
              <a:schemeClr val="accent2"/>
            </a:solidFill>
            <a:prstDash val="solid"/>
            <a:round/>
            <a:headEnd type="none" w="sm" len="sm"/>
            <a:tailEnd type="triangle" w="med" len="med"/>
          </a:ln>
        </p:spPr>
      </p:cxnSp>
      <p:sp>
        <p:nvSpPr>
          <p:cNvPr id="236" name="Google Shape;236;p31">
            <a:extLst xmlns:a="http://schemas.openxmlformats.org/drawingml/2006/main">
              <a:ext uri="{FF2B5EF4-FFF2-40B4-BE49-F238E27FC236}">
                <a16:creationId xmlns:a16="http://schemas.microsoft.com/office/drawing/2014/main" id="{327614E5-8322-4D0B-A4D5-4CB3C8BE7E0B}"/>
              </a:ext>
            </a:extLst>
          </p:cNvPr>
          <p:cNvSpPr>
            <a:spLocks xmlns:a="http://schemas.openxmlformats.org/drawingml/2006/main" noGrp="1"/>
          </p:cNvSpPr>
          <p:nvPr/>
        </p:nvSpPr>
        <p:spPr>
          <a:xfrm xmlns:a="http://schemas.openxmlformats.org/drawingml/2006/main">
            <a:off x="411480" y="4114800"/>
            <a:ext cx="831875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2000"/>
              <a:buFont typeface="Arial"/>
              <a:buNone/>
            </a:pPr>
            <a:r>
              <a:rPr sz="2000" b="1" i="0" u="none" strike="noStrike" cap="none">
                <a:solidFill>
                  <a:schemeClr val="lt1"/>
                </a:solidFill>
                <a:latin typeface="Arial"/>
                <a:ea typeface="Arial"/>
                <a:cs typeface="Arial"/>
              </a:rPr>
              <a:t>App convenience with banking safeguards</a:t>
            </a:r>
            <a:endParaRPr sz="2000" b="0" i="0" u="none" strike="noStrike" cap="none">
              <a:solidFill>
                <a:schemeClr val="dk1"/>
              </a:solidFill>
              <a:latin typeface="Arial"/>
              <a:ea typeface="Arial"/>
              <a:cs typeface="Arial"/>
            </a:endParaRPr>
          </a:p>
        </p:txBody>
      </p:sp>
      <p:sp>
        <p:nvSpPr>
          <p:cNvPr id="237" name="Google Shape;237;p31">
            <a:extLst xmlns:a="http://schemas.openxmlformats.org/drawingml/2006/main">
              <a:ext uri="{FF2B5EF4-FFF2-40B4-BE49-F238E27FC236}">
                <a16:creationId xmlns:a16="http://schemas.microsoft.com/office/drawing/2014/main" id="{3D406565-7AB1-4A1B-9EBE-F29C6E81C75A}"/>
              </a:ext>
            </a:extLst>
          </p:cNvPr>
          <p:cNvSpPr>
            <a:spLocks xmlns:a="http://schemas.openxmlformats.org/drawingml/2006/main" noGrp="1"/>
          </p:cNvSpPr>
          <p:nvPr>
            <p:ph type="sldNum" idx="4294967295"/>
          </p:nvPr>
        </p:nvSpPr>
        <p:spPr>
          <a:xfrm xmlns:a="http://schemas.openxmlformats.org/drawingml/2006/main">
            <a:off x="8387334" y="4800600"/>
            <a:ext cx="3429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p xmlns:a="http://schemas.openxmlformats.org/drawingml/2006/main">
            <a:pPr marL="0" marR="0" lvl="0" indent="0" algn="r">
              <a:spcBef>
                <a:spcPts val="0"/>
              </a:spcBef>
              <a:spcAft>
                <a:spcPts val="0"/>
              </a:spcAft>
              <a:buNone/>
            </a:pPr>
            <a:fld id="{00000000-1234-1234-1234-123412341234}" type="slidenum">
              <a:rPr sz="700" b="0" i="0" u="none" strike="noStrike" cap="none">
                <a:solidFill>
                  <a:schemeClr val="accent6"/>
                </a:solidFill>
                <a:latin typeface="Arial"/>
                <a:ea typeface="Arial"/>
                <a:cs typeface="Arial"/>
              </a:rPr>
              <a:t>‹#›</a:t>
            </a:fld>
            <a:endParaRPr sz="700" b="0" i="0" u="none" strike="noStrike" cap="none">
              <a:solidFill>
                <a:schemeClr val="accent6"/>
              </a:solidFill>
              <a:latin typeface="Arial"/>
              <a:ea typeface="Arial"/>
              <a:cs typeface="Arial"/>
            </a:endParaRPr>
          </a:p>
        </p:txBody>
      </p:sp>
    </p:spTree>
    <p:extLst>
      <p:ext uri="{BB962C8B-B14F-4D97-AF65-F5344CB8AC3E}">
        <p14:creationId xmlns:p14="http://schemas.microsoft.com/office/powerpoint/2010/main" val="173297569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43" name="Google Shape;243;p32">
            <a:extLst xmlns:a="http://schemas.openxmlformats.org/drawingml/2006/main">
              <a:ext uri="{FF2B5EF4-FFF2-40B4-BE49-F238E27FC236}">
                <a16:creationId xmlns:a16="http://schemas.microsoft.com/office/drawing/2014/main" id="{957314F8-1240-4325-8F77-924731F69C9F}"/>
              </a:ext>
            </a:extLst>
          </p:cNvPr>
          <p:cNvSpPr>
            <a:spLocks xmlns:a="http://schemas.openxmlformats.org/drawingml/2006/main" noGrp="1"/>
          </p:cNvSpPr>
          <p:nvPr>
            <p:ph type="body" idx="1"/>
          </p:nvPr>
        </p:nvSpPr>
        <p:spPr>
          <a:xfrm xmlns:a="http://schemas.openxmlformats.org/drawingml/2006/main">
            <a:off x="576072" y="308610"/>
            <a:ext cx="6172200" cy="233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Clr>
                <a:schemeClr val="accent5"/>
              </a:buClr>
              <a:buSzPts val="900"/>
              <a:buNone/>
            </a:pPr>
            <a:r>
              <a:rPr sz="900" b="1">
                <a:solidFill>
                  <a:schemeClr val="accent5"/>
                </a:solidFill>
              </a:rPr>
              <a:t>03 · END-TO-END ENCRYPTION</a:t>
            </a:r>
            <a:endParaRPr sz="900"/>
          </a:p>
        </p:txBody>
      </p:sp>
      <p:sp>
        <p:nvSpPr>
          <p:cNvPr id="244" name="Google Shape;244;p32">
            <a:extLst xmlns:a="http://schemas.openxmlformats.org/drawingml/2006/main">
              <a:ext uri="{FF2B5EF4-FFF2-40B4-BE49-F238E27FC236}">
                <a16:creationId xmlns:a16="http://schemas.microsoft.com/office/drawing/2014/main" id="{B1382215-038A-4A0A-BDD7-FE7D5081274F}"/>
              </a:ext>
            </a:extLst>
          </p:cNvPr>
          <p:cNvSpPr>
            <a:spLocks xmlns:a="http://schemas.openxmlformats.org/drawingml/2006/main" noGrp="1"/>
          </p:cNvSpPr>
          <p:nvPr>
            <p:ph type="title" idx="0"/>
          </p:nvPr>
        </p:nvSpPr>
        <p:spPr>
          <a:xfrm xmlns:a="http://schemas.openxmlformats.org/drawingml/2006/main">
            <a:off x="411480" y="582930"/>
            <a:ext cx="8318754"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Clr>
                <a:schemeClr val="lt1"/>
              </a:buClr>
              <a:buSzPts val="2300"/>
              <a:buFont typeface="Arial"/>
              <a:buNone/>
            </a:pPr>
            <a:r>
              <a:rPr sz="2300" b="1">
                <a:solidFill>
                  <a:schemeClr val="lt1"/>
                </a:solidFill>
              </a:rPr>
              <a:t>Proposed protection of sensitive data</a:t>
            </a:r>
            <a:endParaRPr sz="2300"/>
          </a:p>
        </p:txBody>
      </p:sp>
      <p:sp>
        <p:nvSpPr>
          <p:cNvPr id="245" name="Google Shape;245;p32">
            <a:extLst xmlns:a="http://schemas.openxmlformats.org/drawingml/2006/main">
              <a:ext uri="{FF2B5EF4-FFF2-40B4-BE49-F238E27FC236}">
                <a16:creationId xmlns:a16="http://schemas.microsoft.com/office/drawing/2014/main" id="{106F7AE3-94F1-4560-9145-2EB894C84563}"/>
              </a:ext>
            </a:extLst>
          </p:cNvPr>
          <p:cNvSpPr>
            <a:spLocks xmlns:a="http://schemas.openxmlformats.org/drawingml/2006/main" noGrp="1"/>
          </p:cNvSpPr>
          <p:nvPr/>
        </p:nvSpPr>
        <p:spPr>
          <a:xfrm xmlns:a="http://schemas.openxmlformats.org/drawingml/2006/main">
            <a:off x="411480" y="1371600"/>
            <a:ext cx="2640330" cy="925830"/>
          </a:xfrm>
          <a:prstGeom xmlns:a="http://schemas.openxmlformats.org/drawingml/2006/main" prst="roundRect">
            <a:avLst>
              <a:gd name="adj" fmla="val 7407"/>
            </a:avLst>
          </a:prstGeom>
          <a:solidFill xmlns:a="http://schemas.openxmlformats.org/drawingml/2006/main">
            <a:schemeClr val="dk2"/>
          </a:solidFill>
          <a:ln xmlns:a="http://schemas.openxmlformats.org/drawingml/2006/main" w="9525" cap="flat" cmpd="sng">
            <a:solidFill>
              <a:schemeClr val="accent5">
                <a:alpha val="80000"/>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6" name="Google Shape;246;p32">
            <a:extLst xmlns:a="http://schemas.openxmlformats.org/drawingml/2006/main">
              <a:ext uri="{FF2B5EF4-FFF2-40B4-BE49-F238E27FC236}">
                <a16:creationId xmlns:a16="http://schemas.microsoft.com/office/drawing/2014/main" id="{21DA3964-5B24-413E-AA57-9C37A8CC6D92}"/>
              </a:ext>
            </a:extLst>
          </p:cNvPr>
          <p:cNvSpPr>
            <a:spLocks xmlns:a="http://schemas.openxmlformats.org/drawingml/2006/main" noGrp="1"/>
          </p:cNvSpPr>
          <p:nvPr/>
        </p:nvSpPr>
        <p:spPr>
          <a:xfrm xmlns:a="http://schemas.openxmlformats.org/drawingml/2006/main">
            <a:off x="562356" y="1577340"/>
            <a:ext cx="445770" cy="44577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47" name="Google Shape;247;p32">
            <a:extLst xmlns:a="http://schemas.openxmlformats.org/drawingml/2006/main">
              <a:ext uri="{FF2B5EF4-FFF2-40B4-BE49-F238E27FC236}">
                <a16:creationId xmlns:a16="http://schemas.microsoft.com/office/drawing/2014/main" id="{54D8B6A4-1FC1-4E7B-A6A8-7CB540902E8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53757714c7f47f0">
            <a:alphaModFix/>
          </a:blip>
          <a:srcRect xmlns:a="http://schemas.openxmlformats.org/drawingml/2006/main" l="0" t="0" r="0" b="0"/>
          <a:stretch xmlns:a="http://schemas.openxmlformats.org/drawingml/2006/main"/>
        </p:blipFill>
        <p:spPr>
          <a:xfrm xmlns:a="http://schemas.openxmlformats.org/drawingml/2006/main">
            <a:off x="660425" y="1675409"/>
            <a:ext cx="249632" cy="249631"/>
          </a:xfrm>
          <a:prstGeom xmlns:a="http://schemas.openxmlformats.org/drawingml/2006/main" prst="rect">
            <a:avLst/>
          </a:prstGeom>
          <a:ln xmlns:a="http://schemas.openxmlformats.org/drawingml/2006/main">
            <a:noFill/>
          </a:ln>
        </p:spPr>
      </p:pic>
      <p:sp>
        <p:nvSpPr>
          <p:cNvPr id="248" name="Google Shape;248;p32">
            <a:extLst xmlns:a="http://schemas.openxmlformats.org/drawingml/2006/main">
              <a:ext uri="{FF2B5EF4-FFF2-40B4-BE49-F238E27FC236}">
                <a16:creationId xmlns:a16="http://schemas.microsoft.com/office/drawing/2014/main" id="{2AB36FD4-8AFE-4417-9EB1-2080E3DDE9D7}"/>
              </a:ext>
            </a:extLst>
          </p:cNvPr>
          <p:cNvSpPr>
            <a:spLocks xmlns:a="http://schemas.openxmlformats.org/drawingml/2006/main" noGrp="1"/>
          </p:cNvSpPr>
          <p:nvPr/>
        </p:nvSpPr>
        <p:spPr>
          <a:xfrm xmlns:a="http://schemas.openxmlformats.org/drawingml/2006/main">
            <a:off x="1131570" y="1495044"/>
            <a:ext cx="181737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In transit</a:t>
            </a:r>
            <a:endParaRPr sz="1200" b="0" i="0" u="none" strike="noStrike" cap="none">
              <a:solidFill>
                <a:schemeClr val="dk1"/>
              </a:solidFill>
              <a:latin typeface="Arial"/>
              <a:ea typeface="Arial"/>
              <a:cs typeface="Arial"/>
            </a:endParaRPr>
          </a:p>
        </p:txBody>
      </p:sp>
      <p:sp>
        <p:nvSpPr>
          <p:cNvPr id="249" name="Google Shape;249;p32">
            <a:extLst xmlns:a="http://schemas.openxmlformats.org/drawingml/2006/main">
              <a:ext uri="{FF2B5EF4-FFF2-40B4-BE49-F238E27FC236}">
                <a16:creationId xmlns:a16="http://schemas.microsoft.com/office/drawing/2014/main" id="{4651A861-12DE-4BAC-AA44-7A71788F2492}"/>
              </a:ext>
            </a:extLst>
          </p:cNvPr>
          <p:cNvSpPr>
            <a:spLocks xmlns:a="http://schemas.openxmlformats.org/drawingml/2006/main" noGrp="1"/>
          </p:cNvSpPr>
          <p:nvPr/>
        </p:nvSpPr>
        <p:spPr>
          <a:xfrm xmlns:a="http://schemas.openxmlformats.org/drawingml/2006/main">
            <a:off x="1131570" y="1755648"/>
            <a:ext cx="1817370" cy="4251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TLS 1.3 between each app and LinuxONE</a:t>
            </a:r>
            <a:endParaRPr sz="900" b="0" i="0" u="none" strike="noStrike" cap="none">
              <a:solidFill>
                <a:schemeClr val="dk1"/>
              </a:solidFill>
              <a:latin typeface="Arial"/>
              <a:ea typeface="Arial"/>
              <a:cs typeface="Arial"/>
            </a:endParaRPr>
          </a:p>
        </p:txBody>
      </p:sp>
      <p:cxnSp>
        <p:nvCxnSpPr>
          <p:cNvPr id="250" name="Google Shape;250;p32">
            <a:extLst xmlns:a="http://schemas.openxmlformats.org/drawingml/2006/main">
              <a:ext uri="{FF2B5EF4-FFF2-40B4-BE49-F238E27FC236}">
                <a16:creationId xmlns:a16="http://schemas.microsoft.com/office/drawing/2014/main" id="{61B697D3-6137-479A-9216-F9B5B50D297B}"/>
              </a:ext>
            </a:extLst>
          </p:cNvPr>
          <p:cNvCxnSpPr/>
          <p:nvPr/>
        </p:nvCxnSpPr>
        <p:spPr>
          <a:xfrm xmlns:a="http://schemas.openxmlformats.org/drawingml/2006/main">
            <a:off x="3072384" y="1800225"/>
            <a:ext cx="157734" cy="0"/>
          </a:xfrm>
          <a:prstGeom xmlns:a="http://schemas.openxmlformats.org/drawingml/2006/main" prst="straightConnector1">
            <a:avLst/>
          </a:prstGeom>
          <a:ln xmlns:a="http://schemas.openxmlformats.org/drawingml/2006/main" w="22225" cap="flat">
            <a:solidFill>
              <a:schemeClr val="accent5"/>
            </a:solidFill>
            <a:prstDash val="solid"/>
            <a:round/>
            <a:headEnd type="none" w="sm" len="sm"/>
            <a:tailEnd type="triangle" w="med" len="med"/>
          </a:ln>
        </p:spPr>
      </p:cxnSp>
      <p:sp>
        <p:nvSpPr>
          <p:cNvPr id="251" name="Google Shape;251;p32">
            <a:extLst xmlns:a="http://schemas.openxmlformats.org/drawingml/2006/main">
              <a:ext uri="{FF2B5EF4-FFF2-40B4-BE49-F238E27FC236}">
                <a16:creationId xmlns:a16="http://schemas.microsoft.com/office/drawing/2014/main" id="{A073DA43-7395-4CAC-BD5E-57E0594D3384}"/>
              </a:ext>
            </a:extLst>
          </p:cNvPr>
          <p:cNvSpPr>
            <a:spLocks xmlns:a="http://schemas.openxmlformats.org/drawingml/2006/main" noGrp="1"/>
          </p:cNvSpPr>
          <p:nvPr/>
        </p:nvSpPr>
        <p:spPr>
          <a:xfrm xmlns:a="http://schemas.openxmlformats.org/drawingml/2006/main">
            <a:off x="3250692" y="1371600"/>
            <a:ext cx="2640330" cy="925830"/>
          </a:xfrm>
          <a:prstGeom xmlns:a="http://schemas.openxmlformats.org/drawingml/2006/main" prst="roundRect">
            <a:avLst>
              <a:gd name="adj" fmla="val 7407"/>
            </a:avLst>
          </a:prstGeom>
          <a:solidFill xmlns:a="http://schemas.openxmlformats.org/drawingml/2006/main">
            <a:schemeClr val="dk2"/>
          </a:solidFill>
          <a:ln xmlns:a="http://schemas.openxmlformats.org/drawingml/2006/main" w="9525" cap="flat" cmpd="sng">
            <a:solidFill>
              <a:schemeClr val="accent5">
                <a:alpha val="80000"/>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2" name="Google Shape;252;p32">
            <a:extLst xmlns:a="http://schemas.openxmlformats.org/drawingml/2006/main">
              <a:ext uri="{FF2B5EF4-FFF2-40B4-BE49-F238E27FC236}">
                <a16:creationId xmlns:a16="http://schemas.microsoft.com/office/drawing/2014/main" id="{BF6A8EF2-42FB-45EC-AB67-8EFE4117F329}"/>
              </a:ext>
            </a:extLst>
          </p:cNvPr>
          <p:cNvSpPr>
            <a:spLocks xmlns:a="http://schemas.openxmlformats.org/drawingml/2006/main" noGrp="1"/>
          </p:cNvSpPr>
          <p:nvPr/>
        </p:nvSpPr>
        <p:spPr>
          <a:xfrm xmlns:a="http://schemas.openxmlformats.org/drawingml/2006/main">
            <a:off x="3401568" y="1577340"/>
            <a:ext cx="445770" cy="44577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53" name="Google Shape;253;p32">
            <a:extLst xmlns:a="http://schemas.openxmlformats.org/drawingml/2006/main">
              <a:ext uri="{FF2B5EF4-FFF2-40B4-BE49-F238E27FC236}">
                <a16:creationId xmlns:a16="http://schemas.microsoft.com/office/drawing/2014/main" id="{379C2F65-0229-496C-8D70-8BE86CA1AF9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aecdb9bc7a940e5">
            <a:alphaModFix/>
          </a:blip>
          <a:srcRect xmlns:a="http://schemas.openxmlformats.org/drawingml/2006/main" l="0" t="0" r="0" b="0"/>
          <a:stretch xmlns:a="http://schemas.openxmlformats.org/drawingml/2006/main"/>
        </p:blipFill>
        <p:spPr>
          <a:xfrm xmlns:a="http://schemas.openxmlformats.org/drawingml/2006/main">
            <a:off x="3499637" y="1675409"/>
            <a:ext cx="249632" cy="249631"/>
          </a:xfrm>
          <a:prstGeom xmlns:a="http://schemas.openxmlformats.org/drawingml/2006/main" prst="rect">
            <a:avLst/>
          </a:prstGeom>
          <a:ln xmlns:a="http://schemas.openxmlformats.org/drawingml/2006/main">
            <a:noFill/>
          </a:ln>
        </p:spPr>
      </p:pic>
      <p:sp>
        <p:nvSpPr>
          <p:cNvPr id="254" name="Google Shape;254;p32">
            <a:extLst xmlns:a="http://schemas.openxmlformats.org/drawingml/2006/main">
              <a:ext uri="{FF2B5EF4-FFF2-40B4-BE49-F238E27FC236}">
                <a16:creationId xmlns:a16="http://schemas.microsoft.com/office/drawing/2014/main" id="{E23BA4B4-7531-46A9-987C-5968A1C27400}"/>
              </a:ext>
            </a:extLst>
          </p:cNvPr>
          <p:cNvSpPr>
            <a:spLocks xmlns:a="http://schemas.openxmlformats.org/drawingml/2006/main" noGrp="1"/>
          </p:cNvSpPr>
          <p:nvPr/>
        </p:nvSpPr>
        <p:spPr>
          <a:xfrm xmlns:a="http://schemas.openxmlformats.org/drawingml/2006/main">
            <a:off x="3970782" y="1495044"/>
            <a:ext cx="181737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At rest</a:t>
            </a:r>
            <a:endParaRPr sz="1200" b="0" i="0" u="none" strike="noStrike" cap="none">
              <a:solidFill>
                <a:schemeClr val="dk1"/>
              </a:solidFill>
              <a:latin typeface="Arial"/>
              <a:ea typeface="Arial"/>
              <a:cs typeface="Arial"/>
            </a:endParaRPr>
          </a:p>
        </p:txBody>
      </p:sp>
      <p:sp>
        <p:nvSpPr>
          <p:cNvPr id="255" name="Google Shape;255;p32">
            <a:extLst xmlns:a="http://schemas.openxmlformats.org/drawingml/2006/main">
              <a:ext uri="{FF2B5EF4-FFF2-40B4-BE49-F238E27FC236}">
                <a16:creationId xmlns:a16="http://schemas.microsoft.com/office/drawing/2014/main" id="{15709251-A800-4667-BA4C-F723F4346E5C}"/>
              </a:ext>
            </a:extLst>
          </p:cNvPr>
          <p:cNvSpPr>
            <a:spLocks xmlns:a="http://schemas.openxmlformats.org/drawingml/2006/main" noGrp="1"/>
          </p:cNvSpPr>
          <p:nvPr/>
        </p:nvSpPr>
        <p:spPr>
          <a:xfrm xmlns:a="http://schemas.openxmlformats.org/drawingml/2006/main">
            <a:off x="3970782" y="1755648"/>
            <a:ext cx="1817370" cy="4251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AES-256-GCM; effective hardware acceleration would require measurement</a:t>
            </a:r>
            <a:endParaRPr sz="900" b="0" i="0" u="none" strike="noStrike" cap="none">
              <a:solidFill>
                <a:schemeClr val="dk1"/>
              </a:solidFill>
              <a:latin typeface="Arial"/>
              <a:ea typeface="Arial"/>
              <a:cs typeface="Arial"/>
            </a:endParaRPr>
          </a:p>
        </p:txBody>
      </p:sp>
      <p:cxnSp>
        <p:nvCxnSpPr>
          <p:cNvPr id="256" name="Google Shape;256;p32">
            <a:extLst xmlns:a="http://schemas.openxmlformats.org/drawingml/2006/main">
              <a:ext uri="{FF2B5EF4-FFF2-40B4-BE49-F238E27FC236}">
                <a16:creationId xmlns:a16="http://schemas.microsoft.com/office/drawing/2014/main" id="{C949490A-2079-458E-81F1-E20350E34C8D}"/>
              </a:ext>
            </a:extLst>
          </p:cNvPr>
          <p:cNvCxnSpPr/>
          <p:nvPr/>
        </p:nvCxnSpPr>
        <p:spPr>
          <a:xfrm xmlns:a="http://schemas.openxmlformats.org/drawingml/2006/main">
            <a:off x="5911596" y="1800225"/>
            <a:ext cx="157734" cy="0"/>
          </a:xfrm>
          <a:prstGeom xmlns:a="http://schemas.openxmlformats.org/drawingml/2006/main" prst="straightConnector1">
            <a:avLst/>
          </a:prstGeom>
          <a:ln xmlns:a="http://schemas.openxmlformats.org/drawingml/2006/main" w="22225" cap="flat">
            <a:solidFill>
              <a:schemeClr val="accent5"/>
            </a:solidFill>
            <a:prstDash val="solid"/>
            <a:round/>
            <a:headEnd type="none" w="sm" len="sm"/>
            <a:tailEnd type="triangle" w="med" len="med"/>
          </a:ln>
        </p:spPr>
      </p:cxnSp>
      <p:sp>
        <p:nvSpPr>
          <p:cNvPr id="257" name="Google Shape;257;p32">
            <a:extLst xmlns:a="http://schemas.openxmlformats.org/drawingml/2006/main">
              <a:ext uri="{FF2B5EF4-FFF2-40B4-BE49-F238E27FC236}">
                <a16:creationId xmlns:a16="http://schemas.microsoft.com/office/drawing/2014/main" id="{F370831F-90D1-40EE-8C22-828EF55C6983}"/>
              </a:ext>
            </a:extLst>
          </p:cNvPr>
          <p:cNvSpPr>
            <a:spLocks xmlns:a="http://schemas.openxmlformats.org/drawingml/2006/main" noGrp="1"/>
          </p:cNvSpPr>
          <p:nvPr/>
        </p:nvSpPr>
        <p:spPr>
          <a:xfrm xmlns:a="http://schemas.openxmlformats.org/drawingml/2006/main">
            <a:off x="6089904" y="1371600"/>
            <a:ext cx="2640330" cy="925830"/>
          </a:xfrm>
          <a:prstGeom xmlns:a="http://schemas.openxmlformats.org/drawingml/2006/main" prst="roundRect">
            <a:avLst>
              <a:gd name="adj" fmla="val 7407"/>
            </a:avLst>
          </a:prstGeom>
          <a:solidFill xmlns:a="http://schemas.openxmlformats.org/drawingml/2006/main">
            <a:schemeClr val="dk2"/>
          </a:solidFill>
          <a:ln xmlns:a="http://schemas.openxmlformats.org/drawingml/2006/main" w="9525" cap="flat" cmpd="sng">
            <a:solidFill>
              <a:schemeClr val="accent5">
                <a:alpha val="80000"/>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8" name="Google Shape;258;p32">
            <a:extLst xmlns:a="http://schemas.openxmlformats.org/drawingml/2006/main">
              <a:ext uri="{FF2B5EF4-FFF2-40B4-BE49-F238E27FC236}">
                <a16:creationId xmlns:a16="http://schemas.microsoft.com/office/drawing/2014/main" id="{BB5B9D11-810A-4D8E-8130-A465650B3823}"/>
              </a:ext>
            </a:extLst>
          </p:cNvPr>
          <p:cNvSpPr>
            <a:spLocks xmlns:a="http://schemas.openxmlformats.org/drawingml/2006/main" noGrp="1"/>
          </p:cNvSpPr>
          <p:nvPr/>
        </p:nvSpPr>
        <p:spPr>
          <a:xfrm xmlns:a="http://schemas.openxmlformats.org/drawingml/2006/main">
            <a:off x="6240780" y="1577340"/>
            <a:ext cx="445770" cy="44577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59" name="Google Shape;259;p32">
            <a:extLst xmlns:a="http://schemas.openxmlformats.org/drawingml/2006/main">
              <a:ext uri="{FF2B5EF4-FFF2-40B4-BE49-F238E27FC236}">
                <a16:creationId xmlns:a16="http://schemas.microsoft.com/office/drawing/2014/main" id="{247066A4-5B0A-4F93-AE05-52578830B46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764240ff9a044f6">
            <a:alphaModFix/>
          </a:blip>
          <a:srcRect xmlns:a="http://schemas.openxmlformats.org/drawingml/2006/main" l="0" t="0" r="0" b="0"/>
          <a:stretch xmlns:a="http://schemas.openxmlformats.org/drawingml/2006/main"/>
        </p:blipFill>
        <p:spPr>
          <a:xfrm xmlns:a="http://schemas.openxmlformats.org/drawingml/2006/main">
            <a:off x="6338849" y="1675409"/>
            <a:ext cx="249632" cy="249631"/>
          </a:xfrm>
          <a:prstGeom xmlns:a="http://schemas.openxmlformats.org/drawingml/2006/main" prst="rect">
            <a:avLst/>
          </a:prstGeom>
          <a:ln xmlns:a="http://schemas.openxmlformats.org/drawingml/2006/main">
            <a:noFill/>
          </a:ln>
        </p:spPr>
      </p:pic>
      <p:sp>
        <p:nvSpPr>
          <p:cNvPr id="260" name="Google Shape;260;p32">
            <a:extLst xmlns:a="http://schemas.openxmlformats.org/drawingml/2006/main">
              <a:ext uri="{FF2B5EF4-FFF2-40B4-BE49-F238E27FC236}">
                <a16:creationId xmlns:a16="http://schemas.microsoft.com/office/drawing/2014/main" id="{4D46635E-5E36-4304-BE47-1F18035F9C9F}"/>
              </a:ext>
            </a:extLst>
          </p:cNvPr>
          <p:cNvSpPr>
            <a:spLocks xmlns:a="http://schemas.openxmlformats.org/drawingml/2006/main" noGrp="1"/>
          </p:cNvSpPr>
          <p:nvPr/>
        </p:nvSpPr>
        <p:spPr>
          <a:xfrm xmlns:a="http://schemas.openxmlformats.org/drawingml/2006/main">
            <a:off x="6809994" y="1495044"/>
            <a:ext cx="181737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During use</a:t>
            </a:r>
            <a:endParaRPr sz="1200" b="0" i="0" u="none" strike="noStrike" cap="none">
              <a:solidFill>
                <a:schemeClr val="dk1"/>
              </a:solidFill>
              <a:latin typeface="Arial"/>
              <a:ea typeface="Arial"/>
              <a:cs typeface="Arial"/>
            </a:endParaRPr>
          </a:p>
        </p:txBody>
      </p:sp>
      <p:sp>
        <p:nvSpPr>
          <p:cNvPr id="261" name="Google Shape;261;p32">
            <a:extLst xmlns:a="http://schemas.openxmlformats.org/drawingml/2006/main">
              <a:ext uri="{FF2B5EF4-FFF2-40B4-BE49-F238E27FC236}">
                <a16:creationId xmlns:a16="http://schemas.microsoft.com/office/drawing/2014/main" id="{A3E9B074-C2FF-4EF3-8796-FC0F1254D6A7}"/>
              </a:ext>
            </a:extLst>
          </p:cNvPr>
          <p:cNvSpPr>
            <a:spLocks xmlns:a="http://schemas.openxmlformats.org/drawingml/2006/main" noGrp="1"/>
          </p:cNvSpPr>
          <p:nvPr/>
        </p:nvSpPr>
        <p:spPr>
          <a:xfrm xmlns:a="http://schemas.openxmlformats.org/drawingml/2006/main">
            <a:off x="6809994" y="1755648"/>
            <a:ext cx="1817370" cy="4251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Names and accounts → HMAC-SHA256 tokens; keys outside code</a:t>
            </a:r>
            <a:endParaRPr sz="900" b="0" i="0" u="none" strike="noStrike" cap="none">
              <a:solidFill>
                <a:schemeClr val="dk1"/>
              </a:solidFill>
              <a:latin typeface="Arial"/>
              <a:ea typeface="Arial"/>
              <a:cs typeface="Arial"/>
            </a:endParaRPr>
          </a:p>
        </p:txBody>
      </p:sp>
      <p:sp>
        <p:nvSpPr>
          <p:cNvPr id="262" name="Google Shape;262;p32">
            <a:extLst xmlns:a="http://schemas.openxmlformats.org/drawingml/2006/main">
              <a:ext uri="{FF2B5EF4-FFF2-40B4-BE49-F238E27FC236}">
                <a16:creationId xmlns:a16="http://schemas.microsoft.com/office/drawing/2014/main" id="{969CAD60-F098-4463-A77F-7CE3CC4E52A0}"/>
              </a:ext>
            </a:extLst>
          </p:cNvPr>
          <p:cNvSpPr>
            <a:spLocks xmlns:a="http://schemas.openxmlformats.org/drawingml/2006/main" noGrp="1"/>
          </p:cNvSpPr>
          <p:nvPr/>
        </p:nvSpPr>
        <p:spPr>
          <a:xfrm xmlns:a="http://schemas.openxmlformats.org/drawingml/2006/main">
            <a:off x="411480" y="2434590"/>
            <a:ext cx="411480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Who can see what?</a:t>
            </a:r>
            <a:endParaRPr sz="1200" b="0" i="0" u="none" strike="noStrike" cap="none">
              <a:solidFill>
                <a:schemeClr val="dk1"/>
              </a:solidFill>
              <a:latin typeface="Arial"/>
              <a:ea typeface="Arial"/>
              <a:cs typeface="Arial"/>
            </a:endParaRPr>
          </a:p>
        </p:txBody>
      </p:sp>
      <p:graphicFrame>
        <p:nvGraphicFramePr>
          <p:cNvPr id="263" name="Google Shape;263;p32">
            <a:extLst xmlns:a="http://schemas.openxmlformats.org/drawingml/2006/main">
              <a:ext uri="{FF2B5EF4-FFF2-40B4-BE49-F238E27FC236}">
                <a16:creationId xmlns:a16="http://schemas.microsoft.com/office/drawing/2014/main" id="{1CCAB71F-7387-4E80-93FA-78B37F8BD2A5}"/>
              </a:ext>
            </a:extLst>
          </p:cNvPr>
          <p:cNvGraphicFramePr/>
          <p:nvPr/>
        </p:nvGraphicFramePr>
        <p:xfrm>
          <a:off xmlns:a="http://schemas.openxmlformats.org/drawingml/2006/main" x="411480" y="2743200"/>
          <a:ext xmlns:a="http://schemas.openxmlformats.org/drawingml/2006/main" cx="3000000" cy="3000000"/>
        </p:xfrm>
        <a:graphic xmlns:a="http://schemas.openxmlformats.org/drawingml/2006/main">
          <a:graphicData uri="http://schemas.openxmlformats.org/drawingml/2006/table">
            <a:tbl>
              <a:tblPr>
                <a:tableStyleId>{CEFFDBC9-BA6C-4DAE-8BE7-92019794D4D1}</a:tableStyleId>
              </a:tblPr>
              <a:tblGrid>
                <a:gridCol w="2743200"/>
                <a:gridCol w="3017500"/>
                <a:gridCol w="2558025"/>
              </a:tblGrid>
              <a:tr h="274300">
                <a:tc>
                  <a:txBody>
                    <a:bodyPr/>
                    <a:lstStyle/>
                    <a:p>
                      <a:pPr marL="0" marR="0" lvl="0" indent="0" algn="l">
                        <a:spcBef>
                          <a:spcPts val="0"/>
                        </a:spcBef>
                        <a:spcAft>
                          <a:spcPts val="0"/>
                        </a:spcAft>
                        <a:buClr>
                          <a:schemeClr val="accent5"/>
                        </a:buClr>
                        <a:buSzPts val="1000"/>
                        <a:buFont typeface="Arial"/>
                        <a:buNone/>
                      </a:pPr>
                      <a:r>
                        <a:rPr sz="1000" b="1" u="none" strike="noStrike" cap="none">
                          <a:solidFill>
                            <a:schemeClr val="accent5"/>
                          </a:solidFill>
                          <a:latin typeface="Arial"/>
                          <a:ea typeface="Arial"/>
                          <a:cs typeface="Arial"/>
                        </a:rPr>
                        <a:t>Component</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solidFill>
                      <a:schemeClr val="dk2"/>
                    </a:solidFill>
                  </a:tcPr>
                </a:tc>
                <a:tc>
                  <a:txBody>
                    <a:bodyPr/>
                    <a:lstStyle/>
                    <a:p>
                      <a:pPr marL="0" marR="0" lvl="0" indent="0" algn="l">
                        <a:spcBef>
                          <a:spcPts val="0"/>
                        </a:spcBef>
                        <a:spcAft>
                          <a:spcPts val="0"/>
                        </a:spcAft>
                        <a:buClr>
                          <a:schemeClr val="accent5"/>
                        </a:buClr>
                        <a:buSzPts val="1000"/>
                        <a:buFont typeface="Arial"/>
                        <a:buNone/>
                      </a:pPr>
                      <a:r>
                        <a:rPr sz="1000" b="1" u="none" strike="noStrike" cap="none">
                          <a:solidFill>
                            <a:schemeClr val="accent5"/>
                          </a:solidFill>
                          <a:latin typeface="Arial"/>
                          <a:ea typeface="Arial"/>
                          <a:cs typeface="Arial"/>
                        </a:rPr>
                        <a:t>Name and account</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solidFill>
                      <a:schemeClr val="dk2"/>
                    </a:solidFill>
                  </a:tcPr>
                </a:tc>
                <a:tc>
                  <a:txBody>
                    <a:bodyPr/>
                    <a:lstStyle/>
                    <a:p>
                      <a:pPr marL="0" marR="0" lvl="0" indent="0" algn="l">
                        <a:spcBef>
                          <a:spcPts val="0"/>
                        </a:spcBef>
                        <a:spcAft>
                          <a:spcPts val="0"/>
                        </a:spcAft>
                        <a:buClr>
                          <a:schemeClr val="accent5"/>
                        </a:buClr>
                        <a:buSzPts val="1000"/>
                        <a:buFont typeface="Arial"/>
                        <a:buNone/>
                      </a:pPr>
                      <a:r>
                        <a:rPr sz="1000" b="1" u="none" strike="noStrike" cap="none">
                          <a:solidFill>
                            <a:schemeClr val="accent5"/>
                          </a:solidFill>
                          <a:latin typeface="Arial"/>
                          <a:ea typeface="Arial"/>
                          <a:cs typeface="Arial"/>
                        </a:rPr>
                        <a:t>Amount · country · time</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solidFill>
                      <a:schemeClr val="dk2"/>
                    </a:solidFill>
                  </a:tcPr>
                </a:tc>
              </a:tr>
              <a:tr h="274300">
                <a:tc>
                  <a:txBody>
                    <a:bodyPr/>
                    <a:lstStyle/>
                    <a:p>
                      <a:pPr marL="0" marR="0" lvl="0" indent="0" algn="l">
                        <a:spcBef>
                          <a:spcPts val="0"/>
                        </a:spcBef>
                        <a:spcAft>
                          <a:spcPts val="0"/>
                        </a:spcAft>
                        <a:buClr>
                          <a:schemeClr val="lt1"/>
                        </a:buClr>
                        <a:buSzPts val="1000"/>
                        <a:buFont typeface="Arial"/>
                        <a:buNone/>
                      </a:pPr>
                      <a:r>
                        <a:rPr sz="1000" u="none" strike="noStrike" cap="none">
                          <a:solidFill>
                            <a:schemeClr val="lt1"/>
                          </a:solidFill>
                          <a:latin typeface="Arial"/>
                          <a:ea typeface="Arial"/>
                          <a:cs typeface="Arial"/>
                        </a:rPr>
                        <a:t>User app</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marR="0" lvl="0" indent="0" algn="l">
                        <a:spcBef>
                          <a:spcPts val="0"/>
                        </a:spcBef>
                        <a:spcAft>
                          <a:spcPts val="0"/>
                        </a:spcAft>
                        <a:buClr>
                          <a:schemeClr val="lt2"/>
                        </a:buClr>
                        <a:buSzPts val="1000"/>
                        <a:buFont typeface="Arial"/>
                        <a:buNone/>
                      </a:pPr>
                      <a:r>
                        <a:rPr sz="1000" u="none" strike="noStrike" cap="none">
                          <a:solidFill>
                            <a:schemeClr val="lt2"/>
                          </a:solidFill>
                          <a:latin typeface="Arial"/>
                          <a:ea typeface="Arial"/>
                          <a:cs typeface="Arial"/>
                        </a:rPr>
                        <a:t>Plaintext: the user’s own data</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marR="0" lvl="0" indent="0" algn="l">
                        <a:spcBef>
                          <a:spcPts val="0"/>
                        </a:spcBef>
                        <a:spcAft>
                          <a:spcPts val="0"/>
                        </a:spcAft>
                        <a:buClr>
                          <a:schemeClr val="lt2"/>
                        </a:buClr>
                        <a:buSzPts val="1000"/>
                        <a:buFont typeface="Arial"/>
                        <a:buNone/>
                      </a:pPr>
                      <a:r>
                        <a:rPr sz="1000" u="none" strike="noStrike" cap="none">
                          <a:solidFill>
                            <a:schemeClr val="lt2"/>
                          </a:solidFill>
                          <a:latin typeface="Arial"/>
                          <a:ea typeface="Arial"/>
                          <a:cs typeface="Arial"/>
                        </a:rPr>
                        <a:t>Plaintext</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r>
              <a:tr h="274300">
                <a:tc>
                  <a:txBody>
                    <a:bodyPr/>
                    <a:lstStyle/>
                    <a:p>
                      <a:pPr marL="0" marR="0" lvl="0" indent="0" algn="l">
                        <a:spcBef>
                          <a:spcPts val="0"/>
                        </a:spcBef>
                        <a:spcAft>
                          <a:spcPts val="0"/>
                        </a:spcAft>
                        <a:buClr>
                          <a:schemeClr val="lt1"/>
                        </a:buClr>
                        <a:buSzPts val="1000"/>
                        <a:buFont typeface="Arial"/>
                        <a:buNone/>
                      </a:pPr>
                      <a:r>
                        <a:rPr sz="1000" u="none" strike="noStrike" cap="none">
                          <a:solidFill>
                            <a:schemeClr val="lt1"/>
                          </a:solidFill>
                          <a:latin typeface="Arial"/>
                          <a:ea typeface="Arial"/>
                          <a:cs typeface="Arial"/>
                        </a:rPr>
                        <a:t>OFAC screening (LinuxONE)</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marR="0" lvl="0" indent="0" algn="l">
                        <a:spcBef>
                          <a:spcPts val="0"/>
                        </a:spcBef>
                        <a:spcAft>
                          <a:spcPts val="0"/>
                        </a:spcAft>
                        <a:buClr>
                          <a:schemeClr val="accent2"/>
                        </a:buClr>
                        <a:buSzPts val="1000"/>
                        <a:buFont typeface="Arial"/>
                        <a:buNone/>
                      </a:pPr>
                      <a:r>
                        <a:rPr sz="1000" b="1" u="none" strike="noStrike" cap="none">
                          <a:solidFill>
                            <a:schemeClr val="accent2"/>
                          </a:solidFill>
                          <a:latin typeface="Arial"/>
                          <a:ea typeface="Arial"/>
                          <a:cs typeface="Arial"/>
                        </a:rPr>
                        <a:t>Memory only; no plaintext disk/log storage proposed</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marR="0" lvl="0" indent="0" algn="l">
                        <a:spcBef>
                          <a:spcPts val="0"/>
                        </a:spcBef>
                        <a:spcAft>
                          <a:spcPts val="0"/>
                        </a:spcAft>
                        <a:buClr>
                          <a:schemeClr val="lt2"/>
                        </a:buClr>
                        <a:buSzPts val="1000"/>
                        <a:buFont typeface="Arial"/>
                        <a:buNone/>
                      </a:pPr>
                      <a:r>
                        <a:rPr sz="1000" u="none" strike="noStrike" cap="none">
                          <a:solidFill>
                            <a:schemeClr val="lt2"/>
                          </a:solidFill>
                          <a:latin typeface="Arial"/>
                          <a:ea typeface="Arial"/>
                          <a:cs typeface="Arial"/>
                        </a:rPr>
                        <a:t>Not required</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r>
              <a:tr h="274300">
                <a:tc>
                  <a:txBody>
                    <a:bodyPr/>
                    <a:lstStyle/>
                    <a:p>
                      <a:pPr marL="0" marR="0" lvl="0" indent="0" algn="l">
                        <a:spcBef>
                          <a:spcPts val="0"/>
                        </a:spcBef>
                        <a:spcAft>
                          <a:spcPts val="0"/>
                        </a:spcAft>
                        <a:buClr>
                          <a:schemeClr val="lt1"/>
                        </a:buClr>
                        <a:buSzPts val="1000"/>
                        <a:buFont typeface="Arial"/>
                        <a:buNone/>
                      </a:pPr>
                      <a:r>
                        <a:rPr sz="1000" u="none" strike="noStrike" cap="none">
                          <a:solidFill>
                            <a:schemeClr val="lt1"/>
                          </a:solidFill>
                          <a:latin typeface="Arial"/>
                          <a:ea typeface="Arial"/>
                          <a:cs typeface="Arial"/>
                        </a:rPr>
                        <a:t>Risk model (XGBoost)</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marR="0" lvl="0" indent="0" algn="l">
                        <a:spcBef>
                          <a:spcPts val="0"/>
                        </a:spcBef>
                        <a:spcAft>
                          <a:spcPts val="0"/>
                        </a:spcAft>
                        <a:buClr>
                          <a:schemeClr val="accent2"/>
                        </a:buClr>
                        <a:buSzPts val="1000"/>
                        <a:buFont typeface="Arial"/>
                        <a:buNone/>
                      </a:pPr>
                      <a:r>
                        <a:rPr sz="1000" b="1" u="none" strike="noStrike" cap="none">
                          <a:solidFill>
                            <a:schemeClr val="accent2"/>
                          </a:solidFill>
                          <a:latin typeface="Arial"/>
                          <a:ea typeface="Arial"/>
                          <a:cs typeface="Arial"/>
                        </a:rPr>
                        <a:t>Tokens only</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marR="0" lvl="0" indent="0" algn="l">
                        <a:spcBef>
                          <a:spcPts val="0"/>
                        </a:spcBef>
                        <a:spcAft>
                          <a:spcPts val="0"/>
                        </a:spcAft>
                        <a:buClr>
                          <a:schemeClr val="lt2"/>
                        </a:buClr>
                        <a:buSzPts val="1000"/>
                        <a:buFont typeface="Arial"/>
                        <a:buNone/>
                      </a:pPr>
                      <a:r>
                        <a:rPr sz="1000" u="none" strike="noStrike" cap="none">
                          <a:solidFill>
                            <a:schemeClr val="lt2"/>
                          </a:solidFill>
                          <a:latin typeface="Arial"/>
                          <a:ea typeface="Arial"/>
                          <a:cs typeface="Arial"/>
                        </a:rPr>
                        <a:t>Model features</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r>
              <a:tr h="274300">
                <a:tc>
                  <a:txBody>
                    <a:bodyPr/>
                    <a:lstStyle/>
                    <a:p>
                      <a:pPr marL="0" marR="0" lvl="0" indent="0" algn="l">
                        <a:spcBef>
                          <a:spcPts val="0"/>
                        </a:spcBef>
                        <a:spcAft>
                          <a:spcPts val="0"/>
                        </a:spcAft>
                        <a:buClr>
                          <a:schemeClr val="lt1"/>
                        </a:buClr>
                        <a:buSzPts val="1000"/>
                        <a:buFont typeface="Arial"/>
                        <a:buNone/>
                      </a:pPr>
                      <a:r>
                        <a:rPr sz="1000" u="none" strike="noStrike" cap="none">
                          <a:solidFill>
                            <a:schemeClr val="lt1"/>
                          </a:solidFill>
                          <a:latin typeface="Arial"/>
                          <a:ea typeface="Arial"/>
                          <a:cs typeface="Arial"/>
                        </a:rPr>
                        <a:t>Granite assistant (generative AI)</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marR="0" lvl="0" indent="0" algn="l">
                        <a:spcBef>
                          <a:spcPts val="0"/>
                        </a:spcBef>
                        <a:spcAft>
                          <a:spcPts val="0"/>
                        </a:spcAft>
                        <a:buClr>
                          <a:schemeClr val="accent2"/>
                        </a:buClr>
                        <a:buSzPts val="1000"/>
                        <a:buFont typeface="Arial"/>
                        <a:buNone/>
                      </a:pPr>
                      <a:r>
                        <a:rPr sz="1000" b="1" u="none" strike="noStrike" cap="none">
                          <a:solidFill>
                            <a:schemeClr val="accent2"/>
                          </a:solidFill>
                          <a:latin typeface="Arial"/>
                          <a:ea typeface="Arial"/>
                          <a:cs typeface="Arial"/>
                        </a:rPr>
                        <a:t>Tokens only</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marR="0" lvl="0" indent="0" algn="l">
                        <a:spcBef>
                          <a:spcPts val="0"/>
                        </a:spcBef>
                        <a:spcAft>
                          <a:spcPts val="0"/>
                        </a:spcAft>
                        <a:buClr>
                          <a:schemeClr val="lt2"/>
                        </a:buClr>
                        <a:buSzPts val="1000"/>
                        <a:buFont typeface="Arial"/>
                        <a:buNone/>
                      </a:pPr>
                      <a:r>
                        <a:rPr sz="1000" u="none" strike="noStrike" cap="none">
                          <a:solidFill>
                            <a:schemeClr val="lt2"/>
                          </a:solidFill>
                          <a:latin typeface="Arial"/>
                          <a:ea typeface="Arial"/>
                          <a:cs typeface="Arial"/>
                        </a:rPr>
                        <a:t>Alert summary</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r>
              <a:tr h="274300">
                <a:tc>
                  <a:txBody>
                    <a:bodyPr/>
                    <a:lstStyle/>
                    <a:p>
                      <a:pPr marL="0" marR="0" lvl="0" indent="0" algn="l">
                        <a:spcBef>
                          <a:spcPts val="0"/>
                        </a:spcBef>
                        <a:spcAft>
                          <a:spcPts val="0"/>
                        </a:spcAft>
                        <a:buClr>
                          <a:schemeClr val="lt1"/>
                        </a:buClr>
                        <a:buSzPts val="1000"/>
                        <a:buFont typeface="Arial"/>
                        <a:buNone/>
                      </a:pPr>
                      <a:r>
                        <a:rPr sz="1000" u="none" strike="noStrike" cap="none">
                          <a:solidFill>
                            <a:schemeClr val="lt1"/>
                          </a:solidFill>
                          <a:latin typeface="Arial"/>
                          <a:ea typeface="Arial"/>
                          <a:cs typeface="Arial"/>
                        </a:rPr>
                        <a:t>Disk, logs and backups</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marR="0" lvl="0" indent="0" algn="l">
                        <a:spcBef>
                          <a:spcPts val="0"/>
                        </a:spcBef>
                        <a:spcAft>
                          <a:spcPts val="0"/>
                        </a:spcAft>
                        <a:buClr>
                          <a:schemeClr val="accent2"/>
                        </a:buClr>
                        <a:buSzPts val="1000"/>
                        <a:buFont typeface="Arial"/>
                        <a:buNone/>
                      </a:pPr>
                      <a:r>
                        <a:rPr sz="1000" b="1" u="none" strike="noStrike" cap="none">
                          <a:solidFill>
                            <a:schemeClr val="accent2"/>
                          </a:solidFill>
                          <a:latin typeface="Arial"/>
                          <a:ea typeface="Arial"/>
                          <a:cs typeface="Arial"/>
                        </a:rPr>
                        <a:t>AES-256-GCM ciphertext</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marR="0" lvl="0" indent="0" algn="l">
                        <a:spcBef>
                          <a:spcPts val="0"/>
                        </a:spcBef>
                        <a:spcAft>
                          <a:spcPts val="0"/>
                        </a:spcAft>
                        <a:buClr>
                          <a:schemeClr val="accent2"/>
                        </a:buClr>
                        <a:buSzPts val="1000"/>
                        <a:buFont typeface="Arial"/>
                        <a:buNone/>
                      </a:pPr>
                      <a:r>
                        <a:rPr sz="1000" b="1" u="none" strike="noStrike" cap="none">
                          <a:solidFill>
                            <a:schemeClr val="accent2"/>
                          </a:solidFill>
                          <a:latin typeface="Arial"/>
                          <a:ea typeface="Arial"/>
                          <a:cs typeface="Arial"/>
                        </a:rPr>
                        <a:t>AES-256-GCM ciphertext</a:t>
                      </a:r>
                      <a:endParaRPr sz="1000" u="none" strike="noStrike" cap="none">
                        <a:latin typeface="Arial"/>
                        <a:ea typeface="Arial"/>
                        <a:cs typeface="Arial"/>
                      </a:endParaRPr>
                    </a:p>
                  </a:txBody>
                  <a:tcPr marL="82300" marR="82300"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r>
            </a:tbl>
          </a:graphicData>
        </a:graphic>
      </p:graphicFrame>
      <p:sp>
        <p:nvSpPr>
          <p:cNvPr id="264" name="Google Shape;264;p32">
            <a:extLst xmlns:a="http://schemas.openxmlformats.org/drawingml/2006/main">
              <a:ext uri="{FF2B5EF4-FFF2-40B4-BE49-F238E27FC236}">
                <a16:creationId xmlns:a16="http://schemas.microsoft.com/office/drawing/2014/main" id="{8036F8AE-103E-401B-8943-8E6DAE8B2A97}"/>
              </a:ext>
            </a:extLst>
          </p:cNvPr>
          <p:cNvSpPr>
            <a:spLocks xmlns:a="http://schemas.openxmlformats.org/drawingml/2006/main" noGrp="1"/>
          </p:cNvSpPr>
          <p:nvPr/>
        </p:nvSpPr>
        <p:spPr>
          <a:xfrm xmlns:a="http://schemas.openxmlformats.org/drawingml/2006/main">
            <a:off x="411480" y="4526280"/>
            <a:ext cx="8318754"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accent6"/>
              </a:buClr>
              <a:buSzPts val="800"/>
              <a:buFont typeface="Arial"/>
              <a:buNone/>
            </a:pPr>
            <a:r>
              <a:rPr sz="800" b="0" i="0" u="none" strike="noStrike" cap="none">
                <a:solidFill>
                  <a:schemeClr val="accent6"/>
                </a:solidFill>
                <a:latin typeface="Arial"/>
                <a:ea typeface="Arial"/>
                <a:cs typeface="Arial"/>
              </a:rPr>
              <a:t>CPACF support on IBM Z does not establish that an application or library actually uses it; measurement would be required.</a:t>
            </a:r>
            <a:endParaRPr sz="800" b="0" i="0" u="none" strike="noStrike" cap="none">
              <a:solidFill>
                <a:schemeClr val="dk1"/>
              </a:solidFill>
              <a:latin typeface="Arial"/>
              <a:ea typeface="Arial"/>
              <a:cs typeface="Arial"/>
            </a:endParaRPr>
          </a:p>
        </p:txBody>
      </p:sp>
      <p:sp>
        <p:nvSpPr>
          <p:cNvPr id="265" name="Google Shape;265;p32">
            <a:extLst xmlns:a="http://schemas.openxmlformats.org/drawingml/2006/main">
              <a:ext uri="{FF2B5EF4-FFF2-40B4-BE49-F238E27FC236}">
                <a16:creationId xmlns:a16="http://schemas.microsoft.com/office/drawing/2014/main" id="{D54165E4-E6F5-4C20-83EE-48DA2AAE6C0A}"/>
              </a:ext>
            </a:extLst>
          </p:cNvPr>
          <p:cNvSpPr>
            <a:spLocks xmlns:a="http://schemas.openxmlformats.org/drawingml/2006/main" noGrp="1"/>
          </p:cNvSpPr>
          <p:nvPr>
            <p:ph type="sldNum" idx="4294967295"/>
          </p:nvPr>
        </p:nvSpPr>
        <p:spPr>
          <a:xfrm xmlns:a="http://schemas.openxmlformats.org/drawingml/2006/main">
            <a:off x="8387334" y="4800600"/>
            <a:ext cx="3429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p xmlns:a="http://schemas.openxmlformats.org/drawingml/2006/main">
            <a:pPr marL="0" marR="0" lvl="0" indent="0" algn="r">
              <a:spcBef>
                <a:spcPts val="0"/>
              </a:spcBef>
              <a:spcAft>
                <a:spcPts val="0"/>
              </a:spcAft>
              <a:buNone/>
            </a:pPr>
            <a:fld id="{00000000-1234-1234-1234-123412341234}" type="slidenum">
              <a:rPr sz="700" b="0" i="0" u="none" strike="noStrike" cap="none">
                <a:solidFill>
                  <a:schemeClr val="accent6"/>
                </a:solidFill>
                <a:latin typeface="Arial"/>
                <a:ea typeface="Arial"/>
                <a:cs typeface="Arial"/>
              </a:rPr>
              <a:t>‹#›</a:t>
            </a:fld>
            <a:endParaRPr sz="700" b="0" i="0" u="none" strike="noStrike" cap="none">
              <a:solidFill>
                <a:schemeClr val="accent6"/>
              </a:solidFill>
              <a:latin typeface="Arial"/>
              <a:ea typeface="Arial"/>
              <a:cs typeface="Arial"/>
            </a:endParaRPr>
          </a:p>
        </p:txBody>
      </p:sp>
    </p:spTree>
    <p:extLst>
      <p:ext uri="{BB962C8B-B14F-4D97-AF65-F5344CB8AC3E}">
        <p14:creationId xmlns:p14="http://schemas.microsoft.com/office/powerpoint/2010/main" val="67800463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71" name="Google Shape;271;p33">
            <a:extLst xmlns:a="http://schemas.openxmlformats.org/drawingml/2006/main">
              <a:ext uri="{FF2B5EF4-FFF2-40B4-BE49-F238E27FC236}">
                <a16:creationId xmlns:a16="http://schemas.microsoft.com/office/drawing/2014/main" id="{FA815120-6522-4B16-B39B-0D6D5F95357A}"/>
              </a:ext>
            </a:extLst>
          </p:cNvPr>
          <p:cNvSpPr>
            <a:spLocks xmlns:a="http://schemas.openxmlformats.org/drawingml/2006/main" noGrp="1"/>
          </p:cNvSpPr>
          <p:nvPr>
            <p:ph type="body" idx="1"/>
          </p:nvPr>
        </p:nvSpPr>
        <p:spPr>
          <a:xfrm xmlns:a="http://schemas.openxmlformats.org/drawingml/2006/main">
            <a:off x="576072" y="308610"/>
            <a:ext cx="6172200" cy="233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Clr>
                <a:schemeClr val="accent5"/>
              </a:buClr>
              <a:buSzPts val="900"/>
              <a:buNone/>
            </a:pPr>
            <a:r>
              <a:rPr sz="900" b="1">
                <a:solidFill>
                  <a:schemeClr val="accent5"/>
                </a:solidFill>
              </a:rPr>
              <a:t>04 · WHY IBM Z</a:t>
            </a:r>
            <a:endParaRPr sz="900"/>
          </a:p>
        </p:txBody>
      </p:sp>
      <p:sp>
        <p:nvSpPr>
          <p:cNvPr id="272" name="Google Shape;272;p33">
            <a:extLst xmlns:a="http://schemas.openxmlformats.org/drawingml/2006/main">
              <a:ext uri="{FF2B5EF4-FFF2-40B4-BE49-F238E27FC236}">
                <a16:creationId xmlns:a16="http://schemas.microsoft.com/office/drawing/2014/main" id="{7AFC4DEF-27B8-4125-8CAD-74008EE3AE4E}"/>
              </a:ext>
            </a:extLst>
          </p:cNvPr>
          <p:cNvSpPr>
            <a:spLocks xmlns:a="http://schemas.openxmlformats.org/drawingml/2006/main" noGrp="1"/>
          </p:cNvSpPr>
          <p:nvPr>
            <p:ph type="title" idx="0"/>
          </p:nvPr>
        </p:nvSpPr>
        <p:spPr>
          <a:xfrm xmlns:a="http://schemas.openxmlformats.org/drawingml/2006/main">
            <a:off x="411480" y="582930"/>
            <a:ext cx="8318754"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Clr>
                <a:schemeClr val="lt1"/>
              </a:buClr>
              <a:buSzPts val="2300"/>
              <a:buFont typeface="Arial"/>
              <a:buNone/>
            </a:pPr>
            <a:r>
              <a:rPr sz="2300" b="1">
                <a:solidFill>
                  <a:schemeClr val="lt1"/>
                </a:solidFill>
              </a:rPr>
              <a:t>Place AI alongside the financial workload</a:t>
            </a:r>
            <a:endParaRPr sz="2300"/>
          </a:p>
        </p:txBody>
      </p:sp>
      <p:sp>
        <p:nvSpPr>
          <p:cNvPr id="273" name="Google Shape;273;p33">
            <a:extLst xmlns:a="http://schemas.openxmlformats.org/drawingml/2006/main">
              <a:ext uri="{FF2B5EF4-FFF2-40B4-BE49-F238E27FC236}">
                <a16:creationId xmlns:a16="http://schemas.microsoft.com/office/drawing/2014/main" id="{74E07EAC-60F7-4558-A5DE-005BA7F8034C}"/>
              </a:ext>
            </a:extLst>
          </p:cNvPr>
          <p:cNvSpPr>
            <a:spLocks xmlns:a="http://schemas.openxmlformats.org/drawingml/2006/main" noGrp="1"/>
          </p:cNvSpPr>
          <p:nvPr/>
        </p:nvSpPr>
        <p:spPr>
          <a:xfrm xmlns:a="http://schemas.openxmlformats.org/drawingml/2006/main">
            <a:off x="411480" y="1611630"/>
            <a:ext cx="1062990" cy="548640"/>
          </a:xfrm>
          <a:prstGeom xmlns:a="http://schemas.openxmlformats.org/drawingml/2006/main" prst="roundRect">
            <a:avLst>
              <a:gd name="adj" fmla="val 12500"/>
            </a:avLst>
          </a:prstGeom>
          <a:solidFill xmlns:a="http://schemas.openxmlformats.org/drawingml/2006/main">
            <a:schemeClr val="dk2"/>
          </a:solidFill>
          <a:ln xmlns:a="http://schemas.openxmlformats.org/drawingml/2006/main" w="9525" cap="flat" cmpd="sng">
            <a:solidFill>
              <a:schemeClr val="accent6">
                <a:alpha val="60000"/>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4" name="Google Shape;274;p33">
            <a:extLst xmlns:a="http://schemas.openxmlformats.org/drawingml/2006/main">
              <a:ext uri="{FF2B5EF4-FFF2-40B4-BE49-F238E27FC236}">
                <a16:creationId xmlns:a16="http://schemas.microsoft.com/office/drawing/2014/main" id="{54ACE00D-BDD2-411C-A03A-A486A464DFE4}"/>
              </a:ext>
            </a:extLst>
          </p:cNvPr>
          <p:cNvSpPr>
            <a:spLocks xmlns:a="http://schemas.openxmlformats.org/drawingml/2006/main" noGrp="1"/>
          </p:cNvSpPr>
          <p:nvPr/>
        </p:nvSpPr>
        <p:spPr>
          <a:xfrm xmlns:a="http://schemas.openxmlformats.org/drawingml/2006/main">
            <a:off x="493776" y="1748790"/>
            <a:ext cx="274320" cy="274320"/>
          </a:xfrm>
          <a:prstGeom xmlns:a="http://schemas.openxmlformats.org/drawingml/2006/main" prst="ellipse">
            <a:avLst/>
          </a:prstGeom>
          <a:solidFill xmlns:a="http://schemas.openxmlformats.org/drawingml/2006/main">
            <a:schemeClr val="dk2"/>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75" name="Google Shape;275;p33">
            <a:extLst xmlns:a="http://schemas.openxmlformats.org/drawingml/2006/main">
              <a:ext uri="{FF2B5EF4-FFF2-40B4-BE49-F238E27FC236}">
                <a16:creationId xmlns:a16="http://schemas.microsoft.com/office/drawing/2014/main" id="{DE841942-EB0F-4113-B02D-488954988FA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803439dcbf54e77">
            <a:alphaModFix/>
          </a:blip>
          <a:srcRect xmlns:a="http://schemas.openxmlformats.org/drawingml/2006/main" l="0" t="0" r="0" b="0"/>
          <a:stretch xmlns:a="http://schemas.openxmlformats.org/drawingml/2006/main"/>
        </p:blipFill>
        <p:spPr>
          <a:xfrm xmlns:a="http://schemas.openxmlformats.org/drawingml/2006/main">
            <a:off x="554126" y="1809140"/>
            <a:ext cx="153619" cy="153619"/>
          </a:xfrm>
          <a:prstGeom xmlns:a="http://schemas.openxmlformats.org/drawingml/2006/main" prst="rect">
            <a:avLst/>
          </a:prstGeom>
          <a:ln xmlns:a="http://schemas.openxmlformats.org/drawingml/2006/main">
            <a:noFill/>
          </a:ln>
        </p:spPr>
      </p:pic>
      <p:sp>
        <p:nvSpPr>
          <p:cNvPr id="276" name="Google Shape;276;p33">
            <a:extLst xmlns:a="http://schemas.openxmlformats.org/drawingml/2006/main">
              <a:ext uri="{FF2B5EF4-FFF2-40B4-BE49-F238E27FC236}">
                <a16:creationId xmlns:a16="http://schemas.microsoft.com/office/drawing/2014/main" id="{C9667722-FC1F-4F1C-8498-4ED572FDC02B}"/>
              </a:ext>
            </a:extLst>
          </p:cNvPr>
          <p:cNvSpPr>
            <a:spLocks xmlns:a="http://schemas.openxmlformats.org/drawingml/2006/main" noGrp="1"/>
          </p:cNvSpPr>
          <p:nvPr/>
        </p:nvSpPr>
        <p:spPr>
          <a:xfrm xmlns:a="http://schemas.openxmlformats.org/drawingml/2006/main">
            <a:off x="788670" y="1680210"/>
            <a:ext cx="65151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1" i="0" u="none" strike="noStrike" cap="none">
                <a:solidFill>
                  <a:schemeClr val="lt1"/>
                </a:solidFill>
                <a:latin typeface="Arial"/>
                <a:ea typeface="Arial"/>
                <a:cs typeface="Arial"/>
              </a:rPr>
              <a:t>Mexico app</a:t>
            </a:r>
            <a:endParaRPr sz="900" b="0" i="0" u="none" strike="noStrike" cap="none">
              <a:solidFill>
                <a:schemeClr val="dk1"/>
              </a:solidFill>
              <a:latin typeface="Arial"/>
              <a:ea typeface="Arial"/>
              <a:cs typeface="Arial"/>
            </a:endParaRPr>
          </a:p>
        </p:txBody>
      </p:sp>
      <p:cxnSp>
        <p:nvCxnSpPr>
          <p:cNvPr id="277" name="Google Shape;277;p33">
            <a:extLst xmlns:a="http://schemas.openxmlformats.org/drawingml/2006/main">
              <a:ext uri="{FF2B5EF4-FFF2-40B4-BE49-F238E27FC236}">
                <a16:creationId xmlns:a16="http://schemas.microsoft.com/office/drawing/2014/main" id="{DC0760D4-0960-4982-9CF4-79B44BD9B049}"/>
              </a:ext>
            </a:extLst>
          </p:cNvPr>
          <p:cNvCxnSpPr/>
          <p:nvPr/>
        </p:nvCxnSpPr>
        <p:spPr>
          <a:xfrm xmlns:a="http://schemas.openxmlformats.org/drawingml/2006/main">
            <a:off x="1508760" y="1885950"/>
            <a:ext cx="226314" cy="0"/>
          </a:xfrm>
          <a:prstGeom xmlns:a="http://schemas.openxmlformats.org/drawingml/2006/main" prst="straightConnector1">
            <a:avLst/>
          </a:prstGeom>
          <a:ln xmlns:a="http://schemas.openxmlformats.org/drawingml/2006/main" w="22225" cap="flat">
            <a:solidFill>
              <a:schemeClr val="accent5"/>
            </a:solidFill>
            <a:prstDash val="solid"/>
            <a:round/>
            <a:headEnd type="none" w="sm" len="sm"/>
            <a:tailEnd type="triangle" w="med" len="med"/>
          </a:ln>
        </p:spPr>
      </p:cxnSp>
      <p:sp>
        <p:nvSpPr>
          <p:cNvPr id="278" name="Google Shape;278;p33">
            <a:extLst xmlns:a="http://schemas.openxmlformats.org/drawingml/2006/main">
              <a:ext uri="{FF2B5EF4-FFF2-40B4-BE49-F238E27FC236}">
                <a16:creationId xmlns:a16="http://schemas.microsoft.com/office/drawing/2014/main" id="{C828F192-778F-468C-9D8E-4A553A53FA64}"/>
              </a:ext>
            </a:extLst>
          </p:cNvPr>
          <p:cNvSpPr>
            <a:spLocks xmlns:a="http://schemas.openxmlformats.org/drawingml/2006/main" noGrp="1"/>
          </p:cNvSpPr>
          <p:nvPr/>
        </p:nvSpPr>
        <p:spPr>
          <a:xfrm xmlns:a="http://schemas.openxmlformats.org/drawingml/2006/main">
            <a:off x="411480" y="2400300"/>
            <a:ext cx="1062990" cy="548640"/>
          </a:xfrm>
          <a:prstGeom xmlns:a="http://schemas.openxmlformats.org/drawingml/2006/main" prst="roundRect">
            <a:avLst>
              <a:gd name="adj" fmla="val 12500"/>
            </a:avLst>
          </a:prstGeom>
          <a:solidFill xmlns:a="http://schemas.openxmlformats.org/drawingml/2006/main">
            <a:schemeClr val="dk2"/>
          </a:solidFill>
          <a:ln xmlns:a="http://schemas.openxmlformats.org/drawingml/2006/main" w="9525" cap="flat" cmpd="sng">
            <a:solidFill>
              <a:schemeClr val="accent6">
                <a:alpha val="60000"/>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9" name="Google Shape;279;p33">
            <a:extLst xmlns:a="http://schemas.openxmlformats.org/drawingml/2006/main">
              <a:ext uri="{FF2B5EF4-FFF2-40B4-BE49-F238E27FC236}">
                <a16:creationId xmlns:a16="http://schemas.microsoft.com/office/drawing/2014/main" id="{5794F784-103D-4867-91DB-DE9164EB4A78}"/>
              </a:ext>
            </a:extLst>
          </p:cNvPr>
          <p:cNvSpPr>
            <a:spLocks xmlns:a="http://schemas.openxmlformats.org/drawingml/2006/main" noGrp="1"/>
          </p:cNvSpPr>
          <p:nvPr/>
        </p:nvSpPr>
        <p:spPr>
          <a:xfrm xmlns:a="http://schemas.openxmlformats.org/drawingml/2006/main">
            <a:off x="493776" y="2537460"/>
            <a:ext cx="274320" cy="274320"/>
          </a:xfrm>
          <a:prstGeom xmlns:a="http://schemas.openxmlformats.org/drawingml/2006/main" prst="ellipse">
            <a:avLst/>
          </a:prstGeom>
          <a:solidFill xmlns:a="http://schemas.openxmlformats.org/drawingml/2006/main">
            <a:schemeClr val="dk2"/>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80" name="Google Shape;280;p33">
            <a:extLst xmlns:a="http://schemas.openxmlformats.org/drawingml/2006/main">
              <a:ext uri="{FF2B5EF4-FFF2-40B4-BE49-F238E27FC236}">
                <a16:creationId xmlns:a16="http://schemas.microsoft.com/office/drawing/2014/main" id="{C29A971A-D4BD-41AE-9D29-7F5B603AF76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803439dcbf54e77">
            <a:alphaModFix/>
          </a:blip>
          <a:srcRect xmlns:a="http://schemas.openxmlformats.org/drawingml/2006/main" l="0" t="0" r="0" b="0"/>
          <a:stretch xmlns:a="http://schemas.openxmlformats.org/drawingml/2006/main"/>
        </p:blipFill>
        <p:spPr>
          <a:xfrm xmlns:a="http://schemas.openxmlformats.org/drawingml/2006/main">
            <a:off x="554126" y="2597810"/>
            <a:ext cx="153619" cy="153619"/>
          </a:xfrm>
          <a:prstGeom xmlns:a="http://schemas.openxmlformats.org/drawingml/2006/main" prst="rect">
            <a:avLst/>
          </a:prstGeom>
          <a:ln xmlns:a="http://schemas.openxmlformats.org/drawingml/2006/main">
            <a:noFill/>
          </a:ln>
        </p:spPr>
      </p:pic>
      <p:sp>
        <p:nvSpPr>
          <p:cNvPr id="281" name="Google Shape;281;p33">
            <a:extLst xmlns:a="http://schemas.openxmlformats.org/drawingml/2006/main">
              <a:ext uri="{FF2B5EF4-FFF2-40B4-BE49-F238E27FC236}">
                <a16:creationId xmlns:a16="http://schemas.microsoft.com/office/drawing/2014/main" id="{252A235E-A242-4963-9E2E-ADE2453BDF4F}"/>
              </a:ext>
            </a:extLst>
          </p:cNvPr>
          <p:cNvSpPr>
            <a:spLocks xmlns:a="http://schemas.openxmlformats.org/drawingml/2006/main" noGrp="1"/>
          </p:cNvSpPr>
          <p:nvPr/>
        </p:nvSpPr>
        <p:spPr>
          <a:xfrm xmlns:a="http://schemas.openxmlformats.org/drawingml/2006/main">
            <a:off x="788670" y="2468880"/>
            <a:ext cx="65151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1" i="0" u="none" strike="noStrike" cap="none">
                <a:solidFill>
                  <a:schemeClr val="lt1"/>
                </a:solidFill>
                <a:latin typeface="Arial"/>
                <a:ea typeface="Arial"/>
                <a:cs typeface="Arial"/>
              </a:rPr>
              <a:t>U.S. app</a:t>
            </a:r>
            <a:endParaRPr sz="900" b="0" i="0" u="none" strike="noStrike" cap="none">
              <a:solidFill>
                <a:schemeClr val="dk1"/>
              </a:solidFill>
              <a:latin typeface="Arial"/>
              <a:ea typeface="Arial"/>
              <a:cs typeface="Arial"/>
            </a:endParaRPr>
          </a:p>
        </p:txBody>
      </p:sp>
      <p:cxnSp>
        <p:nvCxnSpPr>
          <p:cNvPr id="282" name="Google Shape;282;p33">
            <a:extLst xmlns:a="http://schemas.openxmlformats.org/drawingml/2006/main">
              <a:ext uri="{FF2B5EF4-FFF2-40B4-BE49-F238E27FC236}">
                <a16:creationId xmlns:a16="http://schemas.microsoft.com/office/drawing/2014/main" id="{C61E3C95-6190-4EF5-8E2B-7E89608C9773}"/>
              </a:ext>
            </a:extLst>
          </p:cNvPr>
          <p:cNvCxnSpPr/>
          <p:nvPr/>
        </p:nvCxnSpPr>
        <p:spPr>
          <a:xfrm xmlns:a="http://schemas.openxmlformats.org/drawingml/2006/main">
            <a:off x="1508760" y="2674620"/>
            <a:ext cx="226314" cy="0"/>
          </a:xfrm>
          <a:prstGeom xmlns:a="http://schemas.openxmlformats.org/drawingml/2006/main" prst="straightConnector1">
            <a:avLst/>
          </a:prstGeom>
          <a:ln xmlns:a="http://schemas.openxmlformats.org/drawingml/2006/main" w="22225" cap="flat">
            <a:solidFill>
              <a:schemeClr val="accent5"/>
            </a:solidFill>
            <a:prstDash val="solid"/>
            <a:round/>
            <a:headEnd type="none" w="sm" len="sm"/>
            <a:tailEnd type="triangle" w="med" len="med"/>
          </a:ln>
        </p:spPr>
      </p:cxnSp>
      <p:sp>
        <p:nvSpPr>
          <p:cNvPr id="283" name="Google Shape;283;p33">
            <a:extLst xmlns:a="http://schemas.openxmlformats.org/drawingml/2006/main">
              <a:ext uri="{FF2B5EF4-FFF2-40B4-BE49-F238E27FC236}">
                <a16:creationId xmlns:a16="http://schemas.microsoft.com/office/drawing/2014/main" id="{B930567A-1374-47AB-B8D5-5E667B79453A}"/>
              </a:ext>
            </a:extLst>
          </p:cNvPr>
          <p:cNvSpPr>
            <a:spLocks xmlns:a="http://schemas.openxmlformats.org/drawingml/2006/main" noGrp="1"/>
          </p:cNvSpPr>
          <p:nvPr/>
        </p:nvSpPr>
        <p:spPr>
          <a:xfrm xmlns:a="http://schemas.openxmlformats.org/drawingml/2006/main">
            <a:off x="411480" y="3188970"/>
            <a:ext cx="1062990" cy="548640"/>
          </a:xfrm>
          <a:prstGeom xmlns:a="http://schemas.openxmlformats.org/drawingml/2006/main" prst="roundRect">
            <a:avLst>
              <a:gd name="adj" fmla="val 12500"/>
            </a:avLst>
          </a:prstGeom>
          <a:solidFill xmlns:a="http://schemas.openxmlformats.org/drawingml/2006/main">
            <a:schemeClr val="dk2"/>
          </a:solidFill>
          <a:ln xmlns:a="http://schemas.openxmlformats.org/drawingml/2006/main" w="9525" cap="flat" cmpd="sng">
            <a:solidFill>
              <a:schemeClr val="accent6">
                <a:alpha val="60000"/>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4" name="Google Shape;284;p33">
            <a:extLst xmlns:a="http://schemas.openxmlformats.org/drawingml/2006/main">
              <a:ext uri="{FF2B5EF4-FFF2-40B4-BE49-F238E27FC236}">
                <a16:creationId xmlns:a16="http://schemas.microsoft.com/office/drawing/2014/main" id="{EA6A98CD-998D-4515-B0D4-002B237A4654}"/>
              </a:ext>
            </a:extLst>
          </p:cNvPr>
          <p:cNvSpPr>
            <a:spLocks xmlns:a="http://schemas.openxmlformats.org/drawingml/2006/main" noGrp="1"/>
          </p:cNvSpPr>
          <p:nvPr/>
        </p:nvSpPr>
        <p:spPr>
          <a:xfrm xmlns:a="http://schemas.openxmlformats.org/drawingml/2006/main">
            <a:off x="493776" y="3326130"/>
            <a:ext cx="274320" cy="274320"/>
          </a:xfrm>
          <a:prstGeom xmlns:a="http://schemas.openxmlformats.org/drawingml/2006/main" prst="ellipse">
            <a:avLst/>
          </a:prstGeom>
          <a:solidFill xmlns:a="http://schemas.openxmlformats.org/drawingml/2006/main">
            <a:schemeClr val="dk2"/>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85" name="Google Shape;285;p33">
            <a:extLst xmlns:a="http://schemas.openxmlformats.org/drawingml/2006/main">
              <a:ext uri="{FF2B5EF4-FFF2-40B4-BE49-F238E27FC236}">
                <a16:creationId xmlns:a16="http://schemas.microsoft.com/office/drawing/2014/main" id="{B6891AD9-7EB2-4A62-8E1D-520DA2BFD66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803439dcbf54e77">
            <a:alphaModFix/>
          </a:blip>
          <a:srcRect xmlns:a="http://schemas.openxmlformats.org/drawingml/2006/main" l="0" t="0" r="0" b="0"/>
          <a:stretch xmlns:a="http://schemas.openxmlformats.org/drawingml/2006/main"/>
        </p:blipFill>
        <p:spPr>
          <a:xfrm xmlns:a="http://schemas.openxmlformats.org/drawingml/2006/main">
            <a:off x="554126" y="3386480"/>
            <a:ext cx="153619" cy="153619"/>
          </a:xfrm>
          <a:prstGeom xmlns:a="http://schemas.openxmlformats.org/drawingml/2006/main" prst="rect">
            <a:avLst/>
          </a:prstGeom>
          <a:ln xmlns:a="http://schemas.openxmlformats.org/drawingml/2006/main">
            <a:noFill/>
          </a:ln>
        </p:spPr>
      </p:pic>
      <p:sp>
        <p:nvSpPr>
          <p:cNvPr id="286" name="Google Shape;286;p33">
            <a:extLst xmlns:a="http://schemas.openxmlformats.org/drawingml/2006/main">
              <a:ext uri="{FF2B5EF4-FFF2-40B4-BE49-F238E27FC236}">
                <a16:creationId xmlns:a16="http://schemas.microsoft.com/office/drawing/2014/main" id="{5FDF183C-1C73-4BC6-B751-BEBA145258C5}"/>
              </a:ext>
            </a:extLst>
          </p:cNvPr>
          <p:cNvSpPr>
            <a:spLocks xmlns:a="http://schemas.openxmlformats.org/drawingml/2006/main" noGrp="1"/>
          </p:cNvSpPr>
          <p:nvPr/>
        </p:nvSpPr>
        <p:spPr>
          <a:xfrm xmlns:a="http://schemas.openxmlformats.org/drawingml/2006/main">
            <a:off x="788670" y="3257550"/>
            <a:ext cx="65151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1" i="0" u="none" strike="noStrike" cap="none">
                <a:solidFill>
                  <a:schemeClr val="lt1"/>
                </a:solidFill>
                <a:latin typeface="Arial"/>
                <a:ea typeface="Arial"/>
                <a:cs typeface="Arial"/>
              </a:rPr>
              <a:t>Colombia app</a:t>
            </a:r>
            <a:endParaRPr sz="900" b="0" i="0" u="none" strike="noStrike" cap="none">
              <a:solidFill>
                <a:schemeClr val="dk1"/>
              </a:solidFill>
              <a:latin typeface="Arial"/>
              <a:ea typeface="Arial"/>
              <a:cs typeface="Arial"/>
            </a:endParaRPr>
          </a:p>
        </p:txBody>
      </p:sp>
      <p:cxnSp>
        <p:nvCxnSpPr>
          <p:cNvPr id="287" name="Google Shape;287;p33">
            <a:extLst xmlns:a="http://schemas.openxmlformats.org/drawingml/2006/main">
              <a:ext uri="{FF2B5EF4-FFF2-40B4-BE49-F238E27FC236}">
                <a16:creationId xmlns:a16="http://schemas.microsoft.com/office/drawing/2014/main" id="{3580B00C-2B20-4F65-8AED-D6ABD8B23769}"/>
              </a:ext>
            </a:extLst>
          </p:cNvPr>
          <p:cNvCxnSpPr/>
          <p:nvPr/>
        </p:nvCxnSpPr>
        <p:spPr>
          <a:xfrm xmlns:a="http://schemas.openxmlformats.org/drawingml/2006/main">
            <a:off x="1508760" y="3463290"/>
            <a:ext cx="226314" cy="0"/>
          </a:xfrm>
          <a:prstGeom xmlns:a="http://schemas.openxmlformats.org/drawingml/2006/main" prst="straightConnector1">
            <a:avLst/>
          </a:prstGeom>
          <a:ln xmlns:a="http://schemas.openxmlformats.org/drawingml/2006/main" w="22225" cap="flat">
            <a:solidFill>
              <a:schemeClr val="accent5"/>
            </a:solidFill>
            <a:prstDash val="solid"/>
            <a:round/>
            <a:headEnd type="none" w="sm" len="sm"/>
            <a:tailEnd type="triangle" w="med" len="med"/>
          </a:ln>
        </p:spPr>
      </p:cxnSp>
      <p:sp>
        <p:nvSpPr>
          <p:cNvPr id="288" name="Google Shape;288;p33">
            <a:extLst xmlns:a="http://schemas.openxmlformats.org/drawingml/2006/main">
              <a:ext uri="{FF2B5EF4-FFF2-40B4-BE49-F238E27FC236}">
                <a16:creationId xmlns:a16="http://schemas.microsoft.com/office/drawing/2014/main" id="{1222B672-0BF6-49C7-99E9-4E0C7598E24D}"/>
              </a:ext>
            </a:extLst>
          </p:cNvPr>
          <p:cNvSpPr>
            <a:spLocks xmlns:a="http://schemas.openxmlformats.org/drawingml/2006/main" noGrp="1"/>
          </p:cNvSpPr>
          <p:nvPr/>
        </p:nvSpPr>
        <p:spPr>
          <a:xfrm xmlns:a="http://schemas.openxmlformats.org/drawingml/2006/main">
            <a:off x="1783080" y="1337310"/>
            <a:ext cx="2983230" cy="3017520"/>
          </a:xfrm>
          <a:prstGeom xmlns:a="http://schemas.openxmlformats.org/drawingml/2006/main" prst="roundRect">
            <a:avLst>
              <a:gd name="adj" fmla="val 2299"/>
            </a:avLst>
          </a:prstGeom>
          <a:solidFill xmlns:a="http://schemas.openxmlformats.org/drawingml/2006/main">
            <a:schemeClr val="accent1">
              <a:alpha val="10196"/>
            </a:schemeClr>
          </a:solidFill>
          <a:ln xmlns:a="http://schemas.openxmlformats.org/drawingml/2006/main" w="22225" cap="flat" cmpd="sng">
            <a:solidFill>
              <a:schemeClr val="accent1"/>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9" name="Google Shape;289;p33">
            <a:extLst xmlns:a="http://schemas.openxmlformats.org/drawingml/2006/main">
              <a:ext uri="{FF2B5EF4-FFF2-40B4-BE49-F238E27FC236}">
                <a16:creationId xmlns:a16="http://schemas.microsoft.com/office/drawing/2014/main" id="{899D0EB3-6924-459B-B8E9-4AF724B248BE}"/>
              </a:ext>
            </a:extLst>
          </p:cNvPr>
          <p:cNvSpPr>
            <a:spLocks xmlns:a="http://schemas.openxmlformats.org/drawingml/2006/main" noGrp="1"/>
          </p:cNvSpPr>
          <p:nvPr/>
        </p:nvSpPr>
        <p:spPr>
          <a:xfrm xmlns:a="http://schemas.openxmlformats.org/drawingml/2006/main">
            <a:off x="1906524" y="1440180"/>
            <a:ext cx="288036" cy="288036"/>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90" name="Google Shape;290;p33">
            <a:extLst xmlns:a="http://schemas.openxmlformats.org/drawingml/2006/main">
              <a:ext uri="{FF2B5EF4-FFF2-40B4-BE49-F238E27FC236}">
                <a16:creationId xmlns:a16="http://schemas.microsoft.com/office/drawing/2014/main" id="{C7114B3E-D19B-485A-91FF-1F1C3BE99AF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8a48827fc054236">
            <a:alphaModFix/>
          </a:blip>
          <a:srcRect xmlns:a="http://schemas.openxmlformats.org/drawingml/2006/main" l="0" t="0" r="0" b="0"/>
          <a:stretch xmlns:a="http://schemas.openxmlformats.org/drawingml/2006/main"/>
        </p:blipFill>
        <p:spPr>
          <a:xfrm xmlns:a="http://schemas.openxmlformats.org/drawingml/2006/main">
            <a:off x="1969892" y="1503548"/>
            <a:ext cx="161300" cy="161300"/>
          </a:xfrm>
          <a:prstGeom xmlns:a="http://schemas.openxmlformats.org/drawingml/2006/main" prst="rect">
            <a:avLst/>
          </a:prstGeom>
          <a:ln xmlns:a="http://schemas.openxmlformats.org/drawingml/2006/main">
            <a:noFill/>
          </a:ln>
        </p:spPr>
      </p:pic>
      <p:sp>
        <p:nvSpPr>
          <p:cNvPr id="291" name="Google Shape;291;p33">
            <a:extLst xmlns:a="http://schemas.openxmlformats.org/drawingml/2006/main">
              <a:ext uri="{FF2B5EF4-FFF2-40B4-BE49-F238E27FC236}">
                <a16:creationId xmlns:a16="http://schemas.microsoft.com/office/drawing/2014/main" id="{4FDC9BCB-5616-4F82-8DE5-611C59DACACC}"/>
              </a:ext>
            </a:extLst>
          </p:cNvPr>
          <p:cNvSpPr>
            <a:spLocks xmlns:a="http://schemas.openxmlformats.org/drawingml/2006/main" noGrp="1"/>
          </p:cNvSpPr>
          <p:nvPr/>
        </p:nvSpPr>
        <p:spPr>
          <a:xfrm xmlns:a="http://schemas.openxmlformats.org/drawingml/2006/main">
            <a:off x="2263140" y="1440180"/>
            <a:ext cx="1645920" cy="2880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100"/>
              <a:buFont typeface="Arial"/>
              <a:buNone/>
            </a:pPr>
            <a:r>
              <a:rPr sz="1100" b="1" i="0" u="none" strike="noStrike" cap="none">
                <a:solidFill>
                  <a:schemeClr val="lt1"/>
                </a:solidFill>
                <a:latin typeface="Arial"/>
                <a:ea typeface="Arial"/>
                <a:cs typeface="Arial"/>
              </a:rPr>
              <a:t>IBM LinuxONE · s390x</a:t>
            </a:r>
            <a:endParaRPr sz="1100" b="0" i="0" u="none" strike="noStrike" cap="none">
              <a:solidFill>
                <a:schemeClr val="dk1"/>
              </a:solidFill>
              <a:latin typeface="Arial"/>
              <a:ea typeface="Arial"/>
              <a:cs typeface="Arial"/>
            </a:endParaRPr>
          </a:p>
        </p:txBody>
      </p:sp>
      <p:sp>
        <p:nvSpPr>
          <p:cNvPr id="292" name="Google Shape;292;p33">
            <a:extLst xmlns:a="http://schemas.openxmlformats.org/drawingml/2006/main">
              <a:ext uri="{FF2B5EF4-FFF2-40B4-BE49-F238E27FC236}">
                <a16:creationId xmlns:a16="http://schemas.microsoft.com/office/drawing/2014/main" id="{6FB43B07-8971-4F5C-ABB5-04074F73E678}"/>
              </a:ext>
            </a:extLst>
          </p:cNvPr>
          <p:cNvSpPr>
            <a:spLocks xmlns:a="http://schemas.openxmlformats.org/drawingml/2006/main" noGrp="1"/>
          </p:cNvSpPr>
          <p:nvPr/>
        </p:nvSpPr>
        <p:spPr>
          <a:xfrm xmlns:a="http://schemas.openxmlformats.org/drawingml/2006/main">
            <a:off x="4080510" y="1474470"/>
            <a:ext cx="56235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chemeClr val="accent5"/>
              </a:buClr>
              <a:buSzPts val="800"/>
              <a:buFont typeface="Arial"/>
              <a:buNone/>
            </a:pPr>
            <a:r>
              <a:rPr sz="800" b="1" i="0" u="none" strike="noStrike" cap="none">
                <a:solidFill>
                  <a:schemeClr val="accent5"/>
                </a:solidFill>
                <a:latin typeface="Arial"/>
                <a:ea typeface="Arial"/>
                <a:cs typeface="Arial"/>
              </a:rPr>
              <a:t>Docker</a:t>
            </a:r>
            <a:endParaRPr sz="800" b="0" i="0" u="none" strike="noStrike" cap="none">
              <a:solidFill>
                <a:schemeClr val="dk1"/>
              </a:solidFill>
              <a:latin typeface="Arial"/>
              <a:ea typeface="Arial"/>
              <a:cs typeface="Arial"/>
            </a:endParaRPr>
          </a:p>
        </p:txBody>
      </p:sp>
      <p:sp>
        <p:nvSpPr>
          <p:cNvPr id="293" name="Google Shape;293;p33">
            <a:extLst xmlns:a="http://schemas.openxmlformats.org/drawingml/2006/main">
              <a:ext uri="{FF2B5EF4-FFF2-40B4-BE49-F238E27FC236}">
                <a16:creationId xmlns:a16="http://schemas.microsoft.com/office/drawing/2014/main" id="{D51AE530-D863-47B6-8B40-34A503F072CB}"/>
              </a:ext>
            </a:extLst>
          </p:cNvPr>
          <p:cNvSpPr>
            <a:spLocks xmlns:a="http://schemas.openxmlformats.org/drawingml/2006/main" noGrp="1"/>
          </p:cNvSpPr>
          <p:nvPr/>
        </p:nvSpPr>
        <p:spPr>
          <a:xfrm xmlns:a="http://schemas.openxmlformats.org/drawingml/2006/main">
            <a:off x="1920240" y="1885950"/>
            <a:ext cx="1316736" cy="651510"/>
          </a:xfrm>
          <a:prstGeom xmlns:a="http://schemas.openxmlformats.org/drawingml/2006/main" prst="roundRect">
            <a:avLst>
              <a:gd name="adj" fmla="val 10526"/>
            </a:avLst>
          </a:prstGeom>
          <a:solidFill xmlns:a="http://schemas.openxmlformats.org/drawingml/2006/main">
            <a:schemeClr val="dk2"/>
          </a:solidFill>
          <a:ln xmlns:a="http://schemas.openxmlformats.org/drawingml/2006/main" w="9525" cap="flat" cmpd="sng">
            <a:solidFill>
              <a:schemeClr val="accent5">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4" name="Google Shape;294;p33">
            <a:extLst xmlns:a="http://schemas.openxmlformats.org/drawingml/2006/main">
              <a:ext uri="{FF2B5EF4-FFF2-40B4-BE49-F238E27FC236}">
                <a16:creationId xmlns:a16="http://schemas.microsoft.com/office/drawing/2014/main" id="{A00453F2-3EB8-4607-8854-490E5F686567}"/>
              </a:ext>
            </a:extLst>
          </p:cNvPr>
          <p:cNvSpPr>
            <a:spLocks xmlns:a="http://schemas.openxmlformats.org/drawingml/2006/main" noGrp="1"/>
          </p:cNvSpPr>
          <p:nvPr/>
        </p:nvSpPr>
        <p:spPr>
          <a:xfrm xmlns:a="http://schemas.openxmlformats.org/drawingml/2006/main">
            <a:off x="2016252" y="1968246"/>
            <a:ext cx="1138428"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1" i="0" u="none" strike="noStrike" cap="none">
                <a:solidFill>
                  <a:schemeClr val="lt1"/>
                </a:solidFill>
                <a:latin typeface="Arial"/>
                <a:ea typeface="Arial"/>
                <a:cs typeface="Arial"/>
              </a:rPr>
              <a:t>Transfers API</a:t>
            </a:r>
            <a:endParaRPr sz="900" b="0" i="0" u="none" strike="noStrike" cap="none">
              <a:solidFill>
                <a:schemeClr val="dk1"/>
              </a:solidFill>
              <a:latin typeface="Arial"/>
              <a:ea typeface="Arial"/>
              <a:cs typeface="Arial"/>
            </a:endParaRPr>
          </a:p>
        </p:txBody>
      </p:sp>
      <p:sp>
        <p:nvSpPr>
          <p:cNvPr id="295" name="Google Shape;295;p33">
            <a:extLst xmlns:a="http://schemas.openxmlformats.org/drawingml/2006/main">
              <a:ext uri="{FF2B5EF4-FFF2-40B4-BE49-F238E27FC236}">
                <a16:creationId xmlns:a16="http://schemas.microsoft.com/office/drawing/2014/main" id="{7B663A21-28BF-40A0-8F72-F3AA48D3BBC3}"/>
              </a:ext>
            </a:extLst>
          </p:cNvPr>
          <p:cNvSpPr>
            <a:spLocks xmlns:a="http://schemas.openxmlformats.org/drawingml/2006/main" noGrp="1"/>
          </p:cNvSpPr>
          <p:nvPr/>
        </p:nvSpPr>
        <p:spPr>
          <a:xfrm xmlns:a="http://schemas.openxmlformats.org/drawingml/2006/main">
            <a:off x="2016252" y="2242566"/>
            <a:ext cx="1138428"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2"/>
              </a:buClr>
              <a:buSzPts val="800"/>
              <a:buFont typeface="Arial"/>
              <a:buNone/>
            </a:pPr>
            <a:r>
              <a:rPr sz="800" b="0" i="0" u="none" strike="noStrike" cap="none">
                <a:solidFill>
                  <a:schemeClr val="lt2"/>
                </a:solidFill>
                <a:latin typeface="Arial"/>
                <a:ea typeface="Arial"/>
                <a:cs typeface="Arial"/>
              </a:rPr>
              <a:t>container · TLS 1.3</a:t>
            </a:r>
            <a:endParaRPr sz="800" b="0" i="0" u="none" strike="noStrike" cap="none">
              <a:solidFill>
                <a:schemeClr val="dk1"/>
              </a:solidFill>
              <a:latin typeface="Arial"/>
              <a:ea typeface="Arial"/>
              <a:cs typeface="Arial"/>
            </a:endParaRPr>
          </a:p>
        </p:txBody>
      </p:sp>
      <p:sp>
        <p:nvSpPr>
          <p:cNvPr id="296" name="Google Shape;296;p33">
            <a:extLst xmlns:a="http://schemas.openxmlformats.org/drawingml/2006/main">
              <a:ext uri="{FF2B5EF4-FFF2-40B4-BE49-F238E27FC236}">
                <a16:creationId xmlns:a16="http://schemas.microsoft.com/office/drawing/2014/main" id="{05279240-DD7A-4DBD-A3C0-EE46BB98BFDA}"/>
              </a:ext>
            </a:extLst>
          </p:cNvPr>
          <p:cNvSpPr>
            <a:spLocks xmlns:a="http://schemas.openxmlformats.org/drawingml/2006/main" noGrp="1"/>
          </p:cNvSpPr>
          <p:nvPr/>
        </p:nvSpPr>
        <p:spPr>
          <a:xfrm xmlns:a="http://schemas.openxmlformats.org/drawingml/2006/main">
            <a:off x="3312414" y="1885950"/>
            <a:ext cx="1316736" cy="651510"/>
          </a:xfrm>
          <a:prstGeom xmlns:a="http://schemas.openxmlformats.org/drawingml/2006/main" prst="roundRect">
            <a:avLst>
              <a:gd name="adj" fmla="val 10526"/>
            </a:avLst>
          </a:prstGeom>
          <a:solidFill xmlns:a="http://schemas.openxmlformats.org/drawingml/2006/main">
            <a:schemeClr val="dk2"/>
          </a:solidFill>
          <a:ln xmlns:a="http://schemas.openxmlformats.org/drawingml/2006/main" w="9525" cap="flat" cmpd="sng">
            <a:solidFill>
              <a:schemeClr val="accent5">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7" name="Google Shape;297;p33">
            <a:extLst xmlns:a="http://schemas.openxmlformats.org/drawingml/2006/main">
              <a:ext uri="{FF2B5EF4-FFF2-40B4-BE49-F238E27FC236}">
                <a16:creationId xmlns:a16="http://schemas.microsoft.com/office/drawing/2014/main" id="{5695BC89-6B4C-448F-A186-31BF7E426C34}"/>
              </a:ext>
            </a:extLst>
          </p:cNvPr>
          <p:cNvSpPr>
            <a:spLocks xmlns:a="http://schemas.openxmlformats.org/drawingml/2006/main" noGrp="1"/>
          </p:cNvSpPr>
          <p:nvPr/>
        </p:nvSpPr>
        <p:spPr>
          <a:xfrm xmlns:a="http://schemas.openxmlformats.org/drawingml/2006/main">
            <a:off x="3408426" y="1968246"/>
            <a:ext cx="1138428"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1" i="0" u="none" strike="noStrike" cap="none">
                <a:solidFill>
                  <a:schemeClr val="lt1"/>
                </a:solidFill>
                <a:latin typeface="Arial"/>
                <a:ea typeface="Arial"/>
                <a:cs typeface="Arial"/>
              </a:rPr>
              <a:t>Tokenizer</a:t>
            </a:r>
            <a:endParaRPr sz="900" b="0" i="0" u="none" strike="noStrike" cap="none">
              <a:solidFill>
                <a:schemeClr val="dk1"/>
              </a:solidFill>
              <a:latin typeface="Arial"/>
              <a:ea typeface="Arial"/>
              <a:cs typeface="Arial"/>
            </a:endParaRPr>
          </a:p>
        </p:txBody>
      </p:sp>
      <p:sp>
        <p:nvSpPr>
          <p:cNvPr id="298" name="Google Shape;298;p33">
            <a:extLst xmlns:a="http://schemas.openxmlformats.org/drawingml/2006/main">
              <a:ext uri="{FF2B5EF4-FFF2-40B4-BE49-F238E27FC236}">
                <a16:creationId xmlns:a16="http://schemas.microsoft.com/office/drawing/2014/main" id="{77A259F0-6D42-421F-A611-BE4017F28D30}"/>
              </a:ext>
            </a:extLst>
          </p:cNvPr>
          <p:cNvSpPr>
            <a:spLocks xmlns:a="http://schemas.openxmlformats.org/drawingml/2006/main" noGrp="1"/>
          </p:cNvSpPr>
          <p:nvPr/>
        </p:nvSpPr>
        <p:spPr>
          <a:xfrm xmlns:a="http://schemas.openxmlformats.org/drawingml/2006/main">
            <a:off x="3408426" y="2242566"/>
            <a:ext cx="1138428"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accent2"/>
              </a:buClr>
              <a:buSzPts val="800"/>
              <a:buFont typeface="Arial"/>
              <a:buNone/>
            </a:pPr>
            <a:r>
              <a:rPr sz="800" b="1" i="0" u="none" strike="noStrike" cap="none">
                <a:solidFill>
                  <a:schemeClr val="accent2"/>
                </a:solidFill>
                <a:latin typeface="Arial"/>
                <a:ea typeface="Arial"/>
                <a:cs typeface="Arial"/>
              </a:rPr>
              <a:t>HMAC-SHA256</a:t>
            </a:r>
            <a:endParaRPr sz="800" b="0" i="0" u="none" strike="noStrike" cap="none">
              <a:solidFill>
                <a:schemeClr val="dk1"/>
              </a:solidFill>
              <a:latin typeface="Arial"/>
              <a:ea typeface="Arial"/>
              <a:cs typeface="Arial"/>
            </a:endParaRPr>
          </a:p>
        </p:txBody>
      </p:sp>
      <p:sp>
        <p:nvSpPr>
          <p:cNvPr id="299" name="Google Shape;299;p33">
            <a:extLst xmlns:a="http://schemas.openxmlformats.org/drawingml/2006/main">
              <a:ext uri="{FF2B5EF4-FFF2-40B4-BE49-F238E27FC236}">
                <a16:creationId xmlns:a16="http://schemas.microsoft.com/office/drawing/2014/main" id="{0FAE19BC-EE7B-4932-A36C-314126693225}"/>
              </a:ext>
            </a:extLst>
          </p:cNvPr>
          <p:cNvSpPr>
            <a:spLocks xmlns:a="http://schemas.openxmlformats.org/drawingml/2006/main" noGrp="1"/>
          </p:cNvSpPr>
          <p:nvPr/>
        </p:nvSpPr>
        <p:spPr>
          <a:xfrm xmlns:a="http://schemas.openxmlformats.org/drawingml/2006/main">
            <a:off x="1920240" y="2674620"/>
            <a:ext cx="1316736" cy="651510"/>
          </a:xfrm>
          <a:prstGeom xmlns:a="http://schemas.openxmlformats.org/drawingml/2006/main" prst="roundRect">
            <a:avLst>
              <a:gd name="adj" fmla="val 10526"/>
            </a:avLst>
          </a:prstGeom>
          <a:solidFill xmlns:a="http://schemas.openxmlformats.org/drawingml/2006/main">
            <a:schemeClr val="dk2"/>
          </a:solidFill>
          <a:ln xmlns:a="http://schemas.openxmlformats.org/drawingml/2006/main" w="9525" cap="flat" cmpd="sng">
            <a:solidFill>
              <a:schemeClr val="accent5">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0" name="Google Shape;300;p33">
            <a:extLst xmlns:a="http://schemas.openxmlformats.org/drawingml/2006/main">
              <a:ext uri="{FF2B5EF4-FFF2-40B4-BE49-F238E27FC236}">
                <a16:creationId xmlns:a16="http://schemas.microsoft.com/office/drawing/2014/main" id="{8D188BB4-D8FB-46D1-AB74-CB7173E7922C}"/>
              </a:ext>
            </a:extLst>
          </p:cNvPr>
          <p:cNvSpPr>
            <a:spLocks xmlns:a="http://schemas.openxmlformats.org/drawingml/2006/main" noGrp="1"/>
          </p:cNvSpPr>
          <p:nvPr/>
        </p:nvSpPr>
        <p:spPr>
          <a:xfrm xmlns:a="http://schemas.openxmlformats.org/drawingml/2006/main">
            <a:off x="2016252" y="2756916"/>
            <a:ext cx="1138428"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1" i="0" u="none" strike="noStrike" cap="none">
                <a:solidFill>
                  <a:schemeClr val="lt1"/>
                </a:solidFill>
                <a:latin typeface="Arial"/>
                <a:ea typeface="Arial"/>
                <a:cs typeface="Arial"/>
              </a:rPr>
              <a:t>OFAC screening</a:t>
            </a:r>
            <a:endParaRPr sz="900" b="0" i="0" u="none" strike="noStrike" cap="none">
              <a:solidFill>
                <a:schemeClr val="dk1"/>
              </a:solidFill>
              <a:latin typeface="Arial"/>
              <a:ea typeface="Arial"/>
              <a:cs typeface="Arial"/>
            </a:endParaRPr>
          </a:p>
        </p:txBody>
      </p:sp>
      <p:sp>
        <p:nvSpPr>
          <p:cNvPr id="301" name="Google Shape;301;p33">
            <a:extLst xmlns:a="http://schemas.openxmlformats.org/drawingml/2006/main">
              <a:ext uri="{FF2B5EF4-FFF2-40B4-BE49-F238E27FC236}">
                <a16:creationId xmlns:a16="http://schemas.microsoft.com/office/drawing/2014/main" id="{B3244462-EE30-4621-B2E6-44745C2A0CCF}"/>
              </a:ext>
            </a:extLst>
          </p:cNvPr>
          <p:cNvSpPr>
            <a:spLocks xmlns:a="http://schemas.openxmlformats.org/drawingml/2006/main" noGrp="1"/>
          </p:cNvSpPr>
          <p:nvPr/>
        </p:nvSpPr>
        <p:spPr>
          <a:xfrm xmlns:a="http://schemas.openxmlformats.org/drawingml/2006/main">
            <a:off x="2016252" y="3031236"/>
            <a:ext cx="1138428"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2"/>
              </a:buClr>
              <a:buSzPts val="800"/>
              <a:buFont typeface="Arial"/>
              <a:buNone/>
            </a:pPr>
            <a:r>
              <a:rPr sz="800" b="0" i="0" u="none" strike="noStrike" cap="none">
                <a:solidFill>
                  <a:schemeClr val="lt2"/>
                </a:solidFill>
                <a:latin typeface="Arial"/>
                <a:ea typeface="Arial"/>
                <a:cs typeface="Arial"/>
              </a:rPr>
              <a:t>fuzzy matching</a:t>
            </a:r>
            <a:endParaRPr sz="800" b="0" i="0" u="none" strike="noStrike" cap="none">
              <a:solidFill>
                <a:schemeClr val="dk1"/>
              </a:solidFill>
              <a:latin typeface="Arial"/>
              <a:ea typeface="Arial"/>
              <a:cs typeface="Arial"/>
            </a:endParaRPr>
          </a:p>
        </p:txBody>
      </p:sp>
      <p:sp>
        <p:nvSpPr>
          <p:cNvPr id="302" name="Google Shape;302;p33">
            <a:extLst xmlns:a="http://schemas.openxmlformats.org/drawingml/2006/main">
              <a:ext uri="{FF2B5EF4-FFF2-40B4-BE49-F238E27FC236}">
                <a16:creationId xmlns:a16="http://schemas.microsoft.com/office/drawing/2014/main" id="{E5C9F904-15B8-40E3-88C9-34950C55C21D}"/>
              </a:ext>
            </a:extLst>
          </p:cNvPr>
          <p:cNvSpPr>
            <a:spLocks xmlns:a="http://schemas.openxmlformats.org/drawingml/2006/main" noGrp="1"/>
          </p:cNvSpPr>
          <p:nvPr/>
        </p:nvSpPr>
        <p:spPr>
          <a:xfrm xmlns:a="http://schemas.openxmlformats.org/drawingml/2006/main">
            <a:off x="3312414" y="2674620"/>
            <a:ext cx="1316736" cy="651510"/>
          </a:xfrm>
          <a:prstGeom xmlns:a="http://schemas.openxmlformats.org/drawingml/2006/main" prst="roundRect">
            <a:avLst>
              <a:gd name="adj" fmla="val 10526"/>
            </a:avLst>
          </a:prstGeom>
          <a:solidFill xmlns:a="http://schemas.openxmlformats.org/drawingml/2006/main">
            <a:schemeClr val="dk2"/>
          </a:solidFill>
          <a:ln xmlns:a="http://schemas.openxmlformats.org/drawingml/2006/main" w="9525" cap="flat" cmpd="sng">
            <a:solidFill>
              <a:schemeClr val="accent5">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3" name="Google Shape;303;p33">
            <a:extLst xmlns:a="http://schemas.openxmlformats.org/drawingml/2006/main">
              <a:ext uri="{FF2B5EF4-FFF2-40B4-BE49-F238E27FC236}">
                <a16:creationId xmlns:a16="http://schemas.microsoft.com/office/drawing/2014/main" id="{21A16B65-3C5A-430F-B7D0-51D393EAA060}"/>
              </a:ext>
            </a:extLst>
          </p:cNvPr>
          <p:cNvSpPr>
            <a:spLocks xmlns:a="http://schemas.openxmlformats.org/drawingml/2006/main" noGrp="1"/>
          </p:cNvSpPr>
          <p:nvPr/>
        </p:nvSpPr>
        <p:spPr>
          <a:xfrm xmlns:a="http://schemas.openxmlformats.org/drawingml/2006/main">
            <a:off x="3408426" y="2756916"/>
            <a:ext cx="1138428"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1" i="0" u="none" strike="noStrike" cap="none">
                <a:solidFill>
                  <a:schemeClr val="lt1"/>
                </a:solidFill>
                <a:latin typeface="Arial"/>
                <a:ea typeface="Arial"/>
                <a:cs typeface="Arial"/>
              </a:rPr>
              <a:t>Risk model</a:t>
            </a:r>
            <a:endParaRPr sz="900" b="0" i="0" u="none" strike="noStrike" cap="none">
              <a:solidFill>
                <a:schemeClr val="dk1"/>
              </a:solidFill>
              <a:latin typeface="Arial"/>
              <a:ea typeface="Arial"/>
              <a:cs typeface="Arial"/>
            </a:endParaRPr>
          </a:p>
        </p:txBody>
      </p:sp>
      <p:sp>
        <p:nvSpPr>
          <p:cNvPr id="304" name="Google Shape;304;p33">
            <a:extLst xmlns:a="http://schemas.openxmlformats.org/drawingml/2006/main">
              <a:ext uri="{FF2B5EF4-FFF2-40B4-BE49-F238E27FC236}">
                <a16:creationId xmlns:a16="http://schemas.microsoft.com/office/drawing/2014/main" id="{19B4B56F-8C25-4AB0-8843-269154C9EA96}"/>
              </a:ext>
            </a:extLst>
          </p:cNvPr>
          <p:cNvSpPr>
            <a:spLocks xmlns:a="http://schemas.openxmlformats.org/drawingml/2006/main" noGrp="1"/>
          </p:cNvSpPr>
          <p:nvPr/>
        </p:nvSpPr>
        <p:spPr>
          <a:xfrm xmlns:a="http://schemas.openxmlformats.org/drawingml/2006/main">
            <a:off x="3408426" y="3031236"/>
            <a:ext cx="1138428"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2"/>
              </a:buClr>
              <a:buSzPts val="800"/>
              <a:buFont typeface="Arial"/>
              <a:buNone/>
            </a:pPr>
            <a:r>
              <a:rPr sz="800" b="0" i="0" u="none" strike="noStrike" cap="none">
                <a:solidFill>
                  <a:schemeClr val="lt2"/>
                </a:solidFill>
                <a:latin typeface="Arial"/>
                <a:ea typeface="Arial"/>
                <a:cs typeface="Arial"/>
              </a:rPr>
              <a:t>scikit-learn · XGBoost</a:t>
            </a:r>
            <a:endParaRPr sz="800" b="0" i="0" u="none" strike="noStrike" cap="none">
              <a:solidFill>
                <a:schemeClr val="dk1"/>
              </a:solidFill>
              <a:latin typeface="Arial"/>
              <a:ea typeface="Arial"/>
              <a:cs typeface="Arial"/>
            </a:endParaRPr>
          </a:p>
        </p:txBody>
      </p:sp>
      <p:sp>
        <p:nvSpPr>
          <p:cNvPr id="305" name="Google Shape;305;p33">
            <a:extLst xmlns:a="http://schemas.openxmlformats.org/drawingml/2006/main">
              <a:ext uri="{FF2B5EF4-FFF2-40B4-BE49-F238E27FC236}">
                <a16:creationId xmlns:a16="http://schemas.microsoft.com/office/drawing/2014/main" id="{0651350C-002B-4A3B-B873-A2C02CB010BB}"/>
              </a:ext>
            </a:extLst>
          </p:cNvPr>
          <p:cNvSpPr>
            <a:spLocks xmlns:a="http://schemas.openxmlformats.org/drawingml/2006/main" noGrp="1"/>
          </p:cNvSpPr>
          <p:nvPr/>
        </p:nvSpPr>
        <p:spPr>
          <a:xfrm xmlns:a="http://schemas.openxmlformats.org/drawingml/2006/main">
            <a:off x="1920240" y="3463290"/>
            <a:ext cx="1316736" cy="651510"/>
          </a:xfrm>
          <a:prstGeom xmlns:a="http://schemas.openxmlformats.org/drawingml/2006/main" prst="roundRect">
            <a:avLst>
              <a:gd name="adj" fmla="val 10526"/>
            </a:avLst>
          </a:prstGeom>
          <a:solidFill xmlns:a="http://schemas.openxmlformats.org/drawingml/2006/main">
            <a:schemeClr val="dk2"/>
          </a:solidFill>
          <a:ln xmlns:a="http://schemas.openxmlformats.org/drawingml/2006/main" w="9525" cap="flat" cmpd="sng">
            <a:solidFill>
              <a:schemeClr val="accent5">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6" name="Google Shape;306;p33">
            <a:extLst xmlns:a="http://schemas.openxmlformats.org/drawingml/2006/main">
              <a:ext uri="{FF2B5EF4-FFF2-40B4-BE49-F238E27FC236}">
                <a16:creationId xmlns:a16="http://schemas.microsoft.com/office/drawing/2014/main" id="{1BA94DD4-A53F-465B-8922-9B9441D2AB65}"/>
              </a:ext>
            </a:extLst>
          </p:cNvPr>
          <p:cNvSpPr>
            <a:spLocks xmlns:a="http://schemas.openxmlformats.org/drawingml/2006/main" noGrp="1"/>
          </p:cNvSpPr>
          <p:nvPr/>
        </p:nvSpPr>
        <p:spPr>
          <a:xfrm xmlns:a="http://schemas.openxmlformats.org/drawingml/2006/main">
            <a:off x="2016252" y="3545586"/>
            <a:ext cx="1138428"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1" i="0" u="none" strike="noStrike" cap="none">
                <a:solidFill>
                  <a:schemeClr val="lt1"/>
                </a:solidFill>
                <a:latin typeface="Arial"/>
                <a:ea typeface="Arial"/>
                <a:cs typeface="Arial"/>
              </a:rPr>
              <a:t>Granite · llama.cpp</a:t>
            </a:r>
            <a:endParaRPr sz="900" b="0" i="0" u="none" strike="noStrike" cap="none">
              <a:solidFill>
                <a:schemeClr val="dk1"/>
              </a:solidFill>
              <a:latin typeface="Arial"/>
              <a:ea typeface="Arial"/>
              <a:cs typeface="Arial"/>
            </a:endParaRPr>
          </a:p>
        </p:txBody>
      </p:sp>
      <p:sp>
        <p:nvSpPr>
          <p:cNvPr id="307" name="Google Shape;307;p33">
            <a:extLst xmlns:a="http://schemas.openxmlformats.org/drawingml/2006/main">
              <a:ext uri="{FF2B5EF4-FFF2-40B4-BE49-F238E27FC236}">
                <a16:creationId xmlns:a16="http://schemas.microsoft.com/office/drawing/2014/main" id="{D2F9044F-4CFE-4EC1-A853-7195522718A1}"/>
              </a:ext>
            </a:extLst>
          </p:cNvPr>
          <p:cNvSpPr>
            <a:spLocks xmlns:a="http://schemas.openxmlformats.org/drawingml/2006/main" noGrp="1"/>
          </p:cNvSpPr>
          <p:nvPr/>
        </p:nvSpPr>
        <p:spPr>
          <a:xfrm xmlns:a="http://schemas.openxmlformats.org/drawingml/2006/main">
            <a:off x="2016252" y="3819906"/>
            <a:ext cx="1138428"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2"/>
              </a:buClr>
              <a:buSzPts val="800"/>
              <a:buFont typeface="Arial"/>
              <a:buNone/>
            </a:pPr>
            <a:r>
              <a:rPr sz="800" b="0" i="0" u="none" strike="noStrike" cap="none">
                <a:solidFill>
                  <a:schemeClr val="lt2"/>
                </a:solidFill>
                <a:latin typeface="Arial"/>
                <a:ea typeface="Arial"/>
                <a:cs typeface="Arial"/>
              </a:rPr>
              <a:t>proposed alert explanations</a:t>
            </a:r>
            <a:endParaRPr sz="800" b="0" i="0" u="none" strike="noStrike" cap="none">
              <a:solidFill>
                <a:schemeClr val="dk1"/>
              </a:solidFill>
              <a:latin typeface="Arial"/>
              <a:ea typeface="Arial"/>
              <a:cs typeface="Arial"/>
            </a:endParaRPr>
          </a:p>
        </p:txBody>
      </p:sp>
      <p:sp>
        <p:nvSpPr>
          <p:cNvPr id="308" name="Google Shape;308;p33">
            <a:extLst xmlns:a="http://schemas.openxmlformats.org/drawingml/2006/main">
              <a:ext uri="{FF2B5EF4-FFF2-40B4-BE49-F238E27FC236}">
                <a16:creationId xmlns:a16="http://schemas.microsoft.com/office/drawing/2014/main" id="{938303FC-C42A-49ED-B188-F56BBF7E3B2B}"/>
              </a:ext>
            </a:extLst>
          </p:cNvPr>
          <p:cNvSpPr>
            <a:spLocks xmlns:a="http://schemas.openxmlformats.org/drawingml/2006/main" noGrp="1"/>
          </p:cNvSpPr>
          <p:nvPr/>
        </p:nvSpPr>
        <p:spPr>
          <a:xfrm xmlns:a="http://schemas.openxmlformats.org/drawingml/2006/main">
            <a:off x="3312414" y="3463290"/>
            <a:ext cx="1316736" cy="651510"/>
          </a:xfrm>
          <a:prstGeom xmlns:a="http://schemas.openxmlformats.org/drawingml/2006/main" prst="roundRect">
            <a:avLst>
              <a:gd name="adj" fmla="val 10526"/>
            </a:avLst>
          </a:prstGeom>
          <a:solidFill xmlns:a="http://schemas.openxmlformats.org/drawingml/2006/main">
            <a:schemeClr val="dk2"/>
          </a:solidFill>
          <a:ln xmlns:a="http://schemas.openxmlformats.org/drawingml/2006/main" w="9525" cap="flat" cmpd="sng">
            <a:solidFill>
              <a:schemeClr val="accent5">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9" name="Google Shape;309;p33">
            <a:extLst xmlns:a="http://schemas.openxmlformats.org/drawingml/2006/main">
              <a:ext uri="{FF2B5EF4-FFF2-40B4-BE49-F238E27FC236}">
                <a16:creationId xmlns:a16="http://schemas.microsoft.com/office/drawing/2014/main" id="{B9049079-3FB5-4E0A-9123-5A8DDD96FE32}"/>
              </a:ext>
            </a:extLst>
          </p:cNvPr>
          <p:cNvSpPr>
            <a:spLocks xmlns:a="http://schemas.openxmlformats.org/drawingml/2006/main" noGrp="1"/>
          </p:cNvSpPr>
          <p:nvPr/>
        </p:nvSpPr>
        <p:spPr>
          <a:xfrm xmlns:a="http://schemas.openxmlformats.org/drawingml/2006/main">
            <a:off x="3408426" y="3545586"/>
            <a:ext cx="1138428"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1" i="0" u="none" strike="noStrike" cap="none">
                <a:solidFill>
                  <a:schemeClr val="lt1"/>
                </a:solidFill>
                <a:latin typeface="Arial"/>
                <a:ea typeface="Arial"/>
                <a:cs typeface="Arial"/>
              </a:rPr>
              <a:t>Encrypted vault</a:t>
            </a:r>
            <a:endParaRPr sz="900" b="0" i="0" u="none" strike="noStrike" cap="none">
              <a:solidFill>
                <a:schemeClr val="dk1"/>
              </a:solidFill>
              <a:latin typeface="Arial"/>
              <a:ea typeface="Arial"/>
              <a:cs typeface="Arial"/>
            </a:endParaRPr>
          </a:p>
        </p:txBody>
      </p:sp>
      <p:sp>
        <p:nvSpPr>
          <p:cNvPr id="310" name="Google Shape;310;p33">
            <a:extLst xmlns:a="http://schemas.openxmlformats.org/drawingml/2006/main">
              <a:ext uri="{FF2B5EF4-FFF2-40B4-BE49-F238E27FC236}">
                <a16:creationId xmlns:a16="http://schemas.microsoft.com/office/drawing/2014/main" id="{925807EF-E8A1-4F47-A178-6181F3DA65B4}"/>
              </a:ext>
            </a:extLst>
          </p:cNvPr>
          <p:cNvSpPr>
            <a:spLocks xmlns:a="http://schemas.openxmlformats.org/drawingml/2006/main" noGrp="1"/>
          </p:cNvSpPr>
          <p:nvPr/>
        </p:nvSpPr>
        <p:spPr>
          <a:xfrm xmlns:a="http://schemas.openxmlformats.org/drawingml/2006/main">
            <a:off x="3408426" y="3819906"/>
            <a:ext cx="1138428"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accent2"/>
              </a:buClr>
              <a:buSzPts val="800"/>
              <a:buFont typeface="Arial"/>
              <a:buNone/>
            </a:pPr>
            <a:r>
              <a:rPr sz="800" b="1" i="0" u="none" strike="noStrike" cap="none">
                <a:solidFill>
                  <a:schemeClr val="accent2"/>
                </a:solidFill>
                <a:latin typeface="Arial"/>
                <a:ea typeface="Arial"/>
                <a:cs typeface="Arial"/>
              </a:rPr>
              <a:t>AES-256-GCM · acceleration unmeasured</a:t>
            </a:r>
            <a:endParaRPr sz="800" b="0" i="0" u="none" strike="noStrike" cap="none">
              <a:solidFill>
                <a:schemeClr val="dk1"/>
              </a:solidFill>
              <a:latin typeface="Arial"/>
              <a:ea typeface="Arial"/>
              <a:cs typeface="Arial"/>
            </a:endParaRPr>
          </a:p>
        </p:txBody>
      </p:sp>
      <p:cxnSp>
        <p:nvCxnSpPr>
          <p:cNvPr id="311" name="Google Shape;311;p33">
            <a:extLst xmlns:a="http://schemas.openxmlformats.org/drawingml/2006/main">
              <a:ext uri="{FF2B5EF4-FFF2-40B4-BE49-F238E27FC236}">
                <a16:creationId xmlns:a16="http://schemas.microsoft.com/office/drawing/2014/main" id="{3CE9F411-B073-4D54-8BD9-5636EED2CA15}"/>
              </a:ext>
            </a:extLst>
          </p:cNvPr>
          <p:cNvCxnSpPr/>
          <p:nvPr/>
        </p:nvCxnSpPr>
        <p:spPr>
          <a:xfrm xmlns:a="http://schemas.openxmlformats.org/drawingml/2006/main">
            <a:off x="4800600" y="2194560"/>
            <a:ext cx="226314" cy="0"/>
          </a:xfrm>
          <a:prstGeom xmlns:a="http://schemas.openxmlformats.org/drawingml/2006/main" prst="straightConnector1">
            <a:avLst/>
          </a:prstGeom>
          <a:ln xmlns:a="http://schemas.openxmlformats.org/drawingml/2006/main" w="22225" cap="flat">
            <a:solidFill>
              <a:schemeClr val="accent2"/>
            </a:solidFill>
            <a:prstDash val="solid"/>
            <a:round/>
            <a:headEnd type="none" w="sm" len="sm"/>
            <a:tailEnd type="triangle" w="med" len="med"/>
          </a:ln>
        </p:spPr>
      </p:cxnSp>
      <p:sp>
        <p:nvSpPr>
          <p:cNvPr id="312" name="Google Shape;312;p33">
            <a:extLst xmlns:a="http://schemas.openxmlformats.org/drawingml/2006/main">
              <a:ext uri="{FF2B5EF4-FFF2-40B4-BE49-F238E27FC236}">
                <a16:creationId xmlns:a16="http://schemas.microsoft.com/office/drawing/2014/main" id="{11D2BE58-A995-4C0A-A4E1-30BF793FB61C}"/>
              </a:ext>
            </a:extLst>
          </p:cNvPr>
          <p:cNvSpPr>
            <a:spLocks xmlns:a="http://schemas.openxmlformats.org/drawingml/2006/main" noGrp="1"/>
          </p:cNvSpPr>
          <p:nvPr/>
        </p:nvSpPr>
        <p:spPr>
          <a:xfrm xmlns:a="http://schemas.openxmlformats.org/drawingml/2006/main">
            <a:off x="5109210" y="1885950"/>
            <a:ext cx="1062990" cy="617220"/>
          </a:xfrm>
          <a:prstGeom xmlns:a="http://schemas.openxmlformats.org/drawingml/2006/main" prst="roundRect">
            <a:avLst>
              <a:gd name="adj" fmla="val 11111"/>
            </a:avLst>
          </a:prstGeom>
          <a:solidFill xmlns:a="http://schemas.openxmlformats.org/drawingml/2006/main">
            <a:schemeClr val="accent2">
              <a:alpha val="14902"/>
            </a:schemeClr>
          </a:solidFill>
          <a:ln xmlns:a="http://schemas.openxmlformats.org/drawingml/2006/main" w="9525" cap="flat" cmpd="sng">
            <a:solidFill>
              <a:schemeClr val="accent2">
                <a:alpha val="7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3" name="Google Shape;313;p33">
            <a:extLst xmlns:a="http://schemas.openxmlformats.org/drawingml/2006/main">
              <a:ext uri="{FF2B5EF4-FFF2-40B4-BE49-F238E27FC236}">
                <a16:creationId xmlns:a16="http://schemas.microsoft.com/office/drawing/2014/main" id="{8D273FDF-47A7-4F4B-A3F8-A176E2560EDA}"/>
              </a:ext>
            </a:extLst>
          </p:cNvPr>
          <p:cNvSpPr>
            <a:spLocks xmlns:a="http://schemas.openxmlformats.org/drawingml/2006/main" noGrp="1"/>
          </p:cNvSpPr>
          <p:nvPr/>
        </p:nvSpPr>
        <p:spPr>
          <a:xfrm xmlns:a="http://schemas.openxmlformats.org/drawingml/2006/main">
            <a:off x="5191506" y="1885950"/>
            <a:ext cx="925830" cy="6172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1" i="0" u="none" strike="noStrike" cap="none">
                <a:solidFill>
                  <a:schemeClr val="lt1"/>
                </a:solidFill>
                <a:latin typeface="Arial"/>
                <a:ea typeface="Arial"/>
                <a:cs typeface="Arial"/>
              </a:rPr>
              <a:t>Settlement</a:t>
            </a:r>
            <a:endParaRPr sz="900" b="0" i="0" u="none" strike="noStrike" cap="none">
              <a:solidFill>
                <a:schemeClr val="dk1"/>
              </a:solidFill>
              <a:latin typeface="Arial"/>
              <a:ea typeface="Arial"/>
              <a:cs typeface="Arial"/>
            </a:endParaRPr>
          </a:p>
        </p:txBody>
      </p:sp>
      <p:cxnSp>
        <p:nvCxnSpPr>
          <p:cNvPr id="314" name="Google Shape;314;p33">
            <a:extLst xmlns:a="http://schemas.openxmlformats.org/drawingml/2006/main">
              <a:ext uri="{FF2B5EF4-FFF2-40B4-BE49-F238E27FC236}">
                <a16:creationId xmlns:a16="http://schemas.microsoft.com/office/drawing/2014/main" id="{EFF9C7D2-6FF8-4CC7-AF2F-711045EA5770}"/>
              </a:ext>
            </a:extLst>
          </p:cNvPr>
          <p:cNvCxnSpPr/>
          <p:nvPr/>
        </p:nvCxnSpPr>
        <p:spPr>
          <a:xfrm xmlns:a="http://schemas.openxmlformats.org/drawingml/2006/main">
            <a:off x="4800600" y="3223260"/>
            <a:ext cx="226314" cy="0"/>
          </a:xfrm>
          <a:prstGeom xmlns:a="http://schemas.openxmlformats.org/drawingml/2006/main" prst="straightConnector1">
            <a:avLst/>
          </a:prstGeom>
          <a:ln xmlns:a="http://schemas.openxmlformats.org/drawingml/2006/main" w="22225" cap="flat">
            <a:solidFill>
              <a:schemeClr val="accent4"/>
            </a:solidFill>
            <a:prstDash val="solid"/>
            <a:round/>
            <a:headEnd type="none" w="sm" len="sm"/>
            <a:tailEnd type="triangle" w="med" len="med"/>
          </a:ln>
        </p:spPr>
      </p:cxnSp>
      <p:sp>
        <p:nvSpPr>
          <p:cNvPr id="315" name="Google Shape;315;p33">
            <a:extLst xmlns:a="http://schemas.openxmlformats.org/drawingml/2006/main">
              <a:ext uri="{FF2B5EF4-FFF2-40B4-BE49-F238E27FC236}">
                <a16:creationId xmlns:a16="http://schemas.microsoft.com/office/drawing/2014/main" id="{40EF1BD6-3A3C-463B-8A2B-C938D7D31EA8}"/>
              </a:ext>
            </a:extLst>
          </p:cNvPr>
          <p:cNvSpPr>
            <a:spLocks xmlns:a="http://schemas.openxmlformats.org/drawingml/2006/main" noGrp="1"/>
          </p:cNvSpPr>
          <p:nvPr/>
        </p:nvSpPr>
        <p:spPr>
          <a:xfrm xmlns:a="http://schemas.openxmlformats.org/drawingml/2006/main">
            <a:off x="5109210" y="2914650"/>
            <a:ext cx="1062990" cy="617220"/>
          </a:xfrm>
          <a:prstGeom xmlns:a="http://schemas.openxmlformats.org/drawingml/2006/main" prst="roundRect">
            <a:avLst>
              <a:gd name="adj" fmla="val 11111"/>
            </a:avLst>
          </a:prstGeom>
          <a:solidFill xmlns:a="http://schemas.openxmlformats.org/drawingml/2006/main">
            <a:schemeClr val="accent4">
              <a:alpha val="14902"/>
            </a:schemeClr>
          </a:solidFill>
          <a:ln xmlns:a="http://schemas.openxmlformats.org/drawingml/2006/main" w="9525" cap="flat" cmpd="sng">
            <a:solidFill>
              <a:schemeClr val="accent4">
                <a:alpha val="7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6" name="Google Shape;316;p33">
            <a:extLst xmlns:a="http://schemas.openxmlformats.org/drawingml/2006/main">
              <a:ext uri="{FF2B5EF4-FFF2-40B4-BE49-F238E27FC236}">
                <a16:creationId xmlns:a16="http://schemas.microsoft.com/office/drawing/2014/main" id="{CF9905B6-9DE7-4ECA-95C5-81A95C95781D}"/>
              </a:ext>
            </a:extLst>
          </p:cNvPr>
          <p:cNvSpPr>
            <a:spLocks xmlns:a="http://schemas.openxmlformats.org/drawingml/2006/main" noGrp="1"/>
          </p:cNvSpPr>
          <p:nvPr/>
        </p:nvSpPr>
        <p:spPr>
          <a:xfrm xmlns:a="http://schemas.openxmlformats.org/drawingml/2006/main">
            <a:off x="5191506" y="2914650"/>
            <a:ext cx="925830" cy="6172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900"/>
              <a:buFont typeface="Arial"/>
              <a:buNone/>
            </a:pPr>
            <a:r>
              <a:rPr sz="900" b="1" i="0" u="none" strike="noStrike" cap="none">
                <a:solidFill>
                  <a:schemeClr val="lt1"/>
                </a:solidFill>
                <a:latin typeface="Arial"/>
                <a:ea typeface="Arial"/>
                <a:cs typeface="Arial"/>
              </a:rPr>
              <a:t>Compliance dashboard</a:t>
            </a:r>
            <a:endParaRPr sz="900" b="0" i="0" u="none" strike="noStrike" cap="none">
              <a:solidFill>
                <a:schemeClr val="dk1"/>
              </a:solidFill>
              <a:latin typeface="Arial"/>
              <a:ea typeface="Arial"/>
              <a:cs typeface="Arial"/>
            </a:endParaRPr>
          </a:p>
        </p:txBody>
      </p:sp>
      <p:sp>
        <p:nvSpPr>
          <p:cNvPr id="317" name="Google Shape;317;p33">
            <a:extLst xmlns:a="http://schemas.openxmlformats.org/drawingml/2006/main">
              <a:ext uri="{FF2B5EF4-FFF2-40B4-BE49-F238E27FC236}">
                <a16:creationId xmlns:a16="http://schemas.microsoft.com/office/drawing/2014/main" id="{8258FF01-7E17-481B-8113-9357B2B32A1D}"/>
              </a:ext>
            </a:extLst>
          </p:cNvPr>
          <p:cNvSpPr>
            <a:spLocks xmlns:a="http://schemas.openxmlformats.org/drawingml/2006/main" noGrp="1"/>
          </p:cNvSpPr>
          <p:nvPr/>
        </p:nvSpPr>
        <p:spPr>
          <a:xfrm xmlns:a="http://schemas.openxmlformats.org/drawingml/2006/main">
            <a:off x="6446520" y="1405890"/>
            <a:ext cx="377190" cy="37719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18" name="Google Shape;318;p33">
            <a:extLst xmlns:a="http://schemas.openxmlformats.org/drawingml/2006/main">
              <a:ext uri="{FF2B5EF4-FFF2-40B4-BE49-F238E27FC236}">
                <a16:creationId xmlns:a16="http://schemas.microsoft.com/office/drawing/2014/main" id="{E9FD0A6A-03DD-4926-B2CB-FBB4EDF1EE7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d518c4c33294b7b">
            <a:alphaModFix/>
          </a:blip>
          <a:srcRect xmlns:a="http://schemas.openxmlformats.org/drawingml/2006/main" l="0" t="0" r="0" b="0"/>
          <a:stretch xmlns:a="http://schemas.openxmlformats.org/drawingml/2006/main"/>
        </p:blipFill>
        <p:spPr>
          <a:xfrm xmlns:a="http://schemas.openxmlformats.org/drawingml/2006/main">
            <a:off x="6529502" y="1488872"/>
            <a:ext cx="211226" cy="211226"/>
          </a:xfrm>
          <a:prstGeom xmlns:a="http://schemas.openxmlformats.org/drawingml/2006/main" prst="rect">
            <a:avLst/>
          </a:prstGeom>
          <a:ln xmlns:a="http://schemas.openxmlformats.org/drawingml/2006/main">
            <a:noFill/>
          </a:ln>
        </p:spPr>
      </p:pic>
      <p:sp>
        <p:nvSpPr>
          <p:cNvPr id="319" name="Google Shape;319;p33">
            <a:extLst xmlns:a="http://schemas.openxmlformats.org/drawingml/2006/main">
              <a:ext uri="{FF2B5EF4-FFF2-40B4-BE49-F238E27FC236}">
                <a16:creationId xmlns:a16="http://schemas.microsoft.com/office/drawing/2014/main" id="{46C70E9D-6A5B-4800-B4AC-AE00CB4C1318}"/>
              </a:ext>
            </a:extLst>
          </p:cNvPr>
          <p:cNvSpPr>
            <a:spLocks xmlns:a="http://schemas.openxmlformats.org/drawingml/2006/main" noGrp="1"/>
          </p:cNvSpPr>
          <p:nvPr/>
        </p:nvSpPr>
        <p:spPr>
          <a:xfrm xmlns:a="http://schemas.openxmlformats.org/drawingml/2006/main">
            <a:off x="6940296" y="1371600"/>
            <a:ext cx="1789938"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100"/>
              <a:buFont typeface="Arial"/>
              <a:buNone/>
            </a:pPr>
            <a:r>
              <a:rPr sz="1100" b="1" i="0" u="none" strike="noStrike" cap="none">
                <a:solidFill>
                  <a:schemeClr val="lt1"/>
                </a:solidFill>
                <a:latin typeface="Arial"/>
                <a:ea typeface="Arial"/>
                <a:cs typeface="Arial"/>
              </a:rPr>
              <a:t>Financial infrastructure</a:t>
            </a:r>
            <a:endParaRPr sz="1100" b="0" i="0" u="none" strike="noStrike" cap="none">
              <a:solidFill>
                <a:schemeClr val="dk1"/>
              </a:solidFill>
              <a:latin typeface="Arial"/>
              <a:ea typeface="Arial"/>
              <a:cs typeface="Arial"/>
            </a:endParaRPr>
          </a:p>
        </p:txBody>
      </p:sp>
      <p:sp>
        <p:nvSpPr>
          <p:cNvPr id="320" name="Google Shape;320;p33">
            <a:extLst xmlns:a="http://schemas.openxmlformats.org/drawingml/2006/main">
              <a:ext uri="{FF2B5EF4-FFF2-40B4-BE49-F238E27FC236}">
                <a16:creationId xmlns:a16="http://schemas.microsoft.com/office/drawing/2014/main" id="{56441409-F33F-44D1-A539-1F4A9C1FE312}"/>
              </a:ext>
            </a:extLst>
          </p:cNvPr>
          <p:cNvSpPr>
            <a:spLocks xmlns:a="http://schemas.openxmlformats.org/drawingml/2006/main" noGrp="1"/>
          </p:cNvSpPr>
          <p:nvPr/>
        </p:nvSpPr>
        <p:spPr>
          <a:xfrm xmlns:a="http://schemas.openxmlformats.org/drawingml/2006/main">
            <a:off x="6940296" y="1659636"/>
            <a:ext cx="1789938" cy="5829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Mainframes already support major financial workloads</a:t>
            </a:r>
            <a:endParaRPr sz="900" b="0" i="0" u="none" strike="noStrike" cap="none">
              <a:solidFill>
                <a:schemeClr val="dk1"/>
              </a:solidFill>
              <a:latin typeface="Arial"/>
              <a:ea typeface="Arial"/>
              <a:cs typeface="Arial"/>
            </a:endParaRPr>
          </a:p>
        </p:txBody>
      </p:sp>
      <p:sp>
        <p:nvSpPr>
          <p:cNvPr id="321" name="Google Shape;321;p33">
            <a:extLst xmlns:a="http://schemas.openxmlformats.org/drawingml/2006/main">
              <a:ext uri="{FF2B5EF4-FFF2-40B4-BE49-F238E27FC236}">
                <a16:creationId xmlns:a16="http://schemas.microsoft.com/office/drawing/2014/main" id="{1BB4BAB5-6591-4CB3-A744-CA03E962B3E4}"/>
              </a:ext>
            </a:extLst>
          </p:cNvPr>
          <p:cNvSpPr>
            <a:spLocks xmlns:a="http://schemas.openxmlformats.org/drawingml/2006/main" noGrp="1"/>
          </p:cNvSpPr>
          <p:nvPr/>
        </p:nvSpPr>
        <p:spPr>
          <a:xfrm xmlns:a="http://schemas.openxmlformats.org/drawingml/2006/main">
            <a:off x="6446520" y="2366010"/>
            <a:ext cx="377190" cy="37719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22" name="Google Shape;322;p33">
            <a:extLst xmlns:a="http://schemas.openxmlformats.org/drawingml/2006/main">
              <a:ext uri="{FF2B5EF4-FFF2-40B4-BE49-F238E27FC236}">
                <a16:creationId xmlns:a16="http://schemas.microsoft.com/office/drawing/2014/main" id="{0FC00355-4A38-4646-9000-46AC3762B3D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ed927c02110456c">
            <a:alphaModFix/>
          </a:blip>
          <a:srcRect xmlns:a="http://schemas.openxmlformats.org/drawingml/2006/main" l="0" t="0" r="0" b="0"/>
          <a:stretch xmlns:a="http://schemas.openxmlformats.org/drawingml/2006/main"/>
        </p:blipFill>
        <p:spPr>
          <a:xfrm xmlns:a="http://schemas.openxmlformats.org/drawingml/2006/main">
            <a:off x="6529502" y="2448992"/>
            <a:ext cx="211226" cy="211226"/>
          </a:xfrm>
          <a:prstGeom xmlns:a="http://schemas.openxmlformats.org/drawingml/2006/main" prst="rect">
            <a:avLst/>
          </a:prstGeom>
          <a:ln xmlns:a="http://schemas.openxmlformats.org/drawingml/2006/main">
            <a:noFill/>
          </a:ln>
        </p:spPr>
      </p:pic>
      <p:sp>
        <p:nvSpPr>
          <p:cNvPr id="323" name="Google Shape;323;p33">
            <a:extLst xmlns:a="http://schemas.openxmlformats.org/drawingml/2006/main">
              <a:ext uri="{FF2B5EF4-FFF2-40B4-BE49-F238E27FC236}">
                <a16:creationId xmlns:a16="http://schemas.microsoft.com/office/drawing/2014/main" id="{D1030835-B22F-4C5B-BC4C-767C9262CEA8}"/>
              </a:ext>
            </a:extLst>
          </p:cNvPr>
          <p:cNvSpPr>
            <a:spLocks xmlns:a="http://schemas.openxmlformats.org/drawingml/2006/main" noGrp="1"/>
          </p:cNvSpPr>
          <p:nvPr/>
        </p:nvSpPr>
        <p:spPr>
          <a:xfrm xmlns:a="http://schemas.openxmlformats.org/drawingml/2006/main">
            <a:off x="6940296" y="2331720"/>
            <a:ext cx="1789938"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100"/>
              <a:buFont typeface="Arial"/>
              <a:buNone/>
            </a:pPr>
            <a:r>
              <a:rPr sz="1100" b="1" i="0" u="none" strike="noStrike" cap="none">
                <a:solidFill>
                  <a:schemeClr val="lt1"/>
                </a:solidFill>
                <a:latin typeface="Arial"/>
                <a:ea typeface="Arial"/>
                <a:cs typeface="Arial"/>
              </a:rPr>
              <a:t>Security controls</a:t>
            </a:r>
            <a:endParaRPr sz="1100" b="0" i="0" u="none" strike="noStrike" cap="none">
              <a:solidFill>
                <a:schemeClr val="dk1"/>
              </a:solidFill>
              <a:latin typeface="Arial"/>
              <a:ea typeface="Arial"/>
              <a:cs typeface="Arial"/>
            </a:endParaRPr>
          </a:p>
        </p:txBody>
      </p:sp>
      <p:sp>
        <p:nvSpPr>
          <p:cNvPr id="324" name="Google Shape;324;p33">
            <a:extLst xmlns:a="http://schemas.openxmlformats.org/drawingml/2006/main">
              <a:ext uri="{FF2B5EF4-FFF2-40B4-BE49-F238E27FC236}">
                <a16:creationId xmlns:a16="http://schemas.microsoft.com/office/drawing/2014/main" id="{982DF0E6-B0BF-4FDE-9934-F4B4353E4516}"/>
              </a:ext>
            </a:extLst>
          </p:cNvPr>
          <p:cNvSpPr>
            <a:spLocks xmlns:a="http://schemas.openxmlformats.org/drawingml/2006/main" noGrp="1"/>
          </p:cNvSpPr>
          <p:nvPr/>
        </p:nvSpPr>
        <p:spPr>
          <a:xfrm xmlns:a="http://schemas.openxmlformats.org/drawingml/2006/main">
            <a:off x="6940296" y="2619756"/>
            <a:ext cx="1789938" cy="5829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Encryption, workload isolation and high availability</a:t>
            </a:r>
            <a:endParaRPr sz="900" b="0" i="0" u="none" strike="noStrike" cap="none">
              <a:solidFill>
                <a:schemeClr val="dk1"/>
              </a:solidFill>
              <a:latin typeface="Arial"/>
              <a:ea typeface="Arial"/>
              <a:cs typeface="Arial"/>
            </a:endParaRPr>
          </a:p>
        </p:txBody>
      </p:sp>
      <p:sp>
        <p:nvSpPr>
          <p:cNvPr id="325" name="Google Shape;325;p33">
            <a:extLst xmlns:a="http://schemas.openxmlformats.org/drawingml/2006/main">
              <a:ext uri="{FF2B5EF4-FFF2-40B4-BE49-F238E27FC236}">
                <a16:creationId xmlns:a16="http://schemas.microsoft.com/office/drawing/2014/main" id="{6A2A8880-5BB9-434C-8DB8-C863256CC3BA}"/>
              </a:ext>
            </a:extLst>
          </p:cNvPr>
          <p:cNvSpPr>
            <a:spLocks xmlns:a="http://schemas.openxmlformats.org/drawingml/2006/main" noGrp="1"/>
          </p:cNvSpPr>
          <p:nvPr/>
        </p:nvSpPr>
        <p:spPr>
          <a:xfrm xmlns:a="http://schemas.openxmlformats.org/drawingml/2006/main">
            <a:off x="6446520" y="3326130"/>
            <a:ext cx="377190" cy="37719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26" name="Google Shape;326;p33">
            <a:extLst xmlns:a="http://schemas.openxmlformats.org/drawingml/2006/main">
              <a:ext uri="{FF2B5EF4-FFF2-40B4-BE49-F238E27FC236}">
                <a16:creationId xmlns:a16="http://schemas.microsoft.com/office/drawing/2014/main" id="{88B2F64A-3EAE-41E9-9685-C5E13A64D98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e2ab07a36214c38">
            <a:alphaModFix/>
          </a:blip>
          <a:srcRect xmlns:a="http://schemas.openxmlformats.org/drawingml/2006/main" l="0" t="0" r="0" b="0"/>
          <a:stretch xmlns:a="http://schemas.openxmlformats.org/drawingml/2006/main"/>
        </p:blipFill>
        <p:spPr>
          <a:xfrm xmlns:a="http://schemas.openxmlformats.org/drawingml/2006/main">
            <a:off x="6529502" y="3409112"/>
            <a:ext cx="211226" cy="211226"/>
          </a:xfrm>
          <a:prstGeom xmlns:a="http://schemas.openxmlformats.org/drawingml/2006/main" prst="rect">
            <a:avLst/>
          </a:prstGeom>
          <a:ln xmlns:a="http://schemas.openxmlformats.org/drawingml/2006/main">
            <a:noFill/>
          </a:ln>
        </p:spPr>
      </p:pic>
      <p:sp>
        <p:nvSpPr>
          <p:cNvPr id="327" name="Google Shape;327;p33">
            <a:extLst xmlns:a="http://schemas.openxmlformats.org/drawingml/2006/main">
              <a:ext uri="{FF2B5EF4-FFF2-40B4-BE49-F238E27FC236}">
                <a16:creationId xmlns:a16="http://schemas.microsoft.com/office/drawing/2014/main" id="{87F95CBB-DF72-47D4-AA9E-DDA7EC7EA4DE}"/>
              </a:ext>
            </a:extLst>
          </p:cNvPr>
          <p:cNvSpPr>
            <a:spLocks xmlns:a="http://schemas.openxmlformats.org/drawingml/2006/main" noGrp="1"/>
          </p:cNvSpPr>
          <p:nvPr/>
        </p:nvSpPr>
        <p:spPr>
          <a:xfrm xmlns:a="http://schemas.openxmlformats.org/drawingml/2006/main">
            <a:off x="6940296" y="3291840"/>
            <a:ext cx="1789938"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100"/>
              <a:buFont typeface="Arial"/>
              <a:buNone/>
            </a:pPr>
            <a:r>
              <a:rPr sz="1100" b="1" i="0" u="none" strike="noStrike" cap="none">
                <a:solidFill>
                  <a:schemeClr val="lt1"/>
                </a:solidFill>
                <a:latin typeface="Arial"/>
                <a:ea typeface="Arial"/>
                <a:cs typeface="Arial"/>
              </a:rPr>
              <a:t>AI near the data</a:t>
            </a:r>
            <a:endParaRPr sz="1100" b="0" i="0" u="none" strike="noStrike" cap="none">
              <a:solidFill>
                <a:schemeClr val="dk1"/>
              </a:solidFill>
              <a:latin typeface="Arial"/>
              <a:ea typeface="Arial"/>
              <a:cs typeface="Arial"/>
            </a:endParaRPr>
          </a:p>
        </p:txBody>
      </p:sp>
      <p:sp>
        <p:nvSpPr>
          <p:cNvPr id="328" name="Google Shape;328;p33">
            <a:extLst xmlns:a="http://schemas.openxmlformats.org/drawingml/2006/main">
              <a:ext uri="{FF2B5EF4-FFF2-40B4-BE49-F238E27FC236}">
                <a16:creationId xmlns:a16="http://schemas.microsoft.com/office/drawing/2014/main" id="{5ACBCB93-38CA-4145-998C-A7FCB732E7E4}"/>
              </a:ext>
            </a:extLst>
          </p:cNvPr>
          <p:cNvSpPr>
            <a:spLocks xmlns:a="http://schemas.openxmlformats.org/drawingml/2006/main" noGrp="1"/>
          </p:cNvSpPr>
          <p:nvPr/>
        </p:nvSpPr>
        <p:spPr>
          <a:xfrm xmlns:a="http://schemas.openxmlformats.org/drawingml/2006/main">
            <a:off x="6940296" y="3579876"/>
            <a:ext cx="1789938" cy="5829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Proposed inference on the same platform</a:t>
            </a:r>
            <a:endParaRPr sz="900" b="0" i="0" u="none" strike="noStrike" cap="none">
              <a:solidFill>
                <a:schemeClr val="dk1"/>
              </a:solidFill>
              <a:latin typeface="Arial"/>
              <a:ea typeface="Arial"/>
              <a:cs typeface="Arial"/>
            </a:endParaRPr>
          </a:p>
        </p:txBody>
      </p:sp>
      <p:sp>
        <p:nvSpPr>
          <p:cNvPr id="329" name="Google Shape;329;p33">
            <a:extLst xmlns:a="http://schemas.openxmlformats.org/drawingml/2006/main">
              <a:ext uri="{FF2B5EF4-FFF2-40B4-BE49-F238E27FC236}">
                <a16:creationId xmlns:a16="http://schemas.microsoft.com/office/drawing/2014/main" id="{A09E753C-2B55-4E12-959E-EB9679296C5A}"/>
              </a:ext>
            </a:extLst>
          </p:cNvPr>
          <p:cNvSpPr>
            <a:spLocks xmlns:a="http://schemas.openxmlformats.org/drawingml/2006/main" noGrp="1"/>
          </p:cNvSpPr>
          <p:nvPr/>
        </p:nvSpPr>
        <p:spPr>
          <a:xfrm xmlns:a="http://schemas.openxmlformats.org/drawingml/2006/main">
            <a:off x="411480" y="4402836"/>
            <a:ext cx="8318754" cy="1920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accent5"/>
              </a:buClr>
              <a:buSzPts val="900"/>
              <a:buFont typeface="Arial"/>
              <a:buNone/>
            </a:pPr>
            <a:r>
              <a:rPr sz="900" b="1" i="0" u="none" strike="noStrike" cap="none">
                <a:solidFill>
                  <a:schemeClr val="accent5"/>
                </a:solidFill>
                <a:latin typeface="Arial"/>
                <a:ea typeface="Arial"/>
                <a:cs typeface="Arial"/>
              </a:rPr>
              <a:t>Proposed stack: Python · scikit-learn · XGBoost · RapidFuzz · Granite (llama.cpp) · OpenSSL · Docker · Jupyter Lab ML</a:t>
            </a:r>
            <a:endParaRPr sz="900" b="0" i="0" u="none" strike="noStrike" cap="none">
              <a:solidFill>
                <a:schemeClr val="dk1"/>
              </a:solidFill>
              <a:latin typeface="Arial"/>
              <a:ea typeface="Arial"/>
              <a:cs typeface="Arial"/>
            </a:endParaRPr>
          </a:p>
        </p:txBody>
      </p:sp>
      <p:sp>
        <p:nvSpPr>
          <p:cNvPr id="330" name="Google Shape;330;p33">
            <a:extLst xmlns:a="http://schemas.openxmlformats.org/drawingml/2006/main">
              <a:ext uri="{FF2B5EF4-FFF2-40B4-BE49-F238E27FC236}">
                <a16:creationId xmlns:a16="http://schemas.microsoft.com/office/drawing/2014/main" id="{AFD876E0-A37D-4336-9F11-1A5BD80DF1E5}"/>
              </a:ext>
            </a:extLst>
          </p:cNvPr>
          <p:cNvSpPr>
            <a:spLocks xmlns:a="http://schemas.openxmlformats.org/drawingml/2006/main" noGrp="1"/>
          </p:cNvSpPr>
          <p:nvPr/>
        </p:nvSpPr>
        <p:spPr>
          <a:xfrm xmlns:a="http://schemas.openxmlformats.org/drawingml/2006/main">
            <a:off x="411480" y="4608576"/>
            <a:ext cx="54864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accent6"/>
              </a:buClr>
              <a:buSzPts val="800"/>
              <a:buFont typeface="Arial"/>
              <a:buNone/>
            </a:pPr>
            <a:r>
              <a:rPr sz="800" b="0" i="0" u="none" strike="noStrike" cap="none">
                <a:solidFill>
                  <a:schemeClr val="accent6"/>
                </a:solidFill>
                <a:latin typeface="Arial"/>
                <a:ea typeface="Arial"/>
                <a:cs typeface="Arial"/>
              </a:rPr>
              <a:t>Original context source: IBM Z Datathon 2026 Participant Guidebook.</a:t>
            </a:r>
            <a:endParaRPr sz="800" b="0" i="0" u="none" strike="noStrike" cap="none">
              <a:solidFill>
                <a:schemeClr val="dk1"/>
              </a:solidFill>
              <a:latin typeface="Arial"/>
              <a:ea typeface="Arial"/>
              <a:cs typeface="Arial"/>
            </a:endParaRPr>
          </a:p>
        </p:txBody>
      </p:sp>
      <p:sp>
        <p:nvSpPr>
          <p:cNvPr id="331" name="Google Shape;331;p33">
            <a:extLst xmlns:a="http://schemas.openxmlformats.org/drawingml/2006/main">
              <a:ext uri="{FF2B5EF4-FFF2-40B4-BE49-F238E27FC236}">
                <a16:creationId xmlns:a16="http://schemas.microsoft.com/office/drawing/2014/main" id="{5FCB9BC5-60B2-4627-83BA-3A2DC3263A2B}"/>
              </a:ext>
            </a:extLst>
          </p:cNvPr>
          <p:cNvSpPr>
            <a:spLocks xmlns:a="http://schemas.openxmlformats.org/drawingml/2006/main" noGrp="1"/>
          </p:cNvSpPr>
          <p:nvPr>
            <p:ph type="sldNum" idx="4294967295"/>
          </p:nvPr>
        </p:nvSpPr>
        <p:spPr>
          <a:xfrm xmlns:a="http://schemas.openxmlformats.org/drawingml/2006/main">
            <a:off x="8387334" y="4800600"/>
            <a:ext cx="3429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p xmlns:a="http://schemas.openxmlformats.org/drawingml/2006/main">
            <a:pPr marL="0" marR="0" lvl="0" indent="0" algn="r">
              <a:spcBef>
                <a:spcPts val="0"/>
              </a:spcBef>
              <a:spcAft>
                <a:spcPts val="0"/>
              </a:spcAft>
              <a:buNone/>
            </a:pPr>
            <a:fld id="{00000000-1234-1234-1234-123412341234}" type="slidenum">
              <a:rPr sz="700" b="0" i="0" u="none" strike="noStrike" cap="none">
                <a:solidFill>
                  <a:schemeClr val="accent6"/>
                </a:solidFill>
                <a:latin typeface="Arial"/>
                <a:ea typeface="Arial"/>
                <a:cs typeface="Arial"/>
              </a:rPr>
              <a:t>‹#›</a:t>
            </a:fld>
            <a:endParaRPr sz="700" b="0" i="0" u="none" strike="noStrike" cap="none">
              <a:solidFill>
                <a:schemeClr val="accent6"/>
              </a:solidFill>
              <a:latin typeface="Arial"/>
              <a:ea typeface="Arial"/>
              <a:cs typeface="Arial"/>
            </a:endParaRPr>
          </a:p>
        </p:txBody>
      </p:sp>
    </p:spTree>
    <p:extLst>
      <p:ext uri="{BB962C8B-B14F-4D97-AF65-F5344CB8AC3E}">
        <p14:creationId xmlns:p14="http://schemas.microsoft.com/office/powerpoint/2010/main" val="101132464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37" name="Google Shape;337;p34">
            <a:extLst xmlns:a="http://schemas.openxmlformats.org/drawingml/2006/main">
              <a:ext uri="{FF2B5EF4-FFF2-40B4-BE49-F238E27FC236}">
                <a16:creationId xmlns:a16="http://schemas.microsoft.com/office/drawing/2014/main" id="{E440705E-EBCE-4DF3-94DF-8FD4CFFB3F46}"/>
              </a:ext>
            </a:extLst>
          </p:cNvPr>
          <p:cNvSpPr>
            <a:spLocks xmlns:a="http://schemas.openxmlformats.org/drawingml/2006/main" noGrp="1"/>
          </p:cNvSpPr>
          <p:nvPr>
            <p:ph type="body" idx="1"/>
          </p:nvPr>
        </p:nvSpPr>
        <p:spPr>
          <a:xfrm xmlns:a="http://schemas.openxmlformats.org/drawingml/2006/main">
            <a:off x="576072" y="308610"/>
            <a:ext cx="6172200" cy="233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Clr>
                <a:schemeClr val="accent5"/>
              </a:buClr>
              <a:buSzPts val="900"/>
              <a:buNone/>
            </a:pPr>
            <a:r>
              <a:rPr sz="900" b="1">
                <a:solidFill>
                  <a:schemeClr val="accent5"/>
                </a:solidFill>
              </a:rPr>
              <a:t>05 · LIVE DEMO</a:t>
            </a:r>
            <a:endParaRPr sz="900"/>
          </a:p>
        </p:txBody>
      </p:sp>
      <p:sp>
        <p:nvSpPr>
          <p:cNvPr id="338" name="Google Shape;338;p34">
            <a:extLst xmlns:a="http://schemas.openxmlformats.org/drawingml/2006/main">
              <a:ext uri="{FF2B5EF4-FFF2-40B4-BE49-F238E27FC236}">
                <a16:creationId xmlns:a16="http://schemas.microsoft.com/office/drawing/2014/main" id="{C9CC3955-E7A2-421A-94C9-A46118298143}"/>
              </a:ext>
            </a:extLst>
          </p:cNvPr>
          <p:cNvSpPr>
            <a:spLocks xmlns:a="http://schemas.openxmlformats.org/drawingml/2006/main" noGrp="1"/>
          </p:cNvSpPr>
          <p:nvPr>
            <p:ph type="title" idx="0"/>
          </p:nvPr>
        </p:nvSpPr>
        <p:spPr>
          <a:xfrm xmlns:a="http://schemas.openxmlformats.org/drawingml/2006/main">
            <a:off x="411480" y="582930"/>
            <a:ext cx="8318754"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Clr>
                <a:schemeClr val="lt1"/>
              </a:buClr>
              <a:buSzPts val="2300"/>
              <a:buFont typeface="Arial"/>
              <a:buNone/>
            </a:pPr>
            <a:r>
              <a:rPr sz="2300" b="1">
                <a:solidFill>
                  <a:schemeClr val="lt1"/>
                </a:solidFill>
              </a:rPr>
              <a:t>Three proposed scenarios for the demo</a:t>
            </a:r>
            <a:endParaRPr sz="2300"/>
          </a:p>
        </p:txBody>
      </p:sp>
      <p:pic>
        <p:nvPicPr>
          <p:cNvPr id="339" name="Google Shape;339;p34">
            <a:extLst xmlns:a="http://schemas.openxmlformats.org/drawingml/2006/main">
              <a:ext uri="{FF2B5EF4-FFF2-40B4-BE49-F238E27FC236}">
                <a16:creationId xmlns:a16="http://schemas.microsoft.com/office/drawing/2014/main" id="{F02332DF-2CD4-44C0-AAC2-E909EBA50A8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3a93912af4049d8">
            <a:alphaModFix/>
          </a:blip>
          <a:srcRect xmlns:a="http://schemas.openxmlformats.org/drawingml/2006/main" l="0" t="0" r="0" b="0"/>
          <a:stretch xmlns:a="http://schemas.openxmlformats.org/drawingml/2006/main"/>
        </p:blipFill>
        <p:spPr>
          <a:xfrm xmlns:a="http://schemas.openxmlformats.org/drawingml/2006/main">
            <a:off x="411480" y="1337310"/>
            <a:ext cx="3703320" cy="2468880"/>
          </a:xfrm>
          <a:prstGeom xmlns:a="http://schemas.openxmlformats.org/drawingml/2006/main" prst="rect">
            <a:avLst/>
          </a:prstGeom>
          <a:ln xmlns:a="http://schemas.openxmlformats.org/drawingml/2006/main">
            <a:noFill/>
          </a:ln>
        </p:spPr>
      </p:pic>
      <p:sp>
        <p:nvSpPr>
          <p:cNvPr id="340" name="Google Shape;340;p34">
            <a:extLst xmlns:a="http://schemas.openxmlformats.org/drawingml/2006/main">
              <a:ext uri="{FF2B5EF4-FFF2-40B4-BE49-F238E27FC236}">
                <a16:creationId xmlns:a16="http://schemas.microsoft.com/office/drawing/2014/main" id="{363CAD34-08A4-4E05-9C02-94DB996A4079}"/>
              </a:ext>
            </a:extLst>
          </p:cNvPr>
          <p:cNvSpPr>
            <a:spLocks xmlns:a="http://schemas.openxmlformats.org/drawingml/2006/main" noGrp="1"/>
          </p:cNvSpPr>
          <p:nvPr/>
        </p:nvSpPr>
        <p:spPr>
          <a:xfrm xmlns:a="http://schemas.openxmlformats.org/drawingml/2006/main">
            <a:off x="1371600" y="1680210"/>
            <a:ext cx="89154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1"/>
              </a:buClr>
              <a:buSzPts val="1000"/>
              <a:buFont typeface="Arial"/>
              <a:buNone/>
            </a:pPr>
            <a:r>
              <a:rPr sz="1000" b="1" i="0" u="none" strike="noStrike" cap="none">
                <a:solidFill>
                  <a:schemeClr val="lt1"/>
                </a:solidFill>
                <a:latin typeface="Arial"/>
                <a:ea typeface="Arial"/>
                <a:cs typeface="Arial"/>
              </a:rPr>
              <a:t>United States</a:t>
            </a:r>
            <a:endParaRPr sz="1000" b="0" i="0" u="none" strike="noStrike" cap="none">
              <a:solidFill>
                <a:schemeClr val="dk1"/>
              </a:solidFill>
              <a:latin typeface="Arial"/>
              <a:ea typeface="Arial"/>
              <a:cs typeface="Arial"/>
            </a:endParaRPr>
          </a:p>
        </p:txBody>
      </p:sp>
      <p:sp>
        <p:nvSpPr>
          <p:cNvPr id="341" name="Google Shape;341;p34">
            <a:extLst xmlns:a="http://schemas.openxmlformats.org/drawingml/2006/main">
              <a:ext uri="{FF2B5EF4-FFF2-40B4-BE49-F238E27FC236}">
                <a16:creationId xmlns:a16="http://schemas.microsoft.com/office/drawing/2014/main" id="{3BF21C33-86FD-4BE1-9F97-355E255FC283}"/>
              </a:ext>
            </a:extLst>
          </p:cNvPr>
          <p:cNvSpPr>
            <a:spLocks xmlns:a="http://schemas.openxmlformats.org/drawingml/2006/main" noGrp="1"/>
          </p:cNvSpPr>
          <p:nvPr/>
        </p:nvSpPr>
        <p:spPr>
          <a:xfrm xmlns:a="http://schemas.openxmlformats.org/drawingml/2006/main">
            <a:off x="514350" y="3394710"/>
            <a:ext cx="89154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1"/>
              </a:buClr>
              <a:buSzPts val="1000"/>
              <a:buFont typeface="Arial"/>
              <a:buNone/>
            </a:pPr>
            <a:r>
              <a:rPr sz="1000" b="1" i="0" u="none" strike="noStrike" cap="none">
                <a:solidFill>
                  <a:schemeClr val="lt1"/>
                </a:solidFill>
                <a:latin typeface="Arial"/>
                <a:ea typeface="Arial"/>
                <a:cs typeface="Arial"/>
              </a:rPr>
              <a:t>Mexico</a:t>
            </a:r>
            <a:endParaRPr sz="1000" b="0" i="0" u="none" strike="noStrike" cap="none">
              <a:solidFill>
                <a:schemeClr val="dk1"/>
              </a:solidFill>
              <a:latin typeface="Arial"/>
              <a:ea typeface="Arial"/>
              <a:cs typeface="Arial"/>
            </a:endParaRPr>
          </a:p>
        </p:txBody>
      </p:sp>
      <p:sp>
        <p:nvSpPr>
          <p:cNvPr id="342" name="Google Shape;342;p34">
            <a:extLst xmlns:a="http://schemas.openxmlformats.org/drawingml/2006/main">
              <a:ext uri="{FF2B5EF4-FFF2-40B4-BE49-F238E27FC236}">
                <a16:creationId xmlns:a16="http://schemas.microsoft.com/office/drawing/2014/main" id="{9B0E2045-4691-4EA7-BAD8-29EC83274C04}"/>
              </a:ext>
            </a:extLst>
          </p:cNvPr>
          <p:cNvSpPr>
            <a:spLocks xmlns:a="http://schemas.openxmlformats.org/drawingml/2006/main" noGrp="1"/>
          </p:cNvSpPr>
          <p:nvPr/>
        </p:nvSpPr>
        <p:spPr>
          <a:xfrm xmlns:a="http://schemas.openxmlformats.org/drawingml/2006/main">
            <a:off x="3017520" y="3463290"/>
            <a:ext cx="89154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1"/>
              </a:buClr>
              <a:buSzPts val="1000"/>
              <a:buFont typeface="Arial"/>
              <a:buNone/>
            </a:pPr>
            <a:r>
              <a:rPr sz="1000" b="1" i="0" u="none" strike="noStrike" cap="none">
                <a:solidFill>
                  <a:schemeClr val="lt1"/>
                </a:solidFill>
                <a:latin typeface="Arial"/>
                <a:ea typeface="Arial"/>
                <a:cs typeface="Arial"/>
              </a:rPr>
              <a:t>Colombia</a:t>
            </a:r>
            <a:endParaRPr sz="1000" b="0" i="0" u="none" strike="noStrike" cap="none">
              <a:solidFill>
                <a:schemeClr val="dk1"/>
              </a:solidFill>
              <a:latin typeface="Arial"/>
              <a:ea typeface="Arial"/>
              <a:cs typeface="Arial"/>
            </a:endParaRPr>
          </a:p>
        </p:txBody>
      </p:sp>
      <p:sp>
        <p:nvSpPr>
          <p:cNvPr id="343" name="Google Shape;343;p34">
            <a:extLst xmlns:a="http://schemas.openxmlformats.org/drawingml/2006/main">
              <a:ext uri="{FF2B5EF4-FFF2-40B4-BE49-F238E27FC236}">
                <a16:creationId xmlns:a16="http://schemas.microsoft.com/office/drawing/2014/main" id="{FD5EE4D0-FB3E-4273-8D68-C147CB3F9B8F}"/>
              </a:ext>
            </a:extLst>
          </p:cNvPr>
          <p:cNvSpPr>
            <a:spLocks xmlns:a="http://schemas.openxmlformats.org/drawingml/2006/main" noGrp="1"/>
          </p:cNvSpPr>
          <p:nvPr/>
        </p:nvSpPr>
        <p:spPr>
          <a:xfrm xmlns:a="http://schemas.openxmlformats.org/drawingml/2006/main">
            <a:off x="4389120" y="1371600"/>
            <a:ext cx="4341114" cy="720090"/>
          </a:xfrm>
          <a:prstGeom xmlns:a="http://schemas.openxmlformats.org/drawingml/2006/main" prst="roundRect">
            <a:avLst>
              <a:gd name="adj" fmla="val 9524"/>
            </a:avLst>
          </a:prstGeom>
          <a:solidFill xmlns:a="http://schemas.openxmlformats.org/drawingml/2006/main">
            <a:schemeClr val="dk2"/>
          </a:solidFill>
          <a:ln xmlns:a="http://schemas.openxmlformats.org/drawingml/2006/main" w="9525" cap="flat" cmpd="sng">
            <a:solidFill>
              <a:schemeClr val="accent2">
                <a:alpha val="60000"/>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4" name="Google Shape;344;p34">
            <a:extLst xmlns:a="http://schemas.openxmlformats.org/drawingml/2006/main">
              <a:ext uri="{FF2B5EF4-FFF2-40B4-BE49-F238E27FC236}">
                <a16:creationId xmlns:a16="http://schemas.microsoft.com/office/drawing/2014/main" id="{BBEBEB96-130C-4486-AE20-46B3D629C363}"/>
              </a:ext>
            </a:extLst>
          </p:cNvPr>
          <p:cNvSpPr>
            <a:spLocks xmlns:a="http://schemas.openxmlformats.org/drawingml/2006/main" noGrp="1"/>
          </p:cNvSpPr>
          <p:nvPr/>
        </p:nvSpPr>
        <p:spPr>
          <a:xfrm xmlns:a="http://schemas.openxmlformats.org/drawingml/2006/main">
            <a:off x="4526280" y="1536192"/>
            <a:ext cx="397764" cy="397764"/>
          </a:xfrm>
          <a:prstGeom xmlns:a="http://schemas.openxmlformats.org/drawingml/2006/main" prst="ellipse">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45" name="Google Shape;345;p34">
            <a:extLst xmlns:a="http://schemas.openxmlformats.org/drawingml/2006/main">
              <a:ext uri="{FF2B5EF4-FFF2-40B4-BE49-F238E27FC236}">
                <a16:creationId xmlns:a16="http://schemas.microsoft.com/office/drawing/2014/main" id="{471299F9-C5A2-4139-BF6D-448E2B36768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d3e1f8395584b97">
            <a:alphaModFix/>
          </a:blip>
          <a:srcRect xmlns:a="http://schemas.openxmlformats.org/drawingml/2006/main" l="0" t="0" r="0" b="0"/>
          <a:stretch xmlns:a="http://schemas.openxmlformats.org/drawingml/2006/main"/>
        </p:blipFill>
        <p:spPr>
          <a:xfrm xmlns:a="http://schemas.openxmlformats.org/drawingml/2006/main">
            <a:off x="4613788" y="1623700"/>
            <a:ext cx="222748" cy="222748"/>
          </a:xfrm>
          <a:prstGeom xmlns:a="http://schemas.openxmlformats.org/drawingml/2006/main" prst="rect">
            <a:avLst/>
          </a:prstGeom>
          <a:ln xmlns:a="http://schemas.openxmlformats.org/drawingml/2006/main">
            <a:noFill/>
          </a:ln>
        </p:spPr>
      </p:pic>
      <p:sp>
        <p:nvSpPr>
          <p:cNvPr id="346" name="Google Shape;346;p34">
            <a:extLst xmlns:a="http://schemas.openxmlformats.org/drawingml/2006/main">
              <a:ext uri="{FF2B5EF4-FFF2-40B4-BE49-F238E27FC236}">
                <a16:creationId xmlns:a16="http://schemas.microsoft.com/office/drawing/2014/main" id="{91009D65-8C0E-4292-A122-5450907C3775}"/>
              </a:ext>
            </a:extLst>
          </p:cNvPr>
          <p:cNvSpPr>
            <a:spLocks xmlns:a="http://schemas.openxmlformats.org/drawingml/2006/main" noGrp="1"/>
          </p:cNvSpPr>
          <p:nvPr/>
        </p:nvSpPr>
        <p:spPr>
          <a:xfrm xmlns:a="http://schemas.openxmlformats.org/drawingml/2006/main">
            <a:off x="5074920" y="1467612"/>
            <a:ext cx="353187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Ordinary transfer · Mexico → United States</a:t>
            </a:r>
            <a:endParaRPr sz="1200" b="0" i="0" u="none" strike="noStrike" cap="none">
              <a:solidFill>
                <a:schemeClr val="dk1"/>
              </a:solidFill>
              <a:latin typeface="Arial"/>
              <a:ea typeface="Arial"/>
              <a:cs typeface="Arial"/>
            </a:endParaRPr>
          </a:p>
        </p:txBody>
      </p:sp>
      <p:sp>
        <p:nvSpPr>
          <p:cNvPr id="347" name="Google Shape;347;p34">
            <a:extLst xmlns:a="http://schemas.openxmlformats.org/drawingml/2006/main">
              <a:ext uri="{FF2B5EF4-FFF2-40B4-BE49-F238E27FC236}">
                <a16:creationId xmlns:a16="http://schemas.microsoft.com/office/drawing/2014/main" id="{E8276A3B-45D1-477A-87A8-7D0E3F9F54D3}"/>
              </a:ext>
            </a:extLst>
          </p:cNvPr>
          <p:cNvSpPr>
            <a:spLocks xmlns:a="http://schemas.openxmlformats.org/drawingml/2006/main" noGrp="1"/>
          </p:cNvSpPr>
          <p:nvPr/>
        </p:nvSpPr>
        <p:spPr>
          <a:xfrm xmlns:a="http://schemas.openxmlformats.org/drawingml/2006/main">
            <a:off x="5074920" y="1748790"/>
            <a:ext cx="353187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2"/>
              </a:buClr>
              <a:buSzPts val="1000"/>
              <a:buFont typeface="Arial"/>
              <a:buNone/>
            </a:pPr>
            <a:r>
              <a:rPr sz="1000" b="0" i="0" u="none" strike="noStrike" cap="none">
                <a:solidFill>
                  <a:schemeClr val="lt2"/>
                </a:solidFill>
                <a:latin typeface="Arial"/>
                <a:ea typeface="Arial"/>
                <a:cs typeface="Arial"/>
              </a:rPr>
              <a:t>Pass the checks and show simulated settlement</a:t>
            </a:r>
            <a:endParaRPr sz="1000" b="0" i="0" u="none" strike="noStrike" cap="none">
              <a:solidFill>
                <a:schemeClr val="dk1"/>
              </a:solidFill>
              <a:latin typeface="Arial"/>
              <a:ea typeface="Arial"/>
              <a:cs typeface="Arial"/>
            </a:endParaRPr>
          </a:p>
        </p:txBody>
      </p:sp>
      <p:sp>
        <p:nvSpPr>
          <p:cNvPr id="348" name="Google Shape;348;p34">
            <a:extLst xmlns:a="http://schemas.openxmlformats.org/drawingml/2006/main">
              <a:ext uri="{FF2B5EF4-FFF2-40B4-BE49-F238E27FC236}">
                <a16:creationId xmlns:a16="http://schemas.microsoft.com/office/drawing/2014/main" id="{8426996A-D6B3-4B01-BAC3-1E18EC02D271}"/>
              </a:ext>
            </a:extLst>
          </p:cNvPr>
          <p:cNvSpPr>
            <a:spLocks xmlns:a="http://schemas.openxmlformats.org/drawingml/2006/main" noGrp="1"/>
          </p:cNvSpPr>
          <p:nvPr/>
        </p:nvSpPr>
        <p:spPr>
          <a:xfrm xmlns:a="http://schemas.openxmlformats.org/drawingml/2006/main">
            <a:off x="4389120" y="2208276"/>
            <a:ext cx="4341114" cy="720090"/>
          </a:xfrm>
          <a:prstGeom xmlns:a="http://schemas.openxmlformats.org/drawingml/2006/main" prst="roundRect">
            <a:avLst>
              <a:gd name="adj" fmla="val 9524"/>
            </a:avLst>
          </a:prstGeom>
          <a:solidFill xmlns:a="http://schemas.openxmlformats.org/drawingml/2006/main">
            <a:schemeClr val="dk2"/>
          </a:solidFill>
          <a:ln xmlns:a="http://schemas.openxmlformats.org/drawingml/2006/main" w="9525" cap="flat" cmpd="sng">
            <a:solidFill>
              <a:schemeClr val="accent3">
                <a:alpha val="60000"/>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9" name="Google Shape;349;p34">
            <a:extLst xmlns:a="http://schemas.openxmlformats.org/drawingml/2006/main">
              <a:ext uri="{FF2B5EF4-FFF2-40B4-BE49-F238E27FC236}">
                <a16:creationId xmlns:a16="http://schemas.microsoft.com/office/drawing/2014/main" id="{EB17AED3-BDC9-40F8-92ED-A23EAFEC9E27}"/>
              </a:ext>
            </a:extLst>
          </p:cNvPr>
          <p:cNvSpPr>
            <a:spLocks xmlns:a="http://schemas.openxmlformats.org/drawingml/2006/main" noGrp="1"/>
          </p:cNvSpPr>
          <p:nvPr/>
        </p:nvSpPr>
        <p:spPr>
          <a:xfrm xmlns:a="http://schemas.openxmlformats.org/drawingml/2006/main">
            <a:off x="4526280" y="2372868"/>
            <a:ext cx="397764" cy="397764"/>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50" name="Google Shape;350;p34">
            <a:extLst xmlns:a="http://schemas.openxmlformats.org/drawingml/2006/main">
              <a:ext uri="{FF2B5EF4-FFF2-40B4-BE49-F238E27FC236}">
                <a16:creationId xmlns:a16="http://schemas.microsoft.com/office/drawing/2014/main" id="{8C9F950F-2D34-440C-9F3F-FE4D5181F26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01453d8ac714d7a">
            <a:alphaModFix/>
          </a:blip>
          <a:srcRect xmlns:a="http://schemas.openxmlformats.org/drawingml/2006/main" l="0" t="0" r="0" b="0"/>
          <a:stretch xmlns:a="http://schemas.openxmlformats.org/drawingml/2006/main"/>
        </p:blipFill>
        <p:spPr>
          <a:xfrm xmlns:a="http://schemas.openxmlformats.org/drawingml/2006/main">
            <a:off x="4613788" y="2460376"/>
            <a:ext cx="222748" cy="222748"/>
          </a:xfrm>
          <a:prstGeom xmlns:a="http://schemas.openxmlformats.org/drawingml/2006/main" prst="rect">
            <a:avLst/>
          </a:prstGeom>
          <a:ln xmlns:a="http://schemas.openxmlformats.org/drawingml/2006/main">
            <a:noFill/>
          </a:ln>
        </p:spPr>
      </p:pic>
      <p:sp>
        <p:nvSpPr>
          <p:cNvPr id="351" name="Google Shape;351;p34">
            <a:extLst xmlns:a="http://schemas.openxmlformats.org/drawingml/2006/main">
              <a:ext uri="{FF2B5EF4-FFF2-40B4-BE49-F238E27FC236}">
                <a16:creationId xmlns:a16="http://schemas.microsoft.com/office/drawing/2014/main" id="{B852B10B-A0D5-4E6C-BF58-1E653EC605EA}"/>
              </a:ext>
            </a:extLst>
          </p:cNvPr>
          <p:cNvSpPr>
            <a:spLocks xmlns:a="http://schemas.openxmlformats.org/drawingml/2006/main" noGrp="1"/>
          </p:cNvSpPr>
          <p:nvPr/>
        </p:nvSpPr>
        <p:spPr>
          <a:xfrm xmlns:a="http://schemas.openxmlformats.org/drawingml/2006/main">
            <a:off x="5074920" y="2304288"/>
            <a:ext cx="353187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Potential OFAC name match · United States → Colombia</a:t>
            </a:r>
            <a:endParaRPr sz="1200" b="0" i="0" u="none" strike="noStrike" cap="none">
              <a:solidFill>
                <a:schemeClr val="dk1"/>
              </a:solidFill>
              <a:latin typeface="Arial"/>
              <a:ea typeface="Arial"/>
              <a:cs typeface="Arial"/>
            </a:endParaRPr>
          </a:p>
        </p:txBody>
      </p:sp>
      <p:sp>
        <p:nvSpPr>
          <p:cNvPr id="352" name="Google Shape;352;p34">
            <a:extLst xmlns:a="http://schemas.openxmlformats.org/drawingml/2006/main">
              <a:ext uri="{FF2B5EF4-FFF2-40B4-BE49-F238E27FC236}">
                <a16:creationId xmlns:a16="http://schemas.microsoft.com/office/drawing/2014/main" id="{7D5755B4-8034-4318-AD6D-692B54669677}"/>
              </a:ext>
            </a:extLst>
          </p:cNvPr>
          <p:cNvSpPr>
            <a:spLocks xmlns:a="http://schemas.openxmlformats.org/drawingml/2006/main" noGrp="1"/>
          </p:cNvSpPr>
          <p:nvPr/>
        </p:nvSpPr>
        <p:spPr>
          <a:xfrm xmlns:a="http://schemas.openxmlformats.org/drawingml/2006/main">
            <a:off x="5074920" y="2585466"/>
            <a:ext cx="353187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2"/>
              </a:buClr>
              <a:buSzPts val="1000"/>
              <a:buFont typeface="Arial"/>
              <a:buNone/>
            </a:pPr>
            <a:r>
              <a:rPr sz="1000" b="0" i="0" u="none" strike="noStrike" cap="none">
                <a:solidFill>
                  <a:schemeClr val="lt2"/>
                </a:solidFill>
                <a:latin typeface="Arial"/>
                <a:ea typeface="Arial"/>
                <a:cs typeface="Arial"/>
              </a:rPr>
              <a:t>Highlight the possible match for review</a:t>
            </a:r>
            <a:endParaRPr sz="1000" b="0" i="0" u="none" strike="noStrike" cap="none">
              <a:solidFill>
                <a:schemeClr val="dk1"/>
              </a:solidFill>
              <a:latin typeface="Arial"/>
              <a:ea typeface="Arial"/>
              <a:cs typeface="Arial"/>
            </a:endParaRPr>
          </a:p>
        </p:txBody>
      </p:sp>
      <p:sp>
        <p:nvSpPr>
          <p:cNvPr id="353" name="Google Shape;353;p34">
            <a:extLst xmlns:a="http://schemas.openxmlformats.org/drawingml/2006/main">
              <a:ext uri="{FF2B5EF4-FFF2-40B4-BE49-F238E27FC236}">
                <a16:creationId xmlns:a16="http://schemas.microsoft.com/office/drawing/2014/main" id="{120948A5-7853-4164-AD38-52498E445EA0}"/>
              </a:ext>
            </a:extLst>
          </p:cNvPr>
          <p:cNvSpPr>
            <a:spLocks xmlns:a="http://schemas.openxmlformats.org/drawingml/2006/main" noGrp="1"/>
          </p:cNvSpPr>
          <p:nvPr/>
        </p:nvSpPr>
        <p:spPr>
          <a:xfrm xmlns:a="http://schemas.openxmlformats.org/drawingml/2006/main">
            <a:off x="4389120" y="3044952"/>
            <a:ext cx="4341114" cy="720090"/>
          </a:xfrm>
          <a:prstGeom xmlns:a="http://schemas.openxmlformats.org/drawingml/2006/main" prst="roundRect">
            <a:avLst>
              <a:gd name="adj" fmla="val 9524"/>
            </a:avLst>
          </a:prstGeom>
          <a:solidFill xmlns:a="http://schemas.openxmlformats.org/drawingml/2006/main">
            <a:schemeClr val="dk2"/>
          </a:solidFill>
          <a:ln xmlns:a="http://schemas.openxmlformats.org/drawingml/2006/main" w="9525" cap="flat" cmpd="sng">
            <a:solidFill>
              <a:schemeClr val="accent4">
                <a:alpha val="60000"/>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4" name="Google Shape;354;p34">
            <a:extLst xmlns:a="http://schemas.openxmlformats.org/drawingml/2006/main">
              <a:ext uri="{FF2B5EF4-FFF2-40B4-BE49-F238E27FC236}">
                <a16:creationId xmlns:a16="http://schemas.microsoft.com/office/drawing/2014/main" id="{D964A042-FD9E-4111-B850-108CBF473CF2}"/>
              </a:ext>
            </a:extLst>
          </p:cNvPr>
          <p:cNvSpPr>
            <a:spLocks xmlns:a="http://schemas.openxmlformats.org/drawingml/2006/main" noGrp="1"/>
          </p:cNvSpPr>
          <p:nvPr/>
        </p:nvSpPr>
        <p:spPr>
          <a:xfrm xmlns:a="http://schemas.openxmlformats.org/drawingml/2006/main">
            <a:off x="4526280" y="3209544"/>
            <a:ext cx="397764" cy="397764"/>
          </a:xfrm>
          <a:prstGeom xmlns:a="http://schemas.openxmlformats.org/drawingml/2006/main" prst="ellipse">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55" name="Google Shape;355;p34">
            <a:extLst xmlns:a="http://schemas.openxmlformats.org/drawingml/2006/main">
              <a:ext uri="{FF2B5EF4-FFF2-40B4-BE49-F238E27FC236}">
                <a16:creationId xmlns:a16="http://schemas.microsoft.com/office/drawing/2014/main" id="{2FD24B66-77BC-4444-9648-AA44694062D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9d469a81b494c63">
            <a:alphaModFix/>
          </a:blip>
          <a:srcRect xmlns:a="http://schemas.openxmlformats.org/drawingml/2006/main" l="0" t="0" r="0" b="0"/>
          <a:stretch xmlns:a="http://schemas.openxmlformats.org/drawingml/2006/main"/>
        </p:blipFill>
        <p:spPr>
          <a:xfrm xmlns:a="http://schemas.openxmlformats.org/drawingml/2006/main">
            <a:off x="4613788" y="3297052"/>
            <a:ext cx="222748" cy="222748"/>
          </a:xfrm>
          <a:prstGeom xmlns:a="http://schemas.openxmlformats.org/drawingml/2006/main" prst="rect">
            <a:avLst/>
          </a:prstGeom>
          <a:ln xmlns:a="http://schemas.openxmlformats.org/drawingml/2006/main">
            <a:noFill/>
          </a:ln>
        </p:spPr>
      </p:pic>
      <p:sp>
        <p:nvSpPr>
          <p:cNvPr id="356" name="Google Shape;356;p34">
            <a:extLst xmlns:a="http://schemas.openxmlformats.org/drawingml/2006/main">
              <a:ext uri="{FF2B5EF4-FFF2-40B4-BE49-F238E27FC236}">
                <a16:creationId xmlns:a16="http://schemas.microsoft.com/office/drawing/2014/main" id="{2FDF5BA9-F051-48BF-BCC0-0FAFCA64CDD4}"/>
              </a:ext>
            </a:extLst>
          </p:cNvPr>
          <p:cNvSpPr>
            <a:spLocks xmlns:a="http://schemas.openxmlformats.org/drawingml/2006/main" noGrp="1"/>
          </p:cNvSpPr>
          <p:nvPr/>
        </p:nvSpPr>
        <p:spPr>
          <a:xfrm xmlns:a="http://schemas.openxmlformats.org/drawingml/2006/main">
            <a:off x="5074920" y="3140964"/>
            <a:ext cx="353187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Smurfing · Mexico → Colombia</a:t>
            </a:r>
            <a:endParaRPr sz="1200" b="0" i="0" u="none" strike="noStrike" cap="none">
              <a:solidFill>
                <a:schemeClr val="dk1"/>
              </a:solidFill>
              <a:latin typeface="Arial"/>
              <a:ea typeface="Arial"/>
              <a:cs typeface="Arial"/>
            </a:endParaRPr>
          </a:p>
        </p:txBody>
      </p:sp>
      <p:sp>
        <p:nvSpPr>
          <p:cNvPr id="357" name="Google Shape;357;p34">
            <a:extLst xmlns:a="http://schemas.openxmlformats.org/drawingml/2006/main">
              <a:ext uri="{FF2B5EF4-FFF2-40B4-BE49-F238E27FC236}">
                <a16:creationId xmlns:a16="http://schemas.microsoft.com/office/drawing/2014/main" id="{A2684263-2FE6-420B-A4B1-990299C11BF9}"/>
              </a:ext>
            </a:extLst>
          </p:cNvPr>
          <p:cNvSpPr>
            <a:spLocks xmlns:a="http://schemas.openxmlformats.org/drawingml/2006/main" noGrp="1"/>
          </p:cNvSpPr>
          <p:nvPr/>
        </p:nvSpPr>
        <p:spPr>
          <a:xfrm xmlns:a="http://schemas.openxmlformats.org/drawingml/2006/main">
            <a:off x="5074920" y="3422142"/>
            <a:ext cx="353187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2"/>
              </a:buClr>
              <a:buSzPts val="1000"/>
              <a:buFont typeface="Arial"/>
              <a:buNone/>
            </a:pPr>
            <a:r>
              <a:rPr sz="1000" b="0" i="0" u="none" strike="noStrike" cap="none">
                <a:solidFill>
                  <a:schemeClr val="lt2"/>
                </a:solidFill>
                <a:latin typeface="Arial"/>
                <a:ea typeface="Arial"/>
                <a:cs typeface="Arial"/>
              </a:rPr>
              <a:t>Six small transfers in 90 minutes; hold for review and explain the flag</a:t>
            </a:r>
            <a:endParaRPr sz="1000" b="0" i="0" u="none" strike="noStrike" cap="none">
              <a:solidFill>
                <a:schemeClr val="dk1"/>
              </a:solidFill>
              <a:latin typeface="Arial"/>
              <a:ea typeface="Arial"/>
              <a:cs typeface="Arial"/>
            </a:endParaRPr>
          </a:p>
        </p:txBody>
      </p:sp>
      <p:sp>
        <p:nvSpPr>
          <p:cNvPr id="358" name="Google Shape;358;p34">
            <a:extLst xmlns:a="http://schemas.openxmlformats.org/drawingml/2006/main">
              <a:ext uri="{FF2B5EF4-FFF2-40B4-BE49-F238E27FC236}">
                <a16:creationId xmlns:a16="http://schemas.microsoft.com/office/drawing/2014/main" id="{95D6B116-D197-4665-B74F-5DCFF8AC7191}"/>
              </a:ext>
            </a:extLst>
          </p:cNvPr>
          <p:cNvSpPr>
            <a:spLocks xmlns:a="http://schemas.openxmlformats.org/drawingml/2006/main" noGrp="1"/>
          </p:cNvSpPr>
          <p:nvPr/>
        </p:nvSpPr>
        <p:spPr>
          <a:xfrm xmlns:a="http://schemas.openxmlformats.org/drawingml/2006/main">
            <a:off x="411480" y="3991356"/>
            <a:ext cx="1981962" cy="534924"/>
          </a:xfrm>
          <a:prstGeom xmlns:a="http://schemas.openxmlformats.org/drawingml/2006/main" prst="roundRect">
            <a:avLst>
              <a:gd name="adj" fmla="val 12821"/>
            </a:avLst>
          </a:prstGeom>
          <a:solidFill xmlns:a="http://schemas.openxmlformats.org/drawingml/2006/main">
            <a:schemeClr val="accent1">
              <a:alpha val="20000"/>
            </a:schemeClr>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9" name="Google Shape;359;p34">
            <a:extLst xmlns:a="http://schemas.openxmlformats.org/drawingml/2006/main">
              <a:ext uri="{FF2B5EF4-FFF2-40B4-BE49-F238E27FC236}">
                <a16:creationId xmlns:a16="http://schemas.microsoft.com/office/drawing/2014/main" id="{1B3678A0-B4F5-446F-8F73-4BDDCB48D37D}"/>
              </a:ext>
            </a:extLst>
          </p:cNvPr>
          <p:cNvSpPr>
            <a:spLocks xmlns:a="http://schemas.openxmlformats.org/drawingml/2006/main" noGrp="1"/>
          </p:cNvSpPr>
          <p:nvPr/>
        </p:nvSpPr>
        <p:spPr>
          <a:xfrm xmlns:a="http://schemas.openxmlformats.org/drawingml/2006/main">
            <a:off x="534924" y="4087368"/>
            <a:ext cx="342900" cy="3429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60" name="Google Shape;360;p34">
            <a:extLst xmlns:a="http://schemas.openxmlformats.org/drawingml/2006/main">
              <a:ext uri="{FF2B5EF4-FFF2-40B4-BE49-F238E27FC236}">
                <a16:creationId xmlns:a16="http://schemas.microsoft.com/office/drawing/2014/main" id="{5BD0D99C-DBEC-4F5A-B44D-A1AC3FE8C77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08442c02b47403a">
            <a:alphaModFix/>
          </a:blip>
          <a:srcRect xmlns:a="http://schemas.openxmlformats.org/drawingml/2006/main" l="0" t="0" r="0" b="0"/>
          <a:stretch xmlns:a="http://schemas.openxmlformats.org/drawingml/2006/main"/>
        </p:blipFill>
        <p:spPr>
          <a:xfrm xmlns:a="http://schemas.openxmlformats.org/drawingml/2006/main">
            <a:off x="610362" y="4162806"/>
            <a:ext cx="192024" cy="192024"/>
          </a:xfrm>
          <a:prstGeom xmlns:a="http://schemas.openxmlformats.org/drawingml/2006/main" prst="rect">
            <a:avLst/>
          </a:prstGeom>
          <a:ln xmlns:a="http://schemas.openxmlformats.org/drawingml/2006/main">
            <a:noFill/>
          </a:ln>
        </p:spPr>
      </p:pic>
      <p:sp>
        <p:nvSpPr>
          <p:cNvPr id="361" name="Google Shape;361;p34">
            <a:extLst xmlns:a="http://schemas.openxmlformats.org/drawingml/2006/main">
              <a:ext uri="{FF2B5EF4-FFF2-40B4-BE49-F238E27FC236}">
                <a16:creationId xmlns:a16="http://schemas.microsoft.com/office/drawing/2014/main" id="{F08BD76E-4E9A-4AA0-A703-CB70D0CC3708}"/>
              </a:ext>
            </a:extLst>
          </p:cNvPr>
          <p:cNvSpPr>
            <a:spLocks xmlns:a="http://schemas.openxmlformats.org/drawingml/2006/main" noGrp="1"/>
          </p:cNvSpPr>
          <p:nvPr/>
        </p:nvSpPr>
        <p:spPr>
          <a:xfrm xmlns:a="http://schemas.openxmlformats.org/drawingml/2006/main">
            <a:off x="973836" y="4046220"/>
            <a:ext cx="1337310"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100"/>
              <a:buFont typeface="Arial"/>
              <a:buNone/>
            </a:pPr>
            <a:r>
              <a:rPr sz="1100" b="1" i="0" u="none" strike="noStrike" cap="none">
                <a:solidFill>
                  <a:schemeClr val="lt1"/>
                </a:solidFill>
                <a:latin typeface="Arial"/>
                <a:ea typeface="Arial"/>
                <a:cs typeface="Arial"/>
              </a:rPr>
              <a:t>p95 latency</a:t>
            </a:r>
            <a:endParaRPr sz="1100" b="0" i="0" u="none" strike="noStrike" cap="none">
              <a:solidFill>
                <a:schemeClr val="dk1"/>
              </a:solidFill>
              <a:latin typeface="Arial"/>
              <a:ea typeface="Arial"/>
              <a:cs typeface="Arial"/>
            </a:endParaRPr>
          </a:p>
        </p:txBody>
      </p:sp>
      <p:sp>
        <p:nvSpPr>
          <p:cNvPr id="362" name="Google Shape;362;p34">
            <a:extLst xmlns:a="http://schemas.openxmlformats.org/drawingml/2006/main">
              <a:ext uri="{FF2B5EF4-FFF2-40B4-BE49-F238E27FC236}">
                <a16:creationId xmlns:a16="http://schemas.microsoft.com/office/drawing/2014/main" id="{BB1E19E2-4C03-4E2F-8D7E-E1059AC74D1C}"/>
              </a:ext>
            </a:extLst>
          </p:cNvPr>
          <p:cNvSpPr>
            <a:spLocks xmlns:a="http://schemas.openxmlformats.org/drawingml/2006/main" noGrp="1"/>
          </p:cNvSpPr>
          <p:nvPr/>
        </p:nvSpPr>
        <p:spPr>
          <a:xfrm xmlns:a="http://schemas.openxmlformats.org/drawingml/2006/main">
            <a:off x="973836" y="4279392"/>
            <a:ext cx="1337310" cy="1920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2"/>
              </a:buClr>
              <a:buSzPts val="800"/>
              <a:buFont typeface="Arial"/>
              <a:buNone/>
            </a:pPr>
            <a:r>
              <a:rPr sz="800" b="0" i="0" u="none" strike="noStrike" cap="none">
                <a:solidFill>
                  <a:schemeClr val="lt2"/>
                </a:solidFill>
                <a:latin typeface="Arial"/>
                <a:ea typeface="Arial"/>
                <a:cs typeface="Arial"/>
              </a:rPr>
              <a:t>to be measured on LinuxONE</a:t>
            </a:r>
            <a:endParaRPr sz="800" b="0" i="0" u="none" strike="noStrike" cap="none">
              <a:solidFill>
                <a:schemeClr val="dk1"/>
              </a:solidFill>
              <a:latin typeface="Arial"/>
              <a:ea typeface="Arial"/>
              <a:cs typeface="Arial"/>
            </a:endParaRPr>
          </a:p>
        </p:txBody>
      </p:sp>
      <p:sp>
        <p:nvSpPr>
          <p:cNvPr id="363" name="Google Shape;363;p34">
            <a:extLst xmlns:a="http://schemas.openxmlformats.org/drawingml/2006/main">
              <a:ext uri="{FF2B5EF4-FFF2-40B4-BE49-F238E27FC236}">
                <a16:creationId xmlns:a16="http://schemas.microsoft.com/office/drawing/2014/main" id="{9443AF94-8CBC-4D10-8A17-9A0672ED252C}"/>
              </a:ext>
            </a:extLst>
          </p:cNvPr>
          <p:cNvSpPr>
            <a:spLocks xmlns:a="http://schemas.openxmlformats.org/drawingml/2006/main" noGrp="1"/>
          </p:cNvSpPr>
          <p:nvPr/>
        </p:nvSpPr>
        <p:spPr>
          <a:xfrm xmlns:a="http://schemas.openxmlformats.org/drawingml/2006/main">
            <a:off x="2523744" y="3991356"/>
            <a:ext cx="1981962" cy="534924"/>
          </a:xfrm>
          <a:prstGeom xmlns:a="http://schemas.openxmlformats.org/drawingml/2006/main" prst="roundRect">
            <a:avLst>
              <a:gd name="adj" fmla="val 12821"/>
            </a:avLst>
          </a:prstGeom>
          <a:solidFill xmlns:a="http://schemas.openxmlformats.org/drawingml/2006/main">
            <a:schemeClr val="accent1">
              <a:alpha val="20000"/>
            </a:schemeClr>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4" name="Google Shape;364;p34">
            <a:extLst xmlns:a="http://schemas.openxmlformats.org/drawingml/2006/main">
              <a:ext uri="{FF2B5EF4-FFF2-40B4-BE49-F238E27FC236}">
                <a16:creationId xmlns:a16="http://schemas.microsoft.com/office/drawing/2014/main" id="{1A18E6B4-2422-4C5A-B4E7-07A905240B5B}"/>
              </a:ext>
            </a:extLst>
          </p:cNvPr>
          <p:cNvSpPr>
            <a:spLocks xmlns:a="http://schemas.openxmlformats.org/drawingml/2006/main" noGrp="1"/>
          </p:cNvSpPr>
          <p:nvPr/>
        </p:nvSpPr>
        <p:spPr>
          <a:xfrm xmlns:a="http://schemas.openxmlformats.org/drawingml/2006/main">
            <a:off x="2647188" y="4087368"/>
            <a:ext cx="342900" cy="3429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65" name="Google Shape;365;p34">
            <a:extLst xmlns:a="http://schemas.openxmlformats.org/drawingml/2006/main">
              <a:ext uri="{FF2B5EF4-FFF2-40B4-BE49-F238E27FC236}">
                <a16:creationId xmlns:a16="http://schemas.microsoft.com/office/drawing/2014/main" id="{A0F1053F-30CC-4881-BCFB-AEF99DD2028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19b0e36bcba4ae6">
            <a:alphaModFix/>
          </a:blip>
          <a:srcRect xmlns:a="http://schemas.openxmlformats.org/drawingml/2006/main" l="0" t="0" r="0" b="0"/>
          <a:stretch xmlns:a="http://schemas.openxmlformats.org/drawingml/2006/main"/>
        </p:blipFill>
        <p:spPr>
          <a:xfrm xmlns:a="http://schemas.openxmlformats.org/drawingml/2006/main">
            <a:off x="2722626" y="4162806"/>
            <a:ext cx="192024" cy="192024"/>
          </a:xfrm>
          <a:prstGeom xmlns:a="http://schemas.openxmlformats.org/drawingml/2006/main" prst="rect">
            <a:avLst/>
          </a:prstGeom>
          <a:ln xmlns:a="http://schemas.openxmlformats.org/drawingml/2006/main">
            <a:noFill/>
          </a:ln>
        </p:spPr>
      </p:pic>
      <p:sp>
        <p:nvSpPr>
          <p:cNvPr id="366" name="Google Shape;366;p34">
            <a:extLst xmlns:a="http://schemas.openxmlformats.org/drawingml/2006/main">
              <a:ext uri="{FF2B5EF4-FFF2-40B4-BE49-F238E27FC236}">
                <a16:creationId xmlns:a16="http://schemas.microsoft.com/office/drawing/2014/main" id="{CC366AAB-E14D-46B8-867C-8AF609F80110}"/>
              </a:ext>
            </a:extLst>
          </p:cNvPr>
          <p:cNvSpPr>
            <a:spLocks xmlns:a="http://schemas.openxmlformats.org/drawingml/2006/main" noGrp="1"/>
          </p:cNvSpPr>
          <p:nvPr/>
        </p:nvSpPr>
        <p:spPr>
          <a:xfrm xmlns:a="http://schemas.openxmlformats.org/drawingml/2006/main">
            <a:off x="3086100" y="4046220"/>
            <a:ext cx="1337310"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100"/>
              <a:buFont typeface="Arial"/>
              <a:buNone/>
            </a:pPr>
            <a:r>
              <a:rPr sz="1100" b="1" i="0" u="none" strike="noStrike" cap="none">
                <a:solidFill>
                  <a:schemeClr val="lt1"/>
                </a:solidFill>
                <a:latin typeface="Arial"/>
                <a:ea typeface="Arial"/>
                <a:cs typeface="Arial"/>
              </a:rPr>
              <a:t>Detection rate</a:t>
            </a:r>
            <a:endParaRPr sz="1100" b="0" i="0" u="none" strike="noStrike" cap="none">
              <a:solidFill>
                <a:schemeClr val="dk1"/>
              </a:solidFill>
              <a:latin typeface="Arial"/>
              <a:ea typeface="Arial"/>
              <a:cs typeface="Arial"/>
            </a:endParaRPr>
          </a:p>
        </p:txBody>
      </p:sp>
      <p:sp>
        <p:nvSpPr>
          <p:cNvPr id="367" name="Google Shape;367;p34">
            <a:extLst xmlns:a="http://schemas.openxmlformats.org/drawingml/2006/main">
              <a:ext uri="{FF2B5EF4-FFF2-40B4-BE49-F238E27FC236}">
                <a16:creationId xmlns:a16="http://schemas.microsoft.com/office/drawing/2014/main" id="{D23C25A5-031A-4FF0-949E-DE9A7C4AF739}"/>
              </a:ext>
            </a:extLst>
          </p:cNvPr>
          <p:cNvSpPr>
            <a:spLocks xmlns:a="http://schemas.openxmlformats.org/drawingml/2006/main" noGrp="1"/>
          </p:cNvSpPr>
          <p:nvPr/>
        </p:nvSpPr>
        <p:spPr>
          <a:xfrm xmlns:a="http://schemas.openxmlformats.org/drawingml/2006/main">
            <a:off x="3086100" y="4279392"/>
            <a:ext cx="1337310" cy="1920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2"/>
              </a:buClr>
              <a:buSzPts val="800"/>
              <a:buFont typeface="Arial"/>
              <a:buNone/>
            </a:pPr>
            <a:r>
              <a:rPr sz="800" b="0" i="0" u="none" strike="noStrike" cap="none">
                <a:solidFill>
                  <a:schemeClr val="lt2"/>
                </a:solidFill>
                <a:latin typeface="Arial"/>
                <a:ea typeface="Arial"/>
                <a:cs typeface="Arial"/>
              </a:rPr>
              <a:t>to be measured on LinuxONE</a:t>
            </a:r>
            <a:endParaRPr sz="800" b="0" i="0" u="none" strike="noStrike" cap="none">
              <a:solidFill>
                <a:schemeClr val="dk1"/>
              </a:solidFill>
              <a:latin typeface="Arial"/>
              <a:ea typeface="Arial"/>
              <a:cs typeface="Arial"/>
            </a:endParaRPr>
          </a:p>
        </p:txBody>
      </p:sp>
      <p:sp>
        <p:nvSpPr>
          <p:cNvPr id="368" name="Google Shape;368;p34">
            <a:extLst xmlns:a="http://schemas.openxmlformats.org/drawingml/2006/main">
              <a:ext uri="{FF2B5EF4-FFF2-40B4-BE49-F238E27FC236}">
                <a16:creationId xmlns:a16="http://schemas.microsoft.com/office/drawing/2014/main" id="{B4413F30-1F1E-41A1-9A09-5342DA1C756F}"/>
              </a:ext>
            </a:extLst>
          </p:cNvPr>
          <p:cNvSpPr>
            <a:spLocks xmlns:a="http://schemas.openxmlformats.org/drawingml/2006/main" noGrp="1"/>
          </p:cNvSpPr>
          <p:nvPr/>
        </p:nvSpPr>
        <p:spPr>
          <a:xfrm xmlns:a="http://schemas.openxmlformats.org/drawingml/2006/main">
            <a:off x="4636008" y="3991356"/>
            <a:ext cx="1981962" cy="534924"/>
          </a:xfrm>
          <a:prstGeom xmlns:a="http://schemas.openxmlformats.org/drawingml/2006/main" prst="roundRect">
            <a:avLst>
              <a:gd name="adj" fmla="val 12821"/>
            </a:avLst>
          </a:prstGeom>
          <a:solidFill xmlns:a="http://schemas.openxmlformats.org/drawingml/2006/main">
            <a:schemeClr val="accent1">
              <a:alpha val="20000"/>
            </a:schemeClr>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9" name="Google Shape;369;p34">
            <a:extLst xmlns:a="http://schemas.openxmlformats.org/drawingml/2006/main">
              <a:ext uri="{FF2B5EF4-FFF2-40B4-BE49-F238E27FC236}">
                <a16:creationId xmlns:a16="http://schemas.microsoft.com/office/drawing/2014/main" id="{BE175A96-F1B4-49BB-876A-738E46FB252E}"/>
              </a:ext>
            </a:extLst>
          </p:cNvPr>
          <p:cNvSpPr>
            <a:spLocks xmlns:a="http://schemas.openxmlformats.org/drawingml/2006/main" noGrp="1"/>
          </p:cNvSpPr>
          <p:nvPr/>
        </p:nvSpPr>
        <p:spPr>
          <a:xfrm xmlns:a="http://schemas.openxmlformats.org/drawingml/2006/main">
            <a:off x="4759452" y="4087368"/>
            <a:ext cx="342900" cy="3429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70" name="Google Shape;370;p34">
            <a:extLst xmlns:a="http://schemas.openxmlformats.org/drawingml/2006/main">
              <a:ext uri="{FF2B5EF4-FFF2-40B4-BE49-F238E27FC236}">
                <a16:creationId xmlns:a16="http://schemas.microsoft.com/office/drawing/2014/main" id="{0EB6AD86-9B30-430C-B6AE-F5BBB67FBAB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eb18d8258144ec4">
            <a:alphaModFix/>
          </a:blip>
          <a:srcRect xmlns:a="http://schemas.openxmlformats.org/drawingml/2006/main" l="0" t="0" r="0" b="0"/>
          <a:stretch xmlns:a="http://schemas.openxmlformats.org/drawingml/2006/main"/>
        </p:blipFill>
        <p:spPr>
          <a:xfrm xmlns:a="http://schemas.openxmlformats.org/drawingml/2006/main">
            <a:off x="4834890" y="4162806"/>
            <a:ext cx="192024" cy="192024"/>
          </a:xfrm>
          <a:prstGeom xmlns:a="http://schemas.openxmlformats.org/drawingml/2006/main" prst="rect">
            <a:avLst/>
          </a:prstGeom>
          <a:ln xmlns:a="http://schemas.openxmlformats.org/drawingml/2006/main">
            <a:noFill/>
          </a:ln>
        </p:spPr>
      </p:pic>
      <p:sp>
        <p:nvSpPr>
          <p:cNvPr id="371" name="Google Shape;371;p34">
            <a:extLst xmlns:a="http://schemas.openxmlformats.org/drawingml/2006/main">
              <a:ext uri="{FF2B5EF4-FFF2-40B4-BE49-F238E27FC236}">
                <a16:creationId xmlns:a16="http://schemas.microsoft.com/office/drawing/2014/main" id="{E1A3FC40-991F-4E1A-A687-BA55F434BF5A}"/>
              </a:ext>
            </a:extLst>
          </p:cNvPr>
          <p:cNvSpPr>
            <a:spLocks xmlns:a="http://schemas.openxmlformats.org/drawingml/2006/main" noGrp="1"/>
          </p:cNvSpPr>
          <p:nvPr/>
        </p:nvSpPr>
        <p:spPr>
          <a:xfrm xmlns:a="http://schemas.openxmlformats.org/drawingml/2006/main">
            <a:off x="5198364" y="4046220"/>
            <a:ext cx="1337310"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100"/>
              <a:buFont typeface="Arial"/>
              <a:buNone/>
            </a:pPr>
            <a:r>
              <a:rPr sz="1100" b="1" i="0" u="none" strike="noStrike" cap="none">
                <a:solidFill>
                  <a:schemeClr val="lt1"/>
                </a:solidFill>
                <a:latin typeface="Arial"/>
                <a:ea typeface="Arial"/>
                <a:cs typeface="Arial"/>
              </a:rPr>
              <a:t>False positives</a:t>
            </a:r>
            <a:endParaRPr sz="1100" b="0" i="0" u="none" strike="noStrike" cap="none">
              <a:solidFill>
                <a:schemeClr val="dk1"/>
              </a:solidFill>
              <a:latin typeface="Arial"/>
              <a:ea typeface="Arial"/>
              <a:cs typeface="Arial"/>
            </a:endParaRPr>
          </a:p>
        </p:txBody>
      </p:sp>
      <p:sp>
        <p:nvSpPr>
          <p:cNvPr id="372" name="Google Shape;372;p34">
            <a:extLst xmlns:a="http://schemas.openxmlformats.org/drawingml/2006/main">
              <a:ext uri="{FF2B5EF4-FFF2-40B4-BE49-F238E27FC236}">
                <a16:creationId xmlns:a16="http://schemas.microsoft.com/office/drawing/2014/main" id="{FB42FFE1-1C74-460C-B33F-21FEACF6236C}"/>
              </a:ext>
            </a:extLst>
          </p:cNvPr>
          <p:cNvSpPr>
            <a:spLocks xmlns:a="http://schemas.openxmlformats.org/drawingml/2006/main" noGrp="1"/>
          </p:cNvSpPr>
          <p:nvPr/>
        </p:nvSpPr>
        <p:spPr>
          <a:xfrm xmlns:a="http://schemas.openxmlformats.org/drawingml/2006/main">
            <a:off x="5198364" y="4279392"/>
            <a:ext cx="1337310" cy="1920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2"/>
              </a:buClr>
              <a:buSzPts val="800"/>
              <a:buFont typeface="Arial"/>
              <a:buNone/>
            </a:pPr>
            <a:r>
              <a:rPr sz="800" b="0" i="0" u="none" strike="noStrike" cap="none">
                <a:solidFill>
                  <a:schemeClr val="lt2"/>
                </a:solidFill>
                <a:latin typeface="Arial"/>
                <a:ea typeface="Arial"/>
                <a:cs typeface="Arial"/>
              </a:rPr>
              <a:t>to be measured on LinuxONE</a:t>
            </a:r>
            <a:endParaRPr sz="800" b="0" i="0" u="none" strike="noStrike" cap="none">
              <a:solidFill>
                <a:schemeClr val="dk1"/>
              </a:solidFill>
              <a:latin typeface="Arial"/>
              <a:ea typeface="Arial"/>
              <a:cs typeface="Arial"/>
            </a:endParaRPr>
          </a:p>
        </p:txBody>
      </p:sp>
      <p:sp>
        <p:nvSpPr>
          <p:cNvPr id="373" name="Google Shape;373;p34">
            <a:extLst xmlns:a="http://schemas.openxmlformats.org/drawingml/2006/main">
              <a:ext uri="{FF2B5EF4-FFF2-40B4-BE49-F238E27FC236}">
                <a16:creationId xmlns:a16="http://schemas.microsoft.com/office/drawing/2014/main" id="{832982C5-78DC-405C-A8FB-999995C6C2B8}"/>
              </a:ext>
            </a:extLst>
          </p:cNvPr>
          <p:cNvSpPr>
            <a:spLocks xmlns:a="http://schemas.openxmlformats.org/drawingml/2006/main" noGrp="1"/>
          </p:cNvSpPr>
          <p:nvPr/>
        </p:nvSpPr>
        <p:spPr>
          <a:xfrm xmlns:a="http://schemas.openxmlformats.org/drawingml/2006/main">
            <a:off x="6748272" y="3991356"/>
            <a:ext cx="1981962" cy="534924"/>
          </a:xfrm>
          <a:prstGeom xmlns:a="http://schemas.openxmlformats.org/drawingml/2006/main" prst="roundRect">
            <a:avLst>
              <a:gd name="adj" fmla="val 12821"/>
            </a:avLst>
          </a:prstGeom>
          <a:solidFill xmlns:a="http://schemas.openxmlformats.org/drawingml/2006/main">
            <a:schemeClr val="accent1">
              <a:alpha val="20000"/>
            </a:schemeClr>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4" name="Google Shape;374;p34">
            <a:extLst xmlns:a="http://schemas.openxmlformats.org/drawingml/2006/main">
              <a:ext uri="{FF2B5EF4-FFF2-40B4-BE49-F238E27FC236}">
                <a16:creationId xmlns:a16="http://schemas.microsoft.com/office/drawing/2014/main" id="{393416C4-9921-4E48-9DCE-EE732070F029}"/>
              </a:ext>
            </a:extLst>
          </p:cNvPr>
          <p:cNvSpPr>
            <a:spLocks xmlns:a="http://schemas.openxmlformats.org/drawingml/2006/main" noGrp="1"/>
          </p:cNvSpPr>
          <p:nvPr/>
        </p:nvSpPr>
        <p:spPr>
          <a:xfrm xmlns:a="http://schemas.openxmlformats.org/drawingml/2006/main">
            <a:off x="6871716" y="4087368"/>
            <a:ext cx="342900" cy="3429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75" name="Google Shape;375;p34">
            <a:extLst xmlns:a="http://schemas.openxmlformats.org/drawingml/2006/main">
              <a:ext uri="{FF2B5EF4-FFF2-40B4-BE49-F238E27FC236}">
                <a16:creationId xmlns:a16="http://schemas.microsoft.com/office/drawing/2014/main" id="{A3AE0266-2B4A-4560-AFBD-824DB502ECB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f951b2feb8a401e">
            <a:alphaModFix/>
          </a:blip>
          <a:srcRect xmlns:a="http://schemas.openxmlformats.org/drawingml/2006/main" l="0" t="0" r="0" b="0"/>
          <a:stretch xmlns:a="http://schemas.openxmlformats.org/drawingml/2006/main"/>
        </p:blipFill>
        <p:spPr>
          <a:xfrm xmlns:a="http://schemas.openxmlformats.org/drawingml/2006/main">
            <a:off x="6947154" y="4162806"/>
            <a:ext cx="192024" cy="192024"/>
          </a:xfrm>
          <a:prstGeom xmlns:a="http://schemas.openxmlformats.org/drawingml/2006/main" prst="rect">
            <a:avLst/>
          </a:prstGeom>
          <a:ln xmlns:a="http://schemas.openxmlformats.org/drawingml/2006/main">
            <a:noFill/>
          </a:ln>
        </p:spPr>
      </p:pic>
      <p:sp>
        <p:nvSpPr>
          <p:cNvPr id="376" name="Google Shape;376;p34">
            <a:extLst xmlns:a="http://schemas.openxmlformats.org/drawingml/2006/main">
              <a:ext uri="{FF2B5EF4-FFF2-40B4-BE49-F238E27FC236}">
                <a16:creationId xmlns:a16="http://schemas.microsoft.com/office/drawing/2014/main" id="{B0731C0E-5E3C-4766-A3F2-9F5165D19A53}"/>
              </a:ext>
            </a:extLst>
          </p:cNvPr>
          <p:cNvSpPr>
            <a:spLocks xmlns:a="http://schemas.openxmlformats.org/drawingml/2006/main" noGrp="1"/>
          </p:cNvSpPr>
          <p:nvPr/>
        </p:nvSpPr>
        <p:spPr>
          <a:xfrm xmlns:a="http://schemas.openxmlformats.org/drawingml/2006/main">
            <a:off x="7310628" y="4046220"/>
            <a:ext cx="1337310"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100"/>
              <a:buFont typeface="Arial"/>
              <a:buNone/>
            </a:pPr>
            <a:r>
              <a:rPr sz="1100" b="1" i="0" u="none" strike="noStrike" cap="none">
                <a:solidFill>
                  <a:schemeClr val="lt1"/>
                </a:solidFill>
                <a:latin typeface="Arial"/>
                <a:ea typeface="Arial"/>
                <a:cs typeface="Arial"/>
              </a:rPr>
              <a:t>Transfers / second</a:t>
            </a:r>
            <a:endParaRPr sz="1100" b="0" i="0" u="none" strike="noStrike" cap="none">
              <a:solidFill>
                <a:schemeClr val="dk1"/>
              </a:solidFill>
              <a:latin typeface="Arial"/>
              <a:ea typeface="Arial"/>
              <a:cs typeface="Arial"/>
            </a:endParaRPr>
          </a:p>
        </p:txBody>
      </p:sp>
      <p:sp>
        <p:nvSpPr>
          <p:cNvPr id="377" name="Google Shape;377;p34">
            <a:extLst xmlns:a="http://schemas.openxmlformats.org/drawingml/2006/main">
              <a:ext uri="{FF2B5EF4-FFF2-40B4-BE49-F238E27FC236}">
                <a16:creationId xmlns:a16="http://schemas.microsoft.com/office/drawing/2014/main" id="{506BB2CB-B747-43EA-AE65-F2151A5B0E53}"/>
              </a:ext>
            </a:extLst>
          </p:cNvPr>
          <p:cNvSpPr>
            <a:spLocks xmlns:a="http://schemas.openxmlformats.org/drawingml/2006/main" noGrp="1"/>
          </p:cNvSpPr>
          <p:nvPr/>
        </p:nvSpPr>
        <p:spPr>
          <a:xfrm xmlns:a="http://schemas.openxmlformats.org/drawingml/2006/main">
            <a:off x="7310628" y="4279392"/>
            <a:ext cx="1337310" cy="1920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2"/>
              </a:buClr>
              <a:buSzPts val="800"/>
              <a:buFont typeface="Arial"/>
              <a:buNone/>
            </a:pPr>
            <a:r>
              <a:rPr sz="800" b="0" i="0" u="none" strike="noStrike" cap="none">
                <a:solidFill>
                  <a:schemeClr val="lt2"/>
                </a:solidFill>
                <a:latin typeface="Arial"/>
                <a:ea typeface="Arial"/>
                <a:cs typeface="Arial"/>
              </a:rPr>
              <a:t>to be measured on LinuxONE</a:t>
            </a:r>
            <a:endParaRPr sz="800" b="0" i="0" u="none" strike="noStrike" cap="none">
              <a:solidFill>
                <a:schemeClr val="dk1"/>
              </a:solidFill>
              <a:latin typeface="Arial"/>
              <a:ea typeface="Arial"/>
              <a:cs typeface="Arial"/>
            </a:endParaRPr>
          </a:p>
        </p:txBody>
      </p:sp>
      <p:sp>
        <p:nvSpPr>
          <p:cNvPr id="378" name="Google Shape;378;p34">
            <a:extLst xmlns:a="http://schemas.openxmlformats.org/drawingml/2006/main">
              <a:ext uri="{FF2B5EF4-FFF2-40B4-BE49-F238E27FC236}">
                <a16:creationId xmlns:a16="http://schemas.microsoft.com/office/drawing/2014/main" id="{4B07655B-7D0F-40A5-8449-8F8DDD3998BD}"/>
              </a:ext>
            </a:extLst>
          </p:cNvPr>
          <p:cNvSpPr>
            <a:spLocks xmlns:a="http://schemas.openxmlformats.org/drawingml/2006/main" noGrp="1"/>
          </p:cNvSpPr>
          <p:nvPr>
            <p:ph type="sldNum" idx="4294967295"/>
          </p:nvPr>
        </p:nvSpPr>
        <p:spPr>
          <a:xfrm xmlns:a="http://schemas.openxmlformats.org/drawingml/2006/main">
            <a:off x="8387334" y="4800600"/>
            <a:ext cx="3429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p xmlns:a="http://schemas.openxmlformats.org/drawingml/2006/main">
            <a:pPr marL="0" marR="0" lvl="0" indent="0" algn="r">
              <a:spcBef>
                <a:spcPts val="0"/>
              </a:spcBef>
              <a:spcAft>
                <a:spcPts val="0"/>
              </a:spcAft>
              <a:buNone/>
            </a:pPr>
            <a:fld id="{00000000-1234-1234-1234-123412341234}" type="slidenum">
              <a:rPr sz="700" b="0" i="0" u="none" strike="noStrike" cap="none">
                <a:solidFill>
                  <a:schemeClr val="accent6"/>
                </a:solidFill>
                <a:latin typeface="Arial"/>
                <a:ea typeface="Arial"/>
                <a:cs typeface="Arial"/>
              </a:rPr>
              <a:t>‹#›</a:t>
            </a:fld>
            <a:endParaRPr sz="700" b="0" i="0" u="none" strike="noStrike" cap="none">
              <a:solidFill>
                <a:schemeClr val="accent6"/>
              </a:solidFill>
              <a:latin typeface="Arial"/>
              <a:ea typeface="Arial"/>
              <a:cs typeface="Arial"/>
            </a:endParaRPr>
          </a:p>
        </p:txBody>
      </p:sp>
    </p:spTree>
    <p:extLst>
      <p:ext uri="{BB962C8B-B14F-4D97-AF65-F5344CB8AC3E}">
        <p14:creationId xmlns:p14="http://schemas.microsoft.com/office/powerpoint/2010/main" val="23348101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84" name="Google Shape;384;p35">
            <a:extLst xmlns:a="http://schemas.openxmlformats.org/drawingml/2006/main">
              <a:ext uri="{FF2B5EF4-FFF2-40B4-BE49-F238E27FC236}">
                <a16:creationId xmlns:a16="http://schemas.microsoft.com/office/drawing/2014/main" id="{53F0CB6F-F696-4153-9559-98FC0EAA96C4}"/>
              </a:ext>
            </a:extLst>
          </p:cNvPr>
          <p:cNvSpPr>
            <a:spLocks xmlns:a="http://schemas.openxmlformats.org/drawingml/2006/main" noGrp="1"/>
          </p:cNvSpPr>
          <p:nvPr>
            <p:ph type="body" idx="1"/>
          </p:nvPr>
        </p:nvSpPr>
        <p:spPr>
          <a:xfrm xmlns:a="http://schemas.openxmlformats.org/drawingml/2006/main">
            <a:off x="576072" y="308610"/>
            <a:ext cx="6172200" cy="233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Clr>
                <a:schemeClr val="accent5"/>
              </a:buClr>
              <a:buSzPts val="900"/>
              <a:buNone/>
            </a:pPr>
            <a:r>
              <a:rPr sz="900" b="1">
                <a:solidFill>
                  <a:schemeClr val="accent5"/>
                </a:solidFill>
              </a:rPr>
              <a:t>06 · DATA AND MODEL</a:t>
            </a:r>
            <a:endParaRPr sz="900"/>
          </a:p>
        </p:txBody>
      </p:sp>
      <p:sp>
        <p:nvSpPr>
          <p:cNvPr id="385" name="Google Shape;385;p35">
            <a:extLst xmlns:a="http://schemas.openxmlformats.org/drawingml/2006/main">
              <a:ext uri="{FF2B5EF4-FFF2-40B4-BE49-F238E27FC236}">
                <a16:creationId xmlns:a16="http://schemas.microsoft.com/office/drawing/2014/main" id="{DCF54F6D-D03D-4E44-A887-5FC56AAC0DE9}"/>
              </a:ext>
            </a:extLst>
          </p:cNvPr>
          <p:cNvSpPr>
            <a:spLocks xmlns:a="http://schemas.openxmlformats.org/drawingml/2006/main" noGrp="1"/>
          </p:cNvSpPr>
          <p:nvPr>
            <p:ph type="title" idx="0"/>
          </p:nvPr>
        </p:nvSpPr>
        <p:spPr>
          <a:xfrm xmlns:a="http://schemas.openxmlformats.org/drawingml/2006/main">
            <a:off x="411480" y="582930"/>
            <a:ext cx="8318754"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Clr>
                <a:schemeClr val="lt1"/>
              </a:buClr>
              <a:buSzPts val="2300"/>
              <a:buFont typeface="Arial"/>
              <a:buNone/>
            </a:pPr>
            <a:r>
              <a:rPr sz="2300" b="1">
                <a:solidFill>
                  <a:schemeClr val="lt1"/>
                </a:solidFill>
              </a:rPr>
              <a:t>Synthetic data with injected fraud patterns</a:t>
            </a:r>
            <a:endParaRPr sz="2300"/>
          </a:p>
        </p:txBody>
      </p:sp>
      <p:cxnSp>
        <p:nvCxnSpPr>
          <p:cNvPr id="386" name="Google Shape;386;p35">
            <a:extLst xmlns:a="http://schemas.openxmlformats.org/drawingml/2006/main">
              <a:ext uri="{FF2B5EF4-FFF2-40B4-BE49-F238E27FC236}">
                <a16:creationId xmlns:a16="http://schemas.microsoft.com/office/drawing/2014/main" id="{24553F27-E362-499C-B241-A621B6F105F2}"/>
              </a:ext>
            </a:extLst>
          </p:cNvPr>
          <p:cNvCxnSpPr/>
          <p:nvPr/>
        </p:nvCxnSpPr>
        <p:spPr>
          <a:xfrm xmlns:a="http://schemas.openxmlformats.org/drawingml/2006/main">
            <a:off x="600075" y="1783080"/>
            <a:ext cx="0" cy="294894"/>
          </a:xfrm>
          <a:prstGeom xmlns:a="http://schemas.openxmlformats.org/drawingml/2006/main" prst="straightConnector1">
            <a:avLst/>
          </a:prstGeom>
          <a:ln xmlns:a="http://schemas.openxmlformats.org/drawingml/2006/main" w="19050" cap="flat">
            <a:solidFill>
              <a:schemeClr val="accent5"/>
            </a:solidFill>
            <a:prstDash val="dash"/>
            <a:round/>
            <a:headEnd type="none" w="sm" len="sm"/>
            <a:tailEnd type="none" w="sm" len="sm"/>
          </a:ln>
        </p:spPr>
      </p:cxnSp>
      <p:sp>
        <p:nvSpPr>
          <p:cNvPr id="387" name="Google Shape;387;p35">
            <a:extLst xmlns:a="http://schemas.openxmlformats.org/drawingml/2006/main">
              <a:ext uri="{FF2B5EF4-FFF2-40B4-BE49-F238E27FC236}">
                <a16:creationId xmlns:a16="http://schemas.microsoft.com/office/drawing/2014/main" id="{8E95DE26-93D6-4916-BF39-AB0519C50ED9}"/>
              </a:ext>
            </a:extLst>
          </p:cNvPr>
          <p:cNvSpPr>
            <a:spLocks xmlns:a="http://schemas.openxmlformats.org/drawingml/2006/main" noGrp="1"/>
          </p:cNvSpPr>
          <p:nvPr/>
        </p:nvSpPr>
        <p:spPr>
          <a:xfrm xmlns:a="http://schemas.openxmlformats.org/drawingml/2006/main">
            <a:off x="411480" y="1371600"/>
            <a:ext cx="377190" cy="37719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88" name="Google Shape;388;p35">
            <a:extLst xmlns:a="http://schemas.openxmlformats.org/drawingml/2006/main">
              <a:ext uri="{FF2B5EF4-FFF2-40B4-BE49-F238E27FC236}">
                <a16:creationId xmlns:a16="http://schemas.microsoft.com/office/drawing/2014/main" id="{5BED7E94-E2A4-4B83-9F55-5924CFB2A78C}"/>
              </a:ext>
            </a:extLst>
          </p:cNvPr>
          <p:cNvSpPr>
            <a:spLocks xmlns:a="http://schemas.openxmlformats.org/drawingml/2006/main" noGrp="1"/>
          </p:cNvSpPr>
          <p:nvPr/>
        </p:nvSpPr>
        <p:spPr>
          <a:xfrm xmlns:a="http://schemas.openxmlformats.org/drawingml/2006/main">
            <a:off x="411480" y="1371600"/>
            <a:ext cx="377190" cy="3771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chemeClr val="lt1"/>
              </a:buClr>
              <a:buSzPts val="1400"/>
              <a:buFont typeface="Arial"/>
              <a:buNone/>
            </a:pPr>
            <a:r>
              <a:rPr sz="1400" b="1" i="0" u="none" strike="noStrike" cap="none">
                <a:solidFill>
                  <a:schemeClr val="lt1"/>
                </a:solidFill>
                <a:latin typeface="Arial"/>
                <a:ea typeface="Arial"/>
                <a:cs typeface="Arial"/>
              </a:rPr>
              <a:t>1</a:t>
            </a:r>
            <a:endParaRPr sz="1400" b="0" i="0" u="none" strike="noStrike" cap="none">
              <a:solidFill>
                <a:schemeClr val="dk1"/>
              </a:solidFill>
              <a:latin typeface="Arial"/>
              <a:ea typeface="Arial"/>
              <a:cs typeface="Arial"/>
            </a:endParaRPr>
          </a:p>
        </p:txBody>
      </p:sp>
      <p:sp>
        <p:nvSpPr>
          <p:cNvPr id="389" name="Google Shape;389;p35">
            <a:extLst xmlns:a="http://schemas.openxmlformats.org/drawingml/2006/main">
              <a:ext uri="{FF2B5EF4-FFF2-40B4-BE49-F238E27FC236}">
                <a16:creationId xmlns:a16="http://schemas.microsoft.com/office/drawing/2014/main" id="{F02AC72A-CB8E-4132-806D-2F198B97E373}"/>
              </a:ext>
            </a:extLst>
          </p:cNvPr>
          <p:cNvSpPr>
            <a:spLocks xmlns:a="http://schemas.openxmlformats.org/drawingml/2006/main" noGrp="1"/>
          </p:cNvSpPr>
          <p:nvPr/>
        </p:nvSpPr>
        <p:spPr>
          <a:xfrm xmlns:a="http://schemas.openxmlformats.org/drawingml/2006/main">
            <a:off x="960120" y="1357884"/>
            <a:ext cx="342900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Transaction generator</a:t>
            </a:r>
            <a:endParaRPr sz="1200" b="0" i="0" u="none" strike="noStrike" cap="none">
              <a:solidFill>
                <a:schemeClr val="dk1"/>
              </a:solidFill>
              <a:latin typeface="Arial"/>
              <a:ea typeface="Arial"/>
              <a:cs typeface="Arial"/>
            </a:endParaRPr>
          </a:p>
        </p:txBody>
      </p:sp>
      <p:sp>
        <p:nvSpPr>
          <p:cNvPr id="390" name="Google Shape;390;p35">
            <a:extLst xmlns:a="http://schemas.openxmlformats.org/drawingml/2006/main">
              <a:ext uri="{FF2B5EF4-FFF2-40B4-BE49-F238E27FC236}">
                <a16:creationId xmlns:a16="http://schemas.microsoft.com/office/drawing/2014/main" id="{16120211-6FC0-42AC-97DB-2583B293864C}"/>
              </a:ext>
            </a:extLst>
          </p:cNvPr>
          <p:cNvSpPr>
            <a:spLocks xmlns:a="http://schemas.openxmlformats.org/drawingml/2006/main" noGrp="1"/>
          </p:cNvSpPr>
          <p:nvPr/>
        </p:nvSpPr>
        <p:spPr>
          <a:xfrm xmlns:a="http://schemas.openxmlformats.org/drawingml/2006/main">
            <a:off x="960120" y="1632204"/>
            <a:ext cx="3429000" cy="3771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1000"/>
              <a:buFont typeface="Arial"/>
              <a:buNone/>
            </a:pPr>
            <a:r>
              <a:rPr sz="1000" b="0" i="0" u="none" strike="noStrike" cap="none">
                <a:solidFill>
                  <a:schemeClr val="lt2"/>
                </a:solidFill>
                <a:latin typeface="Arial"/>
                <a:ea typeface="Arial"/>
                <a:cs typeface="Arial"/>
              </a:rPr>
              <a:t>Amount, origin, destination, frequency and time across American corridors</a:t>
            </a:r>
            <a:endParaRPr sz="1000" b="0" i="0" u="none" strike="noStrike" cap="none">
              <a:solidFill>
                <a:schemeClr val="dk1"/>
              </a:solidFill>
              <a:latin typeface="Arial"/>
              <a:ea typeface="Arial"/>
              <a:cs typeface="Arial"/>
            </a:endParaRPr>
          </a:p>
        </p:txBody>
      </p:sp>
      <p:cxnSp>
        <p:nvCxnSpPr>
          <p:cNvPr id="391" name="Google Shape;391;p35">
            <a:extLst xmlns:a="http://schemas.openxmlformats.org/drawingml/2006/main">
              <a:ext uri="{FF2B5EF4-FFF2-40B4-BE49-F238E27FC236}">
                <a16:creationId xmlns:a16="http://schemas.microsoft.com/office/drawing/2014/main" id="{B141AA18-778C-4DF3-8C44-80E03070CB00}"/>
              </a:ext>
            </a:extLst>
          </p:cNvPr>
          <p:cNvCxnSpPr/>
          <p:nvPr/>
        </p:nvCxnSpPr>
        <p:spPr>
          <a:xfrm xmlns:a="http://schemas.openxmlformats.org/drawingml/2006/main">
            <a:off x="600075" y="2523744"/>
            <a:ext cx="0" cy="294894"/>
          </a:xfrm>
          <a:prstGeom xmlns:a="http://schemas.openxmlformats.org/drawingml/2006/main" prst="straightConnector1">
            <a:avLst/>
          </a:prstGeom>
          <a:ln xmlns:a="http://schemas.openxmlformats.org/drawingml/2006/main" w="19050" cap="flat">
            <a:solidFill>
              <a:schemeClr val="accent5"/>
            </a:solidFill>
            <a:prstDash val="dash"/>
            <a:round/>
            <a:headEnd type="none" w="sm" len="sm"/>
            <a:tailEnd type="none" w="sm" len="sm"/>
          </a:ln>
        </p:spPr>
      </p:cxnSp>
      <p:sp>
        <p:nvSpPr>
          <p:cNvPr id="392" name="Google Shape;392;p35">
            <a:extLst xmlns:a="http://schemas.openxmlformats.org/drawingml/2006/main">
              <a:ext uri="{FF2B5EF4-FFF2-40B4-BE49-F238E27FC236}">
                <a16:creationId xmlns:a16="http://schemas.microsoft.com/office/drawing/2014/main" id="{BC6A2707-F1E1-4D77-AC7F-E48A9A70D09F}"/>
              </a:ext>
            </a:extLst>
          </p:cNvPr>
          <p:cNvSpPr>
            <a:spLocks xmlns:a="http://schemas.openxmlformats.org/drawingml/2006/main" noGrp="1"/>
          </p:cNvSpPr>
          <p:nvPr/>
        </p:nvSpPr>
        <p:spPr>
          <a:xfrm xmlns:a="http://schemas.openxmlformats.org/drawingml/2006/main">
            <a:off x="411480" y="2112264"/>
            <a:ext cx="377190" cy="37719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93" name="Google Shape;393;p35">
            <a:extLst xmlns:a="http://schemas.openxmlformats.org/drawingml/2006/main">
              <a:ext uri="{FF2B5EF4-FFF2-40B4-BE49-F238E27FC236}">
                <a16:creationId xmlns:a16="http://schemas.microsoft.com/office/drawing/2014/main" id="{5F1E8B8E-D121-447D-B7F3-C8A59273DA28}"/>
              </a:ext>
            </a:extLst>
          </p:cNvPr>
          <p:cNvSpPr>
            <a:spLocks xmlns:a="http://schemas.openxmlformats.org/drawingml/2006/main" noGrp="1"/>
          </p:cNvSpPr>
          <p:nvPr/>
        </p:nvSpPr>
        <p:spPr>
          <a:xfrm xmlns:a="http://schemas.openxmlformats.org/drawingml/2006/main">
            <a:off x="411480" y="2112264"/>
            <a:ext cx="377190" cy="3771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chemeClr val="lt1"/>
              </a:buClr>
              <a:buSzPts val="1400"/>
              <a:buFont typeface="Arial"/>
              <a:buNone/>
            </a:pPr>
            <a:r>
              <a:rPr sz="1400" b="1" i="0" u="none" strike="noStrike" cap="none">
                <a:solidFill>
                  <a:schemeClr val="lt1"/>
                </a:solidFill>
                <a:latin typeface="Arial"/>
                <a:ea typeface="Arial"/>
                <a:cs typeface="Arial"/>
              </a:rPr>
              <a:t>2</a:t>
            </a:r>
            <a:endParaRPr sz="1400" b="0" i="0" u="none" strike="noStrike" cap="none">
              <a:solidFill>
                <a:schemeClr val="dk1"/>
              </a:solidFill>
              <a:latin typeface="Arial"/>
              <a:ea typeface="Arial"/>
              <a:cs typeface="Arial"/>
            </a:endParaRPr>
          </a:p>
        </p:txBody>
      </p:sp>
      <p:sp>
        <p:nvSpPr>
          <p:cNvPr id="394" name="Google Shape;394;p35">
            <a:extLst xmlns:a="http://schemas.openxmlformats.org/drawingml/2006/main">
              <a:ext uri="{FF2B5EF4-FFF2-40B4-BE49-F238E27FC236}">
                <a16:creationId xmlns:a16="http://schemas.microsoft.com/office/drawing/2014/main" id="{612AC183-0425-48DC-8D69-238213C66486}"/>
              </a:ext>
            </a:extLst>
          </p:cNvPr>
          <p:cNvSpPr>
            <a:spLocks xmlns:a="http://schemas.openxmlformats.org/drawingml/2006/main" noGrp="1"/>
          </p:cNvSpPr>
          <p:nvPr/>
        </p:nvSpPr>
        <p:spPr>
          <a:xfrm xmlns:a="http://schemas.openxmlformats.org/drawingml/2006/main">
            <a:off x="960120" y="2098548"/>
            <a:ext cx="342900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Simulated sanctions lists</a:t>
            </a:r>
            <a:endParaRPr sz="1200" b="0" i="0" u="none" strike="noStrike" cap="none">
              <a:solidFill>
                <a:schemeClr val="dk1"/>
              </a:solidFill>
              <a:latin typeface="Arial"/>
              <a:ea typeface="Arial"/>
              <a:cs typeface="Arial"/>
            </a:endParaRPr>
          </a:p>
        </p:txBody>
      </p:sp>
      <p:sp>
        <p:nvSpPr>
          <p:cNvPr id="395" name="Google Shape;395;p35">
            <a:extLst xmlns:a="http://schemas.openxmlformats.org/drawingml/2006/main">
              <a:ext uri="{FF2B5EF4-FFF2-40B4-BE49-F238E27FC236}">
                <a16:creationId xmlns:a16="http://schemas.microsoft.com/office/drawing/2014/main" id="{485DAC09-EA9E-402C-A082-D0FD1ABB2E76}"/>
              </a:ext>
            </a:extLst>
          </p:cNvPr>
          <p:cNvSpPr>
            <a:spLocks xmlns:a="http://schemas.openxmlformats.org/drawingml/2006/main" noGrp="1"/>
          </p:cNvSpPr>
          <p:nvPr/>
        </p:nvSpPr>
        <p:spPr>
          <a:xfrm xmlns:a="http://schemas.openxmlformats.org/drawingml/2006/main">
            <a:off x="960120" y="2372868"/>
            <a:ext cx="3429000" cy="3771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1000"/>
              <a:buFont typeface="Arial"/>
              <a:buNone/>
            </a:pPr>
            <a:r>
              <a:rPr sz="1000" b="0" i="0" u="none" strike="noStrike" cap="none">
                <a:solidFill>
                  <a:schemeClr val="lt2"/>
                </a:solidFill>
                <a:latin typeface="Arial"/>
                <a:ea typeface="Arial"/>
                <a:cs typeface="Arial"/>
              </a:rPr>
              <a:t>Use the public OFAC SDN format</a:t>
            </a:r>
            <a:endParaRPr sz="1000" b="0" i="0" u="none" strike="noStrike" cap="none">
              <a:solidFill>
                <a:schemeClr val="dk1"/>
              </a:solidFill>
              <a:latin typeface="Arial"/>
              <a:ea typeface="Arial"/>
              <a:cs typeface="Arial"/>
            </a:endParaRPr>
          </a:p>
        </p:txBody>
      </p:sp>
      <p:cxnSp>
        <p:nvCxnSpPr>
          <p:cNvPr id="396" name="Google Shape;396;p35">
            <a:extLst xmlns:a="http://schemas.openxmlformats.org/drawingml/2006/main">
              <a:ext uri="{FF2B5EF4-FFF2-40B4-BE49-F238E27FC236}">
                <a16:creationId xmlns:a16="http://schemas.microsoft.com/office/drawing/2014/main" id="{4A8F6B54-E46A-421A-A6C5-D1B48A914B6A}"/>
              </a:ext>
            </a:extLst>
          </p:cNvPr>
          <p:cNvCxnSpPr/>
          <p:nvPr/>
        </p:nvCxnSpPr>
        <p:spPr>
          <a:xfrm xmlns:a="http://schemas.openxmlformats.org/drawingml/2006/main">
            <a:off x="600075" y="3264408"/>
            <a:ext cx="0" cy="294894"/>
          </a:xfrm>
          <a:prstGeom xmlns:a="http://schemas.openxmlformats.org/drawingml/2006/main" prst="straightConnector1">
            <a:avLst/>
          </a:prstGeom>
          <a:ln xmlns:a="http://schemas.openxmlformats.org/drawingml/2006/main" w="19050" cap="flat">
            <a:solidFill>
              <a:schemeClr val="accent5"/>
            </a:solidFill>
            <a:prstDash val="dash"/>
            <a:round/>
            <a:headEnd type="none" w="sm" len="sm"/>
            <a:tailEnd type="none" w="sm" len="sm"/>
          </a:ln>
        </p:spPr>
      </p:cxnSp>
      <p:sp>
        <p:nvSpPr>
          <p:cNvPr id="397" name="Google Shape;397;p35">
            <a:extLst xmlns:a="http://schemas.openxmlformats.org/drawingml/2006/main">
              <a:ext uri="{FF2B5EF4-FFF2-40B4-BE49-F238E27FC236}">
                <a16:creationId xmlns:a16="http://schemas.microsoft.com/office/drawing/2014/main" id="{2DADE7F5-7D01-4706-87DE-64A7A9F10FBA}"/>
              </a:ext>
            </a:extLst>
          </p:cNvPr>
          <p:cNvSpPr>
            <a:spLocks xmlns:a="http://schemas.openxmlformats.org/drawingml/2006/main" noGrp="1"/>
          </p:cNvSpPr>
          <p:nvPr/>
        </p:nvSpPr>
        <p:spPr>
          <a:xfrm xmlns:a="http://schemas.openxmlformats.org/drawingml/2006/main">
            <a:off x="411480" y="2852928"/>
            <a:ext cx="377190" cy="37719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98" name="Google Shape;398;p35">
            <a:extLst xmlns:a="http://schemas.openxmlformats.org/drawingml/2006/main">
              <a:ext uri="{FF2B5EF4-FFF2-40B4-BE49-F238E27FC236}">
                <a16:creationId xmlns:a16="http://schemas.microsoft.com/office/drawing/2014/main" id="{5302F082-7889-496C-B63F-901EADDADB8C}"/>
              </a:ext>
            </a:extLst>
          </p:cNvPr>
          <p:cNvSpPr>
            <a:spLocks xmlns:a="http://schemas.openxmlformats.org/drawingml/2006/main" noGrp="1"/>
          </p:cNvSpPr>
          <p:nvPr/>
        </p:nvSpPr>
        <p:spPr>
          <a:xfrm xmlns:a="http://schemas.openxmlformats.org/drawingml/2006/main">
            <a:off x="411480" y="2852928"/>
            <a:ext cx="377190" cy="3771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chemeClr val="lt1"/>
              </a:buClr>
              <a:buSzPts val="1400"/>
              <a:buFont typeface="Arial"/>
              <a:buNone/>
            </a:pPr>
            <a:r>
              <a:rPr sz="1400" b="1" i="0" u="none" strike="noStrike" cap="none">
                <a:solidFill>
                  <a:schemeClr val="lt1"/>
                </a:solidFill>
                <a:latin typeface="Arial"/>
                <a:ea typeface="Arial"/>
                <a:cs typeface="Arial"/>
              </a:rPr>
              <a:t>3</a:t>
            </a:r>
            <a:endParaRPr sz="1400" b="0" i="0" u="none" strike="noStrike" cap="none">
              <a:solidFill>
                <a:schemeClr val="dk1"/>
              </a:solidFill>
              <a:latin typeface="Arial"/>
              <a:ea typeface="Arial"/>
              <a:cs typeface="Arial"/>
            </a:endParaRPr>
          </a:p>
        </p:txBody>
      </p:sp>
      <p:sp>
        <p:nvSpPr>
          <p:cNvPr id="399" name="Google Shape;399;p35">
            <a:extLst xmlns:a="http://schemas.openxmlformats.org/drawingml/2006/main">
              <a:ext uri="{FF2B5EF4-FFF2-40B4-BE49-F238E27FC236}">
                <a16:creationId xmlns:a16="http://schemas.microsoft.com/office/drawing/2014/main" id="{46F8B928-1F62-4EFA-8380-02BC7D5CF1FD}"/>
              </a:ext>
            </a:extLst>
          </p:cNvPr>
          <p:cNvSpPr>
            <a:spLocks xmlns:a="http://schemas.openxmlformats.org/drawingml/2006/main" noGrp="1"/>
          </p:cNvSpPr>
          <p:nvPr/>
        </p:nvSpPr>
        <p:spPr>
          <a:xfrm xmlns:a="http://schemas.openxmlformats.org/drawingml/2006/main">
            <a:off x="960120" y="2839212"/>
            <a:ext cx="342900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Injected patterns</a:t>
            </a:r>
            <a:endParaRPr sz="1200" b="0" i="0" u="none" strike="noStrike" cap="none">
              <a:solidFill>
                <a:schemeClr val="dk1"/>
              </a:solidFill>
              <a:latin typeface="Arial"/>
              <a:ea typeface="Arial"/>
              <a:cs typeface="Arial"/>
            </a:endParaRPr>
          </a:p>
        </p:txBody>
      </p:sp>
      <p:sp>
        <p:nvSpPr>
          <p:cNvPr id="400" name="Google Shape;400;p35">
            <a:extLst xmlns:a="http://schemas.openxmlformats.org/drawingml/2006/main">
              <a:ext uri="{FF2B5EF4-FFF2-40B4-BE49-F238E27FC236}">
                <a16:creationId xmlns:a16="http://schemas.microsoft.com/office/drawing/2014/main" id="{F3A6DAB9-5F62-4D1D-84CB-BBFB533AF07B}"/>
              </a:ext>
            </a:extLst>
          </p:cNvPr>
          <p:cNvSpPr>
            <a:spLocks xmlns:a="http://schemas.openxmlformats.org/drawingml/2006/main" noGrp="1"/>
          </p:cNvSpPr>
          <p:nvPr/>
        </p:nvSpPr>
        <p:spPr>
          <a:xfrm xmlns:a="http://schemas.openxmlformats.org/drawingml/2006/main">
            <a:off x="960120" y="3113532"/>
            <a:ext cx="3429000" cy="3771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1000"/>
              <a:buFont typeface="Arial"/>
              <a:buNone/>
            </a:pPr>
            <a:r>
              <a:rPr sz="1000" b="0" i="0" u="none" strike="noStrike" cap="none">
                <a:solidFill>
                  <a:schemeClr val="lt2"/>
                </a:solidFill>
                <a:latin typeface="Arial"/>
                <a:ea typeface="Arial"/>
                <a:cs typeface="Arial"/>
              </a:rPr>
              <a:t>Labeled smurfing, layering and unusual activity</a:t>
            </a:r>
            <a:endParaRPr sz="1000" b="0" i="0" u="none" strike="noStrike" cap="none">
              <a:solidFill>
                <a:schemeClr val="dk1"/>
              </a:solidFill>
              <a:latin typeface="Arial"/>
              <a:ea typeface="Arial"/>
              <a:cs typeface="Arial"/>
            </a:endParaRPr>
          </a:p>
        </p:txBody>
      </p:sp>
      <p:sp>
        <p:nvSpPr>
          <p:cNvPr id="401" name="Google Shape;401;p35">
            <a:extLst xmlns:a="http://schemas.openxmlformats.org/drawingml/2006/main">
              <a:ext uri="{FF2B5EF4-FFF2-40B4-BE49-F238E27FC236}">
                <a16:creationId xmlns:a16="http://schemas.microsoft.com/office/drawing/2014/main" id="{819A8891-145D-4D90-A859-F64C50E94F3F}"/>
              </a:ext>
            </a:extLst>
          </p:cNvPr>
          <p:cNvSpPr>
            <a:spLocks xmlns:a="http://schemas.openxmlformats.org/drawingml/2006/main" noGrp="1"/>
          </p:cNvSpPr>
          <p:nvPr/>
        </p:nvSpPr>
        <p:spPr>
          <a:xfrm xmlns:a="http://schemas.openxmlformats.org/drawingml/2006/main">
            <a:off x="411480" y="3593592"/>
            <a:ext cx="377190" cy="37719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02" name="Google Shape;402;p35">
            <a:extLst xmlns:a="http://schemas.openxmlformats.org/drawingml/2006/main">
              <a:ext uri="{FF2B5EF4-FFF2-40B4-BE49-F238E27FC236}">
                <a16:creationId xmlns:a16="http://schemas.microsoft.com/office/drawing/2014/main" id="{9AE7B4E3-9C33-47BF-9AC4-C0D90A90A2D2}"/>
              </a:ext>
            </a:extLst>
          </p:cNvPr>
          <p:cNvSpPr>
            <a:spLocks xmlns:a="http://schemas.openxmlformats.org/drawingml/2006/main" noGrp="1"/>
          </p:cNvSpPr>
          <p:nvPr/>
        </p:nvSpPr>
        <p:spPr>
          <a:xfrm xmlns:a="http://schemas.openxmlformats.org/drawingml/2006/main">
            <a:off x="411480" y="3593592"/>
            <a:ext cx="377190" cy="3771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chemeClr val="lt1"/>
              </a:buClr>
              <a:buSzPts val="1400"/>
              <a:buFont typeface="Arial"/>
              <a:buNone/>
            </a:pPr>
            <a:r>
              <a:rPr sz="1400" b="1" i="0" u="none" strike="noStrike" cap="none">
                <a:solidFill>
                  <a:schemeClr val="lt1"/>
                </a:solidFill>
                <a:latin typeface="Arial"/>
                <a:ea typeface="Arial"/>
                <a:cs typeface="Arial"/>
              </a:rPr>
              <a:t>4</a:t>
            </a:r>
            <a:endParaRPr sz="1400" b="0" i="0" u="none" strike="noStrike" cap="none">
              <a:solidFill>
                <a:schemeClr val="dk1"/>
              </a:solidFill>
              <a:latin typeface="Arial"/>
              <a:ea typeface="Arial"/>
              <a:cs typeface="Arial"/>
            </a:endParaRPr>
          </a:p>
        </p:txBody>
      </p:sp>
      <p:sp>
        <p:nvSpPr>
          <p:cNvPr id="403" name="Google Shape;403;p35">
            <a:extLst xmlns:a="http://schemas.openxmlformats.org/drawingml/2006/main">
              <a:ext uri="{FF2B5EF4-FFF2-40B4-BE49-F238E27FC236}">
                <a16:creationId xmlns:a16="http://schemas.microsoft.com/office/drawing/2014/main" id="{12B66FBF-EEB0-4257-9A32-EC01536F1822}"/>
              </a:ext>
            </a:extLst>
          </p:cNvPr>
          <p:cNvSpPr>
            <a:spLocks xmlns:a="http://schemas.openxmlformats.org/drawingml/2006/main" noGrp="1"/>
          </p:cNvSpPr>
          <p:nvPr/>
        </p:nvSpPr>
        <p:spPr>
          <a:xfrm xmlns:a="http://schemas.openxmlformats.org/drawingml/2006/main">
            <a:off x="960120" y="3579876"/>
            <a:ext cx="342900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Models</a:t>
            </a:r>
            <a:endParaRPr sz="1200" b="0" i="0" u="none" strike="noStrike" cap="none">
              <a:solidFill>
                <a:schemeClr val="dk1"/>
              </a:solidFill>
              <a:latin typeface="Arial"/>
              <a:ea typeface="Arial"/>
              <a:cs typeface="Arial"/>
            </a:endParaRPr>
          </a:p>
        </p:txBody>
      </p:sp>
      <p:sp>
        <p:nvSpPr>
          <p:cNvPr id="404" name="Google Shape;404;p35">
            <a:extLst xmlns:a="http://schemas.openxmlformats.org/drawingml/2006/main">
              <a:ext uri="{FF2B5EF4-FFF2-40B4-BE49-F238E27FC236}">
                <a16:creationId xmlns:a16="http://schemas.microsoft.com/office/drawing/2014/main" id="{DEC10E1D-9E9F-4781-8B6B-0DA4CC370FB5}"/>
              </a:ext>
            </a:extLst>
          </p:cNvPr>
          <p:cNvSpPr>
            <a:spLocks xmlns:a="http://schemas.openxmlformats.org/drawingml/2006/main" noGrp="1"/>
          </p:cNvSpPr>
          <p:nvPr/>
        </p:nvSpPr>
        <p:spPr>
          <a:xfrm xmlns:a="http://schemas.openxmlformats.org/drawingml/2006/main">
            <a:off x="960120" y="3854196"/>
            <a:ext cx="3429000" cy="3771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1000"/>
              <a:buFont typeface="Arial"/>
              <a:buNone/>
            </a:pPr>
            <a:r>
              <a:rPr sz="1000" b="0" i="0" u="none" strike="noStrike" cap="none">
                <a:solidFill>
                  <a:schemeClr val="lt2"/>
                </a:solidFill>
                <a:latin typeface="Arial"/>
                <a:ea typeface="Arial"/>
                <a:cs typeface="Arial"/>
              </a:rPr>
              <a:t>Name fuzzy matching + XGBoost / Random Forest</a:t>
            </a:r>
            <a:endParaRPr sz="1000" b="0" i="0" u="none" strike="noStrike" cap="none">
              <a:solidFill>
                <a:schemeClr val="dk1"/>
              </a:solidFill>
              <a:latin typeface="Arial"/>
              <a:ea typeface="Arial"/>
              <a:cs typeface="Arial"/>
            </a:endParaRPr>
          </a:p>
        </p:txBody>
      </p:sp>
      <p:sp>
        <p:nvSpPr>
          <p:cNvPr id="405" name="Google Shape;405;p35">
            <a:extLst xmlns:a="http://schemas.openxmlformats.org/drawingml/2006/main">
              <a:ext uri="{FF2B5EF4-FFF2-40B4-BE49-F238E27FC236}">
                <a16:creationId xmlns:a16="http://schemas.microsoft.com/office/drawing/2014/main" id="{D724B152-332F-4CDF-ACAF-10CE3D41FC5F}"/>
              </a:ext>
            </a:extLst>
          </p:cNvPr>
          <p:cNvSpPr>
            <a:spLocks xmlns:a="http://schemas.openxmlformats.org/drawingml/2006/main" noGrp="1"/>
          </p:cNvSpPr>
          <p:nvPr/>
        </p:nvSpPr>
        <p:spPr>
          <a:xfrm xmlns:a="http://schemas.openxmlformats.org/drawingml/2006/main">
            <a:off x="4697730" y="1337310"/>
            <a:ext cx="4032504" cy="2434590"/>
          </a:xfrm>
          <a:prstGeom xmlns:a="http://schemas.openxmlformats.org/drawingml/2006/main" prst="roundRect">
            <a:avLst>
              <a:gd name="adj" fmla="val 2817"/>
            </a:avLst>
          </a:prstGeom>
          <a:solidFill xmlns:a="http://schemas.openxmlformats.org/drawingml/2006/main">
            <a:schemeClr val="dk2"/>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07" name="Google Shape;407;p35">
            <a:extLst xmlns:a="http://schemas.openxmlformats.org/drawingml/2006/main">
              <a:ext uri="{FF2B5EF4-FFF2-40B4-BE49-F238E27FC236}">
                <a16:creationId xmlns:a16="http://schemas.microsoft.com/office/drawing/2014/main" id="{017BA411-0E47-49C6-9805-ECE5B4D757F3}"/>
              </a:ext>
            </a:extLst>
          </p:cNvPr>
          <p:cNvSpPr>
            <a:spLocks xmlns:a="http://schemas.openxmlformats.org/drawingml/2006/main" noGrp="1"/>
          </p:cNvSpPr>
          <p:nvPr/>
        </p:nvSpPr>
        <p:spPr>
          <a:xfrm xmlns:a="http://schemas.openxmlformats.org/drawingml/2006/main">
            <a:off x="4697730" y="3895344"/>
            <a:ext cx="730377" cy="274320"/>
          </a:xfrm>
          <a:prstGeom xmlns:a="http://schemas.openxmlformats.org/drawingml/2006/main" prst="roundRect">
            <a:avLst>
              <a:gd name="adj" fmla="val 25000"/>
            </a:avLst>
          </a:prstGeom>
          <a:solidFill xmlns:a="http://schemas.openxmlformats.org/drawingml/2006/main">
            <a:schemeClr val="dk2"/>
          </a:solidFill>
          <a:ln xmlns:a="http://schemas.openxmlformats.org/drawingml/2006/main" w="9525" cap="flat" cmpd="sng">
            <a:solidFill>
              <a:schemeClr val="accent6">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08" name="Google Shape;408;p35">
            <a:extLst xmlns:a="http://schemas.openxmlformats.org/drawingml/2006/main">
              <a:ext uri="{FF2B5EF4-FFF2-40B4-BE49-F238E27FC236}">
                <a16:creationId xmlns:a16="http://schemas.microsoft.com/office/drawing/2014/main" id="{5C1C9A78-79B5-430E-9BC8-0A783CE88F78}"/>
              </a:ext>
            </a:extLst>
          </p:cNvPr>
          <p:cNvSpPr>
            <a:spLocks xmlns:a="http://schemas.openxmlformats.org/drawingml/2006/main" noGrp="1"/>
          </p:cNvSpPr>
          <p:nvPr/>
        </p:nvSpPr>
        <p:spPr>
          <a:xfrm xmlns:a="http://schemas.openxmlformats.org/drawingml/2006/main">
            <a:off x="4697730" y="3895344"/>
            <a:ext cx="730377"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chemeClr val="lt1"/>
              </a:buClr>
              <a:buSzPts val="900"/>
              <a:buFont typeface="Arial"/>
              <a:buNone/>
            </a:pPr>
            <a:r>
              <a:rPr sz="900" b="0" i="0" u="none" strike="noStrike" cap="none">
                <a:solidFill>
                  <a:schemeClr val="lt1"/>
                </a:solidFill>
                <a:latin typeface="Arial"/>
                <a:ea typeface="Arial"/>
                <a:cs typeface="Arial"/>
              </a:rPr>
              <a:t>Precision</a:t>
            </a:r>
            <a:endParaRPr sz="900" b="0" i="0" u="none" strike="noStrike" cap="none">
              <a:solidFill>
                <a:schemeClr val="dk1"/>
              </a:solidFill>
              <a:latin typeface="Arial"/>
              <a:ea typeface="Arial"/>
              <a:cs typeface="Arial"/>
            </a:endParaRPr>
          </a:p>
        </p:txBody>
      </p:sp>
      <p:sp>
        <p:nvSpPr>
          <p:cNvPr id="409" name="Google Shape;409;p35">
            <a:extLst xmlns:a="http://schemas.openxmlformats.org/drawingml/2006/main">
              <a:ext uri="{FF2B5EF4-FFF2-40B4-BE49-F238E27FC236}">
                <a16:creationId xmlns:a16="http://schemas.microsoft.com/office/drawing/2014/main" id="{7705C064-F977-4A0F-A296-0B3F09F9CA75}"/>
              </a:ext>
            </a:extLst>
          </p:cNvPr>
          <p:cNvSpPr>
            <a:spLocks xmlns:a="http://schemas.openxmlformats.org/drawingml/2006/main" noGrp="1"/>
          </p:cNvSpPr>
          <p:nvPr/>
        </p:nvSpPr>
        <p:spPr>
          <a:xfrm xmlns:a="http://schemas.openxmlformats.org/drawingml/2006/main">
            <a:off x="5496687" y="3895344"/>
            <a:ext cx="555498" cy="274320"/>
          </a:xfrm>
          <a:prstGeom xmlns:a="http://schemas.openxmlformats.org/drawingml/2006/main" prst="roundRect">
            <a:avLst>
              <a:gd name="adj" fmla="val 25000"/>
            </a:avLst>
          </a:prstGeom>
          <a:solidFill xmlns:a="http://schemas.openxmlformats.org/drawingml/2006/main">
            <a:schemeClr val="dk2"/>
          </a:solidFill>
          <a:ln xmlns:a="http://schemas.openxmlformats.org/drawingml/2006/main" w="9525" cap="flat" cmpd="sng">
            <a:solidFill>
              <a:schemeClr val="accent6">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10" name="Google Shape;410;p35">
            <a:extLst xmlns:a="http://schemas.openxmlformats.org/drawingml/2006/main">
              <a:ext uri="{FF2B5EF4-FFF2-40B4-BE49-F238E27FC236}">
                <a16:creationId xmlns:a16="http://schemas.microsoft.com/office/drawing/2014/main" id="{98A946A1-CA03-4CFE-A895-00690BEE2725}"/>
              </a:ext>
            </a:extLst>
          </p:cNvPr>
          <p:cNvSpPr>
            <a:spLocks xmlns:a="http://schemas.openxmlformats.org/drawingml/2006/main" noGrp="1"/>
          </p:cNvSpPr>
          <p:nvPr/>
        </p:nvSpPr>
        <p:spPr>
          <a:xfrm xmlns:a="http://schemas.openxmlformats.org/drawingml/2006/main">
            <a:off x="5496687" y="3895344"/>
            <a:ext cx="555498"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chemeClr val="lt1"/>
              </a:buClr>
              <a:buSzPts val="900"/>
              <a:buFont typeface="Arial"/>
              <a:buNone/>
            </a:pPr>
            <a:r>
              <a:rPr sz="900" b="0" i="0" u="none" strike="noStrike" cap="none">
                <a:solidFill>
                  <a:schemeClr val="lt1"/>
                </a:solidFill>
                <a:latin typeface="Arial"/>
                <a:ea typeface="Arial"/>
                <a:cs typeface="Arial"/>
              </a:rPr>
              <a:t>Recall</a:t>
            </a:r>
            <a:endParaRPr sz="900" b="0" i="0" u="none" strike="noStrike" cap="none">
              <a:solidFill>
                <a:schemeClr val="dk1"/>
              </a:solidFill>
              <a:latin typeface="Arial"/>
              <a:ea typeface="Arial"/>
              <a:cs typeface="Arial"/>
            </a:endParaRPr>
          </a:p>
        </p:txBody>
      </p:sp>
      <p:sp>
        <p:nvSpPr>
          <p:cNvPr id="411" name="Google Shape;411;p35">
            <a:extLst xmlns:a="http://schemas.openxmlformats.org/drawingml/2006/main">
              <a:ext uri="{FF2B5EF4-FFF2-40B4-BE49-F238E27FC236}">
                <a16:creationId xmlns:a16="http://schemas.microsoft.com/office/drawing/2014/main" id="{863F2EAA-E20B-4FD4-AD42-1D04D9D539D6}"/>
              </a:ext>
            </a:extLst>
          </p:cNvPr>
          <p:cNvSpPr>
            <a:spLocks xmlns:a="http://schemas.openxmlformats.org/drawingml/2006/main" noGrp="1"/>
          </p:cNvSpPr>
          <p:nvPr/>
        </p:nvSpPr>
        <p:spPr>
          <a:xfrm xmlns:a="http://schemas.openxmlformats.org/drawingml/2006/main">
            <a:off x="6120765" y="3895344"/>
            <a:ext cx="322326" cy="274320"/>
          </a:xfrm>
          <a:prstGeom xmlns:a="http://schemas.openxmlformats.org/drawingml/2006/main" prst="roundRect">
            <a:avLst>
              <a:gd name="adj" fmla="val 25000"/>
            </a:avLst>
          </a:prstGeom>
          <a:solidFill xmlns:a="http://schemas.openxmlformats.org/drawingml/2006/main">
            <a:schemeClr val="dk2"/>
          </a:solidFill>
          <a:ln xmlns:a="http://schemas.openxmlformats.org/drawingml/2006/main" w="9525" cap="flat" cmpd="sng">
            <a:solidFill>
              <a:schemeClr val="accent6">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12" name="Google Shape;412;p35">
            <a:extLst xmlns:a="http://schemas.openxmlformats.org/drawingml/2006/main">
              <a:ext uri="{FF2B5EF4-FFF2-40B4-BE49-F238E27FC236}">
                <a16:creationId xmlns:a16="http://schemas.microsoft.com/office/drawing/2014/main" id="{2080B1E8-58D6-4979-8ACC-D945410A8031}"/>
              </a:ext>
            </a:extLst>
          </p:cNvPr>
          <p:cNvSpPr>
            <a:spLocks xmlns:a="http://schemas.openxmlformats.org/drawingml/2006/main" noGrp="1"/>
          </p:cNvSpPr>
          <p:nvPr/>
        </p:nvSpPr>
        <p:spPr>
          <a:xfrm xmlns:a="http://schemas.openxmlformats.org/drawingml/2006/main">
            <a:off x="6120765" y="3895344"/>
            <a:ext cx="32232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chemeClr val="lt1"/>
              </a:buClr>
              <a:buSzPts val="900"/>
              <a:buFont typeface="Arial"/>
              <a:buNone/>
            </a:pPr>
            <a:r>
              <a:rPr sz="900" b="0" i="0" u="none" strike="noStrike" cap="none">
                <a:solidFill>
                  <a:schemeClr val="lt1"/>
                </a:solidFill>
                <a:latin typeface="Arial"/>
                <a:ea typeface="Arial"/>
                <a:cs typeface="Arial"/>
              </a:rPr>
              <a:t>F1</a:t>
            </a:r>
            <a:endParaRPr sz="900" b="0" i="0" u="none" strike="noStrike" cap="none">
              <a:solidFill>
                <a:schemeClr val="dk1"/>
              </a:solidFill>
              <a:latin typeface="Arial"/>
              <a:ea typeface="Arial"/>
              <a:cs typeface="Arial"/>
            </a:endParaRPr>
          </a:p>
        </p:txBody>
      </p:sp>
      <p:sp>
        <p:nvSpPr>
          <p:cNvPr id="413" name="Google Shape;413;p35">
            <a:extLst xmlns:a="http://schemas.openxmlformats.org/drawingml/2006/main">
              <a:ext uri="{FF2B5EF4-FFF2-40B4-BE49-F238E27FC236}">
                <a16:creationId xmlns:a16="http://schemas.microsoft.com/office/drawing/2014/main" id="{DF7B2343-8FBA-466E-AC90-1DB6CED9FC56}"/>
              </a:ext>
            </a:extLst>
          </p:cNvPr>
          <p:cNvSpPr>
            <a:spLocks xmlns:a="http://schemas.openxmlformats.org/drawingml/2006/main" noGrp="1"/>
          </p:cNvSpPr>
          <p:nvPr/>
        </p:nvSpPr>
        <p:spPr>
          <a:xfrm xmlns:a="http://schemas.openxmlformats.org/drawingml/2006/main">
            <a:off x="6511671" y="3895344"/>
            <a:ext cx="672084" cy="274320"/>
          </a:xfrm>
          <a:prstGeom xmlns:a="http://schemas.openxmlformats.org/drawingml/2006/main" prst="roundRect">
            <a:avLst>
              <a:gd name="adj" fmla="val 25000"/>
            </a:avLst>
          </a:prstGeom>
          <a:solidFill xmlns:a="http://schemas.openxmlformats.org/drawingml/2006/main">
            <a:schemeClr val="dk2"/>
          </a:solidFill>
          <a:ln xmlns:a="http://schemas.openxmlformats.org/drawingml/2006/main" w="9525" cap="flat" cmpd="sng">
            <a:solidFill>
              <a:schemeClr val="accent6">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14" name="Google Shape;414;p35">
            <a:extLst xmlns:a="http://schemas.openxmlformats.org/drawingml/2006/main">
              <a:ext uri="{FF2B5EF4-FFF2-40B4-BE49-F238E27FC236}">
                <a16:creationId xmlns:a16="http://schemas.microsoft.com/office/drawing/2014/main" id="{1C56827E-CEB2-4AF6-80CE-476DDEE42E20}"/>
              </a:ext>
            </a:extLst>
          </p:cNvPr>
          <p:cNvSpPr>
            <a:spLocks xmlns:a="http://schemas.openxmlformats.org/drawingml/2006/main" noGrp="1"/>
          </p:cNvSpPr>
          <p:nvPr/>
        </p:nvSpPr>
        <p:spPr>
          <a:xfrm xmlns:a="http://schemas.openxmlformats.org/drawingml/2006/main">
            <a:off x="6511671" y="3895344"/>
            <a:ext cx="672084"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chemeClr val="lt1"/>
              </a:buClr>
              <a:buSzPts val="900"/>
              <a:buFont typeface="Arial"/>
              <a:buNone/>
            </a:pPr>
            <a:r>
              <a:rPr sz="900" b="0" i="0" u="none" strike="noStrike" cap="none">
                <a:solidFill>
                  <a:schemeClr val="lt1"/>
                </a:solidFill>
                <a:latin typeface="Arial"/>
                <a:ea typeface="Arial"/>
                <a:cs typeface="Arial"/>
              </a:rPr>
              <a:t>Latency</a:t>
            </a:r>
            <a:endParaRPr sz="900" b="0" i="0" u="none" strike="noStrike" cap="none">
              <a:solidFill>
                <a:schemeClr val="dk1"/>
              </a:solidFill>
              <a:latin typeface="Arial"/>
              <a:ea typeface="Arial"/>
              <a:cs typeface="Arial"/>
            </a:endParaRPr>
          </a:p>
        </p:txBody>
      </p:sp>
      <p:sp>
        <p:nvSpPr>
          <p:cNvPr id="415" name="Google Shape;415;p35">
            <a:extLst xmlns:a="http://schemas.openxmlformats.org/drawingml/2006/main">
              <a:ext uri="{FF2B5EF4-FFF2-40B4-BE49-F238E27FC236}">
                <a16:creationId xmlns:a16="http://schemas.microsoft.com/office/drawing/2014/main" id="{A876361E-A958-40CB-B406-C1CB565F511B}"/>
              </a:ext>
            </a:extLst>
          </p:cNvPr>
          <p:cNvSpPr>
            <a:spLocks xmlns:a="http://schemas.openxmlformats.org/drawingml/2006/main" noGrp="1"/>
          </p:cNvSpPr>
          <p:nvPr/>
        </p:nvSpPr>
        <p:spPr>
          <a:xfrm xmlns:a="http://schemas.openxmlformats.org/drawingml/2006/main">
            <a:off x="7252335" y="3895344"/>
            <a:ext cx="1138428" cy="274320"/>
          </a:xfrm>
          <a:prstGeom xmlns:a="http://schemas.openxmlformats.org/drawingml/2006/main" prst="roundRect">
            <a:avLst>
              <a:gd name="adj" fmla="val 25000"/>
            </a:avLst>
          </a:prstGeom>
          <a:solidFill xmlns:a="http://schemas.openxmlformats.org/drawingml/2006/main">
            <a:schemeClr val="dk2"/>
          </a:solidFill>
          <a:ln xmlns:a="http://schemas.openxmlformats.org/drawingml/2006/main" w="9525" cap="flat" cmpd="sng">
            <a:solidFill>
              <a:schemeClr val="accent6">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16" name="Google Shape;416;p35">
            <a:extLst xmlns:a="http://schemas.openxmlformats.org/drawingml/2006/main">
              <a:ext uri="{FF2B5EF4-FFF2-40B4-BE49-F238E27FC236}">
                <a16:creationId xmlns:a16="http://schemas.microsoft.com/office/drawing/2014/main" id="{652C376D-934F-4311-BC7A-843D45D3310F}"/>
              </a:ext>
            </a:extLst>
          </p:cNvPr>
          <p:cNvSpPr>
            <a:spLocks xmlns:a="http://schemas.openxmlformats.org/drawingml/2006/main" noGrp="1"/>
          </p:cNvSpPr>
          <p:nvPr/>
        </p:nvSpPr>
        <p:spPr>
          <a:xfrm xmlns:a="http://schemas.openxmlformats.org/drawingml/2006/main">
            <a:off x="7252335" y="3895344"/>
            <a:ext cx="1138428"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chemeClr val="lt1"/>
              </a:buClr>
              <a:buSzPts val="900"/>
              <a:buFont typeface="Arial"/>
              <a:buNone/>
            </a:pPr>
            <a:r>
              <a:rPr sz="900" b="0" i="0" u="none" strike="noStrike" cap="none">
                <a:solidFill>
                  <a:schemeClr val="lt1"/>
                </a:solidFill>
                <a:latin typeface="Arial"/>
                <a:ea typeface="Arial"/>
                <a:cs typeface="Arial"/>
              </a:rPr>
              <a:t>False positives</a:t>
            </a:r>
            <a:endParaRPr sz="900" b="0" i="0" u="none" strike="noStrike" cap="none">
              <a:solidFill>
                <a:schemeClr val="dk1"/>
              </a:solidFill>
              <a:latin typeface="Arial"/>
              <a:ea typeface="Arial"/>
              <a:cs typeface="Arial"/>
            </a:endParaRPr>
          </a:p>
        </p:txBody>
      </p:sp>
      <p:sp>
        <p:nvSpPr>
          <p:cNvPr id="417" name="Google Shape;417;p35">
            <a:extLst xmlns:a="http://schemas.openxmlformats.org/drawingml/2006/main">
              <a:ext uri="{FF2B5EF4-FFF2-40B4-BE49-F238E27FC236}">
                <a16:creationId xmlns:a16="http://schemas.microsoft.com/office/drawing/2014/main" id="{592C24E2-7F9E-46D2-9220-EEB2D2533154}"/>
              </a:ext>
            </a:extLst>
          </p:cNvPr>
          <p:cNvSpPr>
            <a:spLocks xmlns:a="http://schemas.openxmlformats.org/drawingml/2006/main" noGrp="1"/>
          </p:cNvSpPr>
          <p:nvPr/>
        </p:nvSpPr>
        <p:spPr>
          <a:xfrm xmlns:a="http://schemas.openxmlformats.org/drawingml/2006/main">
            <a:off x="4697730" y="4251960"/>
            <a:ext cx="274320" cy="274320"/>
          </a:xfrm>
          <a:prstGeom xmlns:a="http://schemas.openxmlformats.org/drawingml/2006/main" prst="ellipse">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418" name="Google Shape;418;p35">
            <a:extLst xmlns:a="http://schemas.openxmlformats.org/drawingml/2006/main">
              <a:ext uri="{FF2B5EF4-FFF2-40B4-BE49-F238E27FC236}">
                <a16:creationId xmlns:a16="http://schemas.microsoft.com/office/drawing/2014/main" id="{E55F2E0E-AA44-4721-B3D2-052783F04F3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ba90701f55f4ef1">
            <a:alphaModFix/>
          </a:blip>
          <a:srcRect xmlns:a="http://schemas.openxmlformats.org/drawingml/2006/main" l="0" t="0" r="0" b="0"/>
          <a:stretch xmlns:a="http://schemas.openxmlformats.org/drawingml/2006/main"/>
        </p:blipFill>
        <p:spPr>
          <a:xfrm xmlns:a="http://schemas.openxmlformats.org/drawingml/2006/main">
            <a:off x="4758080" y="4312310"/>
            <a:ext cx="153619" cy="153619"/>
          </a:xfrm>
          <a:prstGeom xmlns:a="http://schemas.openxmlformats.org/drawingml/2006/main" prst="rect">
            <a:avLst/>
          </a:prstGeom>
          <a:ln xmlns:a="http://schemas.openxmlformats.org/drawingml/2006/main">
            <a:noFill/>
          </a:ln>
        </p:spPr>
      </p:pic>
      <p:sp>
        <p:nvSpPr>
          <p:cNvPr id="419" name="Google Shape;419;p35">
            <a:extLst xmlns:a="http://schemas.openxmlformats.org/drawingml/2006/main">
              <a:ext uri="{FF2B5EF4-FFF2-40B4-BE49-F238E27FC236}">
                <a16:creationId xmlns:a16="http://schemas.microsoft.com/office/drawing/2014/main" id="{D2D48940-9EB7-42FC-B23E-D4CFD3441DAA}"/>
              </a:ext>
            </a:extLst>
          </p:cNvPr>
          <p:cNvSpPr>
            <a:spLocks xmlns:a="http://schemas.openxmlformats.org/drawingml/2006/main" noGrp="1"/>
          </p:cNvSpPr>
          <p:nvPr/>
        </p:nvSpPr>
        <p:spPr>
          <a:xfrm xmlns:a="http://schemas.openxmlformats.org/drawingml/2006/main">
            <a:off x="5061204" y="4251960"/>
            <a:ext cx="366903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accent2"/>
              </a:buClr>
              <a:buSzPts val="1000"/>
              <a:buFont typeface="Arial"/>
              <a:buNone/>
            </a:pPr>
            <a:r>
              <a:rPr sz="1000" b="0" i="1" u="none" strike="noStrike" cap="none">
                <a:solidFill>
                  <a:schemeClr val="accent2"/>
                </a:solidFill>
                <a:latin typeface="Arial"/>
                <a:ea typeface="Arial"/>
                <a:cs typeface="Arial"/>
              </a:rPr>
              <a:t>Synthetic customer records proposed from the outset</a:t>
            </a:r>
            <a:endParaRPr sz="1000" b="0" i="0" u="none" strike="noStrike" cap="none">
              <a:solidFill>
                <a:schemeClr val="dk1"/>
              </a:solidFill>
              <a:latin typeface="Arial"/>
              <a:ea typeface="Arial"/>
              <a:cs typeface="Arial"/>
            </a:endParaRPr>
          </a:p>
        </p:txBody>
      </p:sp>
      <p:sp>
        <p:nvSpPr>
          <p:cNvPr id="420" name="Google Shape;420;p35">
            <a:extLst xmlns:a="http://schemas.openxmlformats.org/drawingml/2006/main">
              <a:ext uri="{FF2B5EF4-FFF2-40B4-BE49-F238E27FC236}">
                <a16:creationId xmlns:a16="http://schemas.microsoft.com/office/drawing/2014/main" id="{6953BFEC-D8E3-48C6-99C9-D7955A99BCF3}"/>
              </a:ext>
            </a:extLst>
          </p:cNvPr>
          <p:cNvSpPr>
            <a:spLocks xmlns:a="http://schemas.openxmlformats.org/drawingml/2006/main" noGrp="1"/>
          </p:cNvSpPr>
          <p:nvPr>
            <p:ph type="sldNum" idx="4294967295"/>
          </p:nvPr>
        </p:nvSpPr>
        <p:spPr>
          <a:xfrm xmlns:a="http://schemas.openxmlformats.org/drawingml/2006/main">
            <a:off x="8387334" y="4800600"/>
            <a:ext cx="3429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p xmlns:a="http://schemas.openxmlformats.org/drawingml/2006/main">
            <a:pPr marL="0" marR="0" lvl="0" indent="0" algn="r">
              <a:spcBef>
                <a:spcPts val="0"/>
              </a:spcBef>
              <a:spcAft>
                <a:spcPts val="0"/>
              </a:spcAft>
              <a:buNone/>
            </a:pPr>
            <a:fld id="{00000000-1234-1234-1234-123412341234}" type="slidenum">
              <a:rPr sz="700" b="0" i="0" u="none" strike="noStrike" cap="none">
                <a:solidFill>
                  <a:schemeClr val="accent6"/>
                </a:solidFill>
                <a:latin typeface="Arial"/>
                <a:ea typeface="Arial"/>
                <a:cs typeface="Arial"/>
              </a:rPr>
              <a:t>‹#›</a:t>
            </a:fld>
            <a:endParaRPr sz="700" b="0" i="0" u="none" strike="noStrike" cap="none">
              <a:solidFill>
                <a:schemeClr val="accent6"/>
              </a:solidFill>
              <a:latin typeface="Arial"/>
              <a:ea typeface="Arial"/>
              <a:cs typeface="Arial"/>
            </a:endParaRPr>
          </a:p>
        </p:txBody>
      </p:sp>
      <p:graphicFrame>
        <p:nvGraphicFramePr>
          <p:cNvPr id="421" name="Chart">
            <a:extLst xmlns:a="http://schemas.openxmlformats.org/drawingml/2006/main">
              <a:ext uri="{FF2B5EF4-FFF2-40B4-BE49-F238E27FC236}">
                <a16:creationId xmlns:a16="http://schemas.microsoft.com/office/drawing/2014/main" id="{64F237AA-8682-43C6-9A8F-031F8763426F}"/>
              </a:ext>
            </a:extLst>
          </p:cNvPr>
          <p:cNvGraphicFramePr/>
          <p:nvPr/>
        </p:nvGraphicFramePr>
        <p:xfrm>
          <a:off xmlns:a="http://schemas.openxmlformats.org/drawingml/2006/main" x="4800600" y="1405890"/>
          <a:ext xmlns:a="http://schemas.openxmlformats.org/drawingml/2006/main" cx="3840480" cy="2297430"/>
        </p:xfrm>
        <a:graphic xmlns:a="http://schemas.openxmlformats.org/drawingml/2006/main">
          <a:graphicData uri="http://schemas.openxmlformats.org/drawingml/2006/chart">
            <c:chart xmlns:r="http://schemas.openxmlformats.org/officeDocument/2006/relationships" xmlns:c="http://schemas.openxmlformats.org/drawingml/2006/chart" r:id="R701693dbc0474c03"/>
          </a:graphicData>
        </a:graphic>
      </p:graphicFrame>
    </p:spTree>
    <p:extLst>
      <p:ext uri="{BB962C8B-B14F-4D97-AF65-F5344CB8AC3E}">
        <p14:creationId xmlns:p14="http://schemas.microsoft.com/office/powerpoint/2010/main" val="174965035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26" name="Google Shape;426;p36">
            <a:extLst xmlns:a="http://schemas.openxmlformats.org/drawingml/2006/main">
              <a:ext uri="{FF2B5EF4-FFF2-40B4-BE49-F238E27FC236}">
                <a16:creationId xmlns:a16="http://schemas.microsoft.com/office/drawing/2014/main" id="{35CE2CB7-B1B4-45F7-9C0D-8B90A935A284}"/>
              </a:ext>
            </a:extLst>
          </p:cNvPr>
          <p:cNvSpPr>
            <a:spLocks xmlns:a="http://schemas.openxmlformats.org/drawingml/2006/main" noGrp="1"/>
          </p:cNvSpPr>
          <p:nvPr>
            <p:ph type="body" idx="1"/>
          </p:nvPr>
        </p:nvSpPr>
        <p:spPr>
          <a:xfrm xmlns:a="http://schemas.openxmlformats.org/drawingml/2006/main">
            <a:off x="576072" y="308610"/>
            <a:ext cx="6172200" cy="233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Clr>
                <a:schemeClr val="accent5"/>
              </a:buClr>
              <a:buSzPts val="900"/>
              <a:buNone/>
            </a:pPr>
            <a:r>
              <a:rPr sz="900" b="1">
                <a:solidFill>
                  <a:schemeClr val="accent5"/>
                </a:solidFill>
              </a:rPr>
              <a:t>07 · IMPACT · AI FOR GOOD</a:t>
            </a:r>
            <a:endParaRPr sz="900"/>
          </a:p>
        </p:txBody>
      </p:sp>
      <p:sp>
        <p:nvSpPr>
          <p:cNvPr id="427" name="Google Shape;427;p36">
            <a:extLst xmlns:a="http://schemas.openxmlformats.org/drawingml/2006/main">
              <a:ext uri="{FF2B5EF4-FFF2-40B4-BE49-F238E27FC236}">
                <a16:creationId xmlns:a16="http://schemas.microsoft.com/office/drawing/2014/main" id="{D36D4E5A-0029-4EB6-9523-B35AA276D6EA}"/>
              </a:ext>
            </a:extLst>
          </p:cNvPr>
          <p:cNvSpPr>
            <a:spLocks xmlns:a="http://schemas.openxmlformats.org/drawingml/2006/main" noGrp="1"/>
          </p:cNvSpPr>
          <p:nvPr>
            <p:ph type="title" idx="0"/>
          </p:nvPr>
        </p:nvSpPr>
        <p:spPr>
          <a:xfrm xmlns:a="http://schemas.openxmlformats.org/drawingml/2006/main">
            <a:off x="411480" y="582930"/>
            <a:ext cx="8318754"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Clr>
                <a:schemeClr val="lt1"/>
              </a:buClr>
              <a:buSzPts val="2300"/>
              <a:buFont typeface="Arial"/>
              <a:buNone/>
            </a:pPr>
            <a:r>
              <a:rPr sz="2300" b="1">
                <a:solidFill>
                  <a:schemeClr val="lt1"/>
                </a:solidFill>
              </a:rPr>
              <a:t>Lower fees could leave more money with families</a:t>
            </a:r>
            <a:endParaRPr sz="2300"/>
          </a:p>
        </p:txBody>
      </p:sp>
      <p:sp>
        <p:nvSpPr>
          <p:cNvPr id="428" name="Google Shape;428;p36">
            <a:extLst xmlns:a="http://schemas.openxmlformats.org/drawingml/2006/main">
              <a:ext uri="{FF2B5EF4-FFF2-40B4-BE49-F238E27FC236}">
                <a16:creationId xmlns:a16="http://schemas.microsoft.com/office/drawing/2014/main" id="{919CAC98-DEF2-473E-AB3C-9165F3046BEA}"/>
              </a:ext>
            </a:extLst>
          </p:cNvPr>
          <p:cNvSpPr>
            <a:spLocks xmlns:a="http://schemas.openxmlformats.org/drawingml/2006/main" noGrp="1"/>
          </p:cNvSpPr>
          <p:nvPr/>
        </p:nvSpPr>
        <p:spPr>
          <a:xfrm xmlns:a="http://schemas.openxmlformats.org/drawingml/2006/main">
            <a:off x="411480" y="1405890"/>
            <a:ext cx="1981962" cy="1577340"/>
          </a:xfrm>
          <a:prstGeom xmlns:a="http://schemas.openxmlformats.org/drawingml/2006/main" prst="roundRect">
            <a:avLst>
              <a:gd name="adj" fmla="val 4348"/>
            </a:avLst>
          </a:prstGeom>
          <a:solidFill xmlns:a="http://schemas.openxmlformats.org/drawingml/2006/main">
            <a:schemeClr val="dk2"/>
          </a:solidFill>
          <a:ln xmlns:a="http://schemas.openxmlformats.org/drawingml/2006/main" w="9525" cap="flat" cmpd="sng">
            <a:solidFill>
              <a:schemeClr val="accent5">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29" name="Google Shape;429;p36">
            <a:extLst xmlns:a="http://schemas.openxmlformats.org/drawingml/2006/main">
              <a:ext uri="{FF2B5EF4-FFF2-40B4-BE49-F238E27FC236}">
                <a16:creationId xmlns:a16="http://schemas.microsoft.com/office/drawing/2014/main" id="{3F9E6DDB-D42B-4940-A598-B361AC1C817B}"/>
              </a:ext>
            </a:extLst>
          </p:cNvPr>
          <p:cNvSpPr>
            <a:spLocks xmlns:a="http://schemas.openxmlformats.org/drawingml/2006/main" noGrp="1"/>
          </p:cNvSpPr>
          <p:nvPr/>
        </p:nvSpPr>
        <p:spPr>
          <a:xfrm xmlns:a="http://schemas.openxmlformats.org/drawingml/2006/main">
            <a:off x="582930" y="1577340"/>
            <a:ext cx="425196" cy="425196"/>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430" name="Google Shape;430;p36">
            <a:extLst xmlns:a="http://schemas.openxmlformats.org/drawingml/2006/main">
              <a:ext uri="{FF2B5EF4-FFF2-40B4-BE49-F238E27FC236}">
                <a16:creationId xmlns:a16="http://schemas.microsoft.com/office/drawing/2014/main" id="{1E2F8DA8-8F38-42EA-9054-18CF7BA359D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0f808299cc64094">
            <a:alphaModFix/>
          </a:blip>
          <a:srcRect xmlns:a="http://schemas.openxmlformats.org/drawingml/2006/main" l="0" t="0" r="0" b="0"/>
          <a:stretch xmlns:a="http://schemas.openxmlformats.org/drawingml/2006/main"/>
        </p:blipFill>
        <p:spPr>
          <a:xfrm xmlns:a="http://schemas.openxmlformats.org/drawingml/2006/main">
            <a:off x="676473" y="1670883"/>
            <a:ext cx="238110" cy="238110"/>
          </a:xfrm>
          <a:prstGeom xmlns:a="http://schemas.openxmlformats.org/drawingml/2006/main" prst="rect">
            <a:avLst/>
          </a:prstGeom>
          <a:ln xmlns:a="http://schemas.openxmlformats.org/drawingml/2006/main">
            <a:noFill/>
          </a:ln>
        </p:spPr>
      </p:pic>
      <p:sp>
        <p:nvSpPr>
          <p:cNvPr id="431" name="Google Shape;431;p36">
            <a:extLst xmlns:a="http://schemas.openxmlformats.org/drawingml/2006/main">
              <a:ext uri="{FF2B5EF4-FFF2-40B4-BE49-F238E27FC236}">
                <a16:creationId xmlns:a16="http://schemas.microsoft.com/office/drawing/2014/main" id="{01701D44-FB78-442C-9D91-A043338A0A36}"/>
              </a:ext>
            </a:extLst>
          </p:cNvPr>
          <p:cNvSpPr>
            <a:spLocks xmlns:a="http://schemas.openxmlformats.org/drawingml/2006/main" noGrp="1"/>
          </p:cNvSpPr>
          <p:nvPr/>
        </p:nvSpPr>
        <p:spPr>
          <a:xfrm xmlns:a="http://schemas.openxmlformats.org/drawingml/2006/main">
            <a:off x="582930" y="2091690"/>
            <a:ext cx="168021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Families</a:t>
            </a:r>
            <a:endParaRPr sz="1200" b="0" i="0" u="none" strike="noStrike" cap="none">
              <a:solidFill>
                <a:schemeClr val="dk1"/>
              </a:solidFill>
              <a:latin typeface="Arial"/>
              <a:ea typeface="Arial"/>
              <a:cs typeface="Arial"/>
            </a:endParaRPr>
          </a:p>
        </p:txBody>
      </p:sp>
      <p:sp>
        <p:nvSpPr>
          <p:cNvPr id="432" name="Google Shape;432;p36">
            <a:extLst xmlns:a="http://schemas.openxmlformats.org/drawingml/2006/main">
              <a:ext uri="{FF2B5EF4-FFF2-40B4-BE49-F238E27FC236}">
                <a16:creationId xmlns:a16="http://schemas.microsoft.com/office/drawing/2014/main" id="{7A0180E2-2BD0-440E-A4D2-2C583094F46F}"/>
              </a:ext>
            </a:extLst>
          </p:cNvPr>
          <p:cNvSpPr>
            <a:spLocks xmlns:a="http://schemas.openxmlformats.org/drawingml/2006/main" noGrp="1"/>
          </p:cNvSpPr>
          <p:nvPr/>
        </p:nvSpPr>
        <p:spPr>
          <a:xfrm xmlns:a="http://schemas.openxmlformats.org/drawingml/2006/main">
            <a:off x="582930" y="2366010"/>
            <a:ext cx="168021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Remittances support households across the Americas</a:t>
            </a:r>
            <a:endParaRPr sz="900" b="0" i="0" u="none" strike="noStrike" cap="none">
              <a:solidFill>
                <a:schemeClr val="dk1"/>
              </a:solidFill>
              <a:latin typeface="Arial"/>
              <a:ea typeface="Arial"/>
              <a:cs typeface="Arial"/>
            </a:endParaRPr>
          </a:p>
        </p:txBody>
      </p:sp>
      <p:sp>
        <p:nvSpPr>
          <p:cNvPr id="433" name="Google Shape;433;p36">
            <a:extLst xmlns:a="http://schemas.openxmlformats.org/drawingml/2006/main">
              <a:ext uri="{FF2B5EF4-FFF2-40B4-BE49-F238E27FC236}">
                <a16:creationId xmlns:a16="http://schemas.microsoft.com/office/drawing/2014/main" id="{02D4E2AD-40F9-4BF1-BB71-9360953A4EAC}"/>
              </a:ext>
            </a:extLst>
          </p:cNvPr>
          <p:cNvSpPr>
            <a:spLocks xmlns:a="http://schemas.openxmlformats.org/drawingml/2006/main" noGrp="1"/>
          </p:cNvSpPr>
          <p:nvPr/>
        </p:nvSpPr>
        <p:spPr>
          <a:xfrm xmlns:a="http://schemas.openxmlformats.org/drawingml/2006/main">
            <a:off x="2523744" y="1405890"/>
            <a:ext cx="1981962" cy="1577340"/>
          </a:xfrm>
          <a:prstGeom xmlns:a="http://schemas.openxmlformats.org/drawingml/2006/main" prst="roundRect">
            <a:avLst>
              <a:gd name="adj" fmla="val 4348"/>
            </a:avLst>
          </a:prstGeom>
          <a:solidFill xmlns:a="http://schemas.openxmlformats.org/drawingml/2006/main">
            <a:schemeClr val="dk2"/>
          </a:solidFill>
          <a:ln xmlns:a="http://schemas.openxmlformats.org/drawingml/2006/main" w="9525" cap="flat" cmpd="sng">
            <a:solidFill>
              <a:schemeClr val="accent5">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34" name="Google Shape;434;p36">
            <a:extLst xmlns:a="http://schemas.openxmlformats.org/drawingml/2006/main">
              <a:ext uri="{FF2B5EF4-FFF2-40B4-BE49-F238E27FC236}">
                <a16:creationId xmlns:a16="http://schemas.microsoft.com/office/drawing/2014/main" id="{4FDE9986-5F75-4454-B915-A33AE0D65B47}"/>
              </a:ext>
            </a:extLst>
          </p:cNvPr>
          <p:cNvSpPr>
            <a:spLocks xmlns:a="http://schemas.openxmlformats.org/drawingml/2006/main" noGrp="1"/>
          </p:cNvSpPr>
          <p:nvPr/>
        </p:nvSpPr>
        <p:spPr>
          <a:xfrm xmlns:a="http://schemas.openxmlformats.org/drawingml/2006/main">
            <a:off x="2695194" y="1577340"/>
            <a:ext cx="425196" cy="425196"/>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435" name="Google Shape;435;p36">
            <a:extLst xmlns:a="http://schemas.openxmlformats.org/drawingml/2006/main">
              <a:ext uri="{FF2B5EF4-FFF2-40B4-BE49-F238E27FC236}">
                <a16:creationId xmlns:a16="http://schemas.microsoft.com/office/drawing/2014/main" id="{73369B6E-E222-4E1B-B9AC-D3ED0DF14B7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8fa70be8b8e4b20">
            <a:alphaModFix/>
          </a:blip>
          <a:srcRect xmlns:a="http://schemas.openxmlformats.org/drawingml/2006/main" l="0" t="0" r="0" b="0"/>
          <a:stretch xmlns:a="http://schemas.openxmlformats.org/drawingml/2006/main"/>
        </p:blipFill>
        <p:spPr>
          <a:xfrm xmlns:a="http://schemas.openxmlformats.org/drawingml/2006/main">
            <a:off x="2788737" y="1670883"/>
            <a:ext cx="238110" cy="238110"/>
          </a:xfrm>
          <a:prstGeom xmlns:a="http://schemas.openxmlformats.org/drawingml/2006/main" prst="rect">
            <a:avLst/>
          </a:prstGeom>
          <a:ln xmlns:a="http://schemas.openxmlformats.org/drawingml/2006/main">
            <a:noFill/>
          </a:ln>
        </p:spPr>
      </p:pic>
      <p:sp>
        <p:nvSpPr>
          <p:cNvPr id="436" name="Google Shape;436;p36">
            <a:extLst xmlns:a="http://schemas.openxmlformats.org/drawingml/2006/main">
              <a:ext uri="{FF2B5EF4-FFF2-40B4-BE49-F238E27FC236}">
                <a16:creationId xmlns:a16="http://schemas.microsoft.com/office/drawing/2014/main" id="{7EC04A6F-A465-4C9B-904D-5BC6BD0F2533}"/>
              </a:ext>
            </a:extLst>
          </p:cNvPr>
          <p:cNvSpPr>
            <a:spLocks xmlns:a="http://schemas.openxmlformats.org/drawingml/2006/main" noGrp="1"/>
          </p:cNvSpPr>
          <p:nvPr/>
        </p:nvSpPr>
        <p:spPr>
          <a:xfrm xmlns:a="http://schemas.openxmlformats.org/drawingml/2006/main">
            <a:off x="2695194" y="2091690"/>
            <a:ext cx="168021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Financial inclusion</a:t>
            </a:r>
            <a:endParaRPr sz="1200" b="0" i="0" u="none" strike="noStrike" cap="none">
              <a:solidFill>
                <a:schemeClr val="dk1"/>
              </a:solidFill>
              <a:latin typeface="Arial"/>
              <a:ea typeface="Arial"/>
              <a:cs typeface="Arial"/>
            </a:endParaRPr>
          </a:p>
        </p:txBody>
      </p:sp>
      <p:sp>
        <p:nvSpPr>
          <p:cNvPr id="437" name="Google Shape;437;p36">
            <a:extLst xmlns:a="http://schemas.openxmlformats.org/drawingml/2006/main">
              <a:ext uri="{FF2B5EF4-FFF2-40B4-BE49-F238E27FC236}">
                <a16:creationId xmlns:a16="http://schemas.microsoft.com/office/drawing/2014/main" id="{F97B1C9E-57B3-4539-9427-6619066212C1}"/>
              </a:ext>
            </a:extLst>
          </p:cNvPr>
          <p:cNvSpPr>
            <a:spLocks xmlns:a="http://schemas.openxmlformats.org/drawingml/2006/main" noGrp="1"/>
          </p:cNvSpPr>
          <p:nvPr/>
        </p:nvSpPr>
        <p:spPr>
          <a:xfrm xmlns:a="http://schemas.openxmlformats.org/drawingml/2006/main">
            <a:off x="2695194" y="2366010"/>
            <a:ext cx="168021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Proposed access for underserved users</a:t>
            </a:r>
            <a:endParaRPr sz="900" b="0" i="0" u="none" strike="noStrike" cap="none">
              <a:solidFill>
                <a:schemeClr val="dk1"/>
              </a:solidFill>
              <a:latin typeface="Arial"/>
              <a:ea typeface="Arial"/>
              <a:cs typeface="Arial"/>
            </a:endParaRPr>
          </a:p>
        </p:txBody>
      </p:sp>
      <p:sp>
        <p:nvSpPr>
          <p:cNvPr id="438" name="Google Shape;438;p36">
            <a:extLst xmlns:a="http://schemas.openxmlformats.org/drawingml/2006/main">
              <a:ext uri="{FF2B5EF4-FFF2-40B4-BE49-F238E27FC236}">
                <a16:creationId xmlns:a16="http://schemas.microsoft.com/office/drawing/2014/main" id="{F4B83D7D-024E-4848-9E8E-6F9A77E7ADB5}"/>
              </a:ext>
            </a:extLst>
          </p:cNvPr>
          <p:cNvSpPr>
            <a:spLocks xmlns:a="http://schemas.openxmlformats.org/drawingml/2006/main" noGrp="1"/>
          </p:cNvSpPr>
          <p:nvPr/>
        </p:nvSpPr>
        <p:spPr>
          <a:xfrm xmlns:a="http://schemas.openxmlformats.org/drawingml/2006/main">
            <a:off x="4636008" y="1405890"/>
            <a:ext cx="1981962" cy="1577340"/>
          </a:xfrm>
          <a:prstGeom xmlns:a="http://schemas.openxmlformats.org/drawingml/2006/main" prst="roundRect">
            <a:avLst>
              <a:gd name="adj" fmla="val 4348"/>
            </a:avLst>
          </a:prstGeom>
          <a:solidFill xmlns:a="http://schemas.openxmlformats.org/drawingml/2006/main">
            <a:schemeClr val="dk2"/>
          </a:solidFill>
          <a:ln xmlns:a="http://schemas.openxmlformats.org/drawingml/2006/main" w="9525" cap="flat" cmpd="sng">
            <a:solidFill>
              <a:schemeClr val="accent5">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39" name="Google Shape;439;p36">
            <a:extLst xmlns:a="http://schemas.openxmlformats.org/drawingml/2006/main">
              <a:ext uri="{FF2B5EF4-FFF2-40B4-BE49-F238E27FC236}">
                <a16:creationId xmlns:a16="http://schemas.microsoft.com/office/drawing/2014/main" id="{EC5EAFB4-47A7-4A51-A002-266F8F5B50A6}"/>
              </a:ext>
            </a:extLst>
          </p:cNvPr>
          <p:cNvSpPr>
            <a:spLocks xmlns:a="http://schemas.openxmlformats.org/drawingml/2006/main" noGrp="1"/>
          </p:cNvSpPr>
          <p:nvPr/>
        </p:nvSpPr>
        <p:spPr>
          <a:xfrm xmlns:a="http://schemas.openxmlformats.org/drawingml/2006/main">
            <a:off x="4807458" y="1577340"/>
            <a:ext cx="425196" cy="425196"/>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440" name="Google Shape;440;p36">
            <a:extLst xmlns:a="http://schemas.openxmlformats.org/drawingml/2006/main">
              <a:ext uri="{FF2B5EF4-FFF2-40B4-BE49-F238E27FC236}">
                <a16:creationId xmlns:a16="http://schemas.microsoft.com/office/drawing/2014/main" id="{9562524A-EE13-40AD-8334-0B115500559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4f755abb7d74018">
            <a:alphaModFix/>
          </a:blip>
          <a:srcRect xmlns:a="http://schemas.openxmlformats.org/drawingml/2006/main" l="0" t="0" r="0" b="0"/>
          <a:stretch xmlns:a="http://schemas.openxmlformats.org/drawingml/2006/main"/>
        </p:blipFill>
        <p:spPr>
          <a:xfrm xmlns:a="http://schemas.openxmlformats.org/drawingml/2006/main">
            <a:off x="4901001" y="1670883"/>
            <a:ext cx="238110" cy="238110"/>
          </a:xfrm>
          <a:prstGeom xmlns:a="http://schemas.openxmlformats.org/drawingml/2006/main" prst="rect">
            <a:avLst/>
          </a:prstGeom>
          <a:ln xmlns:a="http://schemas.openxmlformats.org/drawingml/2006/main">
            <a:noFill/>
          </a:ln>
        </p:spPr>
      </p:pic>
      <p:sp>
        <p:nvSpPr>
          <p:cNvPr id="441" name="Google Shape;441;p36">
            <a:extLst xmlns:a="http://schemas.openxmlformats.org/drawingml/2006/main">
              <a:ext uri="{FF2B5EF4-FFF2-40B4-BE49-F238E27FC236}">
                <a16:creationId xmlns:a16="http://schemas.microsoft.com/office/drawing/2014/main" id="{28C7F4AF-36F4-4CFC-91F0-B350254698F6}"/>
              </a:ext>
            </a:extLst>
          </p:cNvPr>
          <p:cNvSpPr>
            <a:spLocks xmlns:a="http://schemas.openxmlformats.org/drawingml/2006/main" noGrp="1"/>
          </p:cNvSpPr>
          <p:nvPr/>
        </p:nvSpPr>
        <p:spPr>
          <a:xfrm xmlns:a="http://schemas.openxmlformats.org/drawingml/2006/main">
            <a:off x="4807458" y="2091690"/>
            <a:ext cx="168021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Efficient compliance</a:t>
            </a:r>
            <a:endParaRPr sz="1200" b="0" i="0" u="none" strike="noStrike" cap="none">
              <a:solidFill>
                <a:schemeClr val="dk1"/>
              </a:solidFill>
              <a:latin typeface="Arial"/>
              <a:ea typeface="Arial"/>
              <a:cs typeface="Arial"/>
            </a:endParaRPr>
          </a:p>
        </p:txBody>
      </p:sp>
      <p:sp>
        <p:nvSpPr>
          <p:cNvPr id="442" name="Google Shape;442;p36">
            <a:extLst xmlns:a="http://schemas.openxmlformats.org/drawingml/2006/main">
              <a:ext uri="{FF2B5EF4-FFF2-40B4-BE49-F238E27FC236}">
                <a16:creationId xmlns:a16="http://schemas.microsoft.com/office/drawing/2014/main" id="{40738A8B-F833-4D26-A697-D8F7248A5B6D}"/>
              </a:ext>
            </a:extLst>
          </p:cNvPr>
          <p:cNvSpPr>
            <a:spLocks xmlns:a="http://schemas.openxmlformats.org/drawingml/2006/main" noGrp="1"/>
          </p:cNvSpPr>
          <p:nvPr/>
        </p:nvSpPr>
        <p:spPr>
          <a:xfrm xmlns:a="http://schemas.openxmlformats.org/drawingml/2006/main">
            <a:off x="4807458" y="2366010"/>
            <a:ext cx="168021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Support screening and documented human review</a:t>
            </a:r>
            <a:endParaRPr sz="900" b="0" i="0" u="none" strike="noStrike" cap="none">
              <a:solidFill>
                <a:schemeClr val="dk1"/>
              </a:solidFill>
              <a:latin typeface="Arial"/>
              <a:ea typeface="Arial"/>
              <a:cs typeface="Arial"/>
            </a:endParaRPr>
          </a:p>
        </p:txBody>
      </p:sp>
      <p:sp>
        <p:nvSpPr>
          <p:cNvPr id="443" name="Google Shape;443;p36">
            <a:extLst xmlns:a="http://schemas.openxmlformats.org/drawingml/2006/main">
              <a:ext uri="{FF2B5EF4-FFF2-40B4-BE49-F238E27FC236}">
                <a16:creationId xmlns:a16="http://schemas.microsoft.com/office/drawing/2014/main" id="{24CC992A-5D78-40E7-A129-669A40C7C85F}"/>
              </a:ext>
            </a:extLst>
          </p:cNvPr>
          <p:cNvSpPr>
            <a:spLocks xmlns:a="http://schemas.openxmlformats.org/drawingml/2006/main" noGrp="1"/>
          </p:cNvSpPr>
          <p:nvPr/>
        </p:nvSpPr>
        <p:spPr>
          <a:xfrm xmlns:a="http://schemas.openxmlformats.org/drawingml/2006/main">
            <a:off x="6748272" y="1405890"/>
            <a:ext cx="1981962" cy="1577340"/>
          </a:xfrm>
          <a:prstGeom xmlns:a="http://schemas.openxmlformats.org/drawingml/2006/main" prst="roundRect">
            <a:avLst>
              <a:gd name="adj" fmla="val 4348"/>
            </a:avLst>
          </a:prstGeom>
          <a:solidFill xmlns:a="http://schemas.openxmlformats.org/drawingml/2006/main">
            <a:schemeClr val="dk2"/>
          </a:solidFill>
          <a:ln xmlns:a="http://schemas.openxmlformats.org/drawingml/2006/main" w="9525" cap="flat" cmpd="sng">
            <a:solidFill>
              <a:schemeClr val="accent5">
                <a:alpha val="50196"/>
              </a:schemeClr>
            </a:solidFill>
            <a:prstDash val="solid"/>
            <a:roun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44" name="Google Shape;444;p36">
            <a:extLst xmlns:a="http://schemas.openxmlformats.org/drawingml/2006/main">
              <a:ext uri="{FF2B5EF4-FFF2-40B4-BE49-F238E27FC236}">
                <a16:creationId xmlns:a16="http://schemas.microsoft.com/office/drawing/2014/main" id="{357567F4-C3B4-4A71-B427-95C302B0DD39}"/>
              </a:ext>
            </a:extLst>
          </p:cNvPr>
          <p:cNvSpPr>
            <a:spLocks xmlns:a="http://schemas.openxmlformats.org/drawingml/2006/main" noGrp="1"/>
          </p:cNvSpPr>
          <p:nvPr/>
        </p:nvSpPr>
        <p:spPr>
          <a:xfrm xmlns:a="http://schemas.openxmlformats.org/drawingml/2006/main">
            <a:off x="6919722" y="1577340"/>
            <a:ext cx="425196" cy="425196"/>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445" name="Google Shape;445;p36">
            <a:extLst xmlns:a="http://schemas.openxmlformats.org/drawingml/2006/main">
              <a:ext uri="{FF2B5EF4-FFF2-40B4-BE49-F238E27FC236}">
                <a16:creationId xmlns:a16="http://schemas.microsoft.com/office/drawing/2014/main" id="{9114A864-DFAA-4823-AD0E-00D93FEB257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d08a9ebe82b4cff">
            <a:alphaModFix/>
          </a:blip>
          <a:srcRect xmlns:a="http://schemas.openxmlformats.org/drawingml/2006/main" l="0" t="0" r="0" b="0"/>
          <a:stretch xmlns:a="http://schemas.openxmlformats.org/drawingml/2006/main"/>
        </p:blipFill>
        <p:spPr>
          <a:xfrm xmlns:a="http://schemas.openxmlformats.org/drawingml/2006/main">
            <a:off x="7013265" y="1670883"/>
            <a:ext cx="238110" cy="238110"/>
          </a:xfrm>
          <a:prstGeom xmlns:a="http://schemas.openxmlformats.org/drawingml/2006/main" prst="rect">
            <a:avLst/>
          </a:prstGeom>
          <a:ln xmlns:a="http://schemas.openxmlformats.org/drawingml/2006/main">
            <a:noFill/>
          </a:ln>
        </p:spPr>
      </p:pic>
      <p:sp>
        <p:nvSpPr>
          <p:cNvPr id="446" name="Google Shape;446;p36">
            <a:extLst xmlns:a="http://schemas.openxmlformats.org/drawingml/2006/main">
              <a:ext uri="{FF2B5EF4-FFF2-40B4-BE49-F238E27FC236}">
                <a16:creationId xmlns:a16="http://schemas.microsoft.com/office/drawing/2014/main" id="{65026691-9A03-478D-9AB6-FBAA73CB927B}"/>
              </a:ext>
            </a:extLst>
          </p:cNvPr>
          <p:cNvSpPr>
            <a:spLocks xmlns:a="http://schemas.openxmlformats.org/drawingml/2006/main" noGrp="1"/>
          </p:cNvSpPr>
          <p:nvPr/>
        </p:nvSpPr>
        <p:spPr>
          <a:xfrm xmlns:a="http://schemas.openxmlformats.org/drawingml/2006/main">
            <a:off x="6919722" y="2091690"/>
            <a:ext cx="1680210" cy="2606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Further applications</a:t>
            </a:r>
            <a:endParaRPr sz="1200" b="0" i="0" u="none" strike="noStrike" cap="none">
              <a:solidFill>
                <a:schemeClr val="dk1"/>
              </a:solidFill>
              <a:latin typeface="Arial"/>
              <a:ea typeface="Arial"/>
              <a:cs typeface="Arial"/>
            </a:endParaRPr>
          </a:p>
        </p:txBody>
      </p:sp>
      <p:sp>
        <p:nvSpPr>
          <p:cNvPr id="447" name="Google Shape;447;p36">
            <a:extLst xmlns:a="http://schemas.openxmlformats.org/drawingml/2006/main">
              <a:ext uri="{FF2B5EF4-FFF2-40B4-BE49-F238E27FC236}">
                <a16:creationId xmlns:a16="http://schemas.microsoft.com/office/drawing/2014/main" id="{AA66B1EB-F168-4B55-A62C-D0D8BB5F09ED}"/>
              </a:ext>
            </a:extLst>
          </p:cNvPr>
          <p:cNvSpPr>
            <a:spLocks xmlns:a="http://schemas.openxmlformats.org/drawingml/2006/main" noGrp="1"/>
          </p:cNvSpPr>
          <p:nvPr/>
        </p:nvSpPr>
        <p:spPr>
          <a:xfrm xmlns:a="http://schemas.openxmlformats.org/drawingml/2006/main">
            <a:off x="6919722" y="2366010"/>
            <a:ext cx="168021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lt2"/>
              </a:buClr>
              <a:buSzPts val="900"/>
              <a:buFont typeface="Arial"/>
              <a:buNone/>
            </a:pPr>
            <a:r>
              <a:rPr sz="900" b="0" i="0" u="none" strike="noStrike" cap="none">
                <a:solidFill>
                  <a:schemeClr val="lt2"/>
                </a:solidFill>
                <a:latin typeface="Arial"/>
                <a:ea typeface="Arial"/>
                <a:cs typeface="Arial"/>
              </a:rPr>
              <a:t>Explore additional transfer corridors</a:t>
            </a:r>
            <a:endParaRPr sz="900" b="0" i="0" u="none" strike="noStrike" cap="none">
              <a:solidFill>
                <a:schemeClr val="dk1"/>
              </a:solidFill>
              <a:latin typeface="Arial"/>
              <a:ea typeface="Arial"/>
              <a:cs typeface="Arial"/>
            </a:endParaRPr>
          </a:p>
        </p:txBody>
      </p:sp>
      <p:sp>
        <p:nvSpPr>
          <p:cNvPr id="448" name="Google Shape;448;p36">
            <a:extLst xmlns:a="http://schemas.openxmlformats.org/drawingml/2006/main">
              <a:ext uri="{FF2B5EF4-FFF2-40B4-BE49-F238E27FC236}">
                <a16:creationId xmlns:a16="http://schemas.microsoft.com/office/drawing/2014/main" id="{03C5DEC5-B136-4612-BBD2-6B0660BFE6EF}"/>
              </a:ext>
            </a:extLst>
          </p:cNvPr>
          <p:cNvSpPr>
            <a:spLocks xmlns:a="http://schemas.openxmlformats.org/drawingml/2006/main" noGrp="1"/>
          </p:cNvSpPr>
          <p:nvPr/>
        </p:nvSpPr>
        <p:spPr>
          <a:xfrm xmlns:a="http://schemas.openxmlformats.org/drawingml/2006/main">
            <a:off x="411480" y="3154680"/>
            <a:ext cx="8318754" cy="4800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2400"/>
              <a:buFont typeface="Arial"/>
              <a:buNone/>
            </a:pPr>
            <a:r>
              <a:rPr sz="2400" b="1" i="0" u="none" strike="noStrike" cap="none">
                <a:solidFill>
                  <a:schemeClr val="lt1"/>
                </a:solidFill>
                <a:latin typeface="Arial"/>
                <a:ea typeface="Arial"/>
                <a:cs typeface="Arial"/>
              </a:rPr>
              <a:t>Transfers without borders; risk with controls</a:t>
            </a:r>
            <a:endParaRPr sz="2400" b="0" i="0" u="none" strike="noStrike" cap="none">
              <a:solidFill>
                <a:schemeClr val="dk1"/>
              </a:solidFill>
              <a:latin typeface="Arial"/>
              <a:ea typeface="Arial"/>
              <a:cs typeface="Arial"/>
            </a:endParaRPr>
          </a:p>
        </p:txBody>
      </p:sp>
      <p:pic>
        <p:nvPicPr>
          <p:cNvPr id="449" name="Google Shape;449;p36">
            <a:extLst xmlns:a="http://schemas.openxmlformats.org/drawingml/2006/main">
              <a:ext uri="{FF2B5EF4-FFF2-40B4-BE49-F238E27FC236}">
                <a16:creationId xmlns:a16="http://schemas.microsoft.com/office/drawing/2014/main" id="{772D8C26-95BF-4206-A29E-D6B722EB573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eb2097645884f76">
            <a:alphaModFix/>
          </a:blip>
          <a:srcRect xmlns:a="http://schemas.openxmlformats.org/drawingml/2006/main" l="0" t="0" r="0" b="0"/>
          <a:stretch xmlns:a="http://schemas.openxmlformats.org/drawingml/2006/main"/>
        </p:blipFill>
        <p:spPr>
          <a:xfrm xmlns:a="http://schemas.openxmlformats.org/drawingml/2006/main">
            <a:off x="411480" y="3737610"/>
            <a:ext cx="822960" cy="822960"/>
          </a:xfrm>
          <a:prstGeom xmlns:a="http://schemas.openxmlformats.org/drawingml/2006/main" prst="rect">
            <a:avLst/>
          </a:prstGeom>
          <a:ln xmlns:a="http://schemas.openxmlformats.org/drawingml/2006/main">
            <a:noFill/>
          </a:ln>
        </p:spPr>
      </p:pic>
      <p:sp>
        <p:nvSpPr>
          <p:cNvPr id="450" name="Google Shape;450;p36">
            <a:extLst xmlns:a="http://schemas.openxmlformats.org/drawingml/2006/main">
              <a:ext uri="{FF2B5EF4-FFF2-40B4-BE49-F238E27FC236}">
                <a16:creationId xmlns:a16="http://schemas.microsoft.com/office/drawing/2014/main" id="{AE9BB5A9-2CF7-48FC-AB04-1103CE850F15}"/>
              </a:ext>
            </a:extLst>
          </p:cNvPr>
          <p:cNvSpPr>
            <a:spLocks xmlns:a="http://schemas.openxmlformats.org/drawingml/2006/main" noGrp="1"/>
          </p:cNvSpPr>
          <p:nvPr/>
        </p:nvSpPr>
        <p:spPr>
          <a:xfrm xmlns:a="http://schemas.openxmlformats.org/drawingml/2006/main">
            <a:off x="1371600" y="3771900"/>
            <a:ext cx="4800600" cy="7543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Los Antimarrulla · UACJ · MIAAD</a:t>
            </a:r>
            <a:endParaRPr sz="1100" b="0" i="0" u="none" strike="noStrike" cap="none">
              <a:solidFill>
                <a:schemeClr val="dk1"/>
              </a:solidFill>
              <a:latin typeface="Arial"/>
              <a:ea typeface="Arial"/>
              <a:cs typeface="Arial"/>
            </a:endParaRPr>
          </a:p>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We challenge idleness and procrastination</a:t>
            </a:r>
          </a:p>
          <a:p xmlns:a="http://schemas.openxmlformats.org/drawingml/2006/main">
            <a:pPr marL="0" marR="0" lvl="0" indent="0" algn="l">
              <a:spcBef>
                <a:spcPts val="0"/>
              </a:spcBef>
              <a:spcAft>
                <a:spcPts val="0"/>
              </a:spcAft>
              <a:buClr>
                <a:schemeClr val="lt1"/>
              </a:buClr>
              <a:buSzPts val="1200"/>
              <a:buFont typeface="Arial"/>
              <a:buNone/>
            </a:pPr>
            <a:r>
              <a:rPr sz="1200" b="1" i="0" u="none" strike="noStrike" cap="none">
                <a:solidFill>
                  <a:schemeClr val="lt1"/>
                </a:solidFill>
                <a:latin typeface="Arial"/>
                <a:ea typeface="Arial"/>
                <a:cs typeface="Arial"/>
              </a:rPr>
              <a:t>github.com/UACJ-MIAAD/antimarrulla-ibmz-datathon-2026</a:t>
            </a:r>
          </a:p>
        </p:txBody>
      </p:sp>
      <p:sp>
        <p:nvSpPr>
          <p:cNvPr id="451" name="Google Shape;451;p36">
            <a:extLst xmlns:a="http://schemas.openxmlformats.org/drawingml/2006/main">
              <a:ext uri="{FF2B5EF4-FFF2-40B4-BE49-F238E27FC236}">
                <a16:creationId xmlns:a16="http://schemas.microsoft.com/office/drawing/2014/main" id="{9CCA8277-27D7-4D09-AD57-C273ABAB0A29}"/>
              </a:ext>
            </a:extLst>
          </p:cNvPr>
          <p:cNvSpPr>
            <a:spLocks xmlns:a="http://schemas.openxmlformats.org/drawingml/2006/main" noGrp="1"/>
          </p:cNvSpPr>
          <p:nvPr/>
        </p:nvSpPr>
        <p:spPr>
          <a:xfrm xmlns:a="http://schemas.openxmlformats.org/drawingml/2006/main">
            <a:off x="6377940" y="3840480"/>
            <a:ext cx="2352294" cy="6172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chemeClr val="lt1"/>
              </a:buClr>
              <a:buSzPts val="3300"/>
              <a:buFont typeface="Arial"/>
              <a:buNone/>
            </a:pPr>
            <a:r>
              <a:rPr sz="3300" b="1" i="0" u="none" strike="noStrike" cap="none">
                <a:solidFill>
                  <a:schemeClr val="lt1"/>
                </a:solidFill>
                <a:latin typeface="Arial"/>
                <a:ea typeface="Arial"/>
                <a:cs typeface="Arial"/>
              </a:rPr>
              <a:t>Thank you</a:t>
            </a:r>
            <a:endParaRPr sz="3300" b="0" i="0" u="none" strike="noStrike" cap="none">
              <a:solidFill>
                <a:schemeClr val="dk1"/>
              </a:solidFill>
              <a:latin typeface="Arial"/>
              <a:ea typeface="Arial"/>
              <a:cs typeface="Arial"/>
            </a:endParaRPr>
          </a:p>
        </p:txBody>
      </p:sp>
      <p:sp>
        <p:nvSpPr>
          <p:cNvPr id="452" name="Google Shape;452;p36">
            <a:extLst xmlns:a="http://schemas.openxmlformats.org/drawingml/2006/main">
              <a:ext uri="{FF2B5EF4-FFF2-40B4-BE49-F238E27FC236}">
                <a16:creationId xmlns:a16="http://schemas.microsoft.com/office/drawing/2014/main" id="{ED4BDEB4-5BB3-46B8-8E76-78FF7A422C95}"/>
              </a:ext>
            </a:extLst>
          </p:cNvPr>
          <p:cNvSpPr>
            <a:spLocks xmlns:a="http://schemas.openxmlformats.org/drawingml/2006/main" noGrp="1"/>
          </p:cNvSpPr>
          <p:nvPr>
            <p:ph type="sldNum" idx="4294967295"/>
          </p:nvPr>
        </p:nvSpPr>
        <p:spPr>
          <a:xfrm xmlns:a="http://schemas.openxmlformats.org/drawingml/2006/main">
            <a:off x="8387334" y="4800600"/>
            <a:ext cx="3429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p xmlns:a="http://schemas.openxmlformats.org/drawingml/2006/main">
            <a:pPr marL="0" marR="0" lvl="0" indent="0" algn="r">
              <a:spcBef>
                <a:spcPts val="0"/>
              </a:spcBef>
              <a:spcAft>
                <a:spcPts val="0"/>
              </a:spcAft>
              <a:buNone/>
            </a:pPr>
            <a:fld id="{00000000-1234-1234-1234-123412341234}" type="slidenum">
              <a:rPr sz="700" b="0" i="0" u="none" strike="noStrike" cap="none">
                <a:solidFill>
                  <a:schemeClr val="accent6"/>
                </a:solidFill>
                <a:latin typeface="Arial"/>
                <a:ea typeface="Arial"/>
                <a:cs typeface="Arial"/>
              </a:rPr>
              <a:t>‹#›</a:t>
            </a:fld>
            <a:endParaRPr sz="700" b="0" i="0" u="none" strike="noStrike" cap="none">
              <a:solidFill>
                <a:schemeClr val="accent6"/>
              </a:solidFill>
              <a:latin typeface="Arial"/>
              <a:ea typeface="Arial"/>
              <a:cs typeface="Arial"/>
            </a:endParaRPr>
          </a:p>
        </p:txBody>
      </p:sp>
    </p:spTree>
    <p:extLst>
      <p:ext uri="{BB962C8B-B14F-4D97-AF65-F5344CB8AC3E}">
        <p14:creationId xmlns:p14="http://schemas.microsoft.com/office/powerpoint/2010/main" val="1906984743"/>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2026-10-17T19:26:42.2200000Z</dcterms:created>
  <dcterms:modified xsi:type="dcterms:W3CDTF">2026-10-17T19:26:42.2200000Z</dcterms:modified>
</coreProperties>
</file>