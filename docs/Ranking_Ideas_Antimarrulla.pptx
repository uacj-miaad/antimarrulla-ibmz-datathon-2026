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8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9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0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anking" id="{66333a25-10bf-17e3-958c-4c392c28ba72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Las 11 ideas" id="{0bd92e02-50bb-217a-b1ad-18268889c766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+mn-lt"/>
              </a:rPr>
              <a:t>Puntaje promedio de 3 jueces (máx. 40)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Real-Time AI for Critical Decisions</c:v>
                </c:pt>
              </c:strCache>
            </c:strRef>
          </c:tx>
          <c:spPr>
            <a:solidFill>
              <a:srgbClr val="F1C21B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1. Remesas + OFAC/AML</c:v>
                  </c:pt>
                  <c:pt idx="1">
                    <c:v>2. Diabetes cifrada</c:v>
                  </c:pt>
                  <c:pt idx="2">
                    <c:v>3. Antifraude federado</c:v>
                  </c:pt>
                  <c:pt idx="3">
                    <c:v>4. Escudo SPEI</c:v>
                  </c:pt>
                  <c:pt idx="4">
                    <c:v>5. Escáner post-cuántico</c:v>
                  </c:pt>
                  <c:pt idx="5">
                    <c:v>6. Asistente privado</c:v>
                  </c:pt>
                  <c:pt idx="6">
                    <c:v>7. Triage urgencias</c:v>
                  </c:pt>
                  <c:pt idx="7">
                    <c:v>8. Anonimizador MX</c:v>
                  </c:pt>
                  <c:pt idx="8">
                    <c:v>9. Facturas falsas CFDI</c:v>
                  </c:pt>
                  <c:pt idx="9">
                    <c:v>10. Fraude en seguros</c:v>
                  </c:pt>
                  <c:pt idx="10">
                    <c:v>11. Cruces fronterizos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29.3</c:v>
                </c:pt>
                <c:pt idx="1">
                  <c:v>0</c:v>
                </c:pt>
                <c:pt idx="2">
                  <c:v>0</c:v>
                </c:pt>
                <c:pt idx="3">
                  <c:v>28</c:v>
                </c:pt>
                <c:pt idx="4">
                  <c:v>0</c:v>
                </c:pt>
                <c:pt idx="5">
                  <c:v>0</c:v>
                </c:pt>
                <c:pt idx="6">
                  <c:v>24.3</c:v>
                </c:pt>
                <c:pt idx="7">
                  <c:v>0</c:v>
                </c:pt>
                <c:pt idx="8">
                  <c:v>0</c:v>
                </c:pt>
                <c:pt idx="9">
                  <c:v>21.3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Secured: Innovation Without Exposure</c:v>
                </c:pt>
              </c:strCache>
            </c:strRef>
          </c:tx>
          <c:spPr>
            <a:solidFill>
              <a:srgbClr val="0F62FE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1. Remesas + OFAC/AML</c:v>
                  </c:pt>
                  <c:pt idx="1">
                    <c:v>2. Diabetes cifrada</c:v>
                  </c:pt>
                  <c:pt idx="2">
                    <c:v>3. Antifraude federado</c:v>
                  </c:pt>
                  <c:pt idx="3">
                    <c:v>4. Escudo SPEI</c:v>
                  </c:pt>
                  <c:pt idx="4">
                    <c:v>5. Escáner post-cuántico</c:v>
                  </c:pt>
                  <c:pt idx="5">
                    <c:v>6. Asistente privado</c:v>
                  </c:pt>
                  <c:pt idx="6">
                    <c:v>7. Triage urgencias</c:v>
                  </c:pt>
                  <c:pt idx="7">
                    <c:v>8. Anonimizador MX</c:v>
                  </c:pt>
                  <c:pt idx="8">
                    <c:v>9. Facturas falsas CFDI</c:v>
                  </c:pt>
                  <c:pt idx="9">
                    <c:v>10. Fraude en seguros</c:v>
                  </c:pt>
                  <c:pt idx="10">
                    <c:v>11. Cruces fronterizos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29</c:v>
                </c:pt>
                <c:pt idx="2">
                  <c:v>28.3</c:v>
                </c:pt>
                <c:pt idx="3">
                  <c:v>0</c:v>
                </c:pt>
                <c:pt idx="4">
                  <c:v>27.3</c:v>
                </c:pt>
                <c:pt idx="5">
                  <c:v>26.7</c:v>
                </c:pt>
                <c:pt idx="6">
                  <c:v>0</c:v>
                </c:pt>
                <c:pt idx="7">
                  <c:v>22.3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Wildcard: Beyond the Obvious</c:v>
                </c:pt>
              </c:strCache>
            </c:strRef>
          </c:tx>
          <c:spPr>
            <a:solidFill>
              <a:srgbClr val="A56EFF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1. Remesas + OFAC/AML</c:v>
                  </c:pt>
                  <c:pt idx="1">
                    <c:v>2. Diabetes cifrada</c:v>
                  </c:pt>
                  <c:pt idx="2">
                    <c:v>3. Antifraude federado</c:v>
                  </c:pt>
                  <c:pt idx="3">
                    <c:v>4. Escudo SPEI</c:v>
                  </c:pt>
                  <c:pt idx="4">
                    <c:v>5. Escáner post-cuántico</c:v>
                  </c:pt>
                  <c:pt idx="5">
                    <c:v>6. Asistente privado</c:v>
                  </c:pt>
                  <c:pt idx="6">
                    <c:v>7. Triage urgencias</c:v>
                  </c:pt>
                  <c:pt idx="7">
                    <c:v>8. Anonimizador MX</c:v>
                  </c:pt>
                  <c:pt idx="8">
                    <c:v>9. Facturas falsas CFDI</c:v>
                  </c:pt>
                  <c:pt idx="9">
                    <c:v>10. Fraude en seguros</c:v>
                  </c:pt>
                  <c:pt idx="10">
                    <c:v>11. Cruces fronterizos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22</c:v>
                </c:pt>
                <c:pt idx="9">
                  <c:v>0</c:v>
                </c:pt>
                <c:pt idx="10">
                  <c:v>18.3</c:v>
                </c:pt>
              </c:numCache>
            </c:numRef>
          </c:val>
        </c:ser>
        <c:dLbls>
          <c:numFmt formatCode="0.0;;;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0E0E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</c:v>
                </c:pt>
              </c:strCache>
            </c:strRef>
          </c:tx>
          <c:spPr>
            <a:solidFill>
              <a:srgbClr val="F1C21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0E0E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Valor y tema</c:v>
                  </c:pt>
                  <c:pt idx="1">
                    <c:v>Novedad</c:v>
                  </c:pt>
                  <c:pt idx="2">
                    <c:v>Técnico LinuxONE</c:v>
                  </c:pt>
                  <c:pt idx="3">
                    <c:v>Ejecución y pitch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8.3</c:v>
                </c:pt>
                <c:pt idx="1">
                  <c:v>5.7</c:v>
                </c:pt>
                <c:pt idx="2">
                  <c:v>8.3</c:v>
                </c:pt>
                <c:pt idx="3">
                  <c:v>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0E0E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</c:v>
                </c:pt>
              </c:strCache>
            </c:strRef>
          </c:tx>
          <c:spPr>
            <a:solidFill>
              <a:srgbClr val="0F62F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0E0E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Valor y tema</c:v>
                  </c:pt>
                  <c:pt idx="1">
                    <c:v>Novedad</c:v>
                  </c:pt>
                  <c:pt idx="2">
                    <c:v>Técnico LinuxONE</c:v>
                  </c:pt>
                  <c:pt idx="3">
                    <c:v>Ejecución y pitch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7.3</c:v>
                </c:pt>
                <c:pt idx="1">
                  <c:v>8</c:v>
                </c:pt>
                <c:pt idx="2">
                  <c:v>7.3</c:v>
                </c:pt>
                <c:pt idx="3">
                  <c:v>6.3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0E0E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</c:v>
                </c:pt>
              </c:strCache>
            </c:strRef>
          </c:tx>
          <c:spPr>
            <a:solidFill>
              <a:srgbClr val="0F62F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0E0E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Valor y tema</c:v>
                  </c:pt>
                  <c:pt idx="1">
                    <c:v>Novedad</c:v>
                  </c:pt>
                  <c:pt idx="2">
                    <c:v>Técnico LinuxONE</c:v>
                  </c:pt>
                  <c:pt idx="3">
                    <c:v>Ejecución y pitch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7.3</c:v>
                </c:pt>
                <c:pt idx="1">
                  <c:v>5.7</c:v>
                </c:pt>
                <c:pt idx="2">
                  <c:v>7.3</c:v>
                </c:pt>
                <c:pt idx="3">
                  <c:v>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0E0E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</c:v>
                </c:pt>
              </c:strCache>
            </c:strRef>
          </c:tx>
          <c:spPr>
            <a:solidFill>
              <a:srgbClr val="F1C21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0E0E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Valor y tema</c:v>
                  </c:pt>
                  <c:pt idx="1">
                    <c:v>Novedad</c:v>
                  </c:pt>
                  <c:pt idx="2">
                    <c:v>Técnico LinuxONE</c:v>
                  </c:pt>
                  <c:pt idx="3">
                    <c:v>Ejecución y pitch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5.3</c:v>
                </c:pt>
                <c:pt idx="2">
                  <c:v>6.7</c:v>
                </c:pt>
                <c:pt idx="3">
                  <c:v>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0E0E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</c:v>
                </c:pt>
              </c:strCache>
            </c:strRef>
          </c:tx>
          <c:spPr>
            <a:solidFill>
              <a:srgbClr val="0F62F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0E0E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Valor y tema</c:v>
                  </c:pt>
                  <c:pt idx="1">
                    <c:v>Novedad</c:v>
                  </c:pt>
                  <c:pt idx="2">
                    <c:v>Técnico LinuxONE</c:v>
                  </c:pt>
                  <c:pt idx="3">
                    <c:v>Ejecución y pitch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6.7</c:v>
                </c:pt>
                <c:pt idx="1">
                  <c:v>7.7</c:v>
                </c:pt>
                <c:pt idx="2">
                  <c:v>6.7</c:v>
                </c:pt>
                <c:pt idx="3">
                  <c:v>6.3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0E0E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</c:v>
                </c:pt>
              </c:strCache>
            </c:strRef>
          </c:tx>
          <c:spPr>
            <a:solidFill>
              <a:srgbClr val="0F62F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0E0E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Valor y tema</c:v>
                  </c:pt>
                  <c:pt idx="1">
                    <c:v>Novedad</c:v>
                  </c:pt>
                  <c:pt idx="2">
                    <c:v>Técnico LinuxONE</c:v>
                  </c:pt>
                  <c:pt idx="3">
                    <c:v>Ejecución y pitch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8.7</c:v>
                </c:pt>
                <c:pt idx="1">
                  <c:v>6.3</c:v>
                </c:pt>
                <c:pt idx="2">
                  <c:v>5</c:v>
                </c:pt>
                <c:pt idx="3">
                  <c:v>6.7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0E0E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</c:v>
                </c:pt>
              </c:strCache>
            </c:strRef>
          </c:tx>
          <c:spPr>
            <a:solidFill>
              <a:srgbClr val="F1C21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0E0E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Valor y tema</c:v>
                  </c:pt>
                  <c:pt idx="1">
                    <c:v>Novedad</c:v>
                  </c:pt>
                  <c:pt idx="2">
                    <c:v>Técnico LinuxONE</c:v>
                  </c:pt>
                  <c:pt idx="3">
                    <c:v>Ejecución y pitch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7.7</c:v>
                </c:pt>
                <c:pt idx="1">
                  <c:v>4</c:v>
                </c:pt>
                <c:pt idx="2">
                  <c:v>5.3</c:v>
                </c:pt>
                <c:pt idx="3">
                  <c:v>7.3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0E0E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</c:v>
                </c:pt>
              </c:strCache>
            </c:strRef>
          </c:tx>
          <c:spPr>
            <a:solidFill>
              <a:srgbClr val="0F62F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0E0E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Valor y tema</c:v>
                  </c:pt>
                  <c:pt idx="1">
                    <c:v>Novedad</c:v>
                  </c:pt>
                  <c:pt idx="2">
                    <c:v>Técnico LinuxONE</c:v>
                  </c:pt>
                  <c:pt idx="3">
                    <c:v>Ejecución y pitch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6.7</c:v>
                </c:pt>
                <c:pt idx="1">
                  <c:v>4</c:v>
                </c:pt>
                <c:pt idx="2">
                  <c:v>5</c:v>
                </c:pt>
                <c:pt idx="3">
                  <c:v>6.7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0E0E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</c:v>
                </c:pt>
              </c:strCache>
            </c:strRef>
          </c:tx>
          <c:spPr>
            <a:solidFill>
              <a:srgbClr val="A56EF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0E0E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Valor y tema</c:v>
                  </c:pt>
                  <c:pt idx="1">
                    <c:v>Novedad</c:v>
                  </c:pt>
                  <c:pt idx="2">
                    <c:v>Técnico LinuxONE</c:v>
                  </c:pt>
                  <c:pt idx="3">
                    <c:v>Ejecución y pitch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6.3</c:v>
                </c:pt>
                <c:pt idx="1">
                  <c:v>5.7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0E0E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</c:v>
                </c:pt>
              </c:strCache>
            </c:strRef>
          </c:tx>
          <c:spPr>
            <a:solidFill>
              <a:srgbClr val="F1C21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0E0E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Valor y tema</c:v>
                  </c:pt>
                  <c:pt idx="1">
                    <c:v>Novedad</c:v>
                  </c:pt>
                  <c:pt idx="2">
                    <c:v>Técnico LinuxONE</c:v>
                  </c:pt>
                  <c:pt idx="3">
                    <c:v>Ejecución y pitch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5.3</c:v>
                </c:pt>
                <c:pt idx="1">
                  <c:v>4.7</c:v>
                </c:pt>
                <c:pt idx="2">
                  <c:v>5</c:v>
                </c:pt>
                <c:pt idx="3">
                  <c:v>6.3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0E0E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</c:v>
                </c:pt>
              </c:strCache>
            </c:strRef>
          </c:tx>
          <c:spPr>
            <a:solidFill>
              <a:srgbClr val="A56EF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0E0E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Valor y tema</c:v>
                  </c:pt>
                  <c:pt idx="1">
                    <c:v>Novedad</c:v>
                  </c:pt>
                  <c:pt idx="2">
                    <c:v>Técnico LinuxONE</c:v>
                  </c:pt>
                  <c:pt idx="3">
                    <c:v>Ejecución y pitch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5.3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0E0E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0E0E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Documento interno para decidir la idea en la hora 1. Las 11 propuestas se calificaron con tres jueces ciegos simulados con IA, cada uno con un perfil distinto y la rúbrica oficial del IBM Z Datathon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 por el promedio de tres jueces ciegos. Las cuatro primeras quedan en 1.3 puntos, así que la decisión depende también de factibilidad y de la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Verde: lo más alto en IA o en factibilidad. Amarillo: factibilidad baja (menos de 3 de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 horizontal: factibilidad en 24 horas según los jueces. Eje vertical: puntaje promedio sobre 40. El cuadrante verde junta potencial alto y factibilidad razonable.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perfiles distintos: experto técnico de IBM Z, líder de programas AI for Good e investigador de IA y seguridad. Cada uno eligió una ganadora distinta, pero Transferencias sin fronteras aparece en el top 3 de los 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Recomendación: ir con Transferencias sin fronteras, pero con el alcance recortado a tres escenarios, la escena de advertencia antes de confirmar que los jueces premiaron en SPEI y una métrica de privacidad verificable como la que hizo destacar a Diabetes. Plan B: SPEI.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Transferencias sin fronteras. Puntaje promedio 29.3 de 40 (jueces: 31, 29, 28). Fortaleza: Usa a fondo IBM Z: multimodelo + Granite + AES-GCM con CPACF. Debilidad: Alcance amplio: riesgo de entregar tres capas a medias.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Diagnóstico sobre datos cifrados. Puntaje promedio 29.0 de 40 (jueces: 29, 29, 29). Fortaleza: Demuestra la privacidad con una métrica: AUC cifrado vs. en claro. Debilidad: TenSEAL/SEAL puede no compilar en s390x y frenar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Antifraude federado en remesas. Puntaje promedio 28.3 de 40 (jueces: 31, 27, 27). Fortaleza: Demo muy visual: el recall de cada banco sube por ronda. Debilidad: FedAvg sobre fraude es un clásico de hackatón.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Escudo antifraude SPEI. Puntaje promedio 28.0 de 40 (jueces: 29, 30, 25). Fortaleza: Víctima concreta; la advertencia antes de confirmar luce en video. Debilidad: Scoring de fraude conocido; la novedad es la intervención.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Escáner post-cuántico para banca. Puntaje promedio 27.3 de 40 (jueces: 28, 27, 27). Fortaleza: Original y alineado con la narrativa quantum-safe de IBM Z. Debilidad: La IA es marginal: escaneo determinista y el LLM solo redacta.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Asistente privado para personas vulnerables. Puntaje promedio 26.7 de 40 (jueces: 27, 28, 25). Fortaleza: El mayor impacto humano del lote; demo de dos vistas potente. Debilidad: Si es de extremo a extremo, ¿dónde corre la IA? IA ligera.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Triage para urgencias saturadas. Puntaje promedio 24.3 de 40 (jueces: 25, 27, 21). Fortaleza: Problema de vida o muerte y demo intuitiva. Debilidad: Manchester es un protocolo de reglas; idea muy vista.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Anonimizador de documentos mexicanos. Puntaje promedio 22.3 de 40 (jueces: 24, 23, 20). Fortaleza: Muy factible y con identidad mexicana (CURP, RFC, CLABE). Debilidad: Equivale a Presidio + regex; poca novedad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Detector de facturas falsas (CFDI). Puntaje promedio 22.0 de 40 (jueces: 20, 22, 24). Fortaleza: Fuente oficial (lista EFOS del SAT) y problema muy local. Debilidad: Casi todo es cruce de listas: poca IA y sin datos etiquetados.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Fraude en siniestros de auto. Puntaje promedio 21.3 de 40 (jueces: 22, 20, 22). Fortaleza: Hash perceptual de fotos reutilizadas: concreto y demostrable. Debilidad: Beneficia a aseguradoras: AI for Good débil y sin datos públicos.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Predictor de demoras en cruces fronterizos. Puntaje promedio 18.3 de 40 (jueces: 17, 18, 20). Fortaleza: Relevante para el nearshoring y la manufactura fronteriza. Debilidad: Datos sin confirmar; poco uso de IBM Z y de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PORTADA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IDO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IERR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83080"/>
            <a:ext cx="71323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Los Antimarrulla · Ideas de proyecto · IBM Z Datathon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Los Antimarrulla · Ideas de proyecto · IBM Z Datathon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6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7.xm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8.xm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9.xm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0.xml"/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1.xm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2.xml"/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IBM Z DATATHON 2026  ·  LOS ANTIMARRULLA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78308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11 ideas, 3 jueces ciegos, 1 apuesta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Ranking de todas nuestras propuestas con la rúbrica oficial: qué tema le toca a cada una y con cuál podemos ganar</a:t>
            </a:r>
            <a:endParaRPr lang="en-US" sz="1800" dirty="0"/>
          </a:p>
        </p:txBody>
      </p:sp>
      <p:pic>
        <p:nvPicPr>
          <p:cNvPr id="5" name="Logo del equipo" descr="/private/tmp/claude-501/-Users-haowei-Documents-Antimarrulla/5372125f-ee1a-4aa0-8aef-43e32d332201/scratchpad/idea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4632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50292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Javier Augusto Rebull Saucedo · Álvaro Hernández Jarquín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Carlos Enrique Gonzalez Moran · Yazmin Ivonne Flores Martinez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UACJ · Maestría en IA y Analítica de Datos (MIAAD)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01 · RANKING GENERAL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Remesas lidera, pero el top 4 cabe en 1.3 puntos</a:t>
            </a:r>
            <a:endParaRPr lang="en-US" sz="3000" dirty="0"/>
          </a:p>
        </p:txBody>
      </p:sp>
      <p:sp>
        <p:nvSpPr>
          <p:cNvPr id="4" name="Fondo gráfica"/>
          <p:cNvSpPr/>
          <p:nvPr/>
        </p:nvSpPr>
        <p:spPr>
          <a:xfrm>
            <a:off x="548640" y="1737360"/>
            <a:ext cx="7360920" cy="4343400"/>
          </a:xfrm>
          <a:prstGeom prst="roundRect">
            <a:avLst>
              <a:gd name="adj" fmla="val 2105"/>
            </a:avLst>
          </a:prstGeom>
          <a:solidFill>
            <a:schemeClr val="tx2"/>
          </a:solidFill>
          <a:ln/>
        </p:spPr>
      </p:sp>
      <p:graphicFrame>
        <p:nvGraphicFramePr>
          <p:cNvPr id="5" name="Ranking general" descr=""/>
          <p:cNvGraphicFramePr/>
          <p:nvPr/>
        </p:nvGraphicFramePr>
        <p:xfrm>
          <a:off x="685800" y="1828800"/>
          <a:ext cx="71323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229600" y="178308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Tema que le asignan los jueces</a:t>
            </a:r>
            <a:endParaRPr lang="en-US" sz="1300" dirty="0"/>
          </a:p>
        </p:txBody>
      </p:sp>
      <p:sp>
        <p:nvSpPr>
          <p:cNvPr id="7" name="leyenda T1"/>
          <p:cNvSpPr/>
          <p:nvPr/>
        </p:nvSpPr>
        <p:spPr>
          <a:xfrm>
            <a:off x="8229600" y="2304288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95360" y="22402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T1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Real-Time AI for Critical Decisions</a:t>
            </a:r>
            <a:endParaRPr lang="en-US" sz="1200" dirty="0"/>
          </a:p>
        </p:txBody>
      </p:sp>
      <p:sp>
        <p:nvSpPr>
          <p:cNvPr id="9" name="leyenda T2"/>
          <p:cNvSpPr/>
          <p:nvPr/>
        </p:nvSpPr>
        <p:spPr>
          <a:xfrm>
            <a:off x="8229600" y="276148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95360" y="26974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T2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AI Secured: Innovation Without Exposure</a:t>
            </a:r>
            <a:endParaRPr lang="en-US" sz="1200" dirty="0"/>
          </a:p>
        </p:txBody>
      </p:sp>
      <p:sp>
        <p:nvSpPr>
          <p:cNvPr id="11" name="leyenda T3"/>
          <p:cNvSpPr/>
          <p:nvPr/>
        </p:nvSpPr>
        <p:spPr>
          <a:xfrm>
            <a:off x="8229600" y="3218688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95360" y="31546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T3 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Wildcard: Beyond the Obvious</a:t>
            </a:r>
            <a:endParaRPr lang="en-US" sz="1200" dirty="0"/>
          </a:p>
        </p:txBody>
      </p:sp>
      <p:sp>
        <p:nvSpPr>
          <p:cNvPr id="13" name="Lectura"/>
          <p:cNvSpPr/>
          <p:nvPr/>
        </p:nvSpPr>
        <p:spPr>
          <a:xfrm>
            <a:off x="8229600" y="3703320"/>
            <a:ext cx="3410712" cy="2377440"/>
          </a:xfrm>
          <a:prstGeom prst="roundRect">
            <a:avLst>
              <a:gd name="adj" fmla="val 3846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5">
                <a:alpha val="60000"/>
              </a:scheme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0" y="384048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Lectura rápida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4206240"/>
            <a:ext cx="30906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Remesas es la única idea en el top 3 de los tres jueces.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Diabetes cifrada tiene el techo de IA más alto, pero es la menos factible del top 5.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Nada de T3 (Wildcard) entra en el top 5.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144768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Jueces ciegos simulados con IA · rúbrica oficial de 40 pts. Cada juez vio las ideas anonimizadas, en otro orden y con descripciones del mismo largo.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02 · DETALLE POR CRITERIO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Así puntuó cada idea en la rúbrica oficial</a:t>
            </a:r>
            <a:endParaRPr lang="en-US" sz="3000" dirty="0"/>
          </a:p>
        </p:txBody>
      </p:sp>
      <p:graphicFrame>
        <p:nvGraphicFramePr>
          <p:cNvPr id="4" name="Tabla de ranki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337560"/>
                <a:gridCol w="822960"/>
                <a:gridCol w="640080"/>
                <a:gridCol w="640080"/>
                <a:gridCol w="640080"/>
                <a:gridCol w="640080"/>
                <a:gridCol w="960120"/>
                <a:gridCol w="822960"/>
                <a:gridCol w="960120"/>
                <a:gridCol w="12161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/40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 /20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Factib. /5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J1 · J2 · J3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Transferencias sin fronteras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 · T2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 · 29 · 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Diagnóstico sobre datos cifrados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 · 29 · 29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Antifraude federado en remesas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 · 27 · 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Escudo antifraude SPEI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 · 30 · 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Escáner post-cuántico para banca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· 27 · 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Asistente privado para personas vulnerables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 · 28 · 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Triage para urgencias saturadas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· 27 · 21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Anonimizador de documentos mexicanos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· 23 · 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Detector de facturas falsas (CFDI)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 · T1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· 22 · 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Fraude en siniestros de auto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· 20 · 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Predictor de demoras en cruces fronterizos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 · 18 · 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790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C1 Valor comunitario y tema · C2 Novedad · C3 Diseño técnico y LinuxONE · C4 Ejecución y pitch · IA = AI Innovation Excellence (innovación + impacto técnico) · Factib. = factibilidad en 24 h · J1 IBM Z, J2 AI for Good, J3 Innovación 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03 · POTENCIAL VS. FACTIBILIDAD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Remesas y SPEI son las apuestas con mejor equilibrio</a:t>
            </a:r>
            <a:endParaRPr lang="en-US" sz="3000" dirty="0"/>
          </a:p>
        </p:txBody>
      </p:sp>
      <p:sp>
        <p:nvSpPr>
          <p:cNvPr id="4" name="Cuadrante ganador"/>
          <p:cNvSpPr/>
          <p:nvPr/>
        </p:nvSpPr>
        <p:spPr>
          <a:xfrm>
            <a:off x="4546283" y="1828800"/>
            <a:ext cx="3043238" cy="1295400"/>
          </a:xfrm>
          <a:prstGeom prst="roundRect">
            <a:avLst>
              <a:gd name="adj" fmla="val 2824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5" name="Cuadrante riesgo"/>
          <p:cNvSpPr/>
          <p:nvPr/>
        </p:nvSpPr>
        <p:spPr>
          <a:xfrm>
            <a:off x="1097280" y="1828800"/>
            <a:ext cx="3449002" cy="1295400"/>
          </a:xfrm>
          <a:prstGeom prst="roundRect">
            <a:avLst>
              <a:gd name="adj" fmla="val 2824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6" name="Cuadrante bajo"/>
          <p:cNvSpPr/>
          <p:nvPr/>
        </p:nvSpPr>
        <p:spPr>
          <a:xfrm>
            <a:off x="1097280" y="3124200"/>
            <a:ext cx="6492240" cy="2590800"/>
          </a:xfrm>
          <a:prstGeom prst="roundRect">
            <a:avLst>
              <a:gd name="adj" fmla="val 1412"/>
            </a:avLst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0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APUESTA GANADORA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874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4"/>
                </a:solidFill>
              </a:rPr>
              <a:t>ALTO RIESGO, ALTO PREMIO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5394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</a:rPr>
              <a:t>BAJO POTENCIAL</a:t>
            </a:r>
            <a:endParaRPr lang="en-US" sz="1000" dirty="0"/>
          </a:p>
        </p:txBody>
      </p:sp>
      <p:sp>
        <p:nvSpPr>
          <p:cNvPr id="10" name="eje x"/>
          <p:cNvSpPr/>
          <p:nvPr/>
        </p:nvSpPr>
        <p:spPr>
          <a:xfrm>
            <a:off x="1097280" y="5715000"/>
            <a:ext cx="649224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1" name="eje y"/>
          <p:cNvSpPr/>
          <p:nvPr/>
        </p:nvSpPr>
        <p:spPr>
          <a:xfrm>
            <a:off x="1097280" y="1828800"/>
            <a:ext cx="0" cy="388620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6044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Factibilidad en 24 h →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5361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Puntaje /40 ↑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17405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18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65939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0144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26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1863005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30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320165" y="5788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348990" y="5788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377815" y="5788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5788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Remesas + OFAC/AML"/>
          <p:cNvSpPr/>
          <p:nvPr/>
        </p:nvSpPr>
        <p:spPr>
          <a:xfrm>
            <a:off x="3348990" y="1991360"/>
            <a:ext cx="365760" cy="36576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14750" y="20279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Remesas + OFAC/AML</a:t>
            </a:r>
            <a:endParaRPr lang="en-US" sz="1100" dirty="0"/>
          </a:p>
        </p:txBody>
      </p:sp>
      <p:sp>
        <p:nvSpPr>
          <p:cNvPr id="24" name="Diabetes cifrada"/>
          <p:cNvSpPr/>
          <p:nvPr/>
        </p:nvSpPr>
        <p:spPr>
          <a:xfrm>
            <a:off x="2795207" y="2132584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40143" y="2114296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Diabetes cifrada</a:t>
            </a:r>
            <a:endParaRPr lang="en-US" sz="1100" dirty="0"/>
          </a:p>
        </p:txBody>
      </p:sp>
      <p:sp>
        <p:nvSpPr>
          <p:cNvPr id="26" name="Antifraude federado"/>
          <p:cNvSpPr/>
          <p:nvPr/>
        </p:nvSpPr>
        <p:spPr>
          <a:xfrm>
            <a:off x="5432679" y="2334091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743575" y="2160355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Antifraude federado</a:t>
            </a:r>
            <a:endParaRPr lang="en-US" sz="1100" dirty="0"/>
          </a:p>
        </p:txBody>
      </p:sp>
      <p:sp>
        <p:nvSpPr>
          <p:cNvPr id="28" name="Escudo SPEI"/>
          <p:cNvSpPr/>
          <p:nvPr/>
        </p:nvSpPr>
        <p:spPr>
          <a:xfrm>
            <a:off x="6852857" y="2420451"/>
            <a:ext cx="256032" cy="25603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49353" y="2731347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Escudo SPEI</a:t>
            </a:r>
            <a:endParaRPr lang="en-US" sz="1100" dirty="0"/>
          </a:p>
        </p:txBody>
      </p:sp>
      <p:sp>
        <p:nvSpPr>
          <p:cNvPr id="30" name="Escáner post-cuántico"/>
          <p:cNvSpPr/>
          <p:nvPr/>
        </p:nvSpPr>
        <p:spPr>
          <a:xfrm>
            <a:off x="4824032" y="2621957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489008" y="2749973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Escáner post-cuántico</a:t>
            </a:r>
            <a:endParaRPr lang="en-US" sz="1100" dirty="0"/>
          </a:p>
        </p:txBody>
      </p:sp>
      <p:sp>
        <p:nvSpPr>
          <p:cNvPr id="32" name="Asistente privado"/>
          <p:cNvSpPr/>
          <p:nvPr/>
        </p:nvSpPr>
        <p:spPr>
          <a:xfrm>
            <a:off x="5432679" y="2794677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743575" y="2977557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Asistente privado</a:t>
            </a:r>
            <a:endParaRPr lang="en-US" sz="1100" dirty="0"/>
          </a:p>
        </p:txBody>
      </p:sp>
      <p:sp>
        <p:nvSpPr>
          <p:cNvPr id="34" name="Triage urgencias"/>
          <p:cNvSpPr/>
          <p:nvPr/>
        </p:nvSpPr>
        <p:spPr>
          <a:xfrm>
            <a:off x="5432679" y="3485557"/>
            <a:ext cx="256032" cy="25603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743575" y="3467269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Triage urgencias</a:t>
            </a:r>
            <a:endParaRPr lang="en-US" sz="1100" dirty="0"/>
          </a:p>
        </p:txBody>
      </p:sp>
      <p:sp>
        <p:nvSpPr>
          <p:cNvPr id="36" name="Anonimizador MX"/>
          <p:cNvSpPr/>
          <p:nvPr/>
        </p:nvSpPr>
        <p:spPr>
          <a:xfrm>
            <a:off x="6852857" y="4061291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609273" y="4043003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Anonimizador MX</a:t>
            </a:r>
            <a:endParaRPr lang="en-US" sz="1100" dirty="0"/>
          </a:p>
        </p:txBody>
      </p:sp>
      <p:sp>
        <p:nvSpPr>
          <p:cNvPr id="38" name="Facturas falsas CFDI"/>
          <p:cNvSpPr/>
          <p:nvPr/>
        </p:nvSpPr>
        <p:spPr>
          <a:xfrm>
            <a:off x="4824032" y="4147651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351848" y="4001347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Facturas falsas CFDI</a:t>
            </a:r>
            <a:endParaRPr lang="en-US" sz="1100" dirty="0"/>
          </a:p>
        </p:txBody>
      </p:sp>
      <p:sp>
        <p:nvSpPr>
          <p:cNvPr id="40" name="Fraude en seguros"/>
          <p:cNvSpPr/>
          <p:nvPr/>
        </p:nvSpPr>
        <p:spPr>
          <a:xfrm>
            <a:off x="4824032" y="4349157"/>
            <a:ext cx="256032" cy="25603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626168" y="4495461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Fraude en seguros</a:t>
            </a:r>
            <a:endParaRPr lang="en-US" sz="1100" dirty="0"/>
          </a:p>
        </p:txBody>
      </p:sp>
      <p:sp>
        <p:nvSpPr>
          <p:cNvPr id="42" name="Cruces fronterizos"/>
          <p:cNvSpPr/>
          <p:nvPr/>
        </p:nvSpPr>
        <p:spPr>
          <a:xfrm>
            <a:off x="1375029" y="5212757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685925" y="5194469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Cruces fronterizos</a:t>
            </a:r>
            <a:endParaRPr lang="en-US" sz="1100" dirty="0"/>
          </a:p>
        </p:txBody>
      </p:sp>
      <p:sp>
        <p:nvSpPr>
          <p:cNvPr id="44" name="Remesas"/>
          <p:cNvSpPr/>
          <p:nvPr/>
        </p:nvSpPr>
        <p:spPr>
          <a:xfrm>
            <a:off x="8092440" y="1828800"/>
            <a:ext cx="3547872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45" name="Remesas círculo"/>
          <p:cNvSpPr/>
          <p:nvPr/>
        </p:nvSpPr>
        <p:spPr>
          <a:xfrm>
            <a:off x="8257032" y="2011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6" name="Remesas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7616" y="2112264"/>
            <a:ext cx="256032" cy="256032"/>
          </a:xfrm>
          <a:prstGeom prst="rect">
            <a:avLst/>
          </a:prstGeom>
        </p:spPr>
      </p:pic>
      <p:sp>
        <p:nvSpPr>
          <p:cNvPr id="47" name="Text 44"/>
          <p:cNvSpPr txBox="1"/>
          <p:nvPr/>
        </p:nvSpPr>
        <p:spPr>
          <a:xfrm>
            <a:off x="8869680" y="19933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Remesas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8869680" y="2331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Mejor promedio y único top 3 unánime. Clave: recortar alcance.</a:t>
            </a:r>
            <a:endParaRPr lang="en-US" sz="1100" dirty="0"/>
          </a:p>
        </p:txBody>
      </p:sp>
      <p:sp>
        <p:nvSpPr>
          <p:cNvPr id="49" name="SPEI"/>
          <p:cNvSpPr/>
          <p:nvPr/>
        </p:nvSpPr>
        <p:spPr>
          <a:xfrm>
            <a:off x="8092440" y="3154680"/>
            <a:ext cx="3547872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50" name="SPEI círculo"/>
          <p:cNvSpPr/>
          <p:nvPr/>
        </p:nvSpPr>
        <p:spPr>
          <a:xfrm>
            <a:off x="8257032" y="3337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1" name="SPEI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3438144"/>
            <a:ext cx="256032" cy="256032"/>
          </a:xfrm>
          <a:prstGeom prst="rect">
            <a:avLst/>
          </a:prstGeom>
        </p:spPr>
      </p:pic>
      <p:sp>
        <p:nvSpPr>
          <p:cNvPr id="52" name="Text 48"/>
          <p:cNvSpPr txBox="1"/>
          <p:nvPr/>
        </p:nvSpPr>
        <p:spPr>
          <a:xfrm>
            <a:off x="8869680" y="33192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SPEI</a:t>
            </a:r>
            <a:endParaRPr lang="en-US" sz="1400" dirty="0"/>
          </a:p>
        </p:txBody>
      </p:sp>
      <p:sp>
        <p:nvSpPr>
          <p:cNvPr id="53" name="Text 49"/>
          <p:cNvSpPr txBox="1"/>
          <p:nvPr/>
        </p:nvSpPr>
        <p:spPr>
          <a:xfrm>
            <a:off x="8869680" y="3657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La más factible del top 4: plan B natural y la mejor escena de demo.</a:t>
            </a:r>
            <a:endParaRPr lang="en-US" sz="1100" dirty="0"/>
          </a:p>
        </p:txBody>
      </p:sp>
      <p:sp>
        <p:nvSpPr>
          <p:cNvPr id="54" name="Diabetes cifrada"/>
          <p:cNvSpPr/>
          <p:nvPr/>
        </p:nvSpPr>
        <p:spPr>
          <a:xfrm>
            <a:off x="8092440" y="4480560"/>
            <a:ext cx="3547872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55" name="Diabetes cifrada círculo"/>
          <p:cNvSpPr/>
          <p:nvPr/>
        </p:nvSpPr>
        <p:spPr>
          <a:xfrm>
            <a:off x="8257032" y="4663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6" name="Diabetes cifrada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4764024"/>
            <a:ext cx="256032" cy="256032"/>
          </a:xfrm>
          <a:prstGeom prst="rect">
            <a:avLst/>
          </a:prstGeom>
        </p:spPr>
      </p:pic>
      <p:sp>
        <p:nvSpPr>
          <p:cNvPr id="57" name="Text 52"/>
          <p:cNvSpPr txBox="1"/>
          <p:nvPr/>
        </p:nvSpPr>
        <p:spPr>
          <a:xfrm>
            <a:off x="8869680" y="46451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Diabetes cifrada</a:t>
            </a:r>
            <a:endParaRPr lang="en-US" sz="1400" dirty="0"/>
          </a:p>
        </p:txBody>
      </p:sp>
      <p:sp>
        <p:nvSpPr>
          <p:cNvPr id="58" name="Text 53"/>
          <p:cNvSpPr txBox="1"/>
          <p:nvPr/>
        </p:nvSpPr>
        <p:spPr>
          <a:xfrm>
            <a:off x="8869680" y="4983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Mayor puntaje de IA, pero el cifrado homomórfico en s390x puede consumir el día.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04 · LOS TRES JUECES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Cada juez eligió una ganadora distinta</a:t>
            </a:r>
            <a:endParaRPr lang="en-US" sz="3000" dirty="0"/>
          </a:p>
        </p:txBody>
      </p:sp>
      <p:sp>
        <p:nvSpPr>
          <p:cNvPr id="4" name="Juez 1 · Experto IBM Z / LinuxONE"/>
          <p:cNvSpPr/>
          <p:nvPr/>
        </p:nvSpPr>
        <p:spPr>
          <a:xfrm>
            <a:off x="548640" y="1737360"/>
            <a:ext cx="3520440" cy="4343400"/>
          </a:xfrm>
          <a:prstGeom prst="roundRect">
            <a:avLst>
              <a:gd name="adj" fmla="val 2597"/>
            </a:avLst>
          </a:prstGeom>
          <a:solidFill>
            <a:schemeClr val="tx2"/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5" name="Juez 1 · Experto IBM Z / LinuxONE círculo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Juez 1 · Experto IBM Z / LinuxONE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0866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Juez 1 · Experto IBM Z / LinuxONE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97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SU GANADORA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9443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Transferencias sin fronteras</a:t>
            </a:r>
            <a:endParaRPr lang="en-US" sz="17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31 / 40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749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TOP 3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023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1. Transferencias sin fronteras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4023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31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3159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2. Antifraude federado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429000" y="4315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31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6085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3. Escudo SPEI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429000" y="46085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29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9834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«La que mejor encarna una carga de producción en IBM Z: scoring en tiempo real, predictivo + Granite y cifrado con CPACF.»</a:t>
            </a:r>
            <a:endParaRPr lang="en-US" sz="1100" dirty="0"/>
          </a:p>
        </p:txBody>
      </p:sp>
      <p:sp>
        <p:nvSpPr>
          <p:cNvPr id="18" name="Juez 2 · Líder AI for Good"/>
          <p:cNvSpPr/>
          <p:nvPr/>
        </p:nvSpPr>
        <p:spPr>
          <a:xfrm>
            <a:off x="4334256" y="1737360"/>
            <a:ext cx="3520440" cy="4343400"/>
          </a:xfrm>
          <a:prstGeom prst="roundRect">
            <a:avLst>
              <a:gd name="adj" fmla="val 2597"/>
            </a:avLst>
          </a:prstGeom>
          <a:solidFill>
            <a:schemeClr val="tx2"/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19" name="Juez 2 · Líder AI for Good círculo"/>
          <p:cNvSpPr/>
          <p:nvPr/>
        </p:nvSpPr>
        <p:spPr>
          <a:xfrm>
            <a:off x="4562856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Juez 2 · Líder AI for Good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557" y="2086661"/>
            <a:ext cx="307238" cy="30723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248656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Juez 2 · Líder AI for Good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4562856" y="2697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SU GANADORA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4562856" y="29443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Escudo antifraude SPEI</a:t>
            </a:r>
            <a:endParaRPr lang="en-US" sz="17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30 / 40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4562856" y="3749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TOP 3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4562856" y="4023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1. Escudo SPEI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7214616" y="4023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30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4562856" y="43159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2. Diagnóstico cifrado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7214616" y="4315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29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4562856" y="46085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3. Transferencias sin fronteras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7214616" y="46085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29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4562856" y="49834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«Problema masivo con víctima con rostro y una demo de 3 minutos impecable y factible en 24 h.»</a:t>
            </a:r>
            <a:endParaRPr lang="en-US" sz="1100" dirty="0"/>
          </a:p>
        </p:txBody>
      </p:sp>
      <p:sp>
        <p:nvSpPr>
          <p:cNvPr id="32" name="Juez 3 · Investigador IA y seguridad"/>
          <p:cNvSpPr/>
          <p:nvPr/>
        </p:nvSpPr>
        <p:spPr>
          <a:xfrm>
            <a:off x="8119872" y="1737360"/>
            <a:ext cx="3520440" cy="4343400"/>
          </a:xfrm>
          <a:prstGeom prst="roundRect">
            <a:avLst>
              <a:gd name="adj" fmla="val 2597"/>
            </a:avLst>
          </a:prstGeom>
          <a:solidFill>
            <a:schemeClr val="tx2"/>
          </a:solidFill>
          <a:ln w="9525">
            <a:solidFill>
              <a:schemeClr val="accent5">
                <a:alpha val="50000"/>
              </a:schemeClr>
            </a:solidFill>
            <a:prstDash val="solid"/>
          </a:ln>
        </p:spPr>
      </p:sp>
      <p:sp>
        <p:nvSpPr>
          <p:cNvPr id="33" name="Juez 3 · Investigador IA y seguridad círculo"/>
          <p:cNvSpPr/>
          <p:nvPr/>
        </p:nvSpPr>
        <p:spPr>
          <a:xfrm>
            <a:off x="8348472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Juez 3 · Investigador IA y seguridad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173" y="2086661"/>
            <a:ext cx="307238" cy="307238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9034272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Juez 3 · Investigador IA y seguridad</a:t>
            </a:r>
            <a:endParaRPr lang="en-US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8348472" y="26974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SU GANADORA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8348472" y="29443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Diagnóstico cifrado</a:t>
            </a:r>
            <a:endParaRPr lang="en-US" sz="17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29 / 40</a:t>
            </a:r>
            <a:endParaRPr lang="en-US" sz="1700" dirty="0"/>
          </a:p>
        </p:txBody>
      </p:sp>
      <p:sp>
        <p:nvSpPr>
          <p:cNvPr id="38" name="Text 33"/>
          <p:cNvSpPr txBox="1"/>
          <p:nvPr/>
        </p:nvSpPr>
        <p:spPr>
          <a:xfrm>
            <a:off x="8348472" y="3749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5"/>
                </a:solidFill>
              </a:rPr>
              <a:t>TOP 3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8348472" y="4023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1. Diagnóstico cifrado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11000232" y="4023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29</a:t>
            </a:r>
            <a:endParaRPr lang="en-US" sz="1200" dirty="0"/>
          </a:p>
        </p:txBody>
      </p:sp>
      <p:sp>
        <p:nvSpPr>
          <p:cNvPr id="41" name="Text 36"/>
          <p:cNvSpPr txBox="1"/>
          <p:nvPr/>
        </p:nvSpPr>
        <p:spPr>
          <a:xfrm>
            <a:off x="8348472" y="43159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2. Transferencias sin fronteras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11000232" y="4315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28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8348472" y="46085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3. Antifraude federado</a:t>
            </a:r>
            <a:endParaRPr lang="en-US" sz="1200" dirty="0"/>
          </a:p>
        </p:txBody>
      </p:sp>
      <p:sp>
        <p:nvSpPr>
          <p:cNvPr id="44" name="Text 39"/>
          <p:cNvSpPr txBox="1"/>
          <p:nvPr/>
        </p:nvSpPr>
        <p:spPr>
          <a:xfrm>
            <a:off x="11000232" y="46085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27</a:t>
            </a:r>
            <a:endParaRPr lang="en-US" sz="1200" dirty="0"/>
          </a:p>
        </p:txBody>
      </p:sp>
      <p:sp>
        <p:nvSpPr>
          <p:cNvPr id="45" name="Text 40"/>
          <p:cNvSpPr txBox="1"/>
          <p:nvPr/>
        </p:nvSpPr>
        <p:spPr>
          <a:xfrm>
            <a:off x="8348472" y="49834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«La única que demuestra «IA sobre datos que nadie ve» con una métrica verificable: AUC cifrado vs. en claro.»</a:t>
            </a:r>
            <a:endParaRPr lang="en-US" sz="1100" dirty="0"/>
          </a:p>
        </p:txBody>
      </p:sp>
      <p:sp>
        <p:nvSpPr>
          <p:cNvPr id="46" name="Text 41"/>
          <p:cNvSpPr txBox="1"/>
          <p:nvPr/>
        </p:nvSpPr>
        <p:spPr>
          <a:xfrm>
            <a:off x="548640" y="6144768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Jueces ciegos simulados con IA · rúbrica oficial de 40 pts. Los comentarios entre comillas resumen el razonamiento de cada juez.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05 · RECOMENDACIÓN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Ir con Transferencias sin fronteras, recortada y reforzada</a:t>
            </a:r>
            <a:endParaRPr lang="en-US" sz="3000" dirty="0"/>
          </a:p>
        </p:txBody>
      </p:sp>
      <p:sp>
        <p:nvSpPr>
          <p:cNvPr id="4" name="Ganadora"/>
          <p:cNvSpPr/>
          <p:nvPr/>
        </p:nvSpPr>
        <p:spPr>
          <a:xfrm>
            <a:off x="548640" y="1737360"/>
            <a:ext cx="4206240" cy="4343400"/>
          </a:xfrm>
          <a:prstGeom prst="roundRect">
            <a:avLst>
              <a:gd name="adj" fmla="val 2174"/>
            </a:avLst>
          </a:prstGeom>
          <a:solidFill>
            <a:schemeClr val="accent1">
              <a:alpha val="22000"/>
            </a:schemeClr>
          </a:solidFill>
          <a:ln w="9525">
            <a:solidFill>
              <a:schemeClr val="accent5">
                <a:alpha val="70000"/>
              </a:schemeClr>
            </a:solidFill>
            <a:prstDash val="solid"/>
          </a:ln>
        </p:spPr>
      </p:sp>
      <p:sp>
        <p:nvSpPr>
          <p:cNvPr id="5" name="Trofeo círculo"/>
          <p:cNvSpPr/>
          <p:nvPr/>
        </p:nvSpPr>
        <p:spPr>
          <a:xfrm>
            <a:off x="777240" y="1965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Trofeo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21168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788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Transferencias sin fronteras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566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29.3</a:t>
            </a:r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 / 40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3891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#1 del promedio de los 3 jueces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Única en el top 3 de los tres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La mejor en C1 y C3 (8.3 cada uno)</a:t>
            </a:r>
            <a:endParaRPr lang="en-US" sz="1300" dirty="0"/>
          </a:p>
        </p:txBody>
      </p:sp>
      <p:sp>
        <p:nvSpPr>
          <p:cNvPr id="10" name="Recortar alcance"/>
          <p:cNvSpPr/>
          <p:nvPr/>
        </p:nvSpPr>
        <p:spPr>
          <a:xfrm>
            <a:off x="5029200" y="1737360"/>
            <a:ext cx="6611112" cy="877824"/>
          </a:xfrm>
          <a:prstGeom prst="roundRect">
            <a:avLst>
              <a:gd name="adj" fmla="val 10417"/>
            </a:avLst>
          </a:prstGeom>
          <a:solidFill>
            <a:schemeClr val="tx2"/>
          </a:solidFill>
          <a:ln w="9525">
            <a:solidFill>
              <a:schemeClr val="accent6">
                <a:alpha val="50000"/>
              </a:schemeClr>
            </a:solidFill>
            <a:prstDash val="solid"/>
          </a:ln>
        </p:spPr>
      </p:sp>
      <p:sp>
        <p:nvSpPr>
          <p:cNvPr id="11" name="Recortar alcance círculo"/>
          <p:cNvSpPr/>
          <p:nvPr/>
        </p:nvSpPr>
        <p:spPr>
          <a:xfrm>
            <a:off x="5212080" y="192024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Recortar alcance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734" y="2032894"/>
            <a:ext cx="286756" cy="2867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97880" y="184708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Recortar alcance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897880" y="216712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Tres escenarios pulidos valen más que tres capas a medias. Hora 18: demo de punta a punta.</a:t>
            </a:r>
            <a:endParaRPr lang="en-US" sz="1200" dirty="0"/>
          </a:p>
        </p:txBody>
      </p:sp>
      <p:sp>
        <p:nvSpPr>
          <p:cNvPr id="15" name="Robar la mejor escena de SPEI"/>
          <p:cNvSpPr/>
          <p:nvPr/>
        </p:nvSpPr>
        <p:spPr>
          <a:xfrm>
            <a:off x="5029200" y="2724912"/>
            <a:ext cx="6611112" cy="877824"/>
          </a:xfrm>
          <a:prstGeom prst="roundRect">
            <a:avLst>
              <a:gd name="adj" fmla="val 10417"/>
            </a:avLst>
          </a:prstGeom>
          <a:solidFill>
            <a:schemeClr val="tx2"/>
          </a:solidFill>
          <a:ln w="9525">
            <a:solidFill>
              <a:schemeClr val="accent6">
                <a:alpha val="50000"/>
              </a:schemeClr>
            </a:solidFill>
            <a:prstDash val="solid"/>
          </a:ln>
        </p:spPr>
      </p:sp>
      <p:sp>
        <p:nvSpPr>
          <p:cNvPr id="16" name="Robar la mejor escena de SPEI círculo"/>
          <p:cNvSpPr/>
          <p:nvPr/>
        </p:nvSpPr>
        <p:spPr>
          <a:xfrm>
            <a:off x="5212080" y="2907792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Robar la mejor escena de SPEI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734" y="3020446"/>
            <a:ext cx="286756" cy="2867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97880" y="283464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Robar la mejor escena de SPEI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897880" y="315468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Advertir al usuario antes de confirmar: «este beneficiario coincide con la lista OFAC».</a:t>
            </a:r>
            <a:endParaRPr lang="en-US" sz="1200" dirty="0"/>
          </a:p>
        </p:txBody>
      </p:sp>
      <p:sp>
        <p:nvSpPr>
          <p:cNvPr id="20" name="Robar la métrica de Diabetes"/>
          <p:cNvSpPr/>
          <p:nvPr/>
        </p:nvSpPr>
        <p:spPr>
          <a:xfrm>
            <a:off x="5029200" y="3712464"/>
            <a:ext cx="6611112" cy="877824"/>
          </a:xfrm>
          <a:prstGeom prst="roundRect">
            <a:avLst>
              <a:gd name="adj" fmla="val 10417"/>
            </a:avLst>
          </a:prstGeom>
          <a:solidFill>
            <a:schemeClr val="tx2"/>
          </a:solidFill>
          <a:ln w="9525">
            <a:solidFill>
              <a:schemeClr val="accent6">
                <a:alpha val="50000"/>
              </a:schemeClr>
            </a:solidFill>
            <a:prstDash val="solid"/>
          </a:ln>
        </p:spPr>
      </p:sp>
      <p:sp>
        <p:nvSpPr>
          <p:cNvPr id="21" name="Robar la métrica de Diabetes círculo"/>
          <p:cNvSpPr/>
          <p:nvPr/>
        </p:nvSpPr>
        <p:spPr>
          <a:xfrm>
            <a:off x="5212080" y="3895344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Robar la métrica de Diabetes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4734" y="4007998"/>
            <a:ext cx="286756" cy="2867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897880" y="382219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Robar la métrica de Diabetes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897880" y="414223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Probar la privacidad con un número: desempeño del modelo con datos tokenizados vs. en claro.</a:t>
            </a:r>
            <a:endParaRPr lang="en-US" sz="1200" dirty="0"/>
          </a:p>
        </p:txBody>
      </p:sp>
      <p:sp>
        <p:nvSpPr>
          <p:cNvPr id="25" name="Decidir el tema en la hora 1"/>
          <p:cNvSpPr/>
          <p:nvPr/>
        </p:nvSpPr>
        <p:spPr>
          <a:xfrm>
            <a:off x="5029200" y="4700016"/>
            <a:ext cx="6611112" cy="877824"/>
          </a:xfrm>
          <a:prstGeom prst="roundRect">
            <a:avLst>
              <a:gd name="adj" fmla="val 10417"/>
            </a:avLst>
          </a:prstGeom>
          <a:solidFill>
            <a:schemeClr val="tx2"/>
          </a:solidFill>
          <a:ln w="9525">
            <a:solidFill>
              <a:schemeClr val="accent6">
                <a:alpha val="50000"/>
              </a:schemeClr>
            </a:solidFill>
            <a:prstDash val="solid"/>
          </a:ln>
        </p:spPr>
      </p:sp>
      <p:sp>
        <p:nvSpPr>
          <p:cNvPr id="26" name="Decidir el tema en la hora 1 círculo"/>
          <p:cNvSpPr/>
          <p:nvPr/>
        </p:nvSpPr>
        <p:spPr>
          <a:xfrm>
            <a:off x="5212080" y="4882896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Decidir el tema en la hora 1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4734" y="4995550"/>
            <a:ext cx="286756" cy="28675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897880" y="4809744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Decidir el tema en la hora 1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897880" y="512978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 de 3 jueces la ven como T1. Si vamos por T2, el cifrado y la tokenización deben ser el núcleo.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6144768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Plan B: 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Escudo antifraude SPEI (28.0 / 40, factibilidad 4.7 / 5) si en la hora 2 la VM no corre el stack.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IDEA 01 DE 11  ·  RANKING #1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Transferencias sin fronteras</a:t>
            </a:r>
            <a:endParaRPr lang="en-US" sz="3000" dirty="0"/>
          </a:p>
        </p:txBody>
      </p:sp>
      <p:sp>
        <p:nvSpPr>
          <p:cNvPr id="4" name="tema T1 · T2"/>
          <p:cNvSpPr/>
          <p:nvPr/>
        </p:nvSpPr>
        <p:spPr>
          <a:xfrm>
            <a:off x="548640" y="1691640"/>
            <a:ext cx="818388" cy="310896"/>
          </a:xfrm>
          <a:prstGeom prst="roundRect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 w="9525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8183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T1 · T2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476756" y="1691640"/>
            <a:ext cx="4558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de 3 jueces: T1. Declarable en T2 si el cifrado es el núcleo.</a:t>
            </a:r>
            <a:endParaRPr lang="en-US" sz="1100" dirty="0"/>
          </a:p>
        </p:txBody>
      </p:sp>
      <p:sp>
        <p:nvSpPr>
          <p:cNvPr id="7" name="Problema círculo"/>
          <p:cNvSpPr/>
          <p:nvPr/>
        </p:nvSpPr>
        <p:spPr>
          <a:xfrm>
            <a:off x="548640" y="2240280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Problema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2336841"/>
            <a:ext cx="245791" cy="24579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Problema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58775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Enviar dinero entre países cuesta 6.49% en promedio, tarda y deja grietas para el fraude y el lavado.</a:t>
            </a:r>
            <a:endParaRPr lang="en-US" sz="1300" dirty="0"/>
          </a:p>
        </p:txBody>
      </p:sp>
      <p:sp>
        <p:nvSpPr>
          <p:cNvPr id="11" name="Solución círculo"/>
          <p:cNvSpPr/>
          <p:nvPr/>
        </p:nvSpPr>
        <p:spPr>
          <a:xfrm>
            <a:off x="548640" y="353872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Solución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63528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35387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Solución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38862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Tres capas de IA: screening OFAC con fuzzy matching, XGBoost antifraude/AML que congela lo sospechoso con explicación de Granite, y liquidación instantánea. PII cifrada y tokenizada.</a:t>
            </a:r>
            <a:endParaRPr lang="en-US" sz="1300" dirty="0"/>
          </a:p>
        </p:txBody>
      </p:sp>
      <p:sp>
        <p:nvSpPr>
          <p:cNvPr id="15" name="MVP en 24 h círculo"/>
          <p:cNvSpPr/>
          <p:nvPr/>
        </p:nvSpPr>
        <p:spPr>
          <a:xfrm>
            <a:off x="548640" y="4837176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MVP en 24 h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493373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483717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MVP en 24 h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518464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Red simulada MX–EE. UU.–CO con datos sintéticos (smurfing, layering), tres escenarios en vivo y métricas en LinuxONE.</a:t>
            </a:r>
            <a:endParaRPr lang="en-US" sz="1300" dirty="0"/>
          </a:p>
        </p:txBody>
      </p:sp>
      <p:sp>
        <p:nvSpPr>
          <p:cNvPr id="19" name="Puntaje"/>
          <p:cNvSpPr/>
          <p:nvPr/>
        </p:nvSpPr>
        <p:spPr>
          <a:xfrm>
            <a:off x="6583680" y="1691640"/>
            <a:ext cx="5056632" cy="4434840"/>
          </a:xfrm>
          <a:prstGeom prst="roundRect">
            <a:avLst>
              <a:gd name="adj" fmla="val 2062"/>
            </a:avLst>
          </a:prstGeom>
          <a:solidFill>
            <a:schemeClr val="tx2"/>
          </a:solidFill>
          <a:ln w="9525">
            <a:solidFill>
              <a:schemeClr val="accent4">
                <a:alpha val="60000"/>
              </a:scheme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29.3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 / 40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0177272" y="21762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#1 de 11</a:t>
            </a:r>
            <a:endParaRPr lang="en-US" sz="1600" dirty="0"/>
          </a:p>
        </p:txBody>
      </p:sp>
      <p:graphicFrame>
        <p:nvGraphicFramePr>
          <p:cNvPr id="22" name="Criterios Remesas + OFAC/AML" descr=""/>
          <p:cNvGraphicFramePr/>
          <p:nvPr/>
        </p:nvGraphicFramePr>
        <p:xfrm>
          <a:off x="6720840" y="2514600"/>
          <a:ext cx="478231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 17"/>
          <p:cNvSpPr txBox="1"/>
          <p:nvPr/>
        </p:nvSpPr>
        <p:spPr>
          <a:xfrm>
            <a:off x="6858000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13.7 / 20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0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IA Innovation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8394192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3.0 / 5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8394192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Factibilidad 24 h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930384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31 · 29 · 28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930384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Jueces 1 · 2 · 3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858000" y="50292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Usa a fondo IBM Z: multimodelo + Granite + AES-GCM con CPACF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858000" y="54864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–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Alcance amplio: riesgo de entregar tres capas a medias</a:t>
            </a:r>
            <a:endParaRPr lang="en-US" sz="1200" dirty="0"/>
          </a:p>
        </p:txBody>
      </p:sp>
      <p:sp>
        <p:nvSpPr>
          <p:cNvPr id="31" name="Ganadora de juez"/>
          <p:cNvSpPr/>
          <p:nvPr/>
        </p:nvSpPr>
        <p:spPr>
          <a:xfrm>
            <a:off x="9308592" y="1828800"/>
            <a:ext cx="2057400" cy="292608"/>
          </a:xfrm>
          <a:prstGeom prst="roundRect">
            <a:avLst>
              <a:gd name="adj" fmla="val 50000"/>
            </a:avLst>
          </a:prstGeom>
          <a:solidFill>
            <a:schemeClr val="accent2">
              <a:alpha val="4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9308592" y="18288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Ganadora · Juez IBM Z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IDEA 02 DE 11  ·  RANKING #2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Diagnóstico sobre datos cifrados</a:t>
            </a:r>
            <a:endParaRPr lang="en-US" sz="3000" dirty="0"/>
          </a:p>
        </p:txBody>
      </p:sp>
      <p:sp>
        <p:nvSpPr>
          <p:cNvPr id="4" name="tema T2"/>
          <p:cNvSpPr/>
          <p:nvPr/>
        </p:nvSpPr>
        <p:spPr>
          <a:xfrm>
            <a:off x="548640" y="1691640"/>
            <a:ext cx="429768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 w="9525">
            <a:solidFill>
              <a:schemeClr val="accent1">
                <a:alpha val="8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29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169164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AI Secured: Innovation Without Exposure</a:t>
            </a:r>
            <a:endParaRPr lang="en-US" sz="1100" dirty="0"/>
          </a:p>
        </p:txBody>
      </p:sp>
      <p:sp>
        <p:nvSpPr>
          <p:cNvPr id="7" name="Problema círculo"/>
          <p:cNvSpPr/>
          <p:nvPr/>
        </p:nvSpPr>
        <p:spPr>
          <a:xfrm>
            <a:off x="548640" y="2240280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Problema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2336841"/>
            <a:ext cx="245791" cy="24579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Problema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58775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Los datos clínicos casi nunca se comparten para entrenar modelos, y la diabetes es una de las principales causas de muerte en México.</a:t>
            </a:r>
            <a:endParaRPr lang="en-US" sz="1300" dirty="0"/>
          </a:p>
        </p:txBody>
      </p:sp>
      <p:sp>
        <p:nvSpPr>
          <p:cNvPr id="11" name="Solución círculo"/>
          <p:cNvSpPr/>
          <p:nvPr/>
        </p:nvSpPr>
        <p:spPr>
          <a:xfrm>
            <a:off x="548640" y="353872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Solución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63528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35387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Solución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38862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Predicción de riesgo de diabetes sobre datos que el equipo nunca ve en claro: cifrado homomórfico CKKS o entorno protegido.</a:t>
            </a:r>
            <a:endParaRPr lang="en-US" sz="1300" dirty="0"/>
          </a:p>
        </p:txBody>
      </p:sp>
      <p:sp>
        <p:nvSpPr>
          <p:cNvPr id="15" name="MVP en 24 h círculo"/>
          <p:cNvSpPr/>
          <p:nvPr/>
        </p:nvSpPr>
        <p:spPr>
          <a:xfrm>
            <a:off x="548640" y="4837176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MVP en 24 h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493373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483717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MVP en 24 h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518464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Pantalla dividida: el servidor ve datos cifrados y el hospital, predicciones; AUC cifrado vs. en claro. Datos: CDC Diabetes Health Indicators.</a:t>
            </a:r>
            <a:endParaRPr lang="en-US" sz="1300" dirty="0"/>
          </a:p>
        </p:txBody>
      </p:sp>
      <p:sp>
        <p:nvSpPr>
          <p:cNvPr id="19" name="Puntaje"/>
          <p:cNvSpPr/>
          <p:nvPr/>
        </p:nvSpPr>
        <p:spPr>
          <a:xfrm>
            <a:off x="6583680" y="1691640"/>
            <a:ext cx="5056632" cy="4434840"/>
          </a:xfrm>
          <a:prstGeom prst="roundRect">
            <a:avLst>
              <a:gd name="adj" fmla="val 2062"/>
            </a:avLst>
          </a:prstGeom>
          <a:solidFill>
            <a:schemeClr val="tx2"/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29.0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 / 40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0177272" y="21762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#2 de 11</a:t>
            </a:r>
            <a:endParaRPr lang="en-US" sz="1600" dirty="0"/>
          </a:p>
        </p:txBody>
      </p:sp>
      <p:graphicFrame>
        <p:nvGraphicFramePr>
          <p:cNvPr id="22" name="Criterios Diabetes cifrada" descr=""/>
          <p:cNvGraphicFramePr/>
          <p:nvPr/>
        </p:nvGraphicFramePr>
        <p:xfrm>
          <a:off x="6720840" y="2514600"/>
          <a:ext cx="478231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 17"/>
          <p:cNvSpPr txBox="1"/>
          <p:nvPr/>
        </p:nvSpPr>
        <p:spPr>
          <a:xfrm>
            <a:off x="6858000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15.0 / 20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0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IA Innovation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8394192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2.7 / 5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8394192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Factibilidad 24 h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930384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29 · 29 · 29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930384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Jueces 1 · 2 · 3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858000" y="50292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Demuestra la privacidad con una métrica: AUC cifrado vs. en claro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858000" y="54864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–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TenSEAL/SEAL puede no compilar en s390x y frenar todo</a:t>
            </a:r>
            <a:endParaRPr lang="en-US" sz="1200" dirty="0"/>
          </a:p>
        </p:txBody>
      </p:sp>
      <p:sp>
        <p:nvSpPr>
          <p:cNvPr id="31" name="Ganadora de juez"/>
          <p:cNvSpPr/>
          <p:nvPr/>
        </p:nvSpPr>
        <p:spPr>
          <a:xfrm>
            <a:off x="9308592" y="1828800"/>
            <a:ext cx="2057400" cy="292608"/>
          </a:xfrm>
          <a:prstGeom prst="roundRect">
            <a:avLst>
              <a:gd name="adj" fmla="val 50000"/>
            </a:avLst>
          </a:prstGeom>
          <a:solidFill>
            <a:schemeClr val="accent2">
              <a:alpha val="4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9308592" y="18288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Ganadora · Juez Innovación 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IDEA 03 DE 11  ·  RANKING #3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Antifraude federado en remesas</a:t>
            </a:r>
            <a:endParaRPr lang="en-US" sz="3000" dirty="0"/>
          </a:p>
        </p:txBody>
      </p:sp>
      <p:sp>
        <p:nvSpPr>
          <p:cNvPr id="4" name="tema T2"/>
          <p:cNvSpPr/>
          <p:nvPr/>
        </p:nvSpPr>
        <p:spPr>
          <a:xfrm>
            <a:off x="548640" y="1691640"/>
            <a:ext cx="429768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 w="9525">
            <a:solidFill>
              <a:schemeClr val="accent1">
                <a:alpha val="8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29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169164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AI Secured: Innovation Without Exposure</a:t>
            </a:r>
            <a:endParaRPr lang="en-US" sz="1100" dirty="0"/>
          </a:p>
        </p:txBody>
      </p:sp>
      <p:sp>
        <p:nvSpPr>
          <p:cNvPr id="7" name="Problema círculo"/>
          <p:cNvSpPr/>
          <p:nvPr/>
        </p:nvSpPr>
        <p:spPr>
          <a:xfrm>
            <a:off x="548640" y="2240280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Problema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2336841"/>
            <a:ext cx="245791" cy="24579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Problema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58775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Cada banco ve solo su parte del fraude y no puede compartir transacciones con los demás.</a:t>
            </a:r>
            <a:endParaRPr lang="en-US" sz="1300" dirty="0"/>
          </a:p>
        </p:txBody>
      </p:sp>
      <p:sp>
        <p:nvSpPr>
          <p:cNvPr id="11" name="Solución círculo"/>
          <p:cNvSpPr/>
          <p:nvPr/>
        </p:nvSpPr>
        <p:spPr>
          <a:xfrm>
            <a:off x="548640" y="353872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Solución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63528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35387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Solución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38862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Tres bancos simulados entrenan juntos con FedAvg: solo viajan los pesos del modelo, nunca las transacciones; privacidad diferencial opcional.</a:t>
            </a:r>
            <a:endParaRPr lang="en-US" sz="1300" dirty="0"/>
          </a:p>
        </p:txBody>
      </p:sp>
      <p:sp>
        <p:nvSpPr>
          <p:cNvPr id="15" name="MVP en 24 h círculo"/>
          <p:cNvSpPr/>
          <p:nvPr/>
        </p:nvSpPr>
        <p:spPr>
          <a:xfrm>
            <a:off x="548640" y="4837176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MVP en 24 h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493373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483717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MVP en 24 h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518464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Tres paneles con el recall de cada banco subiendo ronda a ronda y un agregador que solo recibe vectores de pesos. Datos: PaySim.</a:t>
            </a:r>
            <a:endParaRPr lang="en-US" sz="1300" dirty="0"/>
          </a:p>
        </p:txBody>
      </p:sp>
      <p:sp>
        <p:nvSpPr>
          <p:cNvPr id="19" name="Puntaje"/>
          <p:cNvSpPr/>
          <p:nvPr/>
        </p:nvSpPr>
        <p:spPr>
          <a:xfrm>
            <a:off x="6583680" y="1691640"/>
            <a:ext cx="5056632" cy="4434840"/>
          </a:xfrm>
          <a:prstGeom prst="roundRect">
            <a:avLst>
              <a:gd name="adj" fmla="val 2062"/>
            </a:avLst>
          </a:prstGeom>
          <a:solidFill>
            <a:schemeClr val="tx2"/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28.3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 / 40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0177272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#3 de 11</a:t>
            </a:r>
            <a:endParaRPr lang="en-US" sz="1600" dirty="0"/>
          </a:p>
        </p:txBody>
      </p:sp>
      <p:graphicFrame>
        <p:nvGraphicFramePr>
          <p:cNvPr id="22" name="Criterios Antifraude federado" descr=""/>
          <p:cNvGraphicFramePr/>
          <p:nvPr/>
        </p:nvGraphicFramePr>
        <p:xfrm>
          <a:off x="6720840" y="2514600"/>
          <a:ext cx="478231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 17"/>
          <p:cNvSpPr txBox="1"/>
          <p:nvPr/>
        </p:nvSpPr>
        <p:spPr>
          <a:xfrm>
            <a:off x="6858000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13.0 / 20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0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IA Innovation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8394192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4.0 / 5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8394192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Factibilidad 24 h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930384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31 · 27 · 27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930384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Jueces 1 · 2 · 3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858000" y="50292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Demo muy visual: el recall de cada banco sube por ronda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858000" y="54864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–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FedAvg sobre fraude es un clásico de hackatón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IDEA 04 DE 11  ·  RANKING #4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Escudo antifraude SPEI</a:t>
            </a:r>
            <a:endParaRPr lang="en-US" sz="3000" dirty="0"/>
          </a:p>
        </p:txBody>
      </p:sp>
      <p:sp>
        <p:nvSpPr>
          <p:cNvPr id="4" name="tema T1"/>
          <p:cNvSpPr/>
          <p:nvPr/>
        </p:nvSpPr>
        <p:spPr>
          <a:xfrm>
            <a:off x="548640" y="1691640"/>
            <a:ext cx="429768" cy="310896"/>
          </a:xfrm>
          <a:prstGeom prst="roundRect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 w="9525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29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169164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Real-Time AI for Critical Decisions</a:t>
            </a:r>
            <a:endParaRPr lang="en-US" sz="1100" dirty="0"/>
          </a:p>
        </p:txBody>
      </p:sp>
      <p:sp>
        <p:nvSpPr>
          <p:cNvPr id="7" name="Problema círculo"/>
          <p:cNvSpPr/>
          <p:nvPr/>
        </p:nvSpPr>
        <p:spPr>
          <a:xfrm>
            <a:off x="548640" y="2240280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Problema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2336841"/>
            <a:ext cx="245791" cy="24579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Problema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58775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Las transferencias SPEI son instantáneas e irreversibles: blanco de vendedores falsos y llamadas de «tu cuenta fue comprometida».</a:t>
            </a:r>
            <a:endParaRPr lang="en-US" sz="1300" dirty="0"/>
          </a:p>
        </p:txBody>
      </p:sp>
      <p:sp>
        <p:nvSpPr>
          <p:cNvPr id="11" name="Solución círculo"/>
          <p:cNvSpPr/>
          <p:nvPr/>
        </p:nvSpPr>
        <p:spPr>
          <a:xfrm>
            <a:off x="548640" y="353872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Solución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63528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35387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Solución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38862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Scoring en tiempo real (beneficiario nuevo, monto inusual, hora, antigüedad de la cuenta destino) que avisa al usuario antes de confirmar.</a:t>
            </a:r>
            <a:endParaRPr lang="en-US" sz="1300" dirty="0"/>
          </a:p>
        </p:txBody>
      </p:sp>
      <p:sp>
        <p:nvSpPr>
          <p:cNvPr id="15" name="MVP en 24 h círculo"/>
          <p:cNvSpPr/>
          <p:nvPr/>
        </p:nvSpPr>
        <p:spPr>
          <a:xfrm>
            <a:off x="548640" y="4837176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MVP en 24 h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493373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483717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MVP en 24 h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518464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Flujo sintético de transacciones, Isolation Forest + XGBoost y pantalla de app bancaria con la advertencia.</a:t>
            </a:r>
            <a:endParaRPr lang="en-US" sz="1300" dirty="0"/>
          </a:p>
        </p:txBody>
      </p:sp>
      <p:sp>
        <p:nvSpPr>
          <p:cNvPr id="19" name="Puntaje"/>
          <p:cNvSpPr/>
          <p:nvPr/>
        </p:nvSpPr>
        <p:spPr>
          <a:xfrm>
            <a:off x="6583680" y="1691640"/>
            <a:ext cx="5056632" cy="4434840"/>
          </a:xfrm>
          <a:prstGeom prst="roundRect">
            <a:avLst>
              <a:gd name="adj" fmla="val 2062"/>
            </a:avLst>
          </a:prstGeom>
          <a:solidFill>
            <a:schemeClr val="tx2"/>
          </a:solidFill>
          <a:ln w="9525">
            <a:solidFill>
              <a:schemeClr val="accent4">
                <a:alpha val="60000"/>
              </a:scheme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28.0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 / 40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0177272" y="21762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#4 de 11</a:t>
            </a:r>
            <a:endParaRPr lang="en-US" sz="1600" dirty="0"/>
          </a:p>
        </p:txBody>
      </p:sp>
      <p:graphicFrame>
        <p:nvGraphicFramePr>
          <p:cNvPr id="22" name="Criterios Escudo SPEI" descr=""/>
          <p:cNvGraphicFramePr/>
          <p:nvPr/>
        </p:nvGraphicFramePr>
        <p:xfrm>
          <a:off x="6720840" y="2514600"/>
          <a:ext cx="478231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 17"/>
          <p:cNvSpPr txBox="1"/>
          <p:nvPr/>
        </p:nvSpPr>
        <p:spPr>
          <a:xfrm>
            <a:off x="6858000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12.0 / 20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0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IA Innovation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8394192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4.7 / 5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8394192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Factibilidad 24 h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930384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29 · 30 · 25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930384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Jueces 1 · 2 · 3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858000" y="50292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Víctima concreta; la advertencia antes de confirmar luce en video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858000" y="54864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–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Scoring de fraude conocido; la novedad es la intervención</a:t>
            </a:r>
            <a:endParaRPr lang="en-US" sz="1200" dirty="0"/>
          </a:p>
        </p:txBody>
      </p:sp>
      <p:sp>
        <p:nvSpPr>
          <p:cNvPr id="31" name="Ganadora de juez"/>
          <p:cNvSpPr/>
          <p:nvPr/>
        </p:nvSpPr>
        <p:spPr>
          <a:xfrm>
            <a:off x="9308592" y="1828800"/>
            <a:ext cx="2057400" cy="292608"/>
          </a:xfrm>
          <a:prstGeom prst="roundRect">
            <a:avLst>
              <a:gd name="adj" fmla="val 50000"/>
            </a:avLst>
          </a:prstGeom>
          <a:solidFill>
            <a:schemeClr val="accent2">
              <a:alpha val="40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9308592" y="18288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Ganadora · Juez AI for Good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IDEA 05 DE 11  ·  RANKING #5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Escáner post-cuántico para banca</a:t>
            </a:r>
            <a:endParaRPr lang="en-US" sz="3000" dirty="0"/>
          </a:p>
        </p:txBody>
      </p:sp>
      <p:sp>
        <p:nvSpPr>
          <p:cNvPr id="4" name="tema T2"/>
          <p:cNvSpPr/>
          <p:nvPr/>
        </p:nvSpPr>
        <p:spPr>
          <a:xfrm>
            <a:off x="548640" y="1691640"/>
            <a:ext cx="429768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 w="9525">
            <a:solidFill>
              <a:schemeClr val="accent1">
                <a:alpha val="8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29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169164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AI Secured: Innovation Without Exposure</a:t>
            </a:r>
            <a:endParaRPr lang="en-US" sz="1100" dirty="0"/>
          </a:p>
        </p:txBody>
      </p:sp>
      <p:sp>
        <p:nvSpPr>
          <p:cNvPr id="7" name="Problema círculo"/>
          <p:cNvSpPr/>
          <p:nvPr/>
        </p:nvSpPr>
        <p:spPr>
          <a:xfrm>
            <a:off x="548640" y="2240280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Problema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2336841"/>
            <a:ext cx="245791" cy="24579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Problema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58775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Los ataques «cosechar ahora, descifrar después» amenazan datos bancarios que deben seguir secretos por años.</a:t>
            </a:r>
            <a:endParaRPr lang="en-US" sz="1300" dirty="0"/>
          </a:p>
        </p:txBody>
      </p:sp>
      <p:sp>
        <p:nvSpPr>
          <p:cNvPr id="11" name="Solución círculo"/>
          <p:cNvSpPr/>
          <p:nvPr/>
        </p:nvSpPr>
        <p:spPr>
          <a:xfrm>
            <a:off x="548640" y="353872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Solución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63528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35387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Solución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38862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Escanea TLS, certificados y código para inventariar RSA/ECC y prioriza la migración a ML-KEM y ML-DSA (NIST).</a:t>
            </a:r>
            <a:endParaRPr lang="en-US" sz="1300" dirty="0"/>
          </a:p>
        </p:txBody>
      </p:sp>
      <p:sp>
        <p:nvSpPr>
          <p:cNvPr id="15" name="MVP en 24 h círculo"/>
          <p:cNvSpPr/>
          <p:nvPr/>
        </p:nvSpPr>
        <p:spPr>
          <a:xfrm>
            <a:off x="548640" y="4837176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MVP en 24 h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493373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483717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MVP en 24 h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518464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Ingresar un dominio o repo y obtener inventario criptográfico, score de riesgo y plan de migración en español generado por LLM.</a:t>
            </a:r>
            <a:endParaRPr lang="en-US" sz="1300" dirty="0"/>
          </a:p>
        </p:txBody>
      </p:sp>
      <p:sp>
        <p:nvSpPr>
          <p:cNvPr id="19" name="Puntaje"/>
          <p:cNvSpPr/>
          <p:nvPr/>
        </p:nvSpPr>
        <p:spPr>
          <a:xfrm>
            <a:off x="6583680" y="1691640"/>
            <a:ext cx="5056632" cy="4434840"/>
          </a:xfrm>
          <a:prstGeom prst="roundRect">
            <a:avLst>
              <a:gd name="adj" fmla="val 2062"/>
            </a:avLst>
          </a:prstGeom>
          <a:solidFill>
            <a:schemeClr val="tx2"/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27.3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 / 40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0177272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#5 de 11</a:t>
            </a:r>
            <a:endParaRPr lang="en-US" sz="1600" dirty="0"/>
          </a:p>
        </p:txBody>
      </p:sp>
      <p:graphicFrame>
        <p:nvGraphicFramePr>
          <p:cNvPr id="22" name="Criterios Escáner post-cuántico" descr=""/>
          <p:cNvGraphicFramePr/>
          <p:nvPr/>
        </p:nvGraphicFramePr>
        <p:xfrm>
          <a:off x="6720840" y="2514600"/>
          <a:ext cx="478231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 17"/>
          <p:cNvSpPr txBox="1"/>
          <p:nvPr/>
        </p:nvSpPr>
        <p:spPr>
          <a:xfrm>
            <a:off x="6858000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10.7 / 20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0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IA Innovation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8394192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3.7 / 5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8394192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Factibilidad 24 h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930384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28 · 27 · 27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930384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Jueces 1 · 2 · 3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858000" y="50292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Original y alineado con la narrativa quantum-safe de IBM Z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858000" y="54864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–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La IA es marginal: escaneo determinista y el LLM solo redacta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IDEA 06 DE 11  ·  RANKING #6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Asistente privado para personas vulnerables</a:t>
            </a:r>
            <a:endParaRPr lang="en-US" sz="3000" dirty="0"/>
          </a:p>
        </p:txBody>
      </p:sp>
      <p:sp>
        <p:nvSpPr>
          <p:cNvPr id="4" name="tema T2"/>
          <p:cNvSpPr/>
          <p:nvPr/>
        </p:nvSpPr>
        <p:spPr>
          <a:xfrm>
            <a:off x="548640" y="1691640"/>
            <a:ext cx="429768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 w="9525">
            <a:solidFill>
              <a:schemeClr val="accent1">
                <a:alpha val="8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29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169164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AI Secured: Innovation Without Exposure</a:t>
            </a:r>
            <a:endParaRPr lang="en-US" sz="1100" dirty="0"/>
          </a:p>
        </p:txBody>
      </p:sp>
      <p:sp>
        <p:nvSpPr>
          <p:cNvPr id="7" name="Problema círculo"/>
          <p:cNvSpPr/>
          <p:nvPr/>
        </p:nvSpPr>
        <p:spPr>
          <a:xfrm>
            <a:off x="548640" y="2240280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Problema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2336841"/>
            <a:ext cx="245791" cy="24579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Problema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58775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Víctimas de violencia, migrantes o personas con problemas de salud mental no piden ayuda por miedo a quedar registradas.</a:t>
            </a:r>
            <a:endParaRPr lang="en-US" sz="1300" dirty="0"/>
          </a:p>
        </p:txBody>
      </p:sp>
      <p:sp>
        <p:nvSpPr>
          <p:cNvPr id="11" name="Solución círculo"/>
          <p:cNvSpPr/>
          <p:nvPr/>
        </p:nvSpPr>
        <p:spPr>
          <a:xfrm>
            <a:off x="548640" y="353872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Solución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63528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35387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Solución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38862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Chatbot de orientación con consultas cifradas y cero logs en claro, que deriva a canales oficiales verificados.</a:t>
            </a:r>
            <a:endParaRPr lang="en-US" sz="1300" dirty="0"/>
          </a:p>
        </p:txBody>
      </p:sp>
      <p:sp>
        <p:nvSpPr>
          <p:cNvPr id="15" name="MVP en 24 h círculo"/>
          <p:cNvSpPr/>
          <p:nvPr/>
        </p:nvSpPr>
        <p:spPr>
          <a:xfrm>
            <a:off x="548640" y="4837176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MVP en 24 h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493373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483717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MVP en 24 h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518464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Clasificación de intenciones + recuperación sobre una base curada; vista del usuario vs. vista del administrador (solo texto cifrado).</a:t>
            </a:r>
            <a:endParaRPr lang="en-US" sz="1300" dirty="0"/>
          </a:p>
        </p:txBody>
      </p:sp>
      <p:sp>
        <p:nvSpPr>
          <p:cNvPr id="19" name="Puntaje"/>
          <p:cNvSpPr/>
          <p:nvPr/>
        </p:nvSpPr>
        <p:spPr>
          <a:xfrm>
            <a:off x="6583680" y="1691640"/>
            <a:ext cx="5056632" cy="4434840"/>
          </a:xfrm>
          <a:prstGeom prst="roundRect">
            <a:avLst>
              <a:gd name="adj" fmla="val 2062"/>
            </a:avLst>
          </a:prstGeom>
          <a:solidFill>
            <a:schemeClr val="tx2"/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26.7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 / 40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0177272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#6 de 11</a:t>
            </a:r>
            <a:endParaRPr lang="en-US" sz="1600" dirty="0"/>
          </a:p>
        </p:txBody>
      </p:sp>
      <p:graphicFrame>
        <p:nvGraphicFramePr>
          <p:cNvPr id="22" name="Criterios Asistente privado" descr=""/>
          <p:cNvGraphicFramePr/>
          <p:nvPr/>
        </p:nvGraphicFramePr>
        <p:xfrm>
          <a:off x="6720840" y="2514600"/>
          <a:ext cx="478231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 17"/>
          <p:cNvSpPr txBox="1"/>
          <p:nvPr/>
        </p:nvSpPr>
        <p:spPr>
          <a:xfrm>
            <a:off x="6858000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10.0 / 20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0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IA Innovation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8394192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4.0 / 5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8394192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Factibilidad 24 h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930384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27 · 28 · 25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930384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Jueces 1 · 2 · 3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858000" y="50292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El mayor impacto humano del lote; demo de dos vistas potente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858000" y="54864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–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Si es de extremo a extremo, ¿dónde corre la IA? IA ligera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IDEA 07 DE 11  ·  RANKING #7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Triage para urgencias saturadas</a:t>
            </a:r>
            <a:endParaRPr lang="en-US" sz="3000" dirty="0"/>
          </a:p>
        </p:txBody>
      </p:sp>
      <p:sp>
        <p:nvSpPr>
          <p:cNvPr id="4" name="tema T1"/>
          <p:cNvSpPr/>
          <p:nvPr/>
        </p:nvSpPr>
        <p:spPr>
          <a:xfrm>
            <a:off x="548640" y="1691640"/>
            <a:ext cx="429768" cy="310896"/>
          </a:xfrm>
          <a:prstGeom prst="roundRect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 w="9525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29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169164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Real-Time AI for Critical Decisions</a:t>
            </a:r>
            <a:endParaRPr lang="en-US" sz="1100" dirty="0"/>
          </a:p>
        </p:txBody>
      </p:sp>
      <p:sp>
        <p:nvSpPr>
          <p:cNvPr id="7" name="Problema círculo"/>
          <p:cNvSpPr/>
          <p:nvPr/>
        </p:nvSpPr>
        <p:spPr>
          <a:xfrm>
            <a:off x="548640" y="2240280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Problema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2336841"/>
            <a:ext cx="245791" cy="24579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Problema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58775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Las urgencias del IMSS e ISSSTE se saturan y el triage depende del juicio manual bajo presión.</a:t>
            </a:r>
            <a:endParaRPr lang="en-US" sz="1300" dirty="0"/>
          </a:p>
        </p:txBody>
      </p:sp>
      <p:sp>
        <p:nvSpPr>
          <p:cNvPr id="11" name="Solución círculo"/>
          <p:cNvSpPr/>
          <p:nvPr/>
        </p:nvSpPr>
        <p:spPr>
          <a:xfrm>
            <a:off x="548640" y="353872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Solución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63528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35387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Solución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38862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Tablero que ordena la fila con una escala tipo Manchester y re-prioriza en tiempo real cuando empeoran los signos vitales.</a:t>
            </a:r>
            <a:endParaRPr lang="en-US" sz="1300" dirty="0"/>
          </a:p>
        </p:txBody>
      </p:sp>
      <p:sp>
        <p:nvSpPr>
          <p:cNvPr id="15" name="MVP en 24 h círculo"/>
          <p:cNvSpPr/>
          <p:nvPr/>
        </p:nvSpPr>
        <p:spPr>
          <a:xfrm>
            <a:off x="548640" y="4837176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MVP en 24 h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493373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483717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MVP en 24 h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518464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Fila simulada que se reordena en vivo con explicación por nivel; apoyo a la decisión, no reemplazo del clínico.</a:t>
            </a:r>
            <a:endParaRPr lang="en-US" sz="1300" dirty="0"/>
          </a:p>
        </p:txBody>
      </p:sp>
      <p:sp>
        <p:nvSpPr>
          <p:cNvPr id="19" name="Puntaje"/>
          <p:cNvSpPr/>
          <p:nvPr/>
        </p:nvSpPr>
        <p:spPr>
          <a:xfrm>
            <a:off x="6583680" y="1691640"/>
            <a:ext cx="5056632" cy="4434840"/>
          </a:xfrm>
          <a:prstGeom prst="roundRect">
            <a:avLst>
              <a:gd name="adj" fmla="val 2062"/>
            </a:avLst>
          </a:prstGeom>
          <a:solidFill>
            <a:schemeClr val="tx2"/>
          </a:solidFill>
          <a:ln w="9525">
            <a:solidFill>
              <a:schemeClr val="accent4">
                <a:alpha val="60000"/>
              </a:scheme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24.3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 / 40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0177272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#7 de 11</a:t>
            </a:r>
            <a:endParaRPr lang="en-US" sz="1600" dirty="0"/>
          </a:p>
        </p:txBody>
      </p:sp>
      <p:graphicFrame>
        <p:nvGraphicFramePr>
          <p:cNvPr id="22" name="Criterios Triage urgencias" descr=""/>
          <p:cNvGraphicFramePr/>
          <p:nvPr/>
        </p:nvGraphicFramePr>
        <p:xfrm>
          <a:off x="6720840" y="2514600"/>
          <a:ext cx="478231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 17"/>
          <p:cNvSpPr txBox="1"/>
          <p:nvPr/>
        </p:nvSpPr>
        <p:spPr>
          <a:xfrm>
            <a:off x="6858000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8.7 / 20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0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IA Innovation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8394192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4.0 / 5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8394192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Factibilidad 24 h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930384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25 · 27 · 21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930384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Jueces 1 · 2 · 3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858000" y="50292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Problema de vida o muerte y demo intuitiva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858000" y="54864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–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Manchester es un protocolo de reglas; idea muy vista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IDEA 08 DE 11  ·  RANKING #8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Anonimizador de documentos mexicanos</a:t>
            </a:r>
            <a:endParaRPr lang="en-US" sz="3000" dirty="0"/>
          </a:p>
        </p:txBody>
      </p:sp>
      <p:sp>
        <p:nvSpPr>
          <p:cNvPr id="4" name="tema T2"/>
          <p:cNvSpPr/>
          <p:nvPr/>
        </p:nvSpPr>
        <p:spPr>
          <a:xfrm>
            <a:off x="548640" y="1691640"/>
            <a:ext cx="429768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 w="9525">
            <a:solidFill>
              <a:schemeClr val="accent1">
                <a:alpha val="8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29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169164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AI Secured: Innovation Without Exposure</a:t>
            </a:r>
            <a:endParaRPr lang="en-US" sz="1100" dirty="0"/>
          </a:p>
        </p:txBody>
      </p:sp>
      <p:sp>
        <p:nvSpPr>
          <p:cNvPr id="7" name="Problema círculo"/>
          <p:cNvSpPr/>
          <p:nvPr/>
        </p:nvSpPr>
        <p:spPr>
          <a:xfrm>
            <a:off x="548640" y="2240280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Problema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2336841"/>
            <a:ext cx="245791" cy="24579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Problema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58775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Las empresas manejan CURP, RFC, INE, CLABE y domicilios sujetos a la ley de protección de datos personales.</a:t>
            </a:r>
            <a:endParaRPr lang="en-US" sz="1300" dirty="0"/>
          </a:p>
        </p:txBody>
      </p:sp>
      <p:sp>
        <p:nvSpPr>
          <p:cNvPr id="11" name="Solución círculo"/>
          <p:cNvSpPr/>
          <p:nvPr/>
        </p:nvSpPr>
        <p:spPr>
          <a:xfrm>
            <a:off x="548640" y="353872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Solución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63528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35387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Solución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38862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Detecta y enmascara identificadores mexicanos en documentos y hojas de cálculo, y permite análisis agregado sin exponer personas.</a:t>
            </a:r>
            <a:endParaRPr lang="en-US" sz="1300" dirty="0"/>
          </a:p>
        </p:txBody>
      </p:sp>
      <p:sp>
        <p:nvSpPr>
          <p:cNvPr id="15" name="MVP en 24 h círculo"/>
          <p:cNvSpPr/>
          <p:nvPr/>
        </p:nvSpPr>
        <p:spPr>
          <a:xfrm>
            <a:off x="548640" y="4837176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MVP en 24 h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493373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483717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MVP en 24 h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518464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Subir PDF o CSV y obtener la versión redactada + reporte de privacidad; regex + NER.</a:t>
            </a:r>
            <a:endParaRPr lang="en-US" sz="1300" dirty="0"/>
          </a:p>
        </p:txBody>
      </p:sp>
      <p:sp>
        <p:nvSpPr>
          <p:cNvPr id="19" name="Puntaje"/>
          <p:cNvSpPr/>
          <p:nvPr/>
        </p:nvSpPr>
        <p:spPr>
          <a:xfrm>
            <a:off x="6583680" y="1691640"/>
            <a:ext cx="5056632" cy="4434840"/>
          </a:xfrm>
          <a:prstGeom prst="roundRect">
            <a:avLst>
              <a:gd name="adj" fmla="val 2062"/>
            </a:avLst>
          </a:prstGeom>
          <a:solidFill>
            <a:schemeClr val="tx2"/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22.3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 / 40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0177272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#8 de 11</a:t>
            </a:r>
            <a:endParaRPr lang="en-US" sz="1600" dirty="0"/>
          </a:p>
        </p:txBody>
      </p:sp>
      <p:graphicFrame>
        <p:nvGraphicFramePr>
          <p:cNvPr id="22" name="Criterios Anonimizador MX" descr=""/>
          <p:cNvGraphicFramePr/>
          <p:nvPr/>
        </p:nvGraphicFramePr>
        <p:xfrm>
          <a:off x="6720840" y="2514600"/>
          <a:ext cx="478231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 17"/>
          <p:cNvSpPr txBox="1"/>
          <p:nvPr/>
        </p:nvSpPr>
        <p:spPr>
          <a:xfrm>
            <a:off x="6858000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8.7 / 20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0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IA Innovation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8394192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4.7 / 5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8394192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Factibilidad 24 h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930384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24 · 23 · 20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930384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Jueces 1 · 2 · 3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858000" y="50292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Muy factible y con identidad mexicana (CURP, RFC, CLABE)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858000" y="54864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–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Equivale a Presidio + regex; poca novedad de 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IDEA 09 DE 11  ·  RANKING #9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Detector de facturas falsas (CFDI)</a:t>
            </a:r>
            <a:endParaRPr lang="en-US" sz="3000" dirty="0"/>
          </a:p>
        </p:txBody>
      </p:sp>
      <p:sp>
        <p:nvSpPr>
          <p:cNvPr id="4" name="tema T3 · T1"/>
          <p:cNvSpPr/>
          <p:nvPr/>
        </p:nvSpPr>
        <p:spPr>
          <a:xfrm>
            <a:off x="548640" y="1691640"/>
            <a:ext cx="818388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30000"/>
            </a:schemeClr>
          </a:solidFill>
          <a:ln w="9525">
            <a:solidFill>
              <a:schemeClr val="accent3">
                <a:alpha val="8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8183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T3 · T1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476756" y="1691640"/>
            <a:ext cx="45582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2 de 3 jueces: T3.</a:t>
            </a:r>
            <a:endParaRPr lang="en-US" sz="1100" dirty="0"/>
          </a:p>
        </p:txBody>
      </p:sp>
      <p:sp>
        <p:nvSpPr>
          <p:cNvPr id="7" name="Problema círculo"/>
          <p:cNvSpPr/>
          <p:nvPr/>
        </p:nvSpPr>
        <p:spPr>
          <a:xfrm>
            <a:off x="548640" y="2240280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Problema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2336841"/>
            <a:ext cx="245791" cy="24579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Problema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58775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Las empresas fantasma que venden facturas son un gran fraude fiscal; el SAT publica su lista (EFOS).</a:t>
            </a:r>
            <a:endParaRPr lang="en-US" sz="1300" dirty="0"/>
          </a:p>
        </p:txBody>
      </p:sp>
      <p:sp>
        <p:nvSpPr>
          <p:cNvPr id="11" name="Solución círculo"/>
          <p:cNvSpPr/>
          <p:nvPr/>
        </p:nvSpPr>
        <p:spPr>
          <a:xfrm>
            <a:off x="548640" y="353872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Solución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63528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35387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Solución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38862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Analiza los CFDI recibidos y marca proveedores en la lista o con patrones sospechosos: montos redondos, RFC nuevos, conceptos vagos.</a:t>
            </a:r>
            <a:endParaRPr lang="en-US" sz="1300" dirty="0"/>
          </a:p>
        </p:txBody>
      </p:sp>
      <p:sp>
        <p:nvSpPr>
          <p:cNvPr id="15" name="MVP en 24 h círculo"/>
          <p:cNvSpPr/>
          <p:nvPr/>
        </p:nvSpPr>
        <p:spPr>
          <a:xfrm>
            <a:off x="548640" y="4837176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MVP en 24 h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493373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483717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MVP en 24 h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518464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Subir XML de facturas, cruzar con la lista pública y mostrar un reporte de riesgo.</a:t>
            </a:r>
            <a:endParaRPr lang="en-US" sz="1300" dirty="0"/>
          </a:p>
        </p:txBody>
      </p:sp>
      <p:sp>
        <p:nvSpPr>
          <p:cNvPr id="19" name="Puntaje"/>
          <p:cNvSpPr/>
          <p:nvPr/>
        </p:nvSpPr>
        <p:spPr>
          <a:xfrm>
            <a:off x="6583680" y="1691640"/>
            <a:ext cx="5056632" cy="4434840"/>
          </a:xfrm>
          <a:prstGeom prst="roundRect">
            <a:avLst>
              <a:gd name="adj" fmla="val 2062"/>
            </a:avLst>
          </a:prstGeom>
          <a:solidFill>
            <a:schemeClr val="tx2"/>
          </a:solidFill>
          <a:ln w="9525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22.0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 / 40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0177272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#9 de 11</a:t>
            </a:r>
            <a:endParaRPr lang="en-US" sz="1600" dirty="0"/>
          </a:p>
        </p:txBody>
      </p:sp>
      <p:graphicFrame>
        <p:nvGraphicFramePr>
          <p:cNvPr id="22" name="Criterios Facturas falsas CFDI" descr=""/>
          <p:cNvGraphicFramePr/>
          <p:nvPr/>
        </p:nvGraphicFramePr>
        <p:xfrm>
          <a:off x="6720840" y="2514600"/>
          <a:ext cx="478231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 17"/>
          <p:cNvSpPr txBox="1"/>
          <p:nvPr/>
        </p:nvSpPr>
        <p:spPr>
          <a:xfrm>
            <a:off x="6858000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8.0 / 20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0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IA Innovation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8394192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3.7 / 5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8394192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Factibilidad 24 h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930384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20 · 22 · 24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930384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Jueces 1 · 2 · 3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858000" y="50292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Fuente oficial (lista EFOS del SAT) y problema muy local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858000" y="54864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–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Casi todo es cruce de listas: poca IA y sin datos etiquetados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IDEA 10 DE 11  ·  RANKING #10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Fraude en siniestros de auto</a:t>
            </a:r>
            <a:endParaRPr lang="en-US" sz="3000" dirty="0"/>
          </a:p>
        </p:txBody>
      </p:sp>
      <p:sp>
        <p:nvSpPr>
          <p:cNvPr id="4" name="tema T1"/>
          <p:cNvSpPr/>
          <p:nvPr/>
        </p:nvSpPr>
        <p:spPr>
          <a:xfrm>
            <a:off x="548640" y="1691640"/>
            <a:ext cx="429768" cy="310896"/>
          </a:xfrm>
          <a:prstGeom prst="roundRect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 w="9525">
            <a:solidFill>
              <a:schemeClr val="accent4">
                <a:alpha val="8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29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169164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Real-Time AI for Critical Decisions</a:t>
            </a:r>
            <a:endParaRPr lang="en-US" sz="1100" dirty="0"/>
          </a:p>
        </p:txBody>
      </p:sp>
      <p:sp>
        <p:nvSpPr>
          <p:cNvPr id="7" name="Problema círculo"/>
          <p:cNvSpPr/>
          <p:nvPr/>
        </p:nvSpPr>
        <p:spPr>
          <a:xfrm>
            <a:off x="548640" y="2240280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Problema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2336841"/>
            <a:ext cx="245791" cy="24579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Problema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58775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El robo de vehículos y los accidentes simulados son fraudes comunes contra aseguradoras en México.</a:t>
            </a:r>
            <a:endParaRPr lang="en-US" sz="1300" dirty="0"/>
          </a:p>
        </p:txBody>
      </p:sp>
      <p:sp>
        <p:nvSpPr>
          <p:cNvPr id="11" name="Solución círculo"/>
          <p:cNvSpPr/>
          <p:nvPr/>
        </p:nvSpPr>
        <p:spPr>
          <a:xfrm>
            <a:off x="548640" y="353872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Solución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63528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35387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Solución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38862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Recepción de reclamos que marca casos sospechosos: póliza reciente, talleres repetidos, ubicación inconsistente, fotos reutilizadas.</a:t>
            </a:r>
            <a:endParaRPr lang="en-US" sz="1300" dirty="0"/>
          </a:p>
        </p:txBody>
      </p:sp>
      <p:sp>
        <p:nvSpPr>
          <p:cNvPr id="15" name="MVP en 24 h círculo"/>
          <p:cNvSpPr/>
          <p:nvPr/>
        </p:nvSpPr>
        <p:spPr>
          <a:xfrm>
            <a:off x="548640" y="4837176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MVP en 24 h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493373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483717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MVP en 24 h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518464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Formulario de reclamo, score de riesgo con razones y verificación de imágenes por hash perceptual.</a:t>
            </a:r>
            <a:endParaRPr lang="en-US" sz="1300" dirty="0"/>
          </a:p>
        </p:txBody>
      </p:sp>
      <p:sp>
        <p:nvSpPr>
          <p:cNvPr id="19" name="Puntaje"/>
          <p:cNvSpPr/>
          <p:nvPr/>
        </p:nvSpPr>
        <p:spPr>
          <a:xfrm>
            <a:off x="6583680" y="1691640"/>
            <a:ext cx="5056632" cy="4434840"/>
          </a:xfrm>
          <a:prstGeom prst="roundRect">
            <a:avLst>
              <a:gd name="adj" fmla="val 2062"/>
            </a:avLst>
          </a:prstGeom>
          <a:solidFill>
            <a:schemeClr val="tx2"/>
          </a:solidFill>
          <a:ln w="9525">
            <a:solidFill>
              <a:schemeClr val="accent4">
                <a:alpha val="60000"/>
              </a:scheme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21.3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 / 40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0177272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#10 de 11</a:t>
            </a:r>
            <a:endParaRPr lang="en-US" sz="1600" dirty="0"/>
          </a:p>
        </p:txBody>
      </p:sp>
      <p:graphicFrame>
        <p:nvGraphicFramePr>
          <p:cNvPr id="22" name="Criterios Fraude en seguros" descr=""/>
          <p:cNvGraphicFramePr/>
          <p:nvPr/>
        </p:nvGraphicFramePr>
        <p:xfrm>
          <a:off x="6720840" y="2514600"/>
          <a:ext cx="478231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 17"/>
          <p:cNvSpPr txBox="1"/>
          <p:nvPr/>
        </p:nvSpPr>
        <p:spPr>
          <a:xfrm>
            <a:off x="6858000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9.0 / 20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0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IA Innovation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8394192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3.7 / 5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8394192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Factibilidad 24 h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930384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22 · 20 · 22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930384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Jueces 1 · 2 · 3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858000" y="50292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Hash perceptual de fotos reutilizadas: concreto y demostrable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858000" y="54864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–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Beneficia a aseguradoras: AI for Good débil y sin datos públicos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8096" y="4114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IDEA 11 DE 11  ·  RANKING #11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Predictor de demoras en cruces fronterizos</a:t>
            </a:r>
            <a:endParaRPr lang="en-US" sz="3000" dirty="0"/>
          </a:p>
        </p:txBody>
      </p:sp>
      <p:sp>
        <p:nvSpPr>
          <p:cNvPr id="4" name="tema T3"/>
          <p:cNvSpPr/>
          <p:nvPr/>
        </p:nvSpPr>
        <p:spPr>
          <a:xfrm>
            <a:off x="548640" y="1691640"/>
            <a:ext cx="429768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30000"/>
            </a:schemeClr>
          </a:solidFill>
          <a:ln w="9525">
            <a:solidFill>
              <a:schemeClr val="accent3">
                <a:alpha val="8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29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1691640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Wildcard: Beyond the Obvious</a:t>
            </a:r>
            <a:endParaRPr lang="en-US" sz="1100" dirty="0"/>
          </a:p>
        </p:txBody>
      </p:sp>
      <p:sp>
        <p:nvSpPr>
          <p:cNvPr id="7" name="Problema círculo"/>
          <p:cNvSpPr/>
          <p:nvPr/>
        </p:nvSpPr>
        <p:spPr>
          <a:xfrm>
            <a:off x="548640" y="2240280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Problema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2336841"/>
            <a:ext cx="245791" cy="24579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Problema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58775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Las esperas en Laredo, Piedras Negras o Reynosa interrumpen la manufactura just-in-time.</a:t>
            </a:r>
            <a:endParaRPr lang="en-US" sz="1300" dirty="0"/>
          </a:p>
        </p:txBody>
      </p:sp>
      <p:sp>
        <p:nvSpPr>
          <p:cNvPr id="11" name="Solución círculo"/>
          <p:cNvSpPr/>
          <p:nvPr/>
        </p:nvSpPr>
        <p:spPr>
          <a:xfrm>
            <a:off x="548640" y="353872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Solución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63528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35387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Solución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38862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Estima demoras y recomienda cruce y hora de salida para cada embarque.</a:t>
            </a:r>
            <a:endParaRPr lang="en-US" sz="1300" dirty="0"/>
          </a:p>
        </p:txBody>
      </p:sp>
      <p:sp>
        <p:nvSpPr>
          <p:cNvPr id="15" name="MVP en 24 h círculo"/>
          <p:cNvSpPr/>
          <p:nvPr/>
        </p:nvSpPr>
        <p:spPr>
          <a:xfrm>
            <a:off x="548640" y="4837176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MVP en 24 h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493373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483717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MVP en 24 h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518464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Modelo con históricos de tiempos de espera de CBP y tablero para el coordinador logístico (datos por confirmar).</a:t>
            </a:r>
            <a:endParaRPr lang="en-US" sz="1300" dirty="0"/>
          </a:p>
        </p:txBody>
      </p:sp>
      <p:sp>
        <p:nvSpPr>
          <p:cNvPr id="19" name="Puntaje"/>
          <p:cNvSpPr/>
          <p:nvPr/>
        </p:nvSpPr>
        <p:spPr>
          <a:xfrm>
            <a:off x="6583680" y="1691640"/>
            <a:ext cx="5056632" cy="4434840"/>
          </a:xfrm>
          <a:prstGeom prst="roundRect">
            <a:avLst>
              <a:gd name="adj" fmla="val 2062"/>
            </a:avLst>
          </a:prstGeom>
          <a:solidFill>
            <a:schemeClr val="tx2"/>
          </a:solidFill>
          <a:ln w="9525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18.3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 / 40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0177272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#11 de 11</a:t>
            </a:r>
            <a:endParaRPr lang="en-US" sz="1600" dirty="0"/>
          </a:p>
        </p:txBody>
      </p:sp>
      <p:graphicFrame>
        <p:nvGraphicFramePr>
          <p:cNvPr id="22" name="Criterios Cruces fronterizos" descr=""/>
          <p:cNvGraphicFramePr/>
          <p:nvPr/>
        </p:nvGraphicFramePr>
        <p:xfrm>
          <a:off x="6720840" y="2514600"/>
          <a:ext cx="478231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 17"/>
          <p:cNvSpPr txBox="1"/>
          <p:nvPr/>
        </p:nvSpPr>
        <p:spPr>
          <a:xfrm>
            <a:off x="6858000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8.0 / 20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0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IA Innovation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8394192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2.0 / 5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8394192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Factibilidad 24 h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930384" y="4343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17 · 18 · 20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930384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Jueces 1 · 2 · 3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858000" y="50292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Relevante para el nearshoring y la manufactura fronteriza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858000" y="548640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– </a:t>
            </a:r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Datos sin confirmar; poco uso de IBM Z y de seguridad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imarrulla Ideas">
  <a:themeElements>
    <a:clrScheme name="Antimarrulla Ideas">
      <a:dk1>
        <a:srgbClr val="0E0E13"/>
      </a:dk1>
      <a:lt1>
        <a:srgbClr val="FFFFFF"/>
      </a:lt1>
      <a:dk2>
        <a:srgbClr val="1A1A24"/>
      </a:dk2>
      <a:lt2>
        <a:srgbClr val="E0E0E0"/>
      </a:lt2>
      <a:accent1>
        <a:srgbClr val="0F62FE"/>
      </a:accent1>
      <a:accent2>
        <a:srgbClr val="24A148"/>
      </a:accent2>
      <a:accent3>
        <a:srgbClr val="A56EFF"/>
      </a:accent3>
      <a:accent4>
        <a:srgbClr val="F1C21B"/>
      </a:accent4>
      <a:accent5>
        <a:srgbClr val="78A9FF"/>
      </a:accent5>
      <a:accent6>
        <a:srgbClr val="8D8D8D"/>
      </a:accent6>
      <a:hlink>
        <a:srgbClr val="78A9FF"/>
      </a:hlink>
      <a:folHlink>
        <a:srgbClr val="A6C8FF"/>
      </a:folHlink>
    </a:clrScheme>
    <a:fontScheme name="Antimarrulla Idea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UACJ MIAAD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Antimarrulla · Ideas de proyecto y ranking</dc:title>
  <dc:subject>PptxGenJS Presentation</dc:subject>
  <dc:creator>Los Antimarrulla</dc:creator>
  <cp:lastModifiedBy>Los Antimarrulla</cp:lastModifiedBy>
  <cp:revision>1</cp:revision>
  <dcterms:created xsi:type="dcterms:W3CDTF">2026-10-17T06:31:31Z</dcterms:created>
  <dcterms:modified xsi:type="dcterms:W3CDTF">2026-10-17T06:31:31Z</dcterms:modified>
</cp:coreProperties>
</file>