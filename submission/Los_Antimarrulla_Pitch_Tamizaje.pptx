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265c1457-b28e-8d28-27e5-a0b7e4314ce2}">
          <p14:sldIdLst>
            <p14:sldId id="256"/>
          </p14:sldIdLst>
        </p14:section>
        <p14:section name="Problema y solución" id="{dd372374-3ad3-1f55-d037-84b683c92c9b}">
          <p14:sldIdLst>
            <p14:sldId id="257"/>
            <p14:sldId id="258"/>
          </p14:sldIdLst>
        </p14:section>
        <p14:section name="Tecnología" id="{aeaeb5b8-516f-51b0-ba57-1d9615988a73}">
          <p14:sldIdLst>
            <p14:sldId id="259"/>
            <p14:sldId id="260"/>
          </p14:sldIdLst>
        </p14:section>
        <p14:section name="Demo y datos" id="{d0e5add9-0359-cf56-e01c-54bd86904226}">
          <p14:sldIdLst>
            <p14:sldId id="261"/>
            <p14:sldId id="262"/>
          </p14:sldIdLst>
        </p14:section>
        <p14:section name="Impacto y cierre" id="{041b4354-e434-9079-19dd-4e6be1b101b0}">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Somos Los Antimarrulla, de la UACJ. Nuestro proyecto es Tamizaje a ciegas: una IA que calcula el riesgo de diabetes sobre datos cifrados en IBM LinuxONE. El servidor nunca ve a ningún paciente. Reto 2: AI Secured.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México, 18.3% de los adultos vive con diabetes y uno de cada tres no lo sabe. En 2024 murieron 112 mil personas por diabetes: la segunda causa de muerte. Los hospitales tienen los datos para detectarla antes, pero no pueden compartirlos: hacerlo es un riesgo legal y de privacidad; no hacerlo significa detectar tarde. ¿Y si la IA pudiera calcular el riesgo sin ver jamás los datos?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Así funciona: el hospital cifra los 21 indicadores del paciente y se queda con la llave. LinuxONE calcula el riesgo sobre los números cifrados, sin llave. El resultado regresa cifrado; solo el hospital lo abre, y Granite le explica el resultado al paciente en lenguaje claro. Es tamizaje: decide a quién hacerle una prueba de glucosa primero.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corazón del Reto 2. Usamos cifrado homomórfico Paillier: multiplicar cifrados suma los valores y elevar un cifrado a una potencia lo multiplica. Con eso, el servidor calcula el puntaje de una regresión logística sin descifrar nada. Además, TLS 1.3 en tránsito y AES-256-GCM acelerado por CPACF en reposo. El servicio de riesgo nunca ve datos en claro: la llave se queda con el hospital, y quien administre el entorno del hospital es parte de la frontera de confianza. ANTES DE PRESENTAR: capturar 'openssl speed -evp aes-256-gcm' en la VM como evidencia.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corre en LinuxONE, en dos contenedores Docker. El del hospital guarda la llave privada, cifra, descifra y usa Granite para explicar. El servicio de riesgo nunca tiene la llave: solo hace aritmética homomórfica, que son exponenciaciones con enteros enormes, justo el tipo de cómputo pesado y seguro para el que está hecho IBM Z. En la demo los dos contenedores corren en la misma VM, así que quien la administra queda dentro de la frontera de confianza; en producción, el contenedor del hospital correría en sus propias instalaciones. Mostrar aquí la instancia LinuxONE y los dos contenedores corriendo (requisito del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en pantalla dividida. A la izquierda, lo que ve el servidor: solo números cifrados. A la derecha, lo que ve el hospital: el riesgo, los factores principales y la explicación de Granite. Abajo, métricas medidas en vivo en LinuxONE: el AUC en claro contra el cifrado, la latencia por paciente, el tamaño del cifrado y los pacientes por minuto.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Entrenamos con datos públicos: 253,680 respuestas de la encuesta de salud de los CDC, con 21 indicadores. Los datos de pacientes reales solo llegan cifrados. Medimos AUC, AUC-PR, sensibilidad, especificidad, calibración y el error numérico entre claro y cifrado. Es una prueba técnica con datos de EE. UU.; la validamos con adultos mexicanos de ENSANUT.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impacto: tamizaje temprano para el tercio de personas que no sabe que tiene diabetes; en 2024, más de 11 mil hospitalizaciones por diabetes en la Secretaría de Salud incluyeron una amputación, confianza del paciente y cumplimiento con la ley de protección de datos, en un esquema que escala a otras enfermedades crónicas. La IA ve el riesgo; nadie ve al paciente. Somos Los Antimarrulla.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PORTADA-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IDO-image-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CIERRE-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783080"/>
            <a:ext cx="6949440" cy="1143000"/>
          </a:xfrm>
          <a:prstGeom prst="rect">
            <a:avLst/>
          </a:prstGeom>
          <a:noFill/>
          <a:ln/>
        </p:spPr>
        <p:txBody>
          <a:bodyPr wrap="square" rtlCol="0"/>
          <a:lstStyle>
            <a:lvl1pPr algn="l" indent="0" marL="0">
              <a:buNone/>
              <a:defRPr lang="en-US" sz="6000" b="1" dirty="0">
                <a:solidFill>
                  <a:schemeClr val="bg1"/>
                </a:solidFill>
              </a:defRPr>
            </a:lvl1pPr>
          </a:lstStyle>
          <a:p>
            <a:pPr algn="l" indent="0" marL="0">
              <a:buNone/>
            </a:pPr>
            <a:endParaRPr lang="en-US" sz="6000" dirty="0"/>
          </a:p>
        </p:txBody>
      </p:sp>
      <p:sp>
        <p:nvSpPr>
          <p:cNvPr id="3" name="Text 0"/>
          <p:cNvSpPr/>
          <p:nvPr>
            <p:ph idx="101" type="body" hasCustomPrompt="1"/>
          </p:nvPr>
        </p:nvSpPr>
        <p:spPr>
          <a:xfrm>
            <a:off x="640080" y="2971800"/>
            <a:ext cx="6583680" cy="594360"/>
          </a:xfrm>
          <a:prstGeom prst="rect">
            <a:avLst/>
          </a:prstGeom>
          <a:noFill/>
          <a:ln/>
        </p:spPr>
        <p:txBody>
          <a:bodyPr wrap="square" rtlCol="0"/>
          <a:lstStyle>
            <a:lvl1pPr algn="l" indent="0" marL="0">
              <a:buNone/>
              <a:defRPr lang="en-US" sz="3000" dirty="0">
                <a:solidFill>
                  <a:schemeClr val="bg2"/>
                </a:solidFill>
              </a:defRPr>
            </a:lvl1pPr>
          </a:lstStyle>
          <a:p>
            <a:pPr algn="l"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48640" y="512064"/>
            <a:ext cx="118872" cy="118872"/>
          </a:xfrm>
          <a:prstGeom prst="rect">
            <a:avLst/>
          </a:prstGeom>
          <a:solidFill>
            <a:schemeClr val="accent1"/>
          </a:solidFill>
          <a:ln/>
        </p:spPr>
      </p:sp>
      <p:sp>
        <p:nvSpPr>
          <p:cNvPr id="3" name="Text 1"/>
          <p:cNvSpPr/>
          <p:nvPr>
            <p:ph idx="101" type="body" hasCustomPrompt="1"/>
          </p:nvPr>
        </p:nvSpPr>
        <p:spPr>
          <a:xfrm>
            <a:off x="768096" y="411480"/>
            <a:ext cx="8229600" cy="310896"/>
          </a:xfrm>
          <a:prstGeom prst="rect">
            <a:avLst/>
          </a:prstGeom>
          <a:noFill/>
          <a:ln/>
        </p:spPr>
        <p:txBody>
          <a:bodyPr wrap="square" rtlCol="0"/>
          <a:lstStyle>
            <a:lvl1pPr indent="0" marL="0">
              <a:buNone/>
              <a:defRPr lang="en-US" sz="1200" b="1" spc="200" kern="0" dirty="0">
                <a:solidFill>
                  <a:schemeClr val="accent5"/>
                </a:solidFill>
              </a:defRPr>
            </a:lvl1pPr>
          </a:lstStyle>
          <a:p>
            <a:pPr indent="0" marL="0">
              <a:buNone/>
            </a:pPr>
            <a:endParaRPr lang="en-US" sz="1200" dirty="0"/>
          </a:p>
        </p:txBody>
      </p:sp>
      <p:sp>
        <p:nvSpPr>
          <p:cNvPr id="4" name="Text 1"/>
          <p:cNvSpPr/>
          <p:nvPr>
            <p:ph idx="102" type="title" hasCustomPrompt="1"/>
          </p:nvPr>
        </p:nvSpPr>
        <p:spPr>
          <a:xfrm>
            <a:off x="548640" y="777240"/>
            <a:ext cx="11091672"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5" name="Text 1"/>
          <p:cNvSpPr/>
          <p:nvPr/>
        </p:nvSpPr>
        <p:spPr>
          <a:xfrm>
            <a:off x="548640" y="6400800"/>
            <a:ext cx="6400800" cy="274320"/>
          </a:xfrm>
          <a:prstGeom prst="rect">
            <a:avLst/>
          </a:prstGeom>
          <a:noFill/>
          <a:ln/>
        </p:spPr>
        <p:txBody>
          <a:bodyPr wrap="square" lIns="0" tIns="0" rIns="0" bIns="0" rtlCol="0" anchor="ctr"/>
          <a:lstStyle/>
          <a:p>
            <a:pPr indent="0" marL="0">
              <a:buNone/>
            </a:pPr>
            <a:r>
              <a:rPr lang="en-US" sz="900" dirty="0">
                <a:solidFill>
                  <a:schemeClr val="accent6"/>
                </a:solidFill>
              </a:rPr>
              <a:t>Los Antimarrulla · Tamizaje a ciegas · IBM Z Datathon 2026</a:t>
            </a:r>
            <a:endParaRPr lang="en-US" sz="9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IERR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48640" y="512064"/>
            <a:ext cx="118872" cy="118872"/>
          </a:xfrm>
          <a:prstGeom prst="rect">
            <a:avLst/>
          </a:prstGeom>
          <a:solidFill>
            <a:schemeClr val="accent1"/>
          </a:solidFill>
          <a:ln/>
        </p:spPr>
      </p:sp>
      <p:sp>
        <p:nvSpPr>
          <p:cNvPr id="3" name="Text 1"/>
          <p:cNvSpPr/>
          <p:nvPr>
            <p:ph idx="101" type="body" hasCustomPrompt="1"/>
          </p:nvPr>
        </p:nvSpPr>
        <p:spPr>
          <a:xfrm>
            <a:off x="768096" y="411480"/>
            <a:ext cx="8229600" cy="310896"/>
          </a:xfrm>
          <a:prstGeom prst="rect">
            <a:avLst/>
          </a:prstGeom>
          <a:noFill/>
          <a:ln/>
        </p:spPr>
        <p:txBody>
          <a:bodyPr wrap="square" rtlCol="0"/>
          <a:lstStyle>
            <a:lvl1pPr indent="0" marL="0">
              <a:buNone/>
              <a:defRPr lang="en-US" sz="1200" b="1" spc="200" kern="0" dirty="0">
                <a:solidFill>
                  <a:schemeClr val="accent5"/>
                </a:solidFill>
              </a:defRPr>
            </a:lvl1pPr>
          </a:lstStyle>
          <a:p>
            <a:pPr indent="0" marL="0">
              <a:buNone/>
            </a:pPr>
            <a:endParaRPr lang="en-US" sz="1200" dirty="0"/>
          </a:p>
        </p:txBody>
      </p:sp>
      <p:sp>
        <p:nvSpPr>
          <p:cNvPr id="4" name="Text 1"/>
          <p:cNvSpPr/>
          <p:nvPr>
            <p:ph idx="102" type="title" hasCustomPrompt="1"/>
          </p:nvPr>
        </p:nvSpPr>
        <p:spPr>
          <a:xfrm>
            <a:off x="548640" y="777240"/>
            <a:ext cx="11091672"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5" name="Text 1"/>
          <p:cNvSpPr/>
          <p:nvPr/>
        </p:nvSpPr>
        <p:spPr>
          <a:xfrm>
            <a:off x="548640" y="6400800"/>
            <a:ext cx="6400800" cy="274320"/>
          </a:xfrm>
          <a:prstGeom prst="rect">
            <a:avLst/>
          </a:prstGeom>
          <a:noFill/>
          <a:ln/>
        </p:spPr>
        <p:txBody>
          <a:bodyPr wrap="square" lIns="0" tIns="0" rIns="0" bIns="0" rtlCol="0" anchor="ctr"/>
          <a:lstStyle/>
          <a:p>
            <a:pPr indent="0" marL="0">
              <a:buNone/>
            </a:pPr>
            <a:r>
              <a:rPr lang="en-US" sz="900" dirty="0">
                <a:solidFill>
                  <a:schemeClr val="accent6"/>
                </a:solidFill>
              </a:rPr>
              <a:t>Los Antimarrulla · Tamizaje a ciegas · IBM Z Datathon 2026</a:t>
            </a:r>
            <a:endParaRPr lang="en-US" sz="9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3.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slideLayout" Target="../slideLayouts/slideLayout3.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6" Type="http://schemas.openxmlformats.org/officeDocument/2006/relationships/hyperlink" Target="https://github.com/UACJ-MIAAD/antimarrulla-ibmz-datathon-2026" TargetMode="External"/><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7" Type="http://schemas.openxmlformats.org/officeDocument/2006/relationships/slideLayout" Target="../slideLayouts/slideLayout4.xml"/><Relationship Id="rId8"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1371600"/>
            <a:ext cx="6949440" cy="320040"/>
          </a:xfrm>
          <a:prstGeom prst="rect">
            <a:avLst/>
          </a:prstGeom>
          <a:noFill/>
          <a:ln/>
        </p:spPr>
        <p:txBody>
          <a:bodyPr wrap="square" lIns="0" tIns="0" rIns="0" bIns="0" rtlCol="0" anchor="t"/>
          <a:lstStyle/>
          <a:p>
            <a:pPr indent="0" marL="0">
              <a:buNone/>
            </a:pPr>
            <a:r>
              <a:rPr lang="en-US" sz="1400" b="1" spc="300" kern="0" dirty="0">
                <a:solidFill>
                  <a:schemeClr val="accent5"/>
                </a:solidFill>
              </a:rPr>
              <a:t>IBM Z DATATHON 2026  ·  RETO 2: AI SECURED</a:t>
            </a:r>
            <a:endParaRPr lang="en-US" sz="1400" dirty="0"/>
          </a:p>
        </p:txBody>
      </p:sp>
      <p:sp>
        <p:nvSpPr>
          <p:cNvPr id="3" name="Text 0"/>
          <p:cNvSpPr/>
          <p:nvPr>
            <p:ph idx="100" type="title" hasCustomPrompt="1"/>
          </p:nvPr>
        </p:nvSpPr>
        <p:spPr>
          <a:xfrm>
            <a:off x="640080" y="1783080"/>
            <a:ext cx="6949440" cy="1143000"/>
          </a:xfrm>
          <a:prstGeom prst="rect">
            <a:avLst/>
          </a:prstGeom>
          <a:noFill/>
          <a:ln/>
        </p:spPr>
        <p:txBody>
          <a:bodyPr wrap="square" lIns="0" tIns="0" rIns="0" bIns="0" rtlCol="0" anchor="t"/>
          <a:lstStyle/>
          <a:p>
            <a:pPr algn="l" indent="0" marL="0">
              <a:buNone/>
            </a:pPr>
            <a:r>
              <a:rPr lang="en-US" sz="6000" b="1" dirty="0">
                <a:solidFill>
                  <a:schemeClr val="bg1"/>
                </a:solidFill>
              </a:rPr>
              <a:t>Los Antimarrulla</a:t>
            </a:r>
            <a:endParaRPr lang="en-US" sz="6000" dirty="0"/>
          </a:p>
        </p:txBody>
      </p:sp>
      <p:sp>
        <p:nvSpPr>
          <p:cNvPr id="4" name="Text 0"/>
          <p:cNvSpPr/>
          <p:nvPr>
            <p:ph idx="101" type="body" hasCustomPrompt="1"/>
          </p:nvPr>
        </p:nvSpPr>
        <p:spPr>
          <a:xfrm>
            <a:off x="640080" y="2971800"/>
            <a:ext cx="6583680" cy="594360"/>
          </a:xfrm>
          <a:prstGeom prst="rect">
            <a:avLst/>
          </a:prstGeom>
          <a:noFill/>
          <a:ln/>
        </p:spPr>
        <p:txBody>
          <a:bodyPr wrap="square" lIns="0" tIns="0" rIns="0" bIns="0" rtlCol="0" anchor="t"/>
          <a:lstStyle/>
          <a:p>
            <a:pPr algn="l" indent="0" marL="0">
              <a:buNone/>
            </a:pPr>
            <a:r>
              <a:rPr lang="en-US" sz="3000" dirty="0">
                <a:solidFill>
                  <a:schemeClr val="bg2"/>
                </a:solidFill>
              </a:rPr>
              <a:t>Tamizaje a ciegas</a:t>
            </a:r>
            <a:endParaRPr lang="en-US" sz="3000" dirty="0"/>
          </a:p>
        </p:txBody>
      </p:sp>
      <p:sp>
        <p:nvSpPr>
          <p:cNvPr id="5" name="Text 3"/>
          <p:cNvSpPr txBox="1"/>
          <p:nvPr/>
        </p:nvSpPr>
        <p:spPr>
          <a:xfrm>
            <a:off x="640080" y="3703320"/>
            <a:ext cx="5852160" cy="731520"/>
          </a:xfrm>
          <a:prstGeom prst="rect">
            <a:avLst/>
          </a:prstGeom>
          <a:noFill/>
          <a:ln/>
        </p:spPr>
        <p:txBody>
          <a:bodyPr wrap="square" lIns="0" tIns="0" rIns="0" bIns="0" rtlCol="0" anchor="t"/>
          <a:lstStyle/>
          <a:p>
            <a:pPr indent="0" marL="0">
              <a:buNone/>
            </a:pPr>
            <a:r>
              <a:rPr lang="en-US" sz="1600" dirty="0">
                <a:solidFill>
                  <a:schemeClr val="bg2"/>
                </a:solidFill>
              </a:rPr>
              <a:t>IA que detecta riesgo de diabetes sin ver a ningún paciente: el cálculo ocurre sobre datos cifrados en IBM LinuxONE</a:t>
            </a:r>
            <a:endParaRPr lang="en-US" sz="1600" dirty="0"/>
          </a:p>
        </p:txBody>
      </p:sp>
      <p:pic>
        <p:nvPicPr>
          <p:cNvPr id="6" name="Logo del equipo" descr="/private/tmp/claude-501/-Users-haowei-Documents-Antimarrulla/5372125f-ee1a-4aa0-8aef-43e32d332201/scratchpad/dx/logo.png">    </p:cNvPr>
          <p:cNvPicPr>
            <a:picLocks noChangeAspect="1"/>
          </p:cNvPicPr>
          <p:nvPr/>
        </p:nvPicPr>
        <p:blipFill>
          <a:blip r:embed="rId1"/>
          <a:stretch>
            <a:fillRect/>
          </a:stretch>
        </p:blipFill>
        <p:spPr>
          <a:xfrm>
            <a:off x="640080" y="4846320"/>
            <a:ext cx="1188720" cy="1188720"/>
          </a:xfrm>
          <a:prstGeom prst="rect">
            <a:avLst/>
          </a:prstGeom>
        </p:spPr>
      </p:pic>
      <p:sp>
        <p:nvSpPr>
          <p:cNvPr id="7" name="Text 4"/>
          <p:cNvSpPr txBox="1"/>
          <p:nvPr/>
        </p:nvSpPr>
        <p:spPr>
          <a:xfrm>
            <a:off x="2011680" y="5029200"/>
            <a:ext cx="5669280" cy="914400"/>
          </a:xfrm>
          <a:prstGeom prst="rect">
            <a:avLst/>
          </a:prstGeom>
          <a:noFill/>
          <a:ln/>
        </p:spPr>
        <p:txBody>
          <a:bodyPr wrap="square" lIns="0" tIns="0" rIns="0" bIns="0" rtlCol="0" anchor="ctr"/>
          <a:lstStyle/>
          <a:p>
            <a:pPr indent="0" marL="0">
              <a:spcAft>
                <a:spcPts val="400"/>
              </a:spcAft>
              <a:buNone/>
            </a:pPr>
            <a:r>
              <a:rPr lang="en-US" sz="1200" dirty="0">
                <a:solidFill>
                  <a:schemeClr val="bg1"/>
                </a:solidFill>
              </a:rPr>
              <a:t>Javier Augusto Rebull Saucedo · Álvaro Hernández Jarquín</a:t>
            </a:r>
            <a:endParaRPr lang="en-US" sz="1200" dirty="0"/>
          </a:p>
          <a:p>
            <a:pPr indent="0" marL="0">
              <a:spcAft>
                <a:spcPts val="400"/>
              </a:spcAft>
              <a:buNone/>
            </a:pPr>
            <a:r>
              <a:rPr lang="en-US" sz="1200" dirty="0">
                <a:solidFill>
                  <a:schemeClr val="bg1"/>
                </a:solidFill>
              </a:rPr>
              <a:t>Carlos Enrique Gonzalez Moran · Yazmin Ivonne Flores Martinez</a:t>
            </a:r>
            <a:endParaRPr lang="en-US" sz="1200" dirty="0"/>
          </a:p>
          <a:p>
            <a:pPr indent="0" marL="0">
              <a:spcAft>
                <a:spcPts val="400"/>
              </a:spcAft>
              <a:buNone/>
            </a:pPr>
            <a:r>
              <a:rPr lang="en-US" sz="1100" dirty="0">
                <a:solidFill>
                  <a:schemeClr val="accent5"/>
                </a:solidFill>
              </a:rPr>
              <a:t>UACJ · Maestría en IA y Analítica de Datos (MIAAD)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768096" y="411480"/>
            <a:ext cx="8229600" cy="310896"/>
          </a:xfrm>
          <a:prstGeom prst="rect">
            <a:avLst/>
          </a:prstGeom>
          <a:noFill/>
          <a:ln/>
        </p:spPr>
        <p:txBody>
          <a:bodyPr wrap="square" lIns="0" tIns="0" rIns="0" bIns="0" rtlCol="0" anchor="ctr"/>
          <a:lstStyle/>
          <a:p>
            <a:pPr indent="0" marL="0">
              <a:buNone/>
            </a:pPr>
            <a:r>
              <a:rPr lang="en-US" sz="1200" b="1" spc="200" kern="0" dirty="0">
                <a:solidFill>
                  <a:schemeClr val="accent5"/>
                </a:solidFill>
              </a:rPr>
              <a:t>01 · EL PROBLEMA</a:t>
            </a:r>
            <a:endParaRPr lang="en-US" sz="1200" dirty="0"/>
          </a:p>
        </p:txBody>
      </p:sp>
      <p:sp>
        <p:nvSpPr>
          <p:cNvPr id="3" name="Text 1"/>
          <p:cNvSpPr/>
          <p:nvPr>
            <p:ph idx="102" type="title" hasCustomPrompt="1"/>
          </p:nvPr>
        </p:nvSpPr>
        <p:spPr>
          <a:xfrm>
            <a:off x="548640" y="777240"/>
            <a:ext cx="11091672" cy="731520"/>
          </a:xfrm>
          <a:prstGeom prst="rect">
            <a:avLst/>
          </a:prstGeom>
          <a:noFill/>
          <a:ln/>
        </p:spPr>
        <p:txBody>
          <a:bodyPr wrap="square" lIns="0" tIns="0" rIns="0" bIns="0" rtlCol="0" anchor="t"/>
          <a:lstStyle/>
          <a:p>
            <a:pPr algn="l" indent="0" marL="0">
              <a:buNone/>
            </a:pPr>
            <a:r>
              <a:rPr lang="en-US" sz="3000" b="1" dirty="0">
                <a:solidFill>
                  <a:schemeClr val="bg1"/>
                </a:solidFill>
              </a:rPr>
              <a:t>La diabetes avanza y sus datos siguen bajo llave</a:t>
            </a:r>
            <a:endParaRPr lang="en-US" sz="3000" dirty="0"/>
          </a:p>
        </p:txBody>
      </p:sp>
      <p:sp>
        <p:nvSpPr>
          <p:cNvPr id="4" name="Text 2"/>
          <p:cNvSpPr txBox="1"/>
          <p:nvPr/>
        </p:nvSpPr>
        <p:spPr>
          <a:xfrm>
            <a:off x="548640" y="1874520"/>
            <a:ext cx="2743200" cy="731520"/>
          </a:xfrm>
          <a:prstGeom prst="rect">
            <a:avLst/>
          </a:prstGeom>
          <a:noFill/>
          <a:ln/>
        </p:spPr>
        <p:txBody>
          <a:bodyPr wrap="square" lIns="0" tIns="0" rIns="0" bIns="0" rtlCol="0" anchor="ctr"/>
          <a:lstStyle/>
          <a:p>
            <a:pPr indent="0" marL="0">
              <a:buNone/>
            </a:pPr>
            <a:r>
              <a:rPr lang="en-US" sz="4400" b="1" dirty="0">
                <a:solidFill>
                  <a:schemeClr val="accent5"/>
                </a:solidFill>
              </a:rPr>
              <a:t>18.3%</a:t>
            </a:r>
            <a:endParaRPr lang="en-US" sz="4400" dirty="0"/>
          </a:p>
        </p:txBody>
      </p:sp>
      <p:sp>
        <p:nvSpPr>
          <p:cNvPr id="5" name="Text 3"/>
          <p:cNvSpPr txBox="1"/>
          <p:nvPr/>
        </p:nvSpPr>
        <p:spPr>
          <a:xfrm>
            <a:off x="3383280" y="1874520"/>
            <a:ext cx="2651760" cy="731520"/>
          </a:xfrm>
          <a:prstGeom prst="rect">
            <a:avLst/>
          </a:prstGeom>
          <a:noFill/>
          <a:ln/>
        </p:spPr>
        <p:txBody>
          <a:bodyPr wrap="square" lIns="0" tIns="0" rIns="0" bIns="0" rtlCol="0" anchor="ctr"/>
          <a:lstStyle/>
          <a:p>
            <a:pPr indent="0" marL="0">
              <a:buNone/>
            </a:pPr>
            <a:r>
              <a:rPr lang="en-US" sz="1400" dirty="0">
                <a:solidFill>
                  <a:schemeClr val="bg2"/>
                </a:solidFill>
              </a:rPr>
              <a:t>de los adultos en México vive con diabetes</a:t>
            </a:r>
            <a:endParaRPr lang="en-US" sz="1400" dirty="0"/>
          </a:p>
        </p:txBody>
      </p:sp>
      <p:sp>
        <p:nvSpPr>
          <p:cNvPr id="6" name="Text 4"/>
          <p:cNvSpPr txBox="1"/>
          <p:nvPr/>
        </p:nvSpPr>
        <p:spPr>
          <a:xfrm>
            <a:off x="548640" y="2898648"/>
            <a:ext cx="2743200" cy="731520"/>
          </a:xfrm>
          <a:prstGeom prst="rect">
            <a:avLst/>
          </a:prstGeom>
          <a:noFill/>
          <a:ln/>
        </p:spPr>
        <p:txBody>
          <a:bodyPr wrap="square" lIns="0" tIns="0" rIns="0" bIns="0" rtlCol="0" anchor="ctr"/>
          <a:lstStyle/>
          <a:p>
            <a:pPr indent="0" marL="0">
              <a:buNone/>
            </a:pPr>
            <a:r>
              <a:rPr lang="en-US" sz="4400" b="1" dirty="0">
                <a:solidFill>
                  <a:schemeClr val="accent5"/>
                </a:solidFill>
              </a:rPr>
              <a:t>1 de 3</a:t>
            </a:r>
            <a:endParaRPr lang="en-US" sz="4400" dirty="0"/>
          </a:p>
        </p:txBody>
      </p:sp>
      <p:sp>
        <p:nvSpPr>
          <p:cNvPr id="7" name="Text 5"/>
          <p:cNvSpPr txBox="1"/>
          <p:nvPr/>
        </p:nvSpPr>
        <p:spPr>
          <a:xfrm>
            <a:off x="3383280" y="2898648"/>
            <a:ext cx="2651760" cy="731520"/>
          </a:xfrm>
          <a:prstGeom prst="rect">
            <a:avLst/>
          </a:prstGeom>
          <a:noFill/>
          <a:ln/>
        </p:spPr>
        <p:txBody>
          <a:bodyPr wrap="square" lIns="0" tIns="0" rIns="0" bIns="0" rtlCol="0" anchor="ctr"/>
          <a:lstStyle/>
          <a:p>
            <a:pPr indent="0" marL="0">
              <a:buNone/>
            </a:pPr>
            <a:r>
              <a:rPr lang="en-US" sz="1400" dirty="0">
                <a:solidFill>
                  <a:schemeClr val="bg2"/>
                </a:solidFill>
              </a:rPr>
              <a:t>no sabe que la tiene: se detecta tarde</a:t>
            </a:r>
            <a:endParaRPr lang="en-US" sz="1400" dirty="0"/>
          </a:p>
        </p:txBody>
      </p:sp>
      <p:sp>
        <p:nvSpPr>
          <p:cNvPr id="8" name="Text 6"/>
          <p:cNvSpPr txBox="1"/>
          <p:nvPr/>
        </p:nvSpPr>
        <p:spPr>
          <a:xfrm>
            <a:off x="548640" y="3922776"/>
            <a:ext cx="2743200" cy="731520"/>
          </a:xfrm>
          <a:prstGeom prst="rect">
            <a:avLst/>
          </a:prstGeom>
          <a:noFill/>
          <a:ln/>
        </p:spPr>
        <p:txBody>
          <a:bodyPr wrap="square" lIns="0" tIns="0" rIns="0" bIns="0" rtlCol="0" anchor="ctr"/>
          <a:lstStyle/>
          <a:p>
            <a:pPr indent="0" marL="0">
              <a:buNone/>
            </a:pPr>
            <a:r>
              <a:rPr lang="en-US" sz="4400" b="1" dirty="0">
                <a:solidFill>
                  <a:schemeClr val="accent5"/>
                </a:solidFill>
              </a:rPr>
              <a:t>112,577</a:t>
            </a:r>
            <a:endParaRPr lang="en-US" sz="4400" dirty="0"/>
          </a:p>
        </p:txBody>
      </p:sp>
      <p:sp>
        <p:nvSpPr>
          <p:cNvPr id="9" name="Text 7"/>
          <p:cNvSpPr txBox="1"/>
          <p:nvPr/>
        </p:nvSpPr>
        <p:spPr>
          <a:xfrm>
            <a:off x="3383280" y="3922776"/>
            <a:ext cx="2651760" cy="731520"/>
          </a:xfrm>
          <a:prstGeom prst="rect">
            <a:avLst/>
          </a:prstGeom>
          <a:noFill/>
          <a:ln/>
        </p:spPr>
        <p:txBody>
          <a:bodyPr wrap="square" lIns="0" tIns="0" rIns="0" bIns="0" rtlCol="0" anchor="ctr"/>
          <a:lstStyle/>
          <a:p>
            <a:pPr indent="0" marL="0">
              <a:buNone/>
            </a:pPr>
            <a:r>
              <a:rPr lang="en-US" sz="1400" dirty="0">
                <a:solidFill>
                  <a:schemeClr val="bg2"/>
                </a:solidFill>
              </a:rPr>
              <a:t>muertes en 2024: es la 2.ª causa de muerte del país</a:t>
            </a:r>
            <a:endParaRPr lang="en-US" sz="1400" dirty="0"/>
          </a:p>
        </p:txBody>
      </p:sp>
      <p:sp>
        <p:nvSpPr>
          <p:cNvPr id="10" name="Hospital"/>
          <p:cNvSpPr/>
          <p:nvPr/>
        </p:nvSpPr>
        <p:spPr>
          <a:xfrm>
            <a:off x="6629400" y="2743200"/>
            <a:ext cx="1554480" cy="914400"/>
          </a:xfrm>
          <a:prstGeom prst="roundRect">
            <a:avLst>
              <a:gd name="adj" fmla="val 10000"/>
            </a:avLst>
          </a:prstGeom>
          <a:solidFill>
            <a:schemeClr val="tx2"/>
          </a:solidFill>
          <a:ln w="9525">
            <a:solidFill>
              <a:schemeClr val="accent5">
                <a:alpha val="70000"/>
              </a:schemeClr>
            </a:solidFill>
            <a:prstDash val="solid"/>
          </a:ln>
        </p:spPr>
      </p:sp>
      <p:sp>
        <p:nvSpPr>
          <p:cNvPr id="11" name="Hospital círculo"/>
          <p:cNvSpPr/>
          <p:nvPr/>
        </p:nvSpPr>
        <p:spPr>
          <a:xfrm>
            <a:off x="6766560" y="2971800"/>
            <a:ext cx="457200" cy="457200"/>
          </a:xfrm>
          <a:prstGeom prst="ellipse">
            <a:avLst/>
          </a:prstGeom>
          <a:solidFill>
            <a:schemeClr val="accent1"/>
          </a:solidFill>
          <a:ln/>
        </p:spPr>
      </p:sp>
      <p:pic>
        <p:nvPicPr>
          <p:cNvPr id="12" name="Hospital ícono" descr="preencoded.png">    </p:cNvPr>
          <p:cNvPicPr>
            <a:picLocks noChangeAspect="1"/>
          </p:cNvPicPr>
          <p:nvPr/>
        </p:nvPicPr>
        <p:blipFill>
          <a:blip r:embed="rId1"/>
          <a:stretch>
            <a:fillRect/>
          </a:stretch>
        </p:blipFill>
        <p:spPr>
          <a:xfrm>
            <a:off x="6867144" y="3072384"/>
            <a:ext cx="256032" cy="256032"/>
          </a:xfrm>
          <a:prstGeom prst="rect">
            <a:avLst/>
          </a:prstGeom>
        </p:spPr>
      </p:pic>
      <p:sp>
        <p:nvSpPr>
          <p:cNvPr id="13" name="Text 10"/>
          <p:cNvSpPr txBox="1"/>
          <p:nvPr/>
        </p:nvSpPr>
        <p:spPr>
          <a:xfrm>
            <a:off x="7315200" y="2743200"/>
            <a:ext cx="822960" cy="914400"/>
          </a:xfrm>
          <a:prstGeom prst="rect">
            <a:avLst/>
          </a:prstGeom>
          <a:noFill/>
          <a:ln/>
        </p:spPr>
        <p:txBody>
          <a:bodyPr wrap="square" lIns="0" tIns="0" rIns="0" bIns="0" rtlCol="0" anchor="ctr"/>
          <a:lstStyle/>
          <a:p>
            <a:pPr indent="0" marL="0">
              <a:buNone/>
            </a:pPr>
            <a:r>
              <a:rPr lang="en-US" sz="1300" b="1" dirty="0">
                <a:solidFill>
                  <a:schemeClr val="bg1"/>
                </a:solidFill>
              </a:rPr>
              <a:t>Hospital</a:t>
            </a:r>
            <a:endParaRPr lang="en-US" sz="1300" dirty="0"/>
          </a:p>
        </p:txBody>
      </p:sp>
      <p:sp>
        <p:nvSpPr>
          <p:cNvPr id="14" name="flecha"/>
          <p:cNvSpPr/>
          <p:nvPr/>
        </p:nvSpPr>
        <p:spPr>
          <a:xfrm>
            <a:off x="8229600" y="3200400"/>
            <a:ext cx="502920" cy="-822960"/>
          </a:xfrm>
          <a:prstGeom prst="line">
            <a:avLst/>
          </a:prstGeom>
          <a:noFill/>
          <a:ln w="22225">
            <a:solidFill>
              <a:schemeClr val="accent3"/>
            </a:solidFill>
            <a:prstDash val="solid"/>
            <a:tailEnd type="triangle"/>
          </a:ln>
        </p:spPr>
      </p:sp>
      <p:sp>
        <p:nvSpPr>
          <p:cNvPr id="15" name="Compartir expedientes"/>
          <p:cNvSpPr/>
          <p:nvPr/>
        </p:nvSpPr>
        <p:spPr>
          <a:xfrm>
            <a:off x="8778240" y="1965960"/>
            <a:ext cx="2862072" cy="868680"/>
          </a:xfrm>
          <a:prstGeom prst="roundRect">
            <a:avLst>
              <a:gd name="adj" fmla="val 10526"/>
            </a:avLst>
          </a:prstGeom>
          <a:solidFill>
            <a:schemeClr val="accent3">
              <a:alpha val="15000"/>
            </a:schemeClr>
          </a:solidFill>
          <a:ln w="9525">
            <a:solidFill>
              <a:schemeClr val="accent3">
                <a:alpha val="70000"/>
              </a:schemeClr>
            </a:solidFill>
            <a:prstDash val="solid"/>
          </a:ln>
        </p:spPr>
      </p:sp>
      <p:sp>
        <p:nvSpPr>
          <p:cNvPr id="16" name="Compartir expedientes círculo"/>
          <p:cNvSpPr/>
          <p:nvPr/>
        </p:nvSpPr>
        <p:spPr>
          <a:xfrm>
            <a:off x="8915400" y="2167128"/>
            <a:ext cx="457200" cy="457200"/>
          </a:xfrm>
          <a:prstGeom prst="ellipse">
            <a:avLst/>
          </a:prstGeom>
          <a:solidFill>
            <a:schemeClr val="accent3"/>
          </a:solidFill>
          <a:ln/>
        </p:spPr>
      </p:sp>
      <p:pic>
        <p:nvPicPr>
          <p:cNvPr id="17" name="Compartir expedientes ícono" descr="preencoded.png">    </p:cNvPr>
          <p:cNvPicPr>
            <a:picLocks noChangeAspect="1"/>
          </p:cNvPicPr>
          <p:nvPr/>
        </p:nvPicPr>
        <p:blipFill>
          <a:blip r:embed="rId2"/>
          <a:stretch>
            <a:fillRect/>
          </a:stretch>
        </p:blipFill>
        <p:spPr>
          <a:xfrm>
            <a:off x="9015984" y="2267712"/>
            <a:ext cx="256032" cy="256032"/>
          </a:xfrm>
          <a:prstGeom prst="rect">
            <a:avLst/>
          </a:prstGeom>
        </p:spPr>
      </p:pic>
      <p:sp>
        <p:nvSpPr>
          <p:cNvPr id="18" name="Text 14"/>
          <p:cNvSpPr txBox="1"/>
          <p:nvPr/>
        </p:nvSpPr>
        <p:spPr>
          <a:xfrm>
            <a:off x="9491472" y="2075688"/>
            <a:ext cx="2057400" cy="320040"/>
          </a:xfrm>
          <a:prstGeom prst="rect">
            <a:avLst/>
          </a:prstGeom>
          <a:noFill/>
          <a:ln/>
        </p:spPr>
        <p:txBody>
          <a:bodyPr wrap="square" lIns="0" tIns="0" rIns="0" bIns="0" rtlCol="0" anchor="ctr"/>
          <a:lstStyle/>
          <a:p>
            <a:pPr indent="0" marL="0">
              <a:buNone/>
            </a:pPr>
            <a:r>
              <a:rPr lang="en-US" sz="1400" b="1" dirty="0">
                <a:solidFill>
                  <a:schemeClr val="bg1"/>
                </a:solidFill>
              </a:rPr>
              <a:t>Compartir expedientes</a:t>
            </a:r>
            <a:endParaRPr lang="en-US" sz="1400" dirty="0"/>
          </a:p>
        </p:txBody>
      </p:sp>
      <p:sp>
        <p:nvSpPr>
          <p:cNvPr id="19" name="Text 15"/>
          <p:cNvSpPr txBox="1"/>
          <p:nvPr/>
        </p:nvSpPr>
        <p:spPr>
          <a:xfrm>
            <a:off x="9491472" y="2395728"/>
            <a:ext cx="2057400" cy="384048"/>
          </a:xfrm>
          <a:prstGeom prst="rect">
            <a:avLst/>
          </a:prstGeom>
          <a:noFill/>
          <a:ln/>
        </p:spPr>
        <p:txBody>
          <a:bodyPr wrap="square" lIns="0" tIns="0" rIns="0" bIns="0" rtlCol="0" anchor="t"/>
          <a:lstStyle/>
          <a:p>
            <a:pPr indent="0" marL="0">
              <a:buNone/>
            </a:pPr>
            <a:r>
              <a:rPr lang="en-US" sz="1100" dirty="0">
                <a:solidFill>
                  <a:schemeClr val="bg2"/>
                </a:solidFill>
              </a:rPr>
              <a:t>Riesgo legal y de privacidad</a:t>
            </a:r>
            <a:endParaRPr lang="en-US" sz="1100" dirty="0"/>
          </a:p>
        </p:txBody>
      </p:sp>
      <p:sp>
        <p:nvSpPr>
          <p:cNvPr id="20" name="flecha"/>
          <p:cNvSpPr/>
          <p:nvPr/>
        </p:nvSpPr>
        <p:spPr>
          <a:xfrm>
            <a:off x="8229600" y="3200400"/>
            <a:ext cx="502920" cy="1005840"/>
          </a:xfrm>
          <a:prstGeom prst="line">
            <a:avLst/>
          </a:prstGeom>
          <a:noFill/>
          <a:ln w="22225">
            <a:solidFill>
              <a:schemeClr val="accent4"/>
            </a:solidFill>
            <a:prstDash val="solid"/>
            <a:tailEnd type="triangle"/>
          </a:ln>
        </p:spPr>
      </p:sp>
      <p:sp>
        <p:nvSpPr>
          <p:cNvPr id="21" name="No compartir"/>
          <p:cNvSpPr/>
          <p:nvPr/>
        </p:nvSpPr>
        <p:spPr>
          <a:xfrm>
            <a:off x="8778240" y="3794760"/>
            <a:ext cx="2862072" cy="868680"/>
          </a:xfrm>
          <a:prstGeom prst="roundRect">
            <a:avLst>
              <a:gd name="adj" fmla="val 10526"/>
            </a:avLst>
          </a:prstGeom>
          <a:solidFill>
            <a:schemeClr val="accent4">
              <a:alpha val="15000"/>
            </a:schemeClr>
          </a:solidFill>
          <a:ln w="9525">
            <a:solidFill>
              <a:schemeClr val="accent4">
                <a:alpha val="70000"/>
              </a:schemeClr>
            </a:solidFill>
            <a:prstDash val="solid"/>
          </a:ln>
        </p:spPr>
      </p:sp>
      <p:sp>
        <p:nvSpPr>
          <p:cNvPr id="22" name="No compartir círculo"/>
          <p:cNvSpPr/>
          <p:nvPr/>
        </p:nvSpPr>
        <p:spPr>
          <a:xfrm>
            <a:off x="8915400" y="3995928"/>
            <a:ext cx="457200" cy="457200"/>
          </a:xfrm>
          <a:prstGeom prst="ellipse">
            <a:avLst/>
          </a:prstGeom>
          <a:solidFill>
            <a:schemeClr val="accent4"/>
          </a:solidFill>
          <a:ln/>
        </p:spPr>
      </p:sp>
      <p:pic>
        <p:nvPicPr>
          <p:cNvPr id="23" name="No compartir ícono" descr="preencoded.png">    </p:cNvPr>
          <p:cNvPicPr>
            <a:picLocks noChangeAspect="1"/>
          </p:cNvPicPr>
          <p:nvPr/>
        </p:nvPicPr>
        <p:blipFill>
          <a:blip r:embed="rId3"/>
          <a:stretch>
            <a:fillRect/>
          </a:stretch>
        </p:blipFill>
        <p:spPr>
          <a:xfrm>
            <a:off x="9015984" y="4096512"/>
            <a:ext cx="256032" cy="256032"/>
          </a:xfrm>
          <a:prstGeom prst="rect">
            <a:avLst/>
          </a:prstGeom>
        </p:spPr>
      </p:pic>
      <p:sp>
        <p:nvSpPr>
          <p:cNvPr id="24" name="Text 19"/>
          <p:cNvSpPr txBox="1"/>
          <p:nvPr/>
        </p:nvSpPr>
        <p:spPr>
          <a:xfrm>
            <a:off x="9491472" y="3904488"/>
            <a:ext cx="2057400" cy="320040"/>
          </a:xfrm>
          <a:prstGeom prst="rect">
            <a:avLst/>
          </a:prstGeom>
          <a:noFill/>
          <a:ln/>
        </p:spPr>
        <p:txBody>
          <a:bodyPr wrap="square" lIns="0" tIns="0" rIns="0" bIns="0" rtlCol="0" anchor="ctr"/>
          <a:lstStyle/>
          <a:p>
            <a:pPr indent="0" marL="0">
              <a:buNone/>
            </a:pPr>
            <a:r>
              <a:rPr lang="en-US" sz="1400" b="1" dirty="0">
                <a:solidFill>
                  <a:schemeClr val="bg1"/>
                </a:solidFill>
              </a:rPr>
              <a:t>No compartir</a:t>
            </a:r>
            <a:endParaRPr lang="en-US" sz="1400" dirty="0"/>
          </a:p>
        </p:txBody>
      </p:sp>
      <p:sp>
        <p:nvSpPr>
          <p:cNvPr id="25" name="Text 20"/>
          <p:cNvSpPr txBox="1"/>
          <p:nvPr/>
        </p:nvSpPr>
        <p:spPr>
          <a:xfrm>
            <a:off x="9491472" y="4224528"/>
            <a:ext cx="2057400" cy="384048"/>
          </a:xfrm>
          <a:prstGeom prst="rect">
            <a:avLst/>
          </a:prstGeom>
          <a:noFill/>
          <a:ln/>
        </p:spPr>
        <p:txBody>
          <a:bodyPr wrap="square" lIns="0" tIns="0" rIns="0" bIns="0" rtlCol="0" anchor="t"/>
          <a:lstStyle/>
          <a:p>
            <a:pPr indent="0" marL="0">
              <a:buNone/>
            </a:pPr>
            <a:r>
              <a:rPr lang="en-US" sz="1100" dirty="0">
                <a:solidFill>
                  <a:schemeClr val="bg2"/>
                </a:solidFill>
              </a:rPr>
              <a:t>Sin IA: el riesgo se detecta tarde</a:t>
            </a:r>
            <a:endParaRPr lang="en-US" sz="1100" dirty="0"/>
          </a:p>
        </p:txBody>
      </p:sp>
      <p:sp>
        <p:nvSpPr>
          <p:cNvPr id="26" name="Pregunta"/>
          <p:cNvSpPr/>
          <p:nvPr/>
        </p:nvSpPr>
        <p:spPr>
          <a:xfrm>
            <a:off x="548640" y="5468112"/>
            <a:ext cx="11091672" cy="548640"/>
          </a:xfrm>
          <a:prstGeom prst="roundRect">
            <a:avLst>
              <a:gd name="adj" fmla="val 16667"/>
            </a:avLst>
          </a:prstGeom>
          <a:solidFill>
            <a:schemeClr val="accent1">
              <a:alpha val="28000"/>
            </a:schemeClr>
          </a:solidFill>
          <a:ln/>
        </p:spPr>
      </p:sp>
      <p:sp>
        <p:nvSpPr>
          <p:cNvPr id="27" name="Text 22"/>
          <p:cNvSpPr txBox="1"/>
          <p:nvPr/>
        </p:nvSpPr>
        <p:spPr>
          <a:xfrm>
            <a:off x="731520" y="5468112"/>
            <a:ext cx="10725912" cy="548640"/>
          </a:xfrm>
          <a:prstGeom prst="rect">
            <a:avLst/>
          </a:prstGeom>
          <a:noFill/>
          <a:ln/>
        </p:spPr>
        <p:txBody>
          <a:bodyPr wrap="square" lIns="0" tIns="0" rIns="0" bIns="0" rtlCol="0" anchor="ctr"/>
          <a:lstStyle/>
          <a:p>
            <a:pPr algn="ctr" indent="0" marL="0">
              <a:buNone/>
            </a:pPr>
            <a:r>
              <a:rPr lang="en-US" sz="2000" b="1" i="1" dirty="0">
                <a:solidFill>
                  <a:schemeClr val="bg1"/>
                </a:solidFill>
              </a:rPr>
              <a:t>¿Y si la IA pudiera calcular el riesgo sin ver jamás los datos del paciente?</a:t>
            </a:r>
            <a:endParaRPr lang="en-US" sz="2000" dirty="0"/>
          </a:p>
        </p:txBody>
      </p:sp>
      <p:sp>
        <p:nvSpPr>
          <p:cNvPr id="28" name="Text 23"/>
          <p:cNvSpPr txBox="1"/>
          <p:nvPr/>
        </p:nvSpPr>
        <p:spPr>
          <a:xfrm>
            <a:off x="548640" y="6089904"/>
            <a:ext cx="11091672" cy="256032"/>
          </a:xfrm>
          <a:prstGeom prst="rect">
            <a:avLst/>
          </a:prstGeom>
          <a:noFill/>
          <a:ln/>
        </p:spPr>
        <p:txBody>
          <a:bodyPr wrap="square" lIns="0" tIns="0" rIns="0" bIns="0" rtlCol="0" anchor="t"/>
          <a:lstStyle/>
          <a:p>
            <a:pPr indent="0" marL="0">
              <a:buNone/>
            </a:pPr>
            <a:r>
              <a:rPr lang="en-US" sz="1000" dirty="0">
                <a:solidFill>
                  <a:schemeClr val="accent6"/>
                </a:solidFill>
              </a:rPr>
              <a:t>Fuentes: ENSANUT 2022 (Basto-Abreu et al., Salud Pública de México, 2023); defunciones registradas 2024 y egresos hospitalarios SSA 2024, microdatos DGIS/INEGI.</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768096" y="411480"/>
            <a:ext cx="8229600" cy="310896"/>
          </a:xfrm>
          <a:prstGeom prst="rect">
            <a:avLst/>
          </a:prstGeom>
          <a:noFill/>
          <a:ln/>
        </p:spPr>
        <p:txBody>
          <a:bodyPr wrap="square" lIns="0" tIns="0" rIns="0" bIns="0" rtlCol="0" anchor="ctr"/>
          <a:lstStyle/>
          <a:p>
            <a:pPr indent="0" marL="0">
              <a:buNone/>
            </a:pPr>
            <a:r>
              <a:rPr lang="en-US" sz="1200" b="1" spc="200" kern="0" dirty="0">
                <a:solidFill>
                  <a:schemeClr val="accent5"/>
                </a:solidFill>
              </a:rPr>
              <a:t>02 · LA SOLUCIÓN</a:t>
            </a:r>
            <a:endParaRPr lang="en-US" sz="1200" dirty="0"/>
          </a:p>
        </p:txBody>
      </p:sp>
      <p:sp>
        <p:nvSpPr>
          <p:cNvPr id="3" name="Text 1"/>
          <p:cNvSpPr/>
          <p:nvPr>
            <p:ph idx="102" type="title" hasCustomPrompt="1"/>
          </p:nvPr>
        </p:nvSpPr>
        <p:spPr>
          <a:xfrm>
            <a:off x="548640" y="777240"/>
            <a:ext cx="11091672" cy="731520"/>
          </a:xfrm>
          <a:prstGeom prst="rect">
            <a:avLst/>
          </a:prstGeom>
          <a:noFill/>
          <a:ln/>
        </p:spPr>
        <p:txBody>
          <a:bodyPr wrap="square" lIns="0" tIns="0" rIns="0" bIns="0" rtlCol="0" anchor="t"/>
          <a:lstStyle/>
          <a:p>
            <a:pPr algn="l" indent="0" marL="0">
              <a:buNone/>
            </a:pPr>
            <a:r>
              <a:rPr lang="en-US" sz="3000" b="1" dirty="0">
                <a:solidFill>
                  <a:schemeClr val="bg1"/>
                </a:solidFill>
              </a:rPr>
              <a:t>El riesgo se calcula sobre datos que nadie puede leer</a:t>
            </a:r>
            <a:endParaRPr lang="en-US" sz="3000" dirty="0"/>
          </a:p>
        </p:txBody>
      </p:sp>
      <p:sp>
        <p:nvSpPr>
          <p:cNvPr id="4" name="1 · El hospital cifra"/>
          <p:cNvSpPr/>
          <p:nvPr/>
        </p:nvSpPr>
        <p:spPr>
          <a:xfrm>
            <a:off x="548640" y="1874520"/>
            <a:ext cx="2423160" cy="1600200"/>
          </a:xfrm>
          <a:prstGeom prst="roundRect">
            <a:avLst>
              <a:gd name="adj" fmla="val 5714"/>
            </a:avLst>
          </a:prstGeom>
          <a:solidFill>
            <a:schemeClr val="tx2"/>
          </a:solidFill>
          <a:ln w="9525">
            <a:solidFill>
              <a:schemeClr val="accent5">
                <a:alpha val="75000"/>
              </a:schemeClr>
            </a:solidFill>
            <a:prstDash val="solid"/>
          </a:ln>
        </p:spPr>
      </p:sp>
      <p:sp>
        <p:nvSpPr>
          <p:cNvPr id="5" name="1 · El hospital cifra círculo"/>
          <p:cNvSpPr/>
          <p:nvPr/>
        </p:nvSpPr>
        <p:spPr>
          <a:xfrm>
            <a:off x="731520" y="2057400"/>
            <a:ext cx="502920" cy="502920"/>
          </a:xfrm>
          <a:prstGeom prst="ellipse">
            <a:avLst/>
          </a:prstGeom>
          <a:solidFill>
            <a:schemeClr val="accent1"/>
          </a:solidFill>
          <a:ln/>
        </p:spPr>
      </p:sp>
      <p:pic>
        <p:nvPicPr>
          <p:cNvPr id="6" name="1 · El hospital cifra ícono" descr="preencoded.png">    </p:cNvPr>
          <p:cNvPicPr>
            <a:picLocks noChangeAspect="1"/>
          </p:cNvPicPr>
          <p:nvPr/>
        </p:nvPicPr>
        <p:blipFill>
          <a:blip r:embed="rId1"/>
          <a:stretch>
            <a:fillRect/>
          </a:stretch>
        </p:blipFill>
        <p:spPr>
          <a:xfrm>
            <a:off x="842162" y="2168042"/>
            <a:ext cx="281635" cy="281635"/>
          </a:xfrm>
          <a:prstGeom prst="rect">
            <a:avLst/>
          </a:prstGeom>
        </p:spPr>
      </p:pic>
      <p:sp>
        <p:nvSpPr>
          <p:cNvPr id="7" name="Text 4"/>
          <p:cNvSpPr txBox="1"/>
          <p:nvPr/>
        </p:nvSpPr>
        <p:spPr>
          <a:xfrm>
            <a:off x="1325880" y="2057400"/>
            <a:ext cx="1554480" cy="502920"/>
          </a:xfrm>
          <a:prstGeom prst="rect">
            <a:avLst/>
          </a:prstGeom>
          <a:noFill/>
          <a:ln/>
        </p:spPr>
        <p:txBody>
          <a:bodyPr wrap="square" lIns="0" tIns="0" rIns="0" bIns="0" rtlCol="0" anchor="ctr"/>
          <a:lstStyle/>
          <a:p>
            <a:pPr indent="0" marL="0">
              <a:buNone/>
            </a:pPr>
            <a:r>
              <a:rPr lang="en-US" sz="1500" b="1" dirty="0">
                <a:solidFill>
                  <a:schemeClr val="bg1"/>
                </a:solidFill>
              </a:rPr>
              <a:t>1 · El hospital cifra</a:t>
            </a:r>
            <a:endParaRPr lang="en-US" sz="1500" dirty="0"/>
          </a:p>
        </p:txBody>
      </p:sp>
      <p:sp>
        <p:nvSpPr>
          <p:cNvPr id="8" name="Text 5"/>
          <p:cNvSpPr txBox="1"/>
          <p:nvPr/>
        </p:nvSpPr>
        <p:spPr>
          <a:xfrm>
            <a:off x="731520" y="2697480"/>
            <a:ext cx="2057400" cy="731520"/>
          </a:xfrm>
          <a:prstGeom prst="rect">
            <a:avLst/>
          </a:prstGeom>
          <a:noFill/>
          <a:ln/>
        </p:spPr>
        <p:txBody>
          <a:bodyPr wrap="square" lIns="0" tIns="0" rIns="0" bIns="0" rtlCol="0" anchor="t"/>
          <a:lstStyle/>
          <a:p>
            <a:pPr indent="0" marL="0">
              <a:buNone/>
            </a:pPr>
            <a:r>
              <a:rPr lang="en-US" sz="1200" dirty="0">
                <a:solidFill>
                  <a:schemeClr val="bg2"/>
                </a:solidFill>
              </a:rPr>
              <a:t>Los 21 indicadores se cifran; la llave nunca sale del hospital</a:t>
            </a:r>
            <a:endParaRPr lang="en-US" sz="1200" dirty="0"/>
          </a:p>
        </p:txBody>
      </p:sp>
      <p:sp>
        <p:nvSpPr>
          <p:cNvPr id="9" name="flecha"/>
          <p:cNvSpPr/>
          <p:nvPr/>
        </p:nvSpPr>
        <p:spPr>
          <a:xfrm>
            <a:off x="3026664" y="2674620"/>
            <a:ext cx="356616" cy="0"/>
          </a:xfrm>
          <a:prstGeom prst="line">
            <a:avLst/>
          </a:prstGeom>
          <a:noFill/>
          <a:ln w="22225">
            <a:solidFill>
              <a:schemeClr val="accent5"/>
            </a:solidFill>
            <a:prstDash val="solid"/>
            <a:tailEnd type="triangle"/>
          </a:ln>
        </p:spPr>
      </p:sp>
      <p:sp>
        <p:nvSpPr>
          <p:cNvPr id="10" name="2 · LinuxONE calcula"/>
          <p:cNvSpPr/>
          <p:nvPr/>
        </p:nvSpPr>
        <p:spPr>
          <a:xfrm>
            <a:off x="3438144" y="1874520"/>
            <a:ext cx="2423160" cy="1600200"/>
          </a:xfrm>
          <a:prstGeom prst="roundRect">
            <a:avLst>
              <a:gd name="adj" fmla="val 5714"/>
            </a:avLst>
          </a:prstGeom>
          <a:solidFill>
            <a:schemeClr val="tx2"/>
          </a:solidFill>
          <a:ln w="9525">
            <a:solidFill>
              <a:schemeClr val="accent5">
                <a:alpha val="75000"/>
              </a:schemeClr>
            </a:solidFill>
            <a:prstDash val="solid"/>
          </a:ln>
        </p:spPr>
      </p:sp>
      <p:sp>
        <p:nvSpPr>
          <p:cNvPr id="11" name="2 · LinuxONE calcula círculo"/>
          <p:cNvSpPr/>
          <p:nvPr/>
        </p:nvSpPr>
        <p:spPr>
          <a:xfrm>
            <a:off x="3621024" y="2057400"/>
            <a:ext cx="502920" cy="502920"/>
          </a:xfrm>
          <a:prstGeom prst="ellipse">
            <a:avLst/>
          </a:prstGeom>
          <a:solidFill>
            <a:schemeClr val="accent1"/>
          </a:solidFill>
          <a:ln/>
        </p:spPr>
      </p:sp>
      <p:pic>
        <p:nvPicPr>
          <p:cNvPr id="12" name="2 · LinuxONE calcula ícono" descr="preencoded.png">    </p:cNvPr>
          <p:cNvPicPr>
            <a:picLocks noChangeAspect="1"/>
          </p:cNvPicPr>
          <p:nvPr/>
        </p:nvPicPr>
        <p:blipFill>
          <a:blip r:embed="rId2"/>
          <a:stretch>
            <a:fillRect/>
          </a:stretch>
        </p:blipFill>
        <p:spPr>
          <a:xfrm>
            <a:off x="3731666" y="2168042"/>
            <a:ext cx="281635" cy="281635"/>
          </a:xfrm>
          <a:prstGeom prst="rect">
            <a:avLst/>
          </a:prstGeom>
        </p:spPr>
      </p:pic>
      <p:sp>
        <p:nvSpPr>
          <p:cNvPr id="13" name="Text 9"/>
          <p:cNvSpPr txBox="1"/>
          <p:nvPr/>
        </p:nvSpPr>
        <p:spPr>
          <a:xfrm>
            <a:off x="4215384" y="2057400"/>
            <a:ext cx="1554480" cy="502920"/>
          </a:xfrm>
          <a:prstGeom prst="rect">
            <a:avLst/>
          </a:prstGeom>
          <a:noFill/>
          <a:ln/>
        </p:spPr>
        <p:txBody>
          <a:bodyPr wrap="square" lIns="0" tIns="0" rIns="0" bIns="0" rtlCol="0" anchor="ctr"/>
          <a:lstStyle/>
          <a:p>
            <a:pPr indent="0" marL="0">
              <a:buNone/>
            </a:pPr>
            <a:r>
              <a:rPr lang="en-US" sz="1500" b="1" dirty="0">
                <a:solidFill>
                  <a:schemeClr val="bg1"/>
                </a:solidFill>
              </a:rPr>
              <a:t>2 · LinuxONE calcula</a:t>
            </a:r>
            <a:endParaRPr lang="en-US" sz="1500" dirty="0"/>
          </a:p>
        </p:txBody>
      </p:sp>
      <p:sp>
        <p:nvSpPr>
          <p:cNvPr id="14" name="Text 10"/>
          <p:cNvSpPr txBox="1"/>
          <p:nvPr/>
        </p:nvSpPr>
        <p:spPr>
          <a:xfrm>
            <a:off x="3621024" y="2697480"/>
            <a:ext cx="2057400" cy="731520"/>
          </a:xfrm>
          <a:prstGeom prst="rect">
            <a:avLst/>
          </a:prstGeom>
          <a:noFill/>
          <a:ln/>
        </p:spPr>
        <p:txBody>
          <a:bodyPr wrap="square" lIns="0" tIns="0" rIns="0" bIns="0" rtlCol="0" anchor="t"/>
          <a:lstStyle/>
          <a:p>
            <a:pPr indent="0" marL="0">
              <a:buNone/>
            </a:pPr>
            <a:r>
              <a:rPr lang="en-US" sz="1200" dirty="0">
                <a:solidFill>
                  <a:schemeClr val="bg2"/>
                </a:solidFill>
              </a:rPr>
              <a:t>El modelo opera sobre números cifrados, sin llave y sin ver al paciente</a:t>
            </a:r>
            <a:endParaRPr lang="en-US" sz="1200" dirty="0"/>
          </a:p>
        </p:txBody>
      </p:sp>
      <p:sp>
        <p:nvSpPr>
          <p:cNvPr id="15" name="flecha"/>
          <p:cNvSpPr/>
          <p:nvPr/>
        </p:nvSpPr>
        <p:spPr>
          <a:xfrm>
            <a:off x="5916168" y="2674620"/>
            <a:ext cx="356616" cy="0"/>
          </a:xfrm>
          <a:prstGeom prst="line">
            <a:avLst/>
          </a:prstGeom>
          <a:noFill/>
          <a:ln w="22225">
            <a:solidFill>
              <a:schemeClr val="accent5"/>
            </a:solidFill>
            <a:prstDash val="solid"/>
            <a:tailEnd type="triangle"/>
          </a:ln>
        </p:spPr>
      </p:sp>
      <p:sp>
        <p:nvSpPr>
          <p:cNvPr id="16" name="3 · Regresa cifrado"/>
          <p:cNvSpPr/>
          <p:nvPr/>
        </p:nvSpPr>
        <p:spPr>
          <a:xfrm>
            <a:off x="6327648" y="1874520"/>
            <a:ext cx="2423160" cy="1600200"/>
          </a:xfrm>
          <a:prstGeom prst="roundRect">
            <a:avLst>
              <a:gd name="adj" fmla="val 5714"/>
            </a:avLst>
          </a:prstGeom>
          <a:solidFill>
            <a:schemeClr val="tx2"/>
          </a:solidFill>
          <a:ln w="9525">
            <a:solidFill>
              <a:schemeClr val="accent5">
                <a:alpha val="75000"/>
              </a:schemeClr>
            </a:solidFill>
            <a:prstDash val="solid"/>
          </a:ln>
        </p:spPr>
      </p:sp>
      <p:sp>
        <p:nvSpPr>
          <p:cNvPr id="17" name="3 · Regresa cifrado círculo"/>
          <p:cNvSpPr/>
          <p:nvPr/>
        </p:nvSpPr>
        <p:spPr>
          <a:xfrm>
            <a:off x="6510528" y="2057400"/>
            <a:ext cx="502920" cy="502920"/>
          </a:xfrm>
          <a:prstGeom prst="ellipse">
            <a:avLst/>
          </a:prstGeom>
          <a:solidFill>
            <a:schemeClr val="accent1"/>
          </a:solidFill>
          <a:ln/>
        </p:spPr>
      </p:sp>
      <p:pic>
        <p:nvPicPr>
          <p:cNvPr id="18" name="3 · Regresa cifrado ícono" descr="preencoded.png">    </p:cNvPr>
          <p:cNvPicPr>
            <a:picLocks noChangeAspect="1"/>
          </p:cNvPicPr>
          <p:nvPr/>
        </p:nvPicPr>
        <p:blipFill>
          <a:blip r:embed="rId3"/>
          <a:stretch>
            <a:fillRect/>
          </a:stretch>
        </p:blipFill>
        <p:spPr>
          <a:xfrm>
            <a:off x="6621170" y="2168042"/>
            <a:ext cx="281635" cy="281635"/>
          </a:xfrm>
          <a:prstGeom prst="rect">
            <a:avLst/>
          </a:prstGeom>
        </p:spPr>
      </p:pic>
      <p:sp>
        <p:nvSpPr>
          <p:cNvPr id="19" name="Text 14"/>
          <p:cNvSpPr txBox="1"/>
          <p:nvPr/>
        </p:nvSpPr>
        <p:spPr>
          <a:xfrm>
            <a:off x="7104888" y="2057400"/>
            <a:ext cx="1554480" cy="502920"/>
          </a:xfrm>
          <a:prstGeom prst="rect">
            <a:avLst/>
          </a:prstGeom>
          <a:noFill/>
          <a:ln/>
        </p:spPr>
        <p:txBody>
          <a:bodyPr wrap="square" lIns="0" tIns="0" rIns="0" bIns="0" rtlCol="0" anchor="ctr"/>
          <a:lstStyle/>
          <a:p>
            <a:pPr indent="0" marL="0">
              <a:buNone/>
            </a:pPr>
            <a:r>
              <a:rPr lang="en-US" sz="1500" b="1" dirty="0">
                <a:solidFill>
                  <a:schemeClr val="bg1"/>
                </a:solidFill>
              </a:rPr>
              <a:t>3 · Regresa cifrado</a:t>
            </a:r>
            <a:endParaRPr lang="en-US" sz="1500" dirty="0"/>
          </a:p>
        </p:txBody>
      </p:sp>
      <p:sp>
        <p:nvSpPr>
          <p:cNvPr id="20" name="Text 15"/>
          <p:cNvSpPr txBox="1"/>
          <p:nvPr/>
        </p:nvSpPr>
        <p:spPr>
          <a:xfrm>
            <a:off x="6510528" y="2697480"/>
            <a:ext cx="2057400" cy="731520"/>
          </a:xfrm>
          <a:prstGeom prst="rect">
            <a:avLst/>
          </a:prstGeom>
          <a:noFill/>
          <a:ln/>
        </p:spPr>
        <p:txBody>
          <a:bodyPr wrap="square" lIns="0" tIns="0" rIns="0" bIns="0" rtlCol="0" anchor="t"/>
          <a:lstStyle/>
          <a:p>
            <a:pPr indent="0" marL="0">
              <a:buNone/>
            </a:pPr>
            <a:r>
              <a:rPr lang="en-US" sz="1200" dirty="0">
                <a:solidFill>
                  <a:schemeClr val="bg2"/>
                </a:solidFill>
              </a:rPr>
              <a:t>El resultado viaja cifrado: solo el hospital puede abrirlo</a:t>
            </a:r>
            <a:endParaRPr lang="en-US" sz="1200" dirty="0"/>
          </a:p>
        </p:txBody>
      </p:sp>
      <p:sp>
        <p:nvSpPr>
          <p:cNvPr id="21" name="flecha"/>
          <p:cNvSpPr/>
          <p:nvPr/>
        </p:nvSpPr>
        <p:spPr>
          <a:xfrm>
            <a:off x="8805672" y="2674620"/>
            <a:ext cx="356616" cy="0"/>
          </a:xfrm>
          <a:prstGeom prst="line">
            <a:avLst/>
          </a:prstGeom>
          <a:noFill/>
          <a:ln w="22225">
            <a:solidFill>
              <a:schemeClr val="accent5"/>
            </a:solidFill>
            <a:prstDash val="solid"/>
            <a:tailEnd type="triangle"/>
          </a:ln>
        </p:spPr>
      </p:sp>
      <p:sp>
        <p:nvSpPr>
          <p:cNvPr id="22" name="4 · Descifra y explica"/>
          <p:cNvSpPr/>
          <p:nvPr/>
        </p:nvSpPr>
        <p:spPr>
          <a:xfrm>
            <a:off x="9217152" y="1874520"/>
            <a:ext cx="2423160" cy="1600200"/>
          </a:xfrm>
          <a:prstGeom prst="roundRect">
            <a:avLst>
              <a:gd name="adj" fmla="val 5714"/>
            </a:avLst>
          </a:prstGeom>
          <a:solidFill>
            <a:schemeClr val="tx2"/>
          </a:solidFill>
          <a:ln w="9525">
            <a:solidFill>
              <a:schemeClr val="accent2">
                <a:alpha val="75000"/>
              </a:schemeClr>
            </a:solidFill>
            <a:prstDash val="solid"/>
          </a:ln>
        </p:spPr>
      </p:sp>
      <p:sp>
        <p:nvSpPr>
          <p:cNvPr id="23" name="4 · Descifra y explica círculo"/>
          <p:cNvSpPr/>
          <p:nvPr/>
        </p:nvSpPr>
        <p:spPr>
          <a:xfrm>
            <a:off x="9400032" y="2057400"/>
            <a:ext cx="502920" cy="502920"/>
          </a:xfrm>
          <a:prstGeom prst="ellipse">
            <a:avLst/>
          </a:prstGeom>
          <a:solidFill>
            <a:schemeClr val="accent2"/>
          </a:solidFill>
          <a:ln/>
        </p:spPr>
      </p:sp>
      <p:pic>
        <p:nvPicPr>
          <p:cNvPr id="24" name="4 · Descifra y explica ícono" descr="preencoded.png">    </p:cNvPr>
          <p:cNvPicPr>
            <a:picLocks noChangeAspect="1"/>
          </p:cNvPicPr>
          <p:nvPr/>
        </p:nvPicPr>
        <p:blipFill>
          <a:blip r:embed="rId4"/>
          <a:stretch>
            <a:fillRect/>
          </a:stretch>
        </p:blipFill>
        <p:spPr>
          <a:xfrm>
            <a:off x="9510674" y="2168042"/>
            <a:ext cx="281635" cy="281635"/>
          </a:xfrm>
          <a:prstGeom prst="rect">
            <a:avLst/>
          </a:prstGeom>
        </p:spPr>
      </p:pic>
      <p:sp>
        <p:nvSpPr>
          <p:cNvPr id="25" name="Text 19"/>
          <p:cNvSpPr txBox="1"/>
          <p:nvPr/>
        </p:nvSpPr>
        <p:spPr>
          <a:xfrm>
            <a:off x="9994392" y="2057400"/>
            <a:ext cx="1554480" cy="502920"/>
          </a:xfrm>
          <a:prstGeom prst="rect">
            <a:avLst/>
          </a:prstGeom>
          <a:noFill/>
          <a:ln/>
        </p:spPr>
        <p:txBody>
          <a:bodyPr wrap="square" lIns="0" tIns="0" rIns="0" bIns="0" rtlCol="0" anchor="ctr"/>
          <a:lstStyle/>
          <a:p>
            <a:pPr indent="0" marL="0">
              <a:buNone/>
            </a:pPr>
            <a:r>
              <a:rPr lang="en-US" sz="1500" b="1" dirty="0">
                <a:solidFill>
                  <a:schemeClr val="bg1"/>
                </a:solidFill>
              </a:rPr>
              <a:t>4 · Descifra y explica</a:t>
            </a:r>
            <a:endParaRPr lang="en-US" sz="1500" dirty="0"/>
          </a:p>
        </p:txBody>
      </p:sp>
      <p:sp>
        <p:nvSpPr>
          <p:cNvPr id="26" name="Text 20"/>
          <p:cNvSpPr txBox="1"/>
          <p:nvPr/>
        </p:nvSpPr>
        <p:spPr>
          <a:xfrm>
            <a:off x="9400032" y="2697480"/>
            <a:ext cx="2057400" cy="731520"/>
          </a:xfrm>
          <a:prstGeom prst="rect">
            <a:avLst/>
          </a:prstGeom>
          <a:noFill/>
          <a:ln/>
        </p:spPr>
        <p:txBody>
          <a:bodyPr wrap="square" lIns="0" tIns="0" rIns="0" bIns="0" rtlCol="0" anchor="t"/>
          <a:lstStyle/>
          <a:p>
            <a:pPr indent="0" marL="0">
              <a:buNone/>
            </a:pPr>
            <a:r>
              <a:rPr lang="en-US" sz="1200" dirty="0">
                <a:solidFill>
                  <a:schemeClr val="bg2"/>
                </a:solidFill>
              </a:rPr>
              <a:t>El hospital ve el riesgo y Granite lo explica en lenguaje claro</a:t>
            </a:r>
            <a:endParaRPr lang="en-US" sz="1200" dirty="0"/>
          </a:p>
        </p:txBody>
      </p:sp>
      <p:sp>
        <p:nvSpPr>
          <p:cNvPr id="27" name="Cero exposición"/>
          <p:cNvSpPr/>
          <p:nvPr/>
        </p:nvSpPr>
        <p:spPr>
          <a:xfrm>
            <a:off x="548640" y="3794760"/>
            <a:ext cx="3520440" cy="1097280"/>
          </a:xfrm>
          <a:prstGeom prst="roundRect">
            <a:avLst>
              <a:gd name="adj" fmla="val 8333"/>
            </a:avLst>
          </a:prstGeom>
          <a:solidFill>
            <a:schemeClr val="accent2">
              <a:alpha val="12000"/>
            </a:schemeClr>
          </a:solidFill>
          <a:ln w="9525">
            <a:solidFill>
              <a:schemeClr val="accent2">
                <a:alpha val="50000"/>
              </a:schemeClr>
            </a:solidFill>
            <a:prstDash val="solid"/>
          </a:ln>
        </p:spPr>
      </p:sp>
      <p:sp>
        <p:nvSpPr>
          <p:cNvPr id="28" name="Cero exposición círculo"/>
          <p:cNvSpPr/>
          <p:nvPr/>
        </p:nvSpPr>
        <p:spPr>
          <a:xfrm>
            <a:off x="731520" y="4023360"/>
            <a:ext cx="548640" cy="548640"/>
          </a:xfrm>
          <a:prstGeom prst="ellipse">
            <a:avLst/>
          </a:prstGeom>
          <a:solidFill>
            <a:schemeClr val="accent2"/>
          </a:solidFill>
          <a:ln/>
        </p:spPr>
      </p:sp>
      <p:pic>
        <p:nvPicPr>
          <p:cNvPr id="29" name="Cero exposición ícono" descr="preencoded.png">    </p:cNvPr>
          <p:cNvPicPr>
            <a:picLocks noChangeAspect="1"/>
          </p:cNvPicPr>
          <p:nvPr/>
        </p:nvPicPr>
        <p:blipFill>
          <a:blip r:embed="rId5"/>
          <a:stretch>
            <a:fillRect/>
          </a:stretch>
        </p:blipFill>
        <p:spPr>
          <a:xfrm>
            <a:off x="852221" y="4144061"/>
            <a:ext cx="307238" cy="307238"/>
          </a:xfrm>
          <a:prstGeom prst="rect">
            <a:avLst/>
          </a:prstGeom>
        </p:spPr>
      </p:pic>
      <p:sp>
        <p:nvSpPr>
          <p:cNvPr id="30" name="Text 23"/>
          <p:cNvSpPr txBox="1"/>
          <p:nvPr/>
        </p:nvSpPr>
        <p:spPr>
          <a:xfrm>
            <a:off x="1463040" y="3904488"/>
            <a:ext cx="2468880" cy="347472"/>
          </a:xfrm>
          <a:prstGeom prst="rect">
            <a:avLst/>
          </a:prstGeom>
          <a:noFill/>
          <a:ln/>
        </p:spPr>
        <p:txBody>
          <a:bodyPr wrap="square" lIns="0" tIns="0" rIns="0" bIns="0" rtlCol="0" anchor="ctr"/>
          <a:lstStyle/>
          <a:p>
            <a:pPr indent="0" marL="0">
              <a:buNone/>
            </a:pPr>
            <a:r>
              <a:rPr lang="en-US" sz="1500" b="1" dirty="0">
                <a:solidFill>
                  <a:schemeClr val="bg1"/>
                </a:solidFill>
              </a:rPr>
              <a:t>Cero exposición</a:t>
            </a:r>
            <a:endParaRPr lang="en-US" sz="1500" dirty="0"/>
          </a:p>
        </p:txBody>
      </p:sp>
      <p:sp>
        <p:nvSpPr>
          <p:cNvPr id="31" name="Text 24"/>
          <p:cNvSpPr txBox="1"/>
          <p:nvPr/>
        </p:nvSpPr>
        <p:spPr>
          <a:xfrm>
            <a:off x="1463040" y="4261104"/>
            <a:ext cx="2468880" cy="566928"/>
          </a:xfrm>
          <a:prstGeom prst="rect">
            <a:avLst/>
          </a:prstGeom>
          <a:noFill/>
          <a:ln/>
        </p:spPr>
        <p:txBody>
          <a:bodyPr wrap="square" lIns="0" tIns="0" rIns="0" bIns="0" rtlCol="0" anchor="t"/>
          <a:lstStyle/>
          <a:p>
            <a:pPr indent="0" marL="0">
              <a:buNone/>
            </a:pPr>
            <a:r>
              <a:rPr lang="en-US" sz="1200" dirty="0">
                <a:solidFill>
                  <a:schemeClr val="bg2"/>
                </a:solidFill>
              </a:rPr>
              <a:t>El servidor nunca ve edad, IMC, presión ni ningún otro dato</a:t>
            </a:r>
            <a:endParaRPr lang="en-US" sz="1200" dirty="0"/>
          </a:p>
        </p:txBody>
      </p:sp>
      <p:sp>
        <p:nvSpPr>
          <p:cNvPr id="32" name="Misma precisión"/>
          <p:cNvSpPr/>
          <p:nvPr/>
        </p:nvSpPr>
        <p:spPr>
          <a:xfrm>
            <a:off x="4334256" y="3794760"/>
            <a:ext cx="3520440" cy="1097280"/>
          </a:xfrm>
          <a:prstGeom prst="roundRect">
            <a:avLst>
              <a:gd name="adj" fmla="val 8333"/>
            </a:avLst>
          </a:prstGeom>
          <a:solidFill>
            <a:schemeClr val="accent2">
              <a:alpha val="12000"/>
            </a:schemeClr>
          </a:solidFill>
          <a:ln w="9525">
            <a:solidFill>
              <a:schemeClr val="accent2">
                <a:alpha val="50000"/>
              </a:schemeClr>
            </a:solidFill>
            <a:prstDash val="solid"/>
          </a:ln>
        </p:spPr>
      </p:sp>
      <p:sp>
        <p:nvSpPr>
          <p:cNvPr id="33" name="Misma precisión círculo"/>
          <p:cNvSpPr/>
          <p:nvPr/>
        </p:nvSpPr>
        <p:spPr>
          <a:xfrm>
            <a:off x="4517136" y="4023360"/>
            <a:ext cx="548640" cy="548640"/>
          </a:xfrm>
          <a:prstGeom prst="ellipse">
            <a:avLst/>
          </a:prstGeom>
          <a:solidFill>
            <a:schemeClr val="accent2"/>
          </a:solidFill>
          <a:ln/>
        </p:spPr>
      </p:sp>
      <p:pic>
        <p:nvPicPr>
          <p:cNvPr id="34" name="Misma precisión ícono" descr="preencoded.png">    </p:cNvPr>
          <p:cNvPicPr>
            <a:picLocks noChangeAspect="1"/>
          </p:cNvPicPr>
          <p:nvPr/>
        </p:nvPicPr>
        <p:blipFill>
          <a:blip r:embed="rId6"/>
          <a:stretch>
            <a:fillRect/>
          </a:stretch>
        </p:blipFill>
        <p:spPr>
          <a:xfrm>
            <a:off x="4637837" y="4144061"/>
            <a:ext cx="307238" cy="307238"/>
          </a:xfrm>
          <a:prstGeom prst="rect">
            <a:avLst/>
          </a:prstGeom>
        </p:spPr>
      </p:pic>
      <p:sp>
        <p:nvSpPr>
          <p:cNvPr id="35" name="Text 27"/>
          <p:cNvSpPr txBox="1"/>
          <p:nvPr/>
        </p:nvSpPr>
        <p:spPr>
          <a:xfrm>
            <a:off x="5248656" y="3904488"/>
            <a:ext cx="2468880" cy="347472"/>
          </a:xfrm>
          <a:prstGeom prst="rect">
            <a:avLst/>
          </a:prstGeom>
          <a:noFill/>
          <a:ln/>
        </p:spPr>
        <p:txBody>
          <a:bodyPr wrap="square" lIns="0" tIns="0" rIns="0" bIns="0" rtlCol="0" anchor="ctr"/>
          <a:lstStyle/>
          <a:p>
            <a:pPr indent="0" marL="0">
              <a:buNone/>
            </a:pPr>
            <a:r>
              <a:rPr lang="en-US" sz="1500" b="1" dirty="0">
                <a:solidFill>
                  <a:schemeClr val="bg1"/>
                </a:solidFill>
              </a:rPr>
              <a:t>Misma precisión</a:t>
            </a:r>
            <a:endParaRPr lang="en-US" sz="1500" dirty="0"/>
          </a:p>
        </p:txBody>
      </p:sp>
      <p:sp>
        <p:nvSpPr>
          <p:cNvPr id="36" name="Text 28"/>
          <p:cNvSpPr txBox="1"/>
          <p:nvPr/>
        </p:nvSpPr>
        <p:spPr>
          <a:xfrm>
            <a:off x="5248656" y="4261104"/>
            <a:ext cx="2468880" cy="566928"/>
          </a:xfrm>
          <a:prstGeom prst="rect">
            <a:avLst/>
          </a:prstGeom>
          <a:noFill/>
          <a:ln/>
        </p:spPr>
        <p:txBody>
          <a:bodyPr wrap="square" lIns="0" tIns="0" rIns="0" bIns="0" rtlCol="0" anchor="t"/>
          <a:lstStyle/>
          <a:p>
            <a:pPr indent="0" marL="0">
              <a:buNone/>
            </a:pPr>
            <a:r>
              <a:rPr lang="en-US" sz="1200" dirty="0">
                <a:solidFill>
                  <a:schemeClr val="bg2"/>
                </a:solidFill>
              </a:rPr>
              <a:t>Meta: AUC cifrado = AUC en claro, medido en la demo</a:t>
            </a:r>
            <a:endParaRPr lang="en-US" sz="1200" dirty="0"/>
          </a:p>
        </p:txBody>
      </p:sp>
      <p:sp>
        <p:nvSpPr>
          <p:cNvPr id="37" name="Tamizaje, no diagnóstico"/>
          <p:cNvSpPr/>
          <p:nvPr/>
        </p:nvSpPr>
        <p:spPr>
          <a:xfrm>
            <a:off x="8119872" y="3794760"/>
            <a:ext cx="3520440" cy="1097280"/>
          </a:xfrm>
          <a:prstGeom prst="roundRect">
            <a:avLst>
              <a:gd name="adj" fmla="val 8333"/>
            </a:avLst>
          </a:prstGeom>
          <a:solidFill>
            <a:schemeClr val="accent2">
              <a:alpha val="12000"/>
            </a:schemeClr>
          </a:solidFill>
          <a:ln w="9525">
            <a:solidFill>
              <a:schemeClr val="accent2">
                <a:alpha val="50000"/>
              </a:schemeClr>
            </a:solidFill>
            <a:prstDash val="solid"/>
          </a:ln>
        </p:spPr>
      </p:sp>
      <p:sp>
        <p:nvSpPr>
          <p:cNvPr id="38" name="Tamizaje, no diagnóstico círculo"/>
          <p:cNvSpPr/>
          <p:nvPr/>
        </p:nvSpPr>
        <p:spPr>
          <a:xfrm>
            <a:off x="8302752" y="4023360"/>
            <a:ext cx="548640" cy="548640"/>
          </a:xfrm>
          <a:prstGeom prst="ellipse">
            <a:avLst/>
          </a:prstGeom>
          <a:solidFill>
            <a:schemeClr val="accent2"/>
          </a:solidFill>
          <a:ln/>
        </p:spPr>
      </p:sp>
      <p:pic>
        <p:nvPicPr>
          <p:cNvPr id="39" name="Tamizaje, no diagnóstico ícono" descr="preencoded.png">    </p:cNvPr>
          <p:cNvPicPr>
            <a:picLocks noChangeAspect="1"/>
          </p:cNvPicPr>
          <p:nvPr/>
        </p:nvPicPr>
        <p:blipFill>
          <a:blip r:embed="rId7"/>
          <a:stretch>
            <a:fillRect/>
          </a:stretch>
        </p:blipFill>
        <p:spPr>
          <a:xfrm>
            <a:off x="8423453" y="4144061"/>
            <a:ext cx="307238" cy="307238"/>
          </a:xfrm>
          <a:prstGeom prst="rect">
            <a:avLst/>
          </a:prstGeom>
        </p:spPr>
      </p:pic>
      <p:sp>
        <p:nvSpPr>
          <p:cNvPr id="40" name="Text 31"/>
          <p:cNvSpPr txBox="1"/>
          <p:nvPr/>
        </p:nvSpPr>
        <p:spPr>
          <a:xfrm>
            <a:off x="9034272" y="3904488"/>
            <a:ext cx="2468880" cy="347472"/>
          </a:xfrm>
          <a:prstGeom prst="rect">
            <a:avLst/>
          </a:prstGeom>
          <a:noFill/>
          <a:ln/>
        </p:spPr>
        <p:txBody>
          <a:bodyPr wrap="square" lIns="0" tIns="0" rIns="0" bIns="0" rtlCol="0" anchor="ctr"/>
          <a:lstStyle/>
          <a:p>
            <a:pPr indent="0" marL="0">
              <a:buNone/>
            </a:pPr>
            <a:r>
              <a:rPr lang="en-US" sz="1500" b="1" dirty="0">
                <a:solidFill>
                  <a:schemeClr val="bg1"/>
                </a:solidFill>
              </a:rPr>
              <a:t>Tamizaje, no diagnóstico</a:t>
            </a:r>
            <a:endParaRPr lang="en-US" sz="1500" dirty="0"/>
          </a:p>
        </p:txBody>
      </p:sp>
      <p:sp>
        <p:nvSpPr>
          <p:cNvPr id="41" name="Text 32"/>
          <p:cNvSpPr txBox="1"/>
          <p:nvPr/>
        </p:nvSpPr>
        <p:spPr>
          <a:xfrm>
            <a:off x="9034272" y="4261104"/>
            <a:ext cx="2468880" cy="566928"/>
          </a:xfrm>
          <a:prstGeom prst="rect">
            <a:avLst/>
          </a:prstGeom>
          <a:noFill/>
          <a:ln/>
        </p:spPr>
        <p:txBody>
          <a:bodyPr wrap="square" lIns="0" tIns="0" rIns="0" bIns="0" rtlCol="0" anchor="t"/>
          <a:lstStyle/>
          <a:p>
            <a:pPr indent="0" marL="0">
              <a:buNone/>
            </a:pPr>
            <a:r>
              <a:rPr lang="en-US" sz="1200" dirty="0">
                <a:solidFill>
                  <a:schemeClr val="bg2"/>
                </a:solidFill>
              </a:rPr>
              <a:t>Prioriza a quién hacerle una prueba de glucosa</a:t>
            </a:r>
            <a:endParaRPr lang="en-US" sz="1200" dirty="0"/>
          </a:p>
        </p:txBody>
      </p:sp>
      <p:sp>
        <p:nvSpPr>
          <p:cNvPr id="42" name="Text 33"/>
          <p:cNvSpPr txBox="1"/>
          <p:nvPr/>
        </p:nvSpPr>
        <p:spPr>
          <a:xfrm>
            <a:off x="548640" y="5349240"/>
            <a:ext cx="11091672" cy="548640"/>
          </a:xfrm>
          <a:prstGeom prst="rect">
            <a:avLst/>
          </a:prstGeom>
          <a:noFill/>
          <a:ln/>
        </p:spPr>
        <p:txBody>
          <a:bodyPr wrap="square" lIns="0" tIns="0" rIns="0" bIns="0" rtlCol="0" anchor="ctr"/>
          <a:lstStyle/>
          <a:p>
            <a:pPr indent="0" marL="0">
              <a:buNone/>
            </a:pPr>
            <a:r>
              <a:rPr lang="en-US" sz="2600" b="1" dirty="0">
                <a:solidFill>
                  <a:schemeClr val="bg1"/>
                </a:solidFill>
              </a:rPr>
              <a:t>La IA ve el riesgo. </a:t>
            </a:r>
            <a:pPr indent="0" marL="0">
              <a:buNone/>
            </a:pPr>
            <a:r>
              <a:rPr lang="en-US" sz="2600" b="1" dirty="0">
                <a:solidFill>
                  <a:schemeClr val="accent5"/>
                </a:solidFill>
              </a:rPr>
              <a:t>Nadie ve al paciente.</a:t>
            </a:r>
            <a:endParaRPr lang="en-US" sz="26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768096" y="411480"/>
            <a:ext cx="8229600" cy="310896"/>
          </a:xfrm>
          <a:prstGeom prst="rect">
            <a:avLst/>
          </a:prstGeom>
          <a:noFill/>
          <a:ln/>
        </p:spPr>
        <p:txBody>
          <a:bodyPr wrap="square" lIns="0" tIns="0" rIns="0" bIns="0" rtlCol="0" anchor="ctr"/>
          <a:lstStyle/>
          <a:p>
            <a:pPr indent="0" marL="0">
              <a:buNone/>
            </a:pPr>
            <a:r>
              <a:rPr lang="en-US" sz="1200" b="1" spc="200" kern="0" dirty="0">
                <a:solidFill>
                  <a:schemeClr val="accent5"/>
                </a:solidFill>
              </a:rPr>
              <a:t>03 · CIFRADO HOMOMÓRFICO</a:t>
            </a:r>
            <a:endParaRPr lang="en-US" sz="1200" dirty="0"/>
          </a:p>
        </p:txBody>
      </p:sp>
      <p:sp>
        <p:nvSpPr>
          <p:cNvPr id="3" name="Text 1"/>
          <p:cNvSpPr/>
          <p:nvPr>
            <p:ph idx="102" type="title" hasCustomPrompt="1"/>
          </p:nvPr>
        </p:nvSpPr>
        <p:spPr>
          <a:xfrm>
            <a:off x="548640" y="777240"/>
            <a:ext cx="11091672" cy="731520"/>
          </a:xfrm>
          <a:prstGeom prst="rect">
            <a:avLst/>
          </a:prstGeom>
          <a:noFill/>
          <a:ln/>
        </p:spPr>
        <p:txBody>
          <a:bodyPr wrap="square" lIns="0" tIns="0" rIns="0" bIns="0" rtlCol="0" anchor="t"/>
          <a:lstStyle/>
          <a:p>
            <a:pPr algn="l" indent="0" marL="0">
              <a:buNone/>
            </a:pPr>
            <a:r>
              <a:rPr lang="en-US" sz="3000" b="1" dirty="0">
                <a:solidFill>
                  <a:schemeClr val="bg1"/>
                </a:solidFill>
              </a:rPr>
              <a:t>Cómo se calcula un riesgo sin descifrar nada</a:t>
            </a:r>
            <a:endParaRPr lang="en-US" sz="3000" dirty="0"/>
          </a:p>
        </p:txBody>
      </p:sp>
      <p:sp>
        <p:nvSpPr>
          <p:cNvPr id="4" name="Matemática"/>
          <p:cNvSpPr/>
          <p:nvPr/>
        </p:nvSpPr>
        <p:spPr>
          <a:xfrm>
            <a:off x="548640" y="1783080"/>
            <a:ext cx="5989320" cy="2194560"/>
          </a:xfrm>
          <a:prstGeom prst="roundRect">
            <a:avLst>
              <a:gd name="adj" fmla="val 4167"/>
            </a:avLst>
          </a:prstGeom>
          <a:solidFill>
            <a:schemeClr val="tx2"/>
          </a:solidFill>
          <a:ln w="9525">
            <a:solidFill>
              <a:schemeClr val="accent5">
                <a:alpha val="70000"/>
              </a:schemeClr>
            </a:solidFill>
            <a:prstDash val="solid"/>
          </a:ln>
        </p:spPr>
      </p:sp>
      <p:sp>
        <p:nvSpPr>
          <p:cNvPr id="5" name="Text 3"/>
          <p:cNvSpPr txBox="1"/>
          <p:nvPr/>
        </p:nvSpPr>
        <p:spPr>
          <a:xfrm>
            <a:off x="777240" y="1920240"/>
            <a:ext cx="5577840" cy="274320"/>
          </a:xfrm>
          <a:prstGeom prst="rect">
            <a:avLst/>
          </a:prstGeom>
          <a:noFill/>
          <a:ln/>
        </p:spPr>
        <p:txBody>
          <a:bodyPr wrap="square" lIns="0" tIns="0" rIns="0" bIns="0" rtlCol="0" anchor="t"/>
          <a:lstStyle/>
          <a:p>
            <a:pPr indent="0" marL="0">
              <a:buNone/>
            </a:pPr>
            <a:r>
              <a:rPr lang="en-US" sz="1100" b="1" spc="100" kern="0" dirty="0">
                <a:solidFill>
                  <a:schemeClr val="accent5"/>
                </a:solidFill>
              </a:rPr>
              <a:t>LA PROPIEDAD QUE LO HACE POSIBLE (PAILLIER)</a:t>
            </a:r>
            <a:endParaRPr lang="en-US" sz="1100" dirty="0"/>
          </a:p>
        </p:txBody>
      </p:sp>
      <p:sp>
        <p:nvSpPr>
          <p:cNvPr id="6" name="Text 4"/>
          <p:cNvSpPr txBox="1"/>
          <p:nvPr/>
        </p:nvSpPr>
        <p:spPr>
          <a:xfrm>
            <a:off x="777240" y="2286000"/>
            <a:ext cx="5577840" cy="365760"/>
          </a:xfrm>
          <a:prstGeom prst="rect">
            <a:avLst/>
          </a:prstGeom>
          <a:noFill/>
          <a:ln/>
        </p:spPr>
        <p:txBody>
          <a:bodyPr wrap="square" lIns="0" tIns="0" rIns="0" bIns="0" rtlCol="0" anchor="t"/>
          <a:lstStyle/>
          <a:p>
            <a:pPr indent="0" marL="0">
              <a:buNone/>
            </a:pPr>
            <a:r>
              <a:rPr lang="en-US" sz="1700" b="1" dirty="0">
                <a:solidFill>
                  <a:schemeClr val="bg1"/>
                </a:solidFill>
                <a:latin typeface="Courier New" pitchFamily="34" charset="0"/>
                <a:ea typeface="Courier New" pitchFamily="34" charset="-122"/>
                <a:cs typeface="Courier New" pitchFamily="34" charset="-120"/>
              </a:rPr>
              <a:t>Enc(a) · Enc(b)  =  Enc(a + b)</a:t>
            </a:r>
            <a:endParaRPr lang="en-US" sz="1700" dirty="0"/>
          </a:p>
        </p:txBody>
      </p:sp>
      <p:sp>
        <p:nvSpPr>
          <p:cNvPr id="7" name="Text 5"/>
          <p:cNvSpPr txBox="1"/>
          <p:nvPr/>
        </p:nvSpPr>
        <p:spPr>
          <a:xfrm>
            <a:off x="777240" y="2670048"/>
            <a:ext cx="5577840" cy="365760"/>
          </a:xfrm>
          <a:prstGeom prst="rect">
            <a:avLst/>
          </a:prstGeom>
          <a:noFill/>
          <a:ln/>
        </p:spPr>
        <p:txBody>
          <a:bodyPr wrap="square" lIns="0" tIns="0" rIns="0" bIns="0" rtlCol="0" anchor="t"/>
          <a:lstStyle/>
          <a:p>
            <a:pPr indent="0" marL="0">
              <a:buNone/>
            </a:pPr>
            <a:r>
              <a:rPr lang="en-US" sz="1700" b="1" dirty="0">
                <a:solidFill>
                  <a:schemeClr val="bg1"/>
                </a:solidFill>
                <a:latin typeface="Courier New" pitchFamily="34" charset="0"/>
                <a:ea typeface="Courier New" pitchFamily="34" charset="-122"/>
                <a:cs typeface="Courier New" pitchFamily="34" charset="-120"/>
              </a:rPr>
              <a:t>Enc(a) ^ k       =  Enc(k · a)</a:t>
            </a:r>
            <a:endParaRPr lang="en-US" sz="1700" dirty="0"/>
          </a:p>
        </p:txBody>
      </p:sp>
      <p:sp>
        <p:nvSpPr>
          <p:cNvPr id="8" name="Text 6"/>
          <p:cNvSpPr txBox="1"/>
          <p:nvPr/>
        </p:nvSpPr>
        <p:spPr>
          <a:xfrm>
            <a:off x="777240" y="3054096"/>
            <a:ext cx="5577840" cy="365760"/>
          </a:xfrm>
          <a:prstGeom prst="rect">
            <a:avLst/>
          </a:prstGeom>
          <a:noFill/>
          <a:ln/>
        </p:spPr>
        <p:txBody>
          <a:bodyPr wrap="square" lIns="0" tIns="0" rIns="0" bIns="0" rtlCol="0" anchor="t"/>
          <a:lstStyle/>
          <a:p>
            <a:pPr indent="0" marL="0">
              <a:buNone/>
            </a:pPr>
            <a:r>
              <a:rPr lang="en-US" sz="1700" b="1" dirty="0">
                <a:solidFill>
                  <a:schemeClr val="accent2"/>
                </a:solidFill>
                <a:latin typeface="Courier New" pitchFamily="34" charset="0"/>
                <a:ea typeface="Courier New" pitchFamily="34" charset="-122"/>
                <a:cs typeface="Courier New" pitchFamily="34" charset="-120"/>
              </a:rPr>
              <a:t>∏ Enc(xᵢ) ^ wᵢ   =  Enc(w · x)</a:t>
            </a:r>
            <a:endParaRPr lang="en-US" sz="1700" dirty="0"/>
          </a:p>
        </p:txBody>
      </p:sp>
      <p:sp>
        <p:nvSpPr>
          <p:cNvPr id="9" name="Text 7"/>
          <p:cNvSpPr txBox="1"/>
          <p:nvPr/>
        </p:nvSpPr>
        <p:spPr>
          <a:xfrm>
            <a:off x="777240" y="3456432"/>
            <a:ext cx="5577840" cy="457200"/>
          </a:xfrm>
          <a:prstGeom prst="rect">
            <a:avLst/>
          </a:prstGeom>
          <a:noFill/>
          <a:ln/>
        </p:spPr>
        <p:txBody>
          <a:bodyPr wrap="square" lIns="0" tIns="0" rIns="0" bIns="0" rtlCol="0" anchor="t"/>
          <a:lstStyle/>
          <a:p>
            <a:pPr indent="0" marL="0">
              <a:buNone/>
            </a:pPr>
            <a:r>
              <a:rPr lang="en-US" sz="1100" dirty="0">
                <a:solidFill>
                  <a:schemeClr val="bg2"/>
                </a:solidFill>
              </a:rPr>
              <a:t>El servidor combina los datos cifrados con los pesos del modelo y obtiene el puntaje cifrado. El hospital lo descifra y aplica la sigmoide.</a:t>
            </a:r>
            <a:endParaRPr lang="en-US" sz="1100" dirty="0"/>
          </a:p>
        </p:txBody>
      </p:sp>
      <p:sp>
        <p:nvSpPr>
          <p:cNvPr id="10" name="En tránsito"/>
          <p:cNvSpPr/>
          <p:nvPr/>
        </p:nvSpPr>
        <p:spPr>
          <a:xfrm>
            <a:off x="6812280" y="1783080"/>
            <a:ext cx="4828032" cy="658368"/>
          </a:xfrm>
          <a:prstGeom prst="roundRect">
            <a:avLst>
              <a:gd name="adj" fmla="val 13889"/>
            </a:avLst>
          </a:prstGeom>
          <a:solidFill>
            <a:schemeClr val="tx2"/>
          </a:solidFill>
          <a:ln w="9525">
            <a:solidFill>
              <a:schemeClr val="accent5">
                <a:alpha val="50000"/>
              </a:schemeClr>
            </a:solidFill>
            <a:prstDash val="solid"/>
          </a:ln>
        </p:spPr>
      </p:sp>
      <p:sp>
        <p:nvSpPr>
          <p:cNvPr id="11" name="En tránsito círculo"/>
          <p:cNvSpPr/>
          <p:nvPr/>
        </p:nvSpPr>
        <p:spPr>
          <a:xfrm>
            <a:off x="6949440" y="1901952"/>
            <a:ext cx="420624" cy="420624"/>
          </a:xfrm>
          <a:prstGeom prst="ellipse">
            <a:avLst/>
          </a:prstGeom>
          <a:solidFill>
            <a:schemeClr val="accent1"/>
          </a:solidFill>
          <a:ln/>
        </p:spPr>
      </p:sp>
      <p:pic>
        <p:nvPicPr>
          <p:cNvPr id="12" name="En tránsito ícono" descr="preencoded.png">    </p:cNvPr>
          <p:cNvPicPr>
            <a:picLocks noChangeAspect="1"/>
          </p:cNvPicPr>
          <p:nvPr/>
        </p:nvPicPr>
        <p:blipFill>
          <a:blip r:embed="rId1"/>
          <a:stretch>
            <a:fillRect/>
          </a:stretch>
        </p:blipFill>
        <p:spPr>
          <a:xfrm>
            <a:off x="7041977" y="1994489"/>
            <a:ext cx="235549" cy="235549"/>
          </a:xfrm>
          <a:prstGeom prst="rect">
            <a:avLst/>
          </a:prstGeom>
        </p:spPr>
      </p:pic>
      <p:sp>
        <p:nvSpPr>
          <p:cNvPr id="13" name="Text 10"/>
          <p:cNvSpPr txBox="1"/>
          <p:nvPr/>
        </p:nvSpPr>
        <p:spPr>
          <a:xfrm>
            <a:off x="7498080" y="1837944"/>
            <a:ext cx="1280160" cy="548640"/>
          </a:xfrm>
          <a:prstGeom prst="rect">
            <a:avLst/>
          </a:prstGeom>
          <a:noFill/>
          <a:ln/>
        </p:spPr>
        <p:txBody>
          <a:bodyPr wrap="square" lIns="0" tIns="0" rIns="0" bIns="0" rtlCol="0" anchor="ctr"/>
          <a:lstStyle/>
          <a:p>
            <a:pPr indent="0" marL="0">
              <a:buNone/>
            </a:pPr>
            <a:r>
              <a:rPr lang="en-US" sz="1400" b="1" dirty="0">
                <a:solidFill>
                  <a:schemeClr val="bg1"/>
                </a:solidFill>
              </a:rPr>
              <a:t>En tránsito</a:t>
            </a:r>
            <a:endParaRPr lang="en-US" sz="1400" dirty="0"/>
          </a:p>
        </p:txBody>
      </p:sp>
      <p:sp>
        <p:nvSpPr>
          <p:cNvPr id="14" name="Text 11"/>
          <p:cNvSpPr txBox="1"/>
          <p:nvPr/>
        </p:nvSpPr>
        <p:spPr>
          <a:xfrm>
            <a:off x="8732520" y="1837944"/>
            <a:ext cx="2788920" cy="548640"/>
          </a:xfrm>
          <a:prstGeom prst="rect">
            <a:avLst/>
          </a:prstGeom>
          <a:noFill/>
          <a:ln/>
        </p:spPr>
        <p:txBody>
          <a:bodyPr wrap="square" lIns="0" tIns="0" rIns="0" bIns="0" rtlCol="0" anchor="ctr"/>
          <a:lstStyle/>
          <a:p>
            <a:pPr indent="0" marL="0">
              <a:buNone/>
            </a:pPr>
            <a:r>
              <a:rPr lang="en-US" sz="1200" dirty="0">
                <a:solidFill>
                  <a:schemeClr val="bg2"/>
                </a:solidFill>
              </a:rPr>
              <a:t>TLS 1.3 entre el hospital y LinuxONE</a:t>
            </a:r>
            <a:endParaRPr lang="en-US" sz="1200" dirty="0"/>
          </a:p>
        </p:txBody>
      </p:sp>
      <p:sp>
        <p:nvSpPr>
          <p:cNvPr id="15" name="En reposo"/>
          <p:cNvSpPr/>
          <p:nvPr/>
        </p:nvSpPr>
        <p:spPr>
          <a:xfrm>
            <a:off x="6812280" y="2532888"/>
            <a:ext cx="4828032" cy="658368"/>
          </a:xfrm>
          <a:prstGeom prst="roundRect">
            <a:avLst>
              <a:gd name="adj" fmla="val 13889"/>
            </a:avLst>
          </a:prstGeom>
          <a:solidFill>
            <a:schemeClr val="tx2"/>
          </a:solidFill>
          <a:ln w="9525">
            <a:solidFill>
              <a:schemeClr val="accent5">
                <a:alpha val="50000"/>
              </a:schemeClr>
            </a:solidFill>
            <a:prstDash val="solid"/>
          </a:ln>
        </p:spPr>
      </p:sp>
      <p:sp>
        <p:nvSpPr>
          <p:cNvPr id="16" name="En reposo círculo"/>
          <p:cNvSpPr/>
          <p:nvPr/>
        </p:nvSpPr>
        <p:spPr>
          <a:xfrm>
            <a:off x="6949440" y="2651760"/>
            <a:ext cx="420624" cy="420624"/>
          </a:xfrm>
          <a:prstGeom prst="ellipse">
            <a:avLst/>
          </a:prstGeom>
          <a:solidFill>
            <a:schemeClr val="accent1"/>
          </a:solidFill>
          <a:ln/>
        </p:spPr>
      </p:sp>
      <p:pic>
        <p:nvPicPr>
          <p:cNvPr id="17" name="En reposo ícono" descr="preencoded.png">    </p:cNvPr>
          <p:cNvPicPr>
            <a:picLocks noChangeAspect="1"/>
          </p:cNvPicPr>
          <p:nvPr/>
        </p:nvPicPr>
        <p:blipFill>
          <a:blip r:embed="rId2"/>
          <a:stretch>
            <a:fillRect/>
          </a:stretch>
        </p:blipFill>
        <p:spPr>
          <a:xfrm>
            <a:off x="7041977" y="2744297"/>
            <a:ext cx="235549" cy="235549"/>
          </a:xfrm>
          <a:prstGeom prst="rect">
            <a:avLst/>
          </a:prstGeom>
        </p:spPr>
      </p:pic>
      <p:sp>
        <p:nvSpPr>
          <p:cNvPr id="18" name="Text 14"/>
          <p:cNvSpPr txBox="1"/>
          <p:nvPr/>
        </p:nvSpPr>
        <p:spPr>
          <a:xfrm>
            <a:off x="7498080" y="2587752"/>
            <a:ext cx="1280160" cy="548640"/>
          </a:xfrm>
          <a:prstGeom prst="rect">
            <a:avLst/>
          </a:prstGeom>
          <a:noFill/>
          <a:ln/>
        </p:spPr>
        <p:txBody>
          <a:bodyPr wrap="square" lIns="0" tIns="0" rIns="0" bIns="0" rtlCol="0" anchor="ctr"/>
          <a:lstStyle/>
          <a:p>
            <a:pPr indent="0" marL="0">
              <a:buNone/>
            </a:pPr>
            <a:r>
              <a:rPr lang="en-US" sz="1400" b="1" dirty="0">
                <a:solidFill>
                  <a:schemeClr val="bg1"/>
                </a:solidFill>
              </a:rPr>
              <a:t>En reposo</a:t>
            </a:r>
            <a:endParaRPr lang="en-US" sz="1400" dirty="0"/>
          </a:p>
        </p:txBody>
      </p:sp>
      <p:sp>
        <p:nvSpPr>
          <p:cNvPr id="19" name="Text 15"/>
          <p:cNvSpPr txBox="1"/>
          <p:nvPr/>
        </p:nvSpPr>
        <p:spPr>
          <a:xfrm>
            <a:off x="8732520" y="2587752"/>
            <a:ext cx="2788920" cy="548640"/>
          </a:xfrm>
          <a:prstGeom prst="rect">
            <a:avLst/>
          </a:prstGeom>
          <a:noFill/>
          <a:ln/>
        </p:spPr>
        <p:txBody>
          <a:bodyPr wrap="square" lIns="0" tIns="0" rIns="0" bIns="0" rtlCol="0" anchor="ctr"/>
          <a:lstStyle/>
          <a:p>
            <a:pPr indent="0" marL="0">
              <a:buNone/>
            </a:pPr>
            <a:r>
              <a:rPr lang="en-US" sz="1200" dirty="0">
                <a:solidFill>
                  <a:schemeClr val="bg2"/>
                </a:solidFill>
              </a:rPr>
              <a:t>AES-256-GCM acelerado por hardware (CPACF de IBM Z)</a:t>
            </a:r>
            <a:endParaRPr lang="en-US" sz="1200" dirty="0"/>
          </a:p>
        </p:txBody>
      </p:sp>
      <p:sp>
        <p:nvSpPr>
          <p:cNvPr id="20" name="En uso"/>
          <p:cNvSpPr/>
          <p:nvPr/>
        </p:nvSpPr>
        <p:spPr>
          <a:xfrm>
            <a:off x="6812280" y="3282696"/>
            <a:ext cx="4828032" cy="658368"/>
          </a:xfrm>
          <a:prstGeom prst="roundRect">
            <a:avLst>
              <a:gd name="adj" fmla="val 13889"/>
            </a:avLst>
          </a:prstGeom>
          <a:solidFill>
            <a:schemeClr val="tx2"/>
          </a:solidFill>
          <a:ln w="9525">
            <a:solidFill>
              <a:schemeClr val="accent5">
                <a:alpha val="50000"/>
              </a:schemeClr>
            </a:solidFill>
            <a:prstDash val="solid"/>
          </a:ln>
        </p:spPr>
      </p:sp>
      <p:sp>
        <p:nvSpPr>
          <p:cNvPr id="21" name="En uso círculo"/>
          <p:cNvSpPr/>
          <p:nvPr/>
        </p:nvSpPr>
        <p:spPr>
          <a:xfrm>
            <a:off x="6949440" y="3401568"/>
            <a:ext cx="420624" cy="420624"/>
          </a:xfrm>
          <a:prstGeom prst="ellipse">
            <a:avLst/>
          </a:prstGeom>
          <a:solidFill>
            <a:schemeClr val="accent1"/>
          </a:solidFill>
          <a:ln/>
        </p:spPr>
      </p:sp>
      <p:pic>
        <p:nvPicPr>
          <p:cNvPr id="22" name="En uso ícono" descr="preencoded.png">    </p:cNvPr>
          <p:cNvPicPr>
            <a:picLocks noChangeAspect="1"/>
          </p:cNvPicPr>
          <p:nvPr/>
        </p:nvPicPr>
        <p:blipFill>
          <a:blip r:embed="rId3"/>
          <a:stretch>
            <a:fillRect/>
          </a:stretch>
        </p:blipFill>
        <p:spPr>
          <a:xfrm>
            <a:off x="7041977" y="3494105"/>
            <a:ext cx="235549" cy="235549"/>
          </a:xfrm>
          <a:prstGeom prst="rect">
            <a:avLst/>
          </a:prstGeom>
        </p:spPr>
      </p:pic>
      <p:sp>
        <p:nvSpPr>
          <p:cNvPr id="23" name="Text 18"/>
          <p:cNvSpPr txBox="1"/>
          <p:nvPr/>
        </p:nvSpPr>
        <p:spPr>
          <a:xfrm>
            <a:off x="7498080" y="3337560"/>
            <a:ext cx="1280160" cy="548640"/>
          </a:xfrm>
          <a:prstGeom prst="rect">
            <a:avLst/>
          </a:prstGeom>
          <a:noFill/>
          <a:ln/>
        </p:spPr>
        <p:txBody>
          <a:bodyPr wrap="square" lIns="0" tIns="0" rIns="0" bIns="0" rtlCol="0" anchor="ctr"/>
          <a:lstStyle/>
          <a:p>
            <a:pPr indent="0" marL="0">
              <a:buNone/>
            </a:pPr>
            <a:r>
              <a:rPr lang="en-US" sz="1400" b="1" dirty="0">
                <a:solidFill>
                  <a:schemeClr val="bg1"/>
                </a:solidFill>
              </a:rPr>
              <a:t>En uso</a:t>
            </a:r>
            <a:endParaRPr lang="en-US" sz="1400" dirty="0"/>
          </a:p>
        </p:txBody>
      </p:sp>
      <p:sp>
        <p:nvSpPr>
          <p:cNvPr id="24" name="Text 19"/>
          <p:cNvSpPr txBox="1"/>
          <p:nvPr/>
        </p:nvSpPr>
        <p:spPr>
          <a:xfrm>
            <a:off x="8732520" y="3337560"/>
            <a:ext cx="2788920" cy="548640"/>
          </a:xfrm>
          <a:prstGeom prst="rect">
            <a:avLst/>
          </a:prstGeom>
          <a:noFill/>
          <a:ln/>
        </p:spPr>
        <p:txBody>
          <a:bodyPr wrap="square" lIns="0" tIns="0" rIns="0" bIns="0" rtlCol="0" anchor="ctr"/>
          <a:lstStyle/>
          <a:p>
            <a:pPr indent="0" marL="0">
              <a:buNone/>
            </a:pPr>
            <a:r>
              <a:rPr lang="en-US" sz="1200" dirty="0">
                <a:solidFill>
                  <a:schemeClr val="bg2"/>
                </a:solidFill>
              </a:rPr>
              <a:t>Paillier de 2048 bits: se calcula sin descifrar</a:t>
            </a:r>
            <a:endParaRPr lang="en-US" sz="1200" dirty="0"/>
          </a:p>
        </p:txBody>
      </p:sp>
      <p:sp>
        <p:nvSpPr>
          <p:cNvPr id="25" name="Text 20"/>
          <p:cNvSpPr txBox="1"/>
          <p:nvPr/>
        </p:nvSpPr>
        <p:spPr>
          <a:xfrm>
            <a:off x="548640" y="4114800"/>
            <a:ext cx="5486400" cy="329184"/>
          </a:xfrm>
          <a:prstGeom prst="rect">
            <a:avLst/>
          </a:prstGeom>
          <a:noFill/>
          <a:ln/>
        </p:spPr>
        <p:txBody>
          <a:bodyPr wrap="square" lIns="0" tIns="0" rIns="0" bIns="0" rtlCol="0" anchor="ctr"/>
          <a:lstStyle/>
          <a:p>
            <a:pPr indent="0" marL="0">
              <a:buNone/>
            </a:pPr>
            <a:r>
              <a:rPr lang="en-US" sz="1600" b="1" dirty="0">
                <a:solidFill>
                  <a:schemeClr val="bg1"/>
                </a:solidFill>
              </a:rPr>
              <a:t>¿Quién ve qué?</a:t>
            </a:r>
            <a:endParaRPr lang="en-US" sz="1600" dirty="0"/>
          </a:p>
        </p:txBody>
      </p:sp>
      <p:graphicFrame>
        <p:nvGraphicFramePr>
          <p:cNvPr id="5" name="Quién ve qué"/>
          <p:cNvGraphicFramePr>
            <a:graphicFrameLocks noGrp="1"/>
          </p:cNvGraphicFramePr>
          <p:nvPr>
            <p:extLst>
              <p:ext uri="{D42A27DB-BD31-4B8C-83A1-F6EECF244321}">
                <p14:modId xmlns:p14="http://schemas.microsoft.com/office/powerpoint/2010/main" val="1579011935"/>
              </p:ext>
            </p:extLst>
          </p:nvPr>
        </p:nvGraphicFramePr>
        <p:xfrm>
          <a:off x="548640" y="4480560"/>
          <a:ext cx="11091672" cy="914400"/>
        </p:xfrm>
        <a:graphic>
          <a:graphicData uri="http://schemas.openxmlformats.org/drawingml/2006/table">
            <a:tbl>
              <a:tblPr/>
              <a:tblGrid>
                <a:gridCol w="3931920"/>
                <a:gridCol w="3749040"/>
                <a:gridCol w="3410712"/>
              </a:tblGrid>
              <a:tr h="301752">
                <a:tc>
                  <a:txBody>
                    <a:bodyPr/>
                    <a:lstStyle/>
                    <a:p>
                      <a:pPr indent="0" marL="0">
                        <a:buNone/>
                      </a:pPr>
                      <a:r>
                        <a:rPr lang="en-US" sz="1200" b="1" dirty="0">
                          <a:solidFill>
                            <a:schemeClr val="accent5"/>
                          </a:solidFill>
                          <a:latin typeface="Arial" pitchFamily="34" charset="0"/>
                          <a:ea typeface="Arial" pitchFamily="34" charset="-122"/>
                          <a:cs typeface="Arial" pitchFamily="34" charset="-120"/>
                        </a:rPr>
                        <a:t>Componente</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solidFill>
                      <a:schemeClr val="tx2"/>
                    </a:solidFill>
                  </a:tcPr>
                </a:tc>
                <a:tc>
                  <a:txBody>
                    <a:bodyPr/>
                    <a:lstStyle/>
                    <a:p>
                      <a:pPr indent="0" marL="0">
                        <a:buNone/>
                      </a:pPr>
                      <a:r>
                        <a:rPr lang="en-US" sz="1200" b="1" dirty="0">
                          <a:solidFill>
                            <a:schemeClr val="accent5"/>
                          </a:solidFill>
                          <a:latin typeface="Arial" pitchFamily="34" charset="0"/>
                          <a:ea typeface="Arial" pitchFamily="34" charset="-122"/>
                          <a:cs typeface="Arial" pitchFamily="34" charset="-120"/>
                        </a:rPr>
                        <a:t>Datos del paciente</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solidFill>
                      <a:schemeClr val="tx2"/>
                    </a:solidFill>
                  </a:tcPr>
                </a:tc>
                <a:tc>
                  <a:txBody>
                    <a:bodyPr/>
                    <a:lstStyle/>
                    <a:p>
                      <a:pPr indent="0" marL="0">
                        <a:buNone/>
                      </a:pPr>
                      <a:r>
                        <a:rPr lang="en-US" sz="1200" b="1" dirty="0">
                          <a:solidFill>
                            <a:schemeClr val="accent5"/>
                          </a:solidFill>
                          <a:latin typeface="Arial" pitchFamily="34" charset="0"/>
                          <a:ea typeface="Arial" pitchFamily="34" charset="-122"/>
                          <a:cs typeface="Arial" pitchFamily="34" charset="-120"/>
                        </a:rPr>
                        <a:t>Resultado de riesgo</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solidFill>
                      <a:schemeClr val="tx2"/>
                    </a:solidFill>
                  </a:tcPr>
                </a:tc>
              </a:tr>
              <a:tr h="301752">
                <a:tc>
                  <a:txBody>
                    <a:bodyPr/>
                    <a:lstStyle/>
                    <a:p>
                      <a:pPr indent="0" marL="0">
                        <a:buNone/>
                      </a:pPr>
                      <a:r>
                        <a:rPr lang="en-US" sz="1200" dirty="0">
                          <a:solidFill>
                            <a:schemeClr val="bg1"/>
                          </a:solidFill>
                          <a:latin typeface="Arial" pitchFamily="34" charset="0"/>
                          <a:ea typeface="Arial" pitchFamily="34" charset="-122"/>
                          <a:cs typeface="Arial" pitchFamily="34" charset="-120"/>
                        </a:rPr>
                        <a:t>Hospital (tiene la llave privada)</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c>
                  <a:txBody>
                    <a:bodyPr/>
                    <a:lstStyle/>
                    <a:p>
                      <a:pPr indent="0" marL="0">
                        <a:buNone/>
                      </a:pPr>
                      <a:r>
                        <a:rPr lang="en-US" sz="1200" dirty="0">
                          <a:solidFill>
                            <a:schemeClr val="bg2"/>
                          </a:solidFill>
                          <a:latin typeface="Arial" pitchFamily="34" charset="0"/>
                          <a:ea typeface="Arial" pitchFamily="34" charset="-122"/>
                          <a:cs typeface="Arial" pitchFamily="34" charset="-120"/>
                        </a:rPr>
                        <a:t>En claro: son sus pacientes</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c>
                  <a:txBody>
                    <a:bodyPr/>
                    <a:lstStyle/>
                    <a:p>
                      <a:pPr indent="0" marL="0">
                        <a:buNone/>
                      </a:pPr>
                      <a:r>
                        <a:rPr lang="en-US" sz="1200" dirty="0">
                          <a:solidFill>
                            <a:schemeClr val="bg2"/>
                          </a:solidFill>
                          <a:latin typeface="Arial" pitchFamily="34" charset="0"/>
                          <a:ea typeface="Arial" pitchFamily="34" charset="-122"/>
                          <a:cs typeface="Arial" pitchFamily="34" charset="-120"/>
                        </a:rPr>
                        <a:t>En claro</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r>
              <a:tr h="301752">
                <a:tc>
                  <a:txBody>
                    <a:bodyPr/>
                    <a:lstStyle/>
                    <a:p>
                      <a:pPr indent="0" marL="0">
                        <a:buNone/>
                      </a:pPr>
                      <a:r>
                        <a:rPr lang="en-US" sz="1200" dirty="0">
                          <a:solidFill>
                            <a:schemeClr val="bg1"/>
                          </a:solidFill>
                          <a:latin typeface="Arial" pitchFamily="34" charset="0"/>
                          <a:ea typeface="Arial" pitchFamily="34" charset="-122"/>
                          <a:cs typeface="Arial" pitchFamily="34" charset="-120"/>
                        </a:rPr>
                        <a:t>Servicio de riesgo en LinuxONE</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c>
                  <a:txBody>
                    <a:bodyPr/>
                    <a:lstStyle/>
                    <a:p>
                      <a:pPr indent="0" marL="0">
                        <a:buNone/>
                      </a:pPr>
                      <a:r>
                        <a:rPr lang="en-US" sz="1200" b="1" dirty="0">
                          <a:solidFill>
                            <a:schemeClr val="accent2"/>
                          </a:solidFill>
                          <a:latin typeface="Arial" pitchFamily="34" charset="0"/>
                          <a:ea typeface="Arial" pitchFamily="34" charset="-122"/>
                          <a:cs typeface="Arial" pitchFamily="34" charset="-120"/>
                        </a:rPr>
                        <a:t>Solo números cifrados</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c>
                  <a:txBody>
                    <a:bodyPr/>
                    <a:lstStyle/>
                    <a:p>
                      <a:pPr indent="0" marL="0">
                        <a:buNone/>
                      </a:pPr>
                      <a:r>
                        <a:rPr lang="en-US" sz="1200" b="1" dirty="0">
                          <a:solidFill>
                            <a:schemeClr val="accent2"/>
                          </a:solidFill>
                          <a:latin typeface="Arial" pitchFamily="34" charset="0"/>
                          <a:ea typeface="Arial" pitchFamily="34" charset="-122"/>
                          <a:cs typeface="Arial" pitchFamily="34" charset="-120"/>
                        </a:rPr>
                        <a:t>Solo cifrado</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r>
              <a:tr h="301752">
                <a:tc>
                  <a:txBody>
                    <a:bodyPr/>
                    <a:lstStyle/>
                    <a:p>
                      <a:pPr indent="0" marL="0">
                        <a:buNone/>
                      </a:pPr>
                      <a:r>
                        <a:rPr lang="en-US" sz="1200" dirty="0">
                          <a:solidFill>
                            <a:schemeClr val="bg1"/>
                          </a:solidFill>
                          <a:latin typeface="Arial" pitchFamily="34" charset="0"/>
                          <a:ea typeface="Arial" pitchFamily="34" charset="-122"/>
                          <a:cs typeface="Arial" pitchFamily="34" charset="-120"/>
                        </a:rPr>
                        <a:t>Disco, logs y respaldos</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c>
                  <a:txBody>
                    <a:bodyPr/>
                    <a:lstStyle/>
                    <a:p>
                      <a:pPr indent="0" marL="0">
                        <a:buNone/>
                      </a:pPr>
                      <a:r>
                        <a:rPr lang="en-US" sz="1200" b="1" dirty="0">
                          <a:solidFill>
                            <a:schemeClr val="accent2"/>
                          </a:solidFill>
                          <a:latin typeface="Arial" pitchFamily="34" charset="0"/>
                          <a:ea typeface="Arial" pitchFamily="34" charset="-122"/>
                          <a:cs typeface="Arial" pitchFamily="34" charset="-120"/>
                        </a:rPr>
                        <a:t>Cifrado AES-256-GCM</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c>
                  <a:txBody>
                    <a:bodyPr/>
                    <a:lstStyle/>
                    <a:p>
                      <a:pPr indent="0" marL="0">
                        <a:buNone/>
                      </a:pPr>
                      <a:r>
                        <a:rPr lang="en-US" sz="1200" b="1" dirty="0">
                          <a:solidFill>
                            <a:schemeClr val="accent2"/>
                          </a:solidFill>
                          <a:latin typeface="Arial" pitchFamily="34" charset="0"/>
                          <a:ea typeface="Arial" pitchFamily="34" charset="-122"/>
                          <a:cs typeface="Arial" pitchFamily="34" charset="-120"/>
                        </a:rPr>
                        <a:t>Cifrado AES-256-GCM</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r>
              <a:tr h="301752">
                <a:tc>
                  <a:txBody>
                    <a:bodyPr/>
                    <a:lstStyle/>
                    <a:p>
                      <a:pPr indent="0" marL="0">
                        <a:buNone/>
                      </a:pPr>
                      <a:r>
                        <a:rPr lang="en-US" sz="1200" dirty="0">
                          <a:solidFill>
                            <a:schemeClr val="bg1"/>
                          </a:solidFill>
                          <a:latin typeface="Arial" pitchFamily="34" charset="0"/>
                          <a:ea typeface="Arial" pitchFamily="34" charset="-122"/>
                          <a:cs typeface="Arial" pitchFamily="34" charset="-120"/>
                        </a:rPr>
                        <a:t>Granite (entorno del hospital)</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c>
                  <a:txBody>
                    <a:bodyPr/>
                    <a:lstStyle/>
                    <a:p>
                      <a:pPr indent="0" marL="0">
                        <a:buNone/>
                      </a:pPr>
                      <a:r>
                        <a:rPr lang="en-US" sz="1200" dirty="0">
                          <a:solidFill>
                            <a:schemeClr val="bg2"/>
                          </a:solidFill>
                          <a:latin typeface="Arial" pitchFamily="34" charset="0"/>
                          <a:ea typeface="Arial" pitchFamily="34" charset="-122"/>
                          <a:cs typeface="Arial" pitchFamily="34" charset="-120"/>
                        </a:rPr>
                        <a:t>Solo lo que el hospital le pase</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c>
                  <a:txBody>
                    <a:bodyPr/>
                    <a:lstStyle/>
                    <a:p>
                      <a:pPr indent="0" marL="0">
                        <a:buNone/>
                      </a:pPr>
                      <a:r>
                        <a:rPr lang="en-US" sz="1200" dirty="0">
                          <a:solidFill>
                            <a:schemeClr val="bg2"/>
                          </a:solidFill>
                          <a:latin typeface="Arial" pitchFamily="34" charset="0"/>
                          <a:ea typeface="Arial" pitchFamily="34" charset="-122"/>
                          <a:cs typeface="Arial" pitchFamily="34" charset="-120"/>
                        </a:rPr>
                        <a:t>Resultado descifrado</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768096" y="411480"/>
            <a:ext cx="8229600" cy="310896"/>
          </a:xfrm>
          <a:prstGeom prst="rect">
            <a:avLst/>
          </a:prstGeom>
          <a:noFill/>
          <a:ln/>
        </p:spPr>
        <p:txBody>
          <a:bodyPr wrap="square" lIns="0" tIns="0" rIns="0" bIns="0" rtlCol="0" anchor="ctr"/>
          <a:lstStyle/>
          <a:p>
            <a:pPr indent="0" marL="0">
              <a:buNone/>
            </a:pPr>
            <a:r>
              <a:rPr lang="en-US" sz="1200" b="1" spc="200" kern="0" dirty="0">
                <a:solidFill>
                  <a:schemeClr val="accent5"/>
                </a:solidFill>
              </a:rPr>
              <a:t>04 · POR QUÉ IBM Z</a:t>
            </a:r>
            <a:endParaRPr lang="en-US" sz="1200" dirty="0"/>
          </a:p>
        </p:txBody>
      </p:sp>
      <p:sp>
        <p:nvSpPr>
          <p:cNvPr id="3" name="Text 1"/>
          <p:cNvSpPr/>
          <p:nvPr>
            <p:ph idx="102" type="title" hasCustomPrompt="1"/>
          </p:nvPr>
        </p:nvSpPr>
        <p:spPr>
          <a:xfrm>
            <a:off x="548640" y="777240"/>
            <a:ext cx="11091672" cy="731520"/>
          </a:xfrm>
          <a:prstGeom prst="rect">
            <a:avLst/>
          </a:prstGeom>
          <a:noFill/>
          <a:ln/>
        </p:spPr>
        <p:txBody>
          <a:bodyPr wrap="square" lIns="0" tIns="0" rIns="0" bIns="0" rtlCol="0" anchor="t"/>
          <a:lstStyle/>
          <a:p>
            <a:pPr algn="l" indent="0" marL="0">
              <a:buNone/>
            </a:pPr>
            <a:r>
              <a:rPr lang="en-US" sz="3000" b="1" dirty="0">
                <a:solidFill>
                  <a:schemeClr val="bg1"/>
                </a:solidFill>
              </a:rPr>
              <a:t>Dos contenedores, una regla: la llave nunca cruza</a:t>
            </a:r>
            <a:endParaRPr lang="en-US" sz="3000" dirty="0"/>
          </a:p>
        </p:txBody>
      </p:sp>
      <p:sp>
        <p:nvSpPr>
          <p:cNvPr id="4" name="Clínicas"/>
          <p:cNvSpPr/>
          <p:nvPr/>
        </p:nvSpPr>
        <p:spPr>
          <a:xfrm>
            <a:off x="548640" y="2926080"/>
            <a:ext cx="1325880" cy="1005840"/>
          </a:xfrm>
          <a:prstGeom prst="roundRect">
            <a:avLst>
              <a:gd name="adj" fmla="val 9091"/>
            </a:avLst>
          </a:prstGeom>
          <a:solidFill>
            <a:schemeClr val="tx2"/>
          </a:solidFill>
          <a:ln w="9525">
            <a:solidFill>
              <a:schemeClr val="accent6">
                <a:alpha val="60000"/>
              </a:schemeClr>
            </a:solidFill>
            <a:prstDash val="solid"/>
          </a:ln>
        </p:spPr>
      </p:sp>
      <p:sp>
        <p:nvSpPr>
          <p:cNvPr id="5" name="Clínicas círculo"/>
          <p:cNvSpPr/>
          <p:nvPr/>
        </p:nvSpPr>
        <p:spPr>
          <a:xfrm>
            <a:off x="987552" y="3035808"/>
            <a:ext cx="438912" cy="438912"/>
          </a:xfrm>
          <a:prstGeom prst="ellipse">
            <a:avLst/>
          </a:prstGeom>
          <a:solidFill>
            <a:schemeClr val="tx2"/>
          </a:solidFill>
          <a:ln/>
        </p:spPr>
      </p:sp>
      <p:pic>
        <p:nvPicPr>
          <p:cNvPr id="6" name="Clínicas ícono" descr="preencoded.png">    </p:cNvPr>
          <p:cNvPicPr>
            <a:picLocks noChangeAspect="1"/>
          </p:cNvPicPr>
          <p:nvPr/>
        </p:nvPicPr>
        <p:blipFill>
          <a:blip r:embed="rId1"/>
          <a:stretch>
            <a:fillRect/>
          </a:stretch>
        </p:blipFill>
        <p:spPr>
          <a:xfrm>
            <a:off x="1084113" y="3132369"/>
            <a:ext cx="245791" cy="245791"/>
          </a:xfrm>
          <a:prstGeom prst="rect">
            <a:avLst/>
          </a:prstGeom>
        </p:spPr>
      </p:pic>
      <p:sp>
        <p:nvSpPr>
          <p:cNvPr id="7" name="Text 4"/>
          <p:cNvSpPr txBox="1"/>
          <p:nvPr/>
        </p:nvSpPr>
        <p:spPr>
          <a:xfrm>
            <a:off x="548640" y="3520440"/>
            <a:ext cx="1325880" cy="320040"/>
          </a:xfrm>
          <a:prstGeom prst="rect">
            <a:avLst/>
          </a:prstGeom>
          <a:noFill/>
          <a:ln/>
        </p:spPr>
        <p:txBody>
          <a:bodyPr wrap="square" lIns="0" tIns="0" rIns="0" bIns="0" rtlCol="0" anchor="ctr"/>
          <a:lstStyle/>
          <a:p>
            <a:pPr algn="ctr" indent="0" marL="0">
              <a:buNone/>
            </a:pPr>
            <a:r>
              <a:rPr lang="en-US" sz="1200" b="1" dirty="0">
                <a:solidFill>
                  <a:schemeClr val="bg1"/>
                </a:solidFill>
              </a:rPr>
              <a:t>Clínicas</a:t>
            </a:r>
            <a:endParaRPr lang="en-US" sz="1200" dirty="0"/>
          </a:p>
        </p:txBody>
      </p:sp>
      <p:sp>
        <p:nvSpPr>
          <p:cNvPr id="8" name="flecha"/>
          <p:cNvSpPr/>
          <p:nvPr/>
        </p:nvSpPr>
        <p:spPr>
          <a:xfrm>
            <a:off x="1920240" y="3429000"/>
            <a:ext cx="365760" cy="0"/>
          </a:xfrm>
          <a:prstGeom prst="line">
            <a:avLst/>
          </a:prstGeom>
          <a:noFill/>
          <a:ln w="22225">
            <a:solidFill>
              <a:schemeClr val="accent5"/>
            </a:solidFill>
            <a:prstDash val="solid"/>
            <a:tailEnd type="triangle"/>
          </a:ln>
        </p:spPr>
      </p:sp>
      <p:sp>
        <p:nvSpPr>
          <p:cNvPr id="9" name="Text 6"/>
          <p:cNvSpPr txBox="1"/>
          <p:nvPr/>
        </p:nvSpPr>
        <p:spPr>
          <a:xfrm>
            <a:off x="548640" y="4160520"/>
            <a:ext cx="1645920" cy="1554480"/>
          </a:xfrm>
          <a:prstGeom prst="rect">
            <a:avLst/>
          </a:prstGeom>
          <a:noFill/>
          <a:ln/>
        </p:spPr>
        <p:txBody>
          <a:bodyPr wrap="square" lIns="0" tIns="0" rIns="0" bIns="0" rtlCol="0" anchor="t"/>
          <a:lstStyle/>
          <a:p>
            <a:pPr indent="0" marL="0">
              <a:buNone/>
            </a:pPr>
            <a:r>
              <a:rPr lang="en-US" sz="900" b="1" dirty="0">
                <a:solidFill>
                  <a:schemeClr val="accent5"/>
                </a:solidFill>
              </a:rPr>
              <a:t>En la demo</a:t>
            </a:r>
            <a:endParaRPr lang="en-US" sz="900" dirty="0"/>
          </a:p>
          <a:p>
            <a:pPr indent="0" marL="0">
              <a:buNone/>
            </a:pPr>
            <a:r>
              <a:rPr lang="en-US" sz="900" dirty="0">
                <a:solidFill>
                  <a:schemeClr val="bg2"/>
                </a:solidFill>
              </a:rPr>
              <a:t>ambos contenedores corren en la misma VM; quien la administra queda dentro de la frontera de confianza. En producción, el del hospital corre en sus instalaciones.</a:t>
            </a:r>
            <a:endParaRPr lang="en-US" sz="900" dirty="0"/>
          </a:p>
        </p:txBody>
      </p:sp>
      <p:sp>
        <p:nvSpPr>
          <p:cNvPr id="10" name="IBM LinuxONE"/>
          <p:cNvSpPr/>
          <p:nvPr/>
        </p:nvSpPr>
        <p:spPr>
          <a:xfrm>
            <a:off x="2331720" y="1783080"/>
            <a:ext cx="5806440" cy="3977640"/>
          </a:xfrm>
          <a:prstGeom prst="roundRect">
            <a:avLst>
              <a:gd name="adj" fmla="val 2299"/>
            </a:avLst>
          </a:prstGeom>
          <a:solidFill>
            <a:schemeClr val="accent1">
              <a:alpha val="10000"/>
            </a:schemeClr>
          </a:solidFill>
          <a:ln w="22225">
            <a:solidFill>
              <a:schemeClr val="accent1"/>
            </a:solidFill>
            <a:prstDash val="solid"/>
          </a:ln>
        </p:spPr>
      </p:sp>
      <p:sp>
        <p:nvSpPr>
          <p:cNvPr id="11" name="LinuxONE círculo"/>
          <p:cNvSpPr/>
          <p:nvPr/>
        </p:nvSpPr>
        <p:spPr>
          <a:xfrm>
            <a:off x="2496312" y="1920240"/>
            <a:ext cx="384048" cy="384048"/>
          </a:xfrm>
          <a:prstGeom prst="ellipse">
            <a:avLst/>
          </a:prstGeom>
          <a:solidFill>
            <a:schemeClr val="accent1"/>
          </a:solidFill>
          <a:ln/>
        </p:spPr>
      </p:sp>
      <p:pic>
        <p:nvPicPr>
          <p:cNvPr id="12" name="LinuxONE ícono" descr="preencoded.png">    </p:cNvPr>
          <p:cNvPicPr>
            <a:picLocks noChangeAspect="1"/>
          </p:cNvPicPr>
          <p:nvPr/>
        </p:nvPicPr>
        <p:blipFill>
          <a:blip r:embed="rId2"/>
          <a:stretch>
            <a:fillRect/>
          </a:stretch>
        </p:blipFill>
        <p:spPr>
          <a:xfrm>
            <a:off x="2580803" y="2004731"/>
            <a:ext cx="215067" cy="215067"/>
          </a:xfrm>
          <a:prstGeom prst="rect">
            <a:avLst/>
          </a:prstGeom>
        </p:spPr>
      </p:pic>
      <p:sp>
        <p:nvSpPr>
          <p:cNvPr id="13" name="Text 9"/>
          <p:cNvSpPr txBox="1"/>
          <p:nvPr/>
        </p:nvSpPr>
        <p:spPr>
          <a:xfrm>
            <a:off x="2971800" y="1920240"/>
            <a:ext cx="2743200" cy="384048"/>
          </a:xfrm>
          <a:prstGeom prst="rect">
            <a:avLst/>
          </a:prstGeom>
          <a:noFill/>
          <a:ln/>
        </p:spPr>
        <p:txBody>
          <a:bodyPr wrap="square" lIns="0" tIns="0" rIns="0" bIns="0" rtlCol="0" anchor="ctr"/>
          <a:lstStyle/>
          <a:p>
            <a:pPr indent="0" marL="0">
              <a:buNone/>
            </a:pPr>
            <a:r>
              <a:rPr lang="en-US" sz="1400" b="1" dirty="0">
                <a:solidFill>
                  <a:schemeClr val="bg1"/>
                </a:solidFill>
              </a:rPr>
              <a:t>IBM LinuxONE · s390x</a:t>
            </a:r>
            <a:endParaRPr lang="en-US" sz="1400" dirty="0"/>
          </a:p>
        </p:txBody>
      </p:sp>
      <p:sp>
        <p:nvSpPr>
          <p:cNvPr id="14" name="Text 10"/>
          <p:cNvSpPr txBox="1"/>
          <p:nvPr/>
        </p:nvSpPr>
        <p:spPr>
          <a:xfrm>
            <a:off x="7223760" y="1965960"/>
            <a:ext cx="749808" cy="292608"/>
          </a:xfrm>
          <a:prstGeom prst="rect">
            <a:avLst/>
          </a:prstGeom>
          <a:noFill/>
          <a:ln/>
        </p:spPr>
        <p:txBody>
          <a:bodyPr wrap="square" lIns="0" tIns="0" rIns="0" bIns="0" rtlCol="0" anchor="ctr"/>
          <a:lstStyle/>
          <a:p>
            <a:pPr algn="r" indent="0" marL="0">
              <a:buNone/>
            </a:pPr>
            <a:r>
              <a:rPr lang="en-US" sz="1000" b="1" dirty="0">
                <a:solidFill>
                  <a:schemeClr val="accent5"/>
                </a:solidFill>
              </a:rPr>
              <a:t>Docker</a:t>
            </a:r>
            <a:endParaRPr lang="en-US" sz="1000" dirty="0"/>
          </a:p>
        </p:txBody>
      </p:sp>
      <p:sp>
        <p:nvSpPr>
          <p:cNvPr id="15" name="Contenedor del hospital"/>
          <p:cNvSpPr/>
          <p:nvPr/>
        </p:nvSpPr>
        <p:spPr>
          <a:xfrm>
            <a:off x="2514600" y="2468880"/>
            <a:ext cx="2468880" cy="3108960"/>
          </a:xfrm>
          <a:prstGeom prst="roundRect">
            <a:avLst>
              <a:gd name="adj" fmla="val 3704"/>
            </a:avLst>
          </a:prstGeom>
          <a:solidFill>
            <a:schemeClr val="tx2"/>
          </a:solidFill>
          <a:ln w="9525">
            <a:solidFill>
              <a:schemeClr val="accent2">
                <a:alpha val="70000"/>
              </a:schemeClr>
            </a:solidFill>
            <a:prstDash val="dash"/>
          </a:ln>
        </p:spPr>
      </p:sp>
      <p:sp>
        <p:nvSpPr>
          <p:cNvPr id="16" name="Text 12"/>
          <p:cNvSpPr txBox="1"/>
          <p:nvPr/>
        </p:nvSpPr>
        <p:spPr>
          <a:xfrm>
            <a:off x="2651760" y="2560320"/>
            <a:ext cx="2194560" cy="320040"/>
          </a:xfrm>
          <a:prstGeom prst="rect">
            <a:avLst/>
          </a:prstGeom>
          <a:noFill/>
          <a:ln/>
        </p:spPr>
        <p:txBody>
          <a:bodyPr wrap="square" lIns="0" tIns="0" rIns="0" bIns="0" rtlCol="0" anchor="ctr"/>
          <a:lstStyle/>
          <a:p>
            <a:pPr indent="0" marL="0">
              <a:buNone/>
            </a:pPr>
            <a:r>
              <a:rPr lang="en-US" sz="1300" b="1" dirty="0">
                <a:solidFill>
                  <a:schemeClr val="accent2"/>
                </a:solidFill>
              </a:rPr>
              <a:t>Contenedor del hospital</a:t>
            </a:r>
            <a:endParaRPr lang="en-US" sz="1300" dirty="0"/>
          </a:p>
        </p:txBody>
      </p:sp>
      <p:sp>
        <p:nvSpPr>
          <p:cNvPr id="17" name="Llave privada Paillier"/>
          <p:cNvSpPr/>
          <p:nvPr/>
        </p:nvSpPr>
        <p:spPr>
          <a:xfrm>
            <a:off x="2651760" y="2971800"/>
            <a:ext cx="2194560" cy="731520"/>
          </a:xfrm>
          <a:prstGeom prst="roundRect">
            <a:avLst>
              <a:gd name="adj" fmla="val 12500"/>
            </a:avLst>
          </a:prstGeom>
          <a:solidFill>
            <a:schemeClr val="accent1">
              <a:alpha val="15000"/>
            </a:schemeClr>
          </a:solidFill>
          <a:ln/>
        </p:spPr>
      </p:sp>
      <p:sp>
        <p:nvSpPr>
          <p:cNvPr id="18" name="Text 14"/>
          <p:cNvSpPr txBox="1"/>
          <p:nvPr/>
        </p:nvSpPr>
        <p:spPr>
          <a:xfrm>
            <a:off x="2770632" y="3044952"/>
            <a:ext cx="1965960" cy="329184"/>
          </a:xfrm>
          <a:prstGeom prst="rect">
            <a:avLst/>
          </a:prstGeom>
          <a:noFill/>
          <a:ln/>
        </p:spPr>
        <p:txBody>
          <a:bodyPr wrap="square" lIns="0" tIns="0" rIns="0" bIns="0" rtlCol="0" anchor="ctr"/>
          <a:lstStyle/>
          <a:p>
            <a:pPr indent="0" marL="0">
              <a:buNone/>
            </a:pPr>
            <a:r>
              <a:rPr lang="en-US" sz="1200" b="1" dirty="0">
                <a:solidFill>
                  <a:schemeClr val="bg1"/>
                </a:solidFill>
              </a:rPr>
              <a:t>Llave privada Paillier</a:t>
            </a:r>
            <a:endParaRPr lang="en-US" sz="1200" dirty="0"/>
          </a:p>
        </p:txBody>
      </p:sp>
      <p:sp>
        <p:nvSpPr>
          <p:cNvPr id="19" name="Text 15"/>
          <p:cNvSpPr txBox="1"/>
          <p:nvPr/>
        </p:nvSpPr>
        <p:spPr>
          <a:xfrm>
            <a:off x="2770632" y="3364992"/>
            <a:ext cx="1965960" cy="274320"/>
          </a:xfrm>
          <a:prstGeom prst="rect">
            <a:avLst/>
          </a:prstGeom>
          <a:noFill/>
          <a:ln/>
        </p:spPr>
        <p:txBody>
          <a:bodyPr wrap="square" lIns="0" tIns="0" rIns="0" bIns="0" rtlCol="0" anchor="ctr"/>
          <a:lstStyle/>
          <a:p>
            <a:pPr indent="0" marL="0">
              <a:buNone/>
            </a:pPr>
            <a:r>
              <a:rPr lang="en-US" sz="1000" dirty="0">
                <a:solidFill>
                  <a:schemeClr val="bg2"/>
                </a:solidFill>
              </a:rPr>
              <a:t>nunca sale de aquí</a:t>
            </a:r>
            <a:endParaRPr lang="en-US" sz="1000" dirty="0"/>
          </a:p>
        </p:txBody>
      </p:sp>
      <p:sp>
        <p:nvSpPr>
          <p:cNvPr id="20" name="Cifrar y descifrar"/>
          <p:cNvSpPr/>
          <p:nvPr/>
        </p:nvSpPr>
        <p:spPr>
          <a:xfrm>
            <a:off x="2651760" y="3813048"/>
            <a:ext cx="2194560" cy="731520"/>
          </a:xfrm>
          <a:prstGeom prst="roundRect">
            <a:avLst>
              <a:gd name="adj" fmla="val 12500"/>
            </a:avLst>
          </a:prstGeom>
          <a:solidFill>
            <a:schemeClr val="accent1">
              <a:alpha val="15000"/>
            </a:schemeClr>
          </a:solidFill>
          <a:ln/>
        </p:spPr>
      </p:sp>
      <p:sp>
        <p:nvSpPr>
          <p:cNvPr id="21" name="Text 17"/>
          <p:cNvSpPr txBox="1"/>
          <p:nvPr/>
        </p:nvSpPr>
        <p:spPr>
          <a:xfrm>
            <a:off x="2770632" y="3886200"/>
            <a:ext cx="1965960" cy="329184"/>
          </a:xfrm>
          <a:prstGeom prst="rect">
            <a:avLst/>
          </a:prstGeom>
          <a:noFill/>
          <a:ln/>
        </p:spPr>
        <p:txBody>
          <a:bodyPr wrap="square" lIns="0" tIns="0" rIns="0" bIns="0" rtlCol="0" anchor="ctr"/>
          <a:lstStyle/>
          <a:p>
            <a:pPr indent="0" marL="0">
              <a:buNone/>
            </a:pPr>
            <a:r>
              <a:rPr lang="en-US" sz="1200" b="1" dirty="0">
                <a:solidFill>
                  <a:schemeClr val="bg1"/>
                </a:solidFill>
              </a:rPr>
              <a:t>Cifrar y descifrar</a:t>
            </a:r>
            <a:endParaRPr lang="en-US" sz="1200" dirty="0"/>
          </a:p>
        </p:txBody>
      </p:sp>
      <p:sp>
        <p:nvSpPr>
          <p:cNvPr id="22" name="Text 18"/>
          <p:cNvSpPr txBox="1"/>
          <p:nvPr/>
        </p:nvSpPr>
        <p:spPr>
          <a:xfrm>
            <a:off x="2770632" y="4206240"/>
            <a:ext cx="1965960" cy="274320"/>
          </a:xfrm>
          <a:prstGeom prst="rect">
            <a:avLst/>
          </a:prstGeom>
          <a:noFill/>
          <a:ln/>
        </p:spPr>
        <p:txBody>
          <a:bodyPr wrap="square" lIns="0" tIns="0" rIns="0" bIns="0" rtlCol="0" anchor="ctr"/>
          <a:lstStyle/>
          <a:p>
            <a:pPr indent="0" marL="0">
              <a:buNone/>
            </a:pPr>
            <a:r>
              <a:rPr lang="en-US" sz="1000" dirty="0">
                <a:solidFill>
                  <a:schemeClr val="bg2"/>
                </a:solidFill>
              </a:rPr>
              <a:t>python-paillier</a:t>
            </a:r>
            <a:endParaRPr lang="en-US" sz="1000" dirty="0"/>
          </a:p>
        </p:txBody>
      </p:sp>
      <p:sp>
        <p:nvSpPr>
          <p:cNvPr id="23" name="Granite · llama.cpp"/>
          <p:cNvSpPr/>
          <p:nvPr/>
        </p:nvSpPr>
        <p:spPr>
          <a:xfrm>
            <a:off x="2651760" y="4654296"/>
            <a:ext cx="2194560" cy="731520"/>
          </a:xfrm>
          <a:prstGeom prst="roundRect">
            <a:avLst>
              <a:gd name="adj" fmla="val 12500"/>
            </a:avLst>
          </a:prstGeom>
          <a:solidFill>
            <a:schemeClr val="accent1">
              <a:alpha val="15000"/>
            </a:schemeClr>
          </a:solidFill>
          <a:ln/>
        </p:spPr>
      </p:sp>
      <p:sp>
        <p:nvSpPr>
          <p:cNvPr id="24" name="Text 20"/>
          <p:cNvSpPr txBox="1"/>
          <p:nvPr/>
        </p:nvSpPr>
        <p:spPr>
          <a:xfrm>
            <a:off x="2770632" y="4727448"/>
            <a:ext cx="1965960" cy="329184"/>
          </a:xfrm>
          <a:prstGeom prst="rect">
            <a:avLst/>
          </a:prstGeom>
          <a:noFill/>
          <a:ln/>
        </p:spPr>
        <p:txBody>
          <a:bodyPr wrap="square" lIns="0" tIns="0" rIns="0" bIns="0" rtlCol="0" anchor="ctr"/>
          <a:lstStyle/>
          <a:p>
            <a:pPr indent="0" marL="0">
              <a:buNone/>
            </a:pPr>
            <a:r>
              <a:rPr lang="en-US" sz="1200" b="1" dirty="0">
                <a:solidFill>
                  <a:schemeClr val="bg1"/>
                </a:solidFill>
              </a:rPr>
              <a:t>Granite · llama.cpp</a:t>
            </a:r>
            <a:endParaRPr lang="en-US" sz="1200" dirty="0"/>
          </a:p>
        </p:txBody>
      </p:sp>
      <p:sp>
        <p:nvSpPr>
          <p:cNvPr id="25" name="Text 21"/>
          <p:cNvSpPr txBox="1"/>
          <p:nvPr/>
        </p:nvSpPr>
        <p:spPr>
          <a:xfrm>
            <a:off x="2770632" y="5047488"/>
            <a:ext cx="1965960" cy="274320"/>
          </a:xfrm>
          <a:prstGeom prst="rect">
            <a:avLst/>
          </a:prstGeom>
          <a:noFill/>
          <a:ln/>
        </p:spPr>
        <p:txBody>
          <a:bodyPr wrap="square" lIns="0" tIns="0" rIns="0" bIns="0" rtlCol="0" anchor="ctr"/>
          <a:lstStyle/>
          <a:p>
            <a:pPr indent="0" marL="0">
              <a:buNone/>
            </a:pPr>
            <a:r>
              <a:rPr lang="en-US" sz="1000" dirty="0">
                <a:solidFill>
                  <a:schemeClr val="bg2"/>
                </a:solidFill>
              </a:rPr>
              <a:t>explica al paciente</a:t>
            </a:r>
            <a:endParaRPr lang="en-US" sz="1000" dirty="0"/>
          </a:p>
        </p:txBody>
      </p:sp>
      <p:sp>
        <p:nvSpPr>
          <p:cNvPr id="26" name="Servicio de riesgo"/>
          <p:cNvSpPr/>
          <p:nvPr/>
        </p:nvSpPr>
        <p:spPr>
          <a:xfrm>
            <a:off x="5486400" y="2468880"/>
            <a:ext cx="2468880" cy="3108960"/>
          </a:xfrm>
          <a:prstGeom prst="roundRect">
            <a:avLst>
              <a:gd name="adj" fmla="val 3704"/>
            </a:avLst>
          </a:prstGeom>
          <a:solidFill>
            <a:schemeClr val="tx2"/>
          </a:solidFill>
          <a:ln w="9525">
            <a:solidFill>
              <a:schemeClr val="accent5">
                <a:alpha val="70000"/>
              </a:schemeClr>
            </a:solidFill>
            <a:prstDash val="dash"/>
          </a:ln>
        </p:spPr>
      </p:sp>
      <p:sp>
        <p:nvSpPr>
          <p:cNvPr id="27" name="Text 23"/>
          <p:cNvSpPr txBox="1"/>
          <p:nvPr/>
        </p:nvSpPr>
        <p:spPr>
          <a:xfrm>
            <a:off x="5623560" y="2560320"/>
            <a:ext cx="2194560" cy="320040"/>
          </a:xfrm>
          <a:prstGeom prst="rect">
            <a:avLst/>
          </a:prstGeom>
          <a:noFill/>
          <a:ln/>
        </p:spPr>
        <p:txBody>
          <a:bodyPr wrap="square" lIns="0" tIns="0" rIns="0" bIns="0" rtlCol="0" anchor="ctr"/>
          <a:lstStyle/>
          <a:p>
            <a:pPr indent="0" marL="0">
              <a:buNone/>
            </a:pPr>
            <a:r>
              <a:rPr lang="en-US" sz="1300" b="1" dirty="0">
                <a:solidFill>
                  <a:schemeClr val="accent5"/>
                </a:solidFill>
              </a:rPr>
              <a:t>Servicio de riesgo</a:t>
            </a:r>
            <a:endParaRPr lang="en-US" sz="1300" dirty="0"/>
          </a:p>
        </p:txBody>
      </p:sp>
      <p:sp>
        <p:nvSpPr>
          <p:cNvPr id="28" name="Modelo logístico"/>
          <p:cNvSpPr/>
          <p:nvPr/>
        </p:nvSpPr>
        <p:spPr>
          <a:xfrm>
            <a:off x="5623560" y="2971800"/>
            <a:ext cx="2194560" cy="731520"/>
          </a:xfrm>
          <a:prstGeom prst="roundRect">
            <a:avLst>
              <a:gd name="adj" fmla="val 12500"/>
            </a:avLst>
          </a:prstGeom>
          <a:solidFill>
            <a:schemeClr val="accent1">
              <a:alpha val="15000"/>
            </a:schemeClr>
          </a:solidFill>
          <a:ln/>
        </p:spPr>
      </p:sp>
      <p:sp>
        <p:nvSpPr>
          <p:cNvPr id="29" name="Text 25"/>
          <p:cNvSpPr txBox="1"/>
          <p:nvPr/>
        </p:nvSpPr>
        <p:spPr>
          <a:xfrm>
            <a:off x="5742432" y="3044952"/>
            <a:ext cx="1965960" cy="329184"/>
          </a:xfrm>
          <a:prstGeom prst="rect">
            <a:avLst/>
          </a:prstGeom>
          <a:noFill/>
          <a:ln/>
        </p:spPr>
        <p:txBody>
          <a:bodyPr wrap="square" lIns="0" tIns="0" rIns="0" bIns="0" rtlCol="0" anchor="ctr"/>
          <a:lstStyle/>
          <a:p>
            <a:pPr indent="0" marL="0">
              <a:buNone/>
            </a:pPr>
            <a:r>
              <a:rPr lang="en-US" sz="1200" b="1" dirty="0">
                <a:solidFill>
                  <a:schemeClr val="bg1"/>
                </a:solidFill>
              </a:rPr>
              <a:t>Modelo logístico</a:t>
            </a:r>
            <a:endParaRPr lang="en-US" sz="1200" dirty="0"/>
          </a:p>
        </p:txBody>
      </p:sp>
      <p:sp>
        <p:nvSpPr>
          <p:cNvPr id="30" name="Text 26"/>
          <p:cNvSpPr txBox="1"/>
          <p:nvPr/>
        </p:nvSpPr>
        <p:spPr>
          <a:xfrm>
            <a:off x="5742432" y="3364992"/>
            <a:ext cx="1965960" cy="274320"/>
          </a:xfrm>
          <a:prstGeom prst="rect">
            <a:avLst/>
          </a:prstGeom>
          <a:noFill/>
          <a:ln/>
        </p:spPr>
        <p:txBody>
          <a:bodyPr wrap="square" lIns="0" tIns="0" rIns="0" bIns="0" rtlCol="0" anchor="ctr"/>
          <a:lstStyle/>
          <a:p>
            <a:pPr indent="0" marL="0">
              <a:buNone/>
            </a:pPr>
            <a:r>
              <a:rPr lang="en-US" sz="1000" dirty="0">
                <a:solidFill>
                  <a:schemeClr val="bg2"/>
                </a:solidFill>
              </a:rPr>
              <a:t>pesos en punto fijo</a:t>
            </a:r>
            <a:endParaRPr lang="en-US" sz="1000" dirty="0"/>
          </a:p>
        </p:txBody>
      </p:sp>
      <p:sp>
        <p:nvSpPr>
          <p:cNvPr id="31" name="Aritmética homomórfica"/>
          <p:cNvSpPr/>
          <p:nvPr/>
        </p:nvSpPr>
        <p:spPr>
          <a:xfrm>
            <a:off x="5623560" y="3813048"/>
            <a:ext cx="2194560" cy="731520"/>
          </a:xfrm>
          <a:prstGeom prst="roundRect">
            <a:avLst>
              <a:gd name="adj" fmla="val 12500"/>
            </a:avLst>
          </a:prstGeom>
          <a:solidFill>
            <a:schemeClr val="accent1">
              <a:alpha val="15000"/>
            </a:schemeClr>
          </a:solidFill>
          <a:ln/>
        </p:spPr>
      </p:sp>
      <p:sp>
        <p:nvSpPr>
          <p:cNvPr id="32" name="Text 28"/>
          <p:cNvSpPr txBox="1"/>
          <p:nvPr/>
        </p:nvSpPr>
        <p:spPr>
          <a:xfrm>
            <a:off x="5742432" y="3886200"/>
            <a:ext cx="1965960" cy="329184"/>
          </a:xfrm>
          <a:prstGeom prst="rect">
            <a:avLst/>
          </a:prstGeom>
          <a:noFill/>
          <a:ln/>
        </p:spPr>
        <p:txBody>
          <a:bodyPr wrap="square" lIns="0" tIns="0" rIns="0" bIns="0" rtlCol="0" anchor="ctr"/>
          <a:lstStyle/>
          <a:p>
            <a:pPr indent="0" marL="0">
              <a:buNone/>
            </a:pPr>
            <a:r>
              <a:rPr lang="en-US" sz="1200" b="1" dirty="0">
                <a:solidFill>
                  <a:schemeClr val="bg1"/>
                </a:solidFill>
              </a:rPr>
              <a:t>Aritmética homomórfica</a:t>
            </a:r>
            <a:endParaRPr lang="en-US" sz="1200" dirty="0"/>
          </a:p>
        </p:txBody>
      </p:sp>
      <p:sp>
        <p:nvSpPr>
          <p:cNvPr id="33" name="Text 29"/>
          <p:cNvSpPr txBox="1"/>
          <p:nvPr/>
        </p:nvSpPr>
        <p:spPr>
          <a:xfrm>
            <a:off x="5742432" y="4206240"/>
            <a:ext cx="1965960" cy="274320"/>
          </a:xfrm>
          <a:prstGeom prst="rect">
            <a:avLst/>
          </a:prstGeom>
          <a:noFill/>
          <a:ln/>
        </p:spPr>
        <p:txBody>
          <a:bodyPr wrap="square" lIns="0" tIns="0" rIns="0" bIns="0" rtlCol="0" anchor="ctr"/>
          <a:lstStyle/>
          <a:p>
            <a:pPr indent="0" marL="0">
              <a:buNone/>
            </a:pPr>
            <a:r>
              <a:rPr lang="en-US" sz="1000" dirty="0">
                <a:solidFill>
                  <a:schemeClr val="bg2"/>
                </a:solidFill>
              </a:rPr>
              <a:t>enteros de 4096 bits</a:t>
            </a:r>
            <a:endParaRPr lang="en-US" sz="1000" dirty="0"/>
          </a:p>
        </p:txBody>
      </p:sp>
      <p:sp>
        <p:nvSpPr>
          <p:cNvPr id="34" name="Bóveda cifrada"/>
          <p:cNvSpPr/>
          <p:nvPr/>
        </p:nvSpPr>
        <p:spPr>
          <a:xfrm>
            <a:off x="5623560" y="4654296"/>
            <a:ext cx="2194560" cy="731520"/>
          </a:xfrm>
          <a:prstGeom prst="roundRect">
            <a:avLst>
              <a:gd name="adj" fmla="val 12500"/>
            </a:avLst>
          </a:prstGeom>
          <a:solidFill>
            <a:schemeClr val="accent1">
              <a:alpha val="15000"/>
            </a:schemeClr>
          </a:solidFill>
          <a:ln/>
        </p:spPr>
      </p:sp>
      <p:sp>
        <p:nvSpPr>
          <p:cNvPr id="35" name="Text 31"/>
          <p:cNvSpPr txBox="1"/>
          <p:nvPr/>
        </p:nvSpPr>
        <p:spPr>
          <a:xfrm>
            <a:off x="5742432" y="4727448"/>
            <a:ext cx="1965960" cy="329184"/>
          </a:xfrm>
          <a:prstGeom prst="rect">
            <a:avLst/>
          </a:prstGeom>
          <a:noFill/>
          <a:ln/>
        </p:spPr>
        <p:txBody>
          <a:bodyPr wrap="square" lIns="0" tIns="0" rIns="0" bIns="0" rtlCol="0" anchor="ctr"/>
          <a:lstStyle/>
          <a:p>
            <a:pPr indent="0" marL="0">
              <a:buNone/>
            </a:pPr>
            <a:r>
              <a:rPr lang="en-US" sz="1200" b="1" dirty="0">
                <a:solidFill>
                  <a:schemeClr val="bg1"/>
                </a:solidFill>
              </a:rPr>
              <a:t>Bóveda cifrada</a:t>
            </a:r>
            <a:endParaRPr lang="en-US" sz="1200" dirty="0"/>
          </a:p>
        </p:txBody>
      </p:sp>
      <p:sp>
        <p:nvSpPr>
          <p:cNvPr id="36" name="Text 32"/>
          <p:cNvSpPr txBox="1"/>
          <p:nvPr/>
        </p:nvSpPr>
        <p:spPr>
          <a:xfrm>
            <a:off x="5742432" y="5047488"/>
            <a:ext cx="1965960" cy="274320"/>
          </a:xfrm>
          <a:prstGeom prst="rect">
            <a:avLst/>
          </a:prstGeom>
          <a:noFill/>
          <a:ln/>
        </p:spPr>
        <p:txBody>
          <a:bodyPr wrap="square" lIns="0" tIns="0" rIns="0" bIns="0" rtlCol="0" anchor="ctr"/>
          <a:lstStyle/>
          <a:p>
            <a:pPr indent="0" marL="0">
              <a:buNone/>
            </a:pPr>
            <a:r>
              <a:rPr lang="en-US" sz="1000" b="1" dirty="0">
                <a:solidFill>
                  <a:schemeClr val="accent2"/>
                </a:solidFill>
              </a:rPr>
              <a:t>AES-256-GCM · CPACF</a:t>
            </a:r>
            <a:endParaRPr lang="en-US" sz="1000" dirty="0"/>
          </a:p>
        </p:txBody>
      </p:sp>
      <p:sp>
        <p:nvSpPr>
          <p:cNvPr id="37" name="flecha"/>
          <p:cNvSpPr/>
          <p:nvPr/>
        </p:nvSpPr>
        <p:spPr>
          <a:xfrm>
            <a:off x="5020056" y="3931920"/>
            <a:ext cx="429768" cy="0"/>
          </a:xfrm>
          <a:prstGeom prst="line">
            <a:avLst/>
          </a:prstGeom>
          <a:noFill/>
          <a:ln w="22225">
            <a:solidFill>
              <a:schemeClr val="accent2"/>
            </a:solidFill>
            <a:prstDash val="solid"/>
            <a:tailEnd type="triangle"/>
          </a:ln>
        </p:spPr>
      </p:sp>
      <p:sp>
        <p:nvSpPr>
          <p:cNvPr id="38" name="flecha regreso"/>
          <p:cNvSpPr/>
          <p:nvPr/>
        </p:nvSpPr>
        <p:spPr>
          <a:xfrm>
            <a:off x="5020056" y="4297680"/>
            <a:ext cx="429768" cy="0"/>
          </a:xfrm>
          <a:prstGeom prst="line">
            <a:avLst/>
          </a:prstGeom>
          <a:noFill/>
          <a:ln w="22225">
            <a:solidFill>
              <a:schemeClr val="accent2"/>
            </a:solidFill>
            <a:prstDash val="solid"/>
            <a:headEnd type="triangle"/>
          </a:ln>
        </p:spPr>
      </p:sp>
      <p:sp>
        <p:nvSpPr>
          <p:cNvPr id="39" name="Text 35"/>
          <p:cNvSpPr txBox="1"/>
          <p:nvPr/>
        </p:nvSpPr>
        <p:spPr>
          <a:xfrm>
            <a:off x="4791456" y="3566160"/>
            <a:ext cx="886968" cy="274320"/>
          </a:xfrm>
          <a:prstGeom prst="rect">
            <a:avLst/>
          </a:prstGeom>
          <a:noFill/>
          <a:ln/>
        </p:spPr>
        <p:txBody>
          <a:bodyPr wrap="square" lIns="0" tIns="0" rIns="0" bIns="0" rtlCol="0" anchor="ctr"/>
          <a:lstStyle/>
          <a:p>
            <a:pPr algn="ctr" indent="0" marL="0">
              <a:buNone/>
            </a:pPr>
            <a:r>
              <a:rPr lang="en-US" sz="900" b="1" dirty="0">
                <a:solidFill>
                  <a:schemeClr val="accent2"/>
                </a:solidFill>
              </a:rPr>
              <a:t>solo cifrado</a:t>
            </a:r>
            <a:endParaRPr lang="en-US" sz="900" dirty="0"/>
          </a:p>
        </p:txBody>
      </p:sp>
      <p:sp>
        <p:nvSpPr>
          <p:cNvPr id="40" name="Cómputo pesado, en serio círculo"/>
          <p:cNvSpPr/>
          <p:nvPr/>
        </p:nvSpPr>
        <p:spPr>
          <a:xfrm>
            <a:off x="8458200" y="1874520"/>
            <a:ext cx="502920" cy="502920"/>
          </a:xfrm>
          <a:prstGeom prst="ellipse">
            <a:avLst/>
          </a:prstGeom>
          <a:solidFill>
            <a:schemeClr val="accent1"/>
          </a:solidFill>
          <a:ln/>
        </p:spPr>
      </p:sp>
      <p:pic>
        <p:nvPicPr>
          <p:cNvPr id="41" name="Cómputo pesado, en serio ícono" descr="preencoded.png">    </p:cNvPr>
          <p:cNvPicPr>
            <a:picLocks noChangeAspect="1"/>
          </p:cNvPicPr>
          <p:nvPr/>
        </p:nvPicPr>
        <p:blipFill>
          <a:blip r:embed="rId3"/>
          <a:stretch>
            <a:fillRect/>
          </a:stretch>
        </p:blipFill>
        <p:spPr>
          <a:xfrm>
            <a:off x="8568842" y="1985162"/>
            <a:ext cx="281635" cy="281635"/>
          </a:xfrm>
          <a:prstGeom prst="rect">
            <a:avLst/>
          </a:prstGeom>
        </p:spPr>
      </p:pic>
      <p:sp>
        <p:nvSpPr>
          <p:cNvPr id="42" name="Text 37"/>
          <p:cNvSpPr txBox="1"/>
          <p:nvPr/>
        </p:nvSpPr>
        <p:spPr>
          <a:xfrm>
            <a:off x="9098280" y="1828800"/>
            <a:ext cx="2542032" cy="365760"/>
          </a:xfrm>
          <a:prstGeom prst="rect">
            <a:avLst/>
          </a:prstGeom>
          <a:noFill/>
          <a:ln/>
        </p:spPr>
        <p:txBody>
          <a:bodyPr wrap="square" lIns="0" tIns="0" rIns="0" bIns="0" rtlCol="0" anchor="ctr"/>
          <a:lstStyle/>
          <a:p>
            <a:pPr indent="0" marL="0">
              <a:buNone/>
            </a:pPr>
            <a:r>
              <a:rPr lang="en-US" sz="1400" b="1" dirty="0">
                <a:solidFill>
                  <a:schemeClr val="bg1"/>
                </a:solidFill>
              </a:rPr>
              <a:t>Cómputo pesado, en serio</a:t>
            </a:r>
            <a:endParaRPr lang="en-US" sz="1400" dirty="0"/>
          </a:p>
        </p:txBody>
      </p:sp>
      <p:sp>
        <p:nvSpPr>
          <p:cNvPr id="43" name="Text 38"/>
          <p:cNvSpPr txBox="1"/>
          <p:nvPr/>
        </p:nvSpPr>
        <p:spPr>
          <a:xfrm>
            <a:off x="9098280" y="2212848"/>
            <a:ext cx="2542032" cy="777240"/>
          </a:xfrm>
          <a:prstGeom prst="rect">
            <a:avLst/>
          </a:prstGeom>
          <a:noFill/>
          <a:ln/>
        </p:spPr>
        <p:txBody>
          <a:bodyPr wrap="square" lIns="0" tIns="0" rIns="0" bIns="0" rtlCol="0" anchor="t"/>
          <a:lstStyle/>
          <a:p>
            <a:pPr indent="0" marL="0">
              <a:buNone/>
            </a:pPr>
            <a:r>
              <a:rPr lang="en-US" sz="1200" dirty="0">
                <a:solidFill>
                  <a:schemeClr val="bg2"/>
                </a:solidFill>
              </a:rPr>
              <a:t>Cada paciente implica exponenciaciones modulares con enteros enormes</a:t>
            </a:r>
            <a:endParaRPr lang="en-US" sz="1200" dirty="0"/>
          </a:p>
        </p:txBody>
      </p:sp>
      <p:sp>
        <p:nvSpPr>
          <p:cNvPr id="44" name="Seguridad de nivel bancario círculo"/>
          <p:cNvSpPr/>
          <p:nvPr/>
        </p:nvSpPr>
        <p:spPr>
          <a:xfrm>
            <a:off x="8458200" y="3154680"/>
            <a:ext cx="502920" cy="502920"/>
          </a:xfrm>
          <a:prstGeom prst="ellipse">
            <a:avLst/>
          </a:prstGeom>
          <a:solidFill>
            <a:schemeClr val="accent1"/>
          </a:solidFill>
          <a:ln/>
        </p:spPr>
      </p:sp>
      <p:pic>
        <p:nvPicPr>
          <p:cNvPr id="45" name="Seguridad de nivel bancario ícono" descr="preencoded.png">    </p:cNvPr>
          <p:cNvPicPr>
            <a:picLocks noChangeAspect="1"/>
          </p:cNvPicPr>
          <p:nvPr/>
        </p:nvPicPr>
        <p:blipFill>
          <a:blip r:embed="rId4"/>
          <a:stretch>
            <a:fillRect/>
          </a:stretch>
        </p:blipFill>
        <p:spPr>
          <a:xfrm>
            <a:off x="8568842" y="3265322"/>
            <a:ext cx="281635" cy="281635"/>
          </a:xfrm>
          <a:prstGeom prst="rect">
            <a:avLst/>
          </a:prstGeom>
        </p:spPr>
      </p:pic>
      <p:sp>
        <p:nvSpPr>
          <p:cNvPr id="46" name="Text 40"/>
          <p:cNvSpPr txBox="1"/>
          <p:nvPr/>
        </p:nvSpPr>
        <p:spPr>
          <a:xfrm>
            <a:off x="9098280" y="3108960"/>
            <a:ext cx="2542032" cy="365760"/>
          </a:xfrm>
          <a:prstGeom prst="rect">
            <a:avLst/>
          </a:prstGeom>
          <a:noFill/>
          <a:ln/>
        </p:spPr>
        <p:txBody>
          <a:bodyPr wrap="square" lIns="0" tIns="0" rIns="0" bIns="0" rtlCol="0" anchor="ctr"/>
          <a:lstStyle/>
          <a:p>
            <a:pPr indent="0" marL="0">
              <a:buNone/>
            </a:pPr>
            <a:r>
              <a:rPr lang="en-US" sz="1400" b="1" dirty="0">
                <a:solidFill>
                  <a:schemeClr val="bg1"/>
                </a:solidFill>
              </a:rPr>
              <a:t>Seguridad de nivel bancario</a:t>
            </a:r>
            <a:endParaRPr lang="en-US" sz="1400" dirty="0"/>
          </a:p>
        </p:txBody>
      </p:sp>
      <p:sp>
        <p:nvSpPr>
          <p:cNvPr id="47" name="Text 41"/>
          <p:cNvSpPr txBox="1"/>
          <p:nvPr/>
        </p:nvSpPr>
        <p:spPr>
          <a:xfrm>
            <a:off x="9098280" y="3493008"/>
            <a:ext cx="2542032" cy="777240"/>
          </a:xfrm>
          <a:prstGeom prst="rect">
            <a:avLst/>
          </a:prstGeom>
          <a:noFill/>
          <a:ln/>
        </p:spPr>
        <p:txBody>
          <a:bodyPr wrap="square" lIns="0" tIns="0" rIns="0" bIns="0" rtlCol="0" anchor="t"/>
          <a:lstStyle/>
          <a:p>
            <a:pPr indent="0" marL="0">
              <a:buNone/>
            </a:pPr>
            <a:r>
              <a:rPr lang="en-US" sz="1200" dirty="0">
                <a:solidFill>
                  <a:schemeClr val="bg2"/>
                </a:solidFill>
              </a:rPr>
              <a:t>Cifrado por hardware y aislamiento entre cargas de trabajo</a:t>
            </a:r>
            <a:endParaRPr lang="en-US" sz="1200" dirty="0"/>
          </a:p>
        </p:txBody>
      </p:sp>
      <p:sp>
        <p:nvSpPr>
          <p:cNvPr id="48" name="Escala por lotes círculo"/>
          <p:cNvSpPr/>
          <p:nvPr/>
        </p:nvSpPr>
        <p:spPr>
          <a:xfrm>
            <a:off x="8458200" y="4434840"/>
            <a:ext cx="502920" cy="502920"/>
          </a:xfrm>
          <a:prstGeom prst="ellipse">
            <a:avLst/>
          </a:prstGeom>
          <a:solidFill>
            <a:schemeClr val="accent1"/>
          </a:solidFill>
          <a:ln/>
        </p:spPr>
      </p:sp>
      <p:pic>
        <p:nvPicPr>
          <p:cNvPr id="49" name="Escala por lotes ícono" descr="preencoded.png">    </p:cNvPr>
          <p:cNvPicPr>
            <a:picLocks noChangeAspect="1"/>
          </p:cNvPicPr>
          <p:nvPr/>
        </p:nvPicPr>
        <p:blipFill>
          <a:blip r:embed="rId5"/>
          <a:stretch>
            <a:fillRect/>
          </a:stretch>
        </p:blipFill>
        <p:spPr>
          <a:xfrm>
            <a:off x="8568842" y="4545482"/>
            <a:ext cx="281635" cy="281635"/>
          </a:xfrm>
          <a:prstGeom prst="rect">
            <a:avLst/>
          </a:prstGeom>
        </p:spPr>
      </p:pic>
      <p:sp>
        <p:nvSpPr>
          <p:cNvPr id="50" name="Text 43"/>
          <p:cNvSpPr txBox="1"/>
          <p:nvPr/>
        </p:nvSpPr>
        <p:spPr>
          <a:xfrm>
            <a:off x="9098280" y="4389120"/>
            <a:ext cx="2542032" cy="365760"/>
          </a:xfrm>
          <a:prstGeom prst="rect">
            <a:avLst/>
          </a:prstGeom>
          <a:noFill/>
          <a:ln/>
        </p:spPr>
        <p:txBody>
          <a:bodyPr wrap="square" lIns="0" tIns="0" rIns="0" bIns="0" rtlCol="0" anchor="ctr"/>
          <a:lstStyle/>
          <a:p>
            <a:pPr indent="0" marL="0">
              <a:buNone/>
            </a:pPr>
            <a:r>
              <a:rPr lang="en-US" sz="1400" b="1" dirty="0">
                <a:solidFill>
                  <a:schemeClr val="bg1"/>
                </a:solidFill>
              </a:rPr>
              <a:t>Escala por lotes</a:t>
            </a:r>
            <a:endParaRPr lang="en-US" sz="1400" dirty="0"/>
          </a:p>
        </p:txBody>
      </p:sp>
      <p:sp>
        <p:nvSpPr>
          <p:cNvPr id="51" name="Text 44"/>
          <p:cNvSpPr txBox="1"/>
          <p:nvPr/>
        </p:nvSpPr>
        <p:spPr>
          <a:xfrm>
            <a:off x="9098280" y="4773168"/>
            <a:ext cx="2542032" cy="777240"/>
          </a:xfrm>
          <a:prstGeom prst="rect">
            <a:avLst/>
          </a:prstGeom>
          <a:noFill/>
          <a:ln/>
        </p:spPr>
        <p:txBody>
          <a:bodyPr wrap="square" lIns="0" tIns="0" rIns="0" bIns="0" rtlCol="0" anchor="t"/>
          <a:lstStyle/>
          <a:p>
            <a:pPr indent="0" marL="0">
              <a:buNone/>
            </a:pPr>
            <a:r>
              <a:rPr lang="en-US" sz="1200" dirty="0">
                <a:solidFill>
                  <a:schemeClr val="bg2"/>
                </a:solidFill>
              </a:rPr>
              <a:t>Muchos pacientes en paralelo en una sola plataforma; medido en vivo</a:t>
            </a:r>
            <a:endParaRPr lang="en-US" sz="1200" dirty="0"/>
          </a:p>
        </p:txBody>
      </p:sp>
      <p:sp>
        <p:nvSpPr>
          <p:cNvPr id="52" name="Text 45"/>
          <p:cNvSpPr txBox="1"/>
          <p:nvPr/>
        </p:nvSpPr>
        <p:spPr>
          <a:xfrm>
            <a:off x="548640" y="5897880"/>
            <a:ext cx="11091672" cy="274320"/>
          </a:xfrm>
          <a:prstGeom prst="rect">
            <a:avLst/>
          </a:prstGeom>
          <a:noFill/>
          <a:ln/>
        </p:spPr>
        <p:txBody>
          <a:bodyPr wrap="square" lIns="0" tIns="0" rIns="0" bIns="0" rtlCol="0" anchor="t"/>
          <a:lstStyle/>
          <a:p>
            <a:pPr indent="0" marL="0">
              <a:buNone/>
            </a:pPr>
            <a:r>
              <a:rPr lang="en-US" sz="1200" b="1" dirty="0">
                <a:solidFill>
                  <a:schemeClr val="accent5"/>
                </a:solidFill>
              </a:rPr>
              <a:t>Stack:  </a:t>
            </a:r>
            <a:pPr indent="0" marL="0">
              <a:buNone/>
            </a:pPr>
            <a:r>
              <a:rPr lang="en-US" sz="1200" dirty="0">
                <a:solidFill>
                  <a:schemeClr val="bg2"/>
                </a:solidFill>
              </a:rPr>
              <a:t>Python · scikit-learn · python-paillier · TenSEAL/OpenFHE (ruta CKKS) · Granite (llama.cpp) · OpenSSL · Docker · Jupyter Lab ML</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768096" y="411480"/>
            <a:ext cx="8229600" cy="310896"/>
          </a:xfrm>
          <a:prstGeom prst="rect">
            <a:avLst/>
          </a:prstGeom>
          <a:noFill/>
          <a:ln/>
        </p:spPr>
        <p:txBody>
          <a:bodyPr wrap="square" lIns="0" tIns="0" rIns="0" bIns="0" rtlCol="0" anchor="ctr"/>
          <a:lstStyle/>
          <a:p>
            <a:pPr indent="0" marL="0">
              <a:buNone/>
            </a:pPr>
            <a:r>
              <a:rPr lang="en-US" sz="1200" b="1" spc="200" kern="0" dirty="0">
                <a:solidFill>
                  <a:schemeClr val="accent5"/>
                </a:solidFill>
              </a:rPr>
              <a:t>05 · DEMO EN VIVO</a:t>
            </a:r>
            <a:endParaRPr lang="en-US" sz="1200" dirty="0"/>
          </a:p>
        </p:txBody>
      </p:sp>
      <p:sp>
        <p:nvSpPr>
          <p:cNvPr id="3" name="Text 1"/>
          <p:cNvSpPr/>
          <p:nvPr>
            <p:ph idx="102" type="title" hasCustomPrompt="1"/>
          </p:nvPr>
        </p:nvSpPr>
        <p:spPr>
          <a:xfrm>
            <a:off x="548640" y="777240"/>
            <a:ext cx="11091672" cy="731520"/>
          </a:xfrm>
          <a:prstGeom prst="rect">
            <a:avLst/>
          </a:prstGeom>
          <a:noFill/>
          <a:ln/>
        </p:spPr>
        <p:txBody>
          <a:bodyPr wrap="square" lIns="0" tIns="0" rIns="0" bIns="0" rtlCol="0" anchor="t"/>
          <a:lstStyle/>
          <a:p>
            <a:pPr algn="l" indent="0" marL="0">
              <a:buNone/>
            </a:pPr>
            <a:r>
              <a:rPr lang="en-US" sz="3000" b="1" dirty="0">
                <a:solidFill>
                  <a:schemeClr val="bg1"/>
                </a:solidFill>
              </a:rPr>
              <a:t>Pantalla dividida: el servidor no ve nada, el hospital ve todo</a:t>
            </a:r>
            <a:endParaRPr lang="en-US" sz="3000" dirty="0"/>
          </a:p>
        </p:txBody>
      </p:sp>
      <p:sp>
        <p:nvSpPr>
          <p:cNvPr id="4" name="Vista servidor"/>
          <p:cNvSpPr/>
          <p:nvPr/>
        </p:nvSpPr>
        <p:spPr>
          <a:xfrm>
            <a:off x="548640" y="1783080"/>
            <a:ext cx="5440680" cy="3383280"/>
          </a:xfrm>
          <a:prstGeom prst="roundRect">
            <a:avLst>
              <a:gd name="adj" fmla="val 2703"/>
            </a:avLst>
          </a:prstGeom>
          <a:solidFill>
            <a:schemeClr val="tx1"/>
          </a:solidFill>
          <a:ln w="9525">
            <a:solidFill>
              <a:schemeClr val="accent6">
                <a:alpha val="70000"/>
              </a:schemeClr>
            </a:solidFill>
            <a:prstDash val="solid"/>
          </a:ln>
        </p:spPr>
      </p:sp>
      <p:sp>
        <p:nvSpPr>
          <p:cNvPr id="5" name="Servidor círculo"/>
          <p:cNvSpPr/>
          <p:nvPr/>
        </p:nvSpPr>
        <p:spPr>
          <a:xfrm>
            <a:off x="731520" y="1938528"/>
            <a:ext cx="384048" cy="384048"/>
          </a:xfrm>
          <a:prstGeom prst="ellipse">
            <a:avLst/>
          </a:prstGeom>
          <a:solidFill>
            <a:schemeClr val="tx2"/>
          </a:solidFill>
          <a:ln/>
        </p:spPr>
      </p:sp>
      <p:pic>
        <p:nvPicPr>
          <p:cNvPr id="6" name="Servidor ícono" descr="preencoded.png">    </p:cNvPr>
          <p:cNvPicPr>
            <a:picLocks noChangeAspect="1"/>
          </p:cNvPicPr>
          <p:nvPr/>
        </p:nvPicPr>
        <p:blipFill>
          <a:blip r:embed="rId1"/>
          <a:stretch>
            <a:fillRect/>
          </a:stretch>
        </p:blipFill>
        <p:spPr>
          <a:xfrm>
            <a:off x="816011" y="2023019"/>
            <a:ext cx="215067" cy="215067"/>
          </a:xfrm>
          <a:prstGeom prst="rect">
            <a:avLst/>
          </a:prstGeom>
        </p:spPr>
      </p:pic>
      <p:sp>
        <p:nvSpPr>
          <p:cNvPr id="7" name="Text 4"/>
          <p:cNvSpPr txBox="1"/>
          <p:nvPr/>
        </p:nvSpPr>
        <p:spPr>
          <a:xfrm>
            <a:off x="1234440" y="1938528"/>
            <a:ext cx="4114800" cy="384048"/>
          </a:xfrm>
          <a:prstGeom prst="rect">
            <a:avLst/>
          </a:prstGeom>
          <a:noFill/>
          <a:ln/>
        </p:spPr>
        <p:txBody>
          <a:bodyPr wrap="square" lIns="0" tIns="0" rIns="0" bIns="0" rtlCol="0" anchor="ctr"/>
          <a:lstStyle/>
          <a:p>
            <a:pPr indent="0" marL="0">
              <a:buNone/>
            </a:pPr>
            <a:r>
              <a:rPr lang="en-US" sz="1200" b="1" spc="100" kern="0" dirty="0">
                <a:solidFill>
                  <a:schemeClr val="accent6"/>
                </a:solidFill>
              </a:rPr>
              <a:t>LO QUE VE EL SERVIDOR</a:t>
            </a:r>
            <a:endParaRPr lang="en-US" sz="1200" dirty="0"/>
          </a:p>
        </p:txBody>
      </p:sp>
      <p:sp>
        <p:nvSpPr>
          <p:cNvPr id="8" name="Text 5"/>
          <p:cNvSpPr txBox="1"/>
          <p:nvPr/>
        </p:nvSpPr>
        <p:spPr>
          <a:xfrm>
            <a:off x="777240" y="2487168"/>
            <a:ext cx="5029200" cy="347472"/>
          </a:xfrm>
          <a:prstGeom prst="rect">
            <a:avLst/>
          </a:prstGeom>
          <a:noFill/>
          <a:ln/>
        </p:spPr>
        <p:txBody>
          <a:bodyPr wrap="square" lIns="0" tIns="0" rIns="0" bIns="0" rtlCol="0" anchor="ctr"/>
          <a:lstStyle/>
          <a:p>
            <a:pPr indent="0" marL="0">
              <a:buNone/>
            </a:pPr>
            <a:r>
              <a:rPr lang="en-US" sz="1400" dirty="0">
                <a:solidFill>
                  <a:schemeClr val="accent6"/>
                </a:solidFill>
                <a:latin typeface="Courier New" pitchFamily="34" charset="0"/>
                <a:ea typeface="Courier New" pitchFamily="34" charset="-122"/>
                <a:cs typeface="Courier New" pitchFamily="34" charset="-120"/>
              </a:rPr>
              <a:t>Age          </a:t>
            </a:r>
            <a:pPr indent="0" marL="0">
              <a:buNone/>
            </a:pPr>
            <a:r>
              <a:rPr lang="en-US" sz="1400" dirty="0">
                <a:solidFill>
                  <a:schemeClr val="accent5"/>
                </a:solidFill>
                <a:latin typeface="Courier New" pitchFamily="34" charset="0"/>
                <a:ea typeface="Courier New" pitchFamily="34" charset="-122"/>
                <a:cs typeface="Courier New" pitchFamily="34" charset="-120"/>
              </a:rPr>
              <a:t>8f3a91c4e70b5d2a…b21d</a:t>
            </a:r>
            <a:endParaRPr lang="en-US" sz="1400" dirty="0"/>
          </a:p>
        </p:txBody>
      </p:sp>
      <p:sp>
        <p:nvSpPr>
          <p:cNvPr id="9" name="Text 6"/>
          <p:cNvSpPr txBox="1"/>
          <p:nvPr/>
        </p:nvSpPr>
        <p:spPr>
          <a:xfrm>
            <a:off x="777240" y="2889504"/>
            <a:ext cx="5029200" cy="347472"/>
          </a:xfrm>
          <a:prstGeom prst="rect">
            <a:avLst/>
          </a:prstGeom>
          <a:noFill/>
          <a:ln/>
        </p:spPr>
        <p:txBody>
          <a:bodyPr wrap="square" lIns="0" tIns="0" rIns="0" bIns="0" rtlCol="0" anchor="ctr"/>
          <a:lstStyle/>
          <a:p>
            <a:pPr indent="0" marL="0">
              <a:buNone/>
            </a:pPr>
            <a:r>
              <a:rPr lang="en-US" sz="1400" dirty="0">
                <a:solidFill>
                  <a:schemeClr val="accent6"/>
                </a:solidFill>
                <a:latin typeface="Courier New" pitchFamily="34" charset="0"/>
                <a:ea typeface="Courier New" pitchFamily="34" charset="-122"/>
                <a:cs typeface="Courier New" pitchFamily="34" charset="-120"/>
              </a:rPr>
              <a:t>BMI          </a:t>
            </a:r>
            <a:pPr indent="0" marL="0">
              <a:buNone/>
            </a:pPr>
            <a:r>
              <a:rPr lang="en-US" sz="1400" dirty="0">
                <a:solidFill>
                  <a:schemeClr val="accent5"/>
                </a:solidFill>
                <a:latin typeface="Courier New" pitchFamily="34" charset="0"/>
                <a:ea typeface="Courier New" pitchFamily="34" charset="-122"/>
                <a:cs typeface="Courier New" pitchFamily="34" charset="-120"/>
              </a:rPr>
              <a:t>c09e44a1f7d3826b…7e4a</a:t>
            </a:r>
            <a:endParaRPr lang="en-US" sz="1400" dirty="0"/>
          </a:p>
        </p:txBody>
      </p:sp>
      <p:sp>
        <p:nvSpPr>
          <p:cNvPr id="10" name="Text 7"/>
          <p:cNvSpPr txBox="1"/>
          <p:nvPr/>
        </p:nvSpPr>
        <p:spPr>
          <a:xfrm>
            <a:off x="777240" y="3291840"/>
            <a:ext cx="5029200" cy="347472"/>
          </a:xfrm>
          <a:prstGeom prst="rect">
            <a:avLst/>
          </a:prstGeom>
          <a:noFill/>
          <a:ln/>
        </p:spPr>
        <p:txBody>
          <a:bodyPr wrap="square" lIns="0" tIns="0" rIns="0" bIns="0" rtlCol="0" anchor="ctr"/>
          <a:lstStyle/>
          <a:p>
            <a:pPr indent="0" marL="0">
              <a:buNone/>
            </a:pPr>
            <a:r>
              <a:rPr lang="en-US" sz="1400" dirty="0">
                <a:solidFill>
                  <a:schemeClr val="accent6"/>
                </a:solidFill>
                <a:latin typeface="Courier New" pitchFamily="34" charset="0"/>
                <a:ea typeface="Courier New" pitchFamily="34" charset="-122"/>
                <a:cs typeface="Courier New" pitchFamily="34" charset="-120"/>
              </a:rPr>
              <a:t>HighBP       </a:t>
            </a:r>
            <a:pPr indent="0" marL="0">
              <a:buNone/>
            </a:pPr>
            <a:r>
              <a:rPr lang="en-US" sz="1400" dirty="0">
                <a:solidFill>
                  <a:schemeClr val="accent5"/>
                </a:solidFill>
                <a:latin typeface="Courier New" pitchFamily="34" charset="0"/>
                <a:ea typeface="Courier New" pitchFamily="34" charset="-122"/>
                <a:cs typeface="Courier New" pitchFamily="34" charset="-120"/>
              </a:rPr>
              <a:t>5b7d02e9c1a4f863…09c3</a:t>
            </a:r>
            <a:endParaRPr lang="en-US" sz="1400" dirty="0"/>
          </a:p>
        </p:txBody>
      </p:sp>
      <p:sp>
        <p:nvSpPr>
          <p:cNvPr id="11" name="Text 8"/>
          <p:cNvSpPr txBox="1"/>
          <p:nvPr/>
        </p:nvSpPr>
        <p:spPr>
          <a:xfrm>
            <a:off x="777240" y="3694176"/>
            <a:ext cx="5029200" cy="347472"/>
          </a:xfrm>
          <a:prstGeom prst="rect">
            <a:avLst/>
          </a:prstGeom>
          <a:noFill/>
          <a:ln/>
        </p:spPr>
        <p:txBody>
          <a:bodyPr wrap="square" lIns="0" tIns="0" rIns="0" bIns="0" rtlCol="0" anchor="ctr"/>
          <a:lstStyle/>
          <a:p>
            <a:pPr indent="0" marL="0">
              <a:buNone/>
            </a:pPr>
            <a:r>
              <a:rPr lang="en-US" sz="1400" dirty="0">
                <a:solidFill>
                  <a:schemeClr val="accent6"/>
                </a:solidFill>
                <a:latin typeface="Courier New" pitchFamily="34" charset="0"/>
                <a:ea typeface="Courier New" pitchFamily="34" charset="-122"/>
                <a:cs typeface="Courier New" pitchFamily="34" charset="-120"/>
              </a:rPr>
              <a:t>HighChol     </a:t>
            </a:r>
            <a:pPr indent="0" marL="0">
              <a:buNone/>
            </a:pPr>
            <a:r>
              <a:rPr lang="en-US" sz="1400" dirty="0">
                <a:solidFill>
                  <a:schemeClr val="accent5"/>
                </a:solidFill>
                <a:latin typeface="Courier New" pitchFamily="34" charset="0"/>
                <a:ea typeface="Courier New" pitchFamily="34" charset="-122"/>
                <a:cs typeface="Courier New" pitchFamily="34" charset="-120"/>
              </a:rPr>
              <a:t>e1a6f3b8902dc475…d8f1</a:t>
            </a:r>
            <a:endParaRPr lang="en-US" sz="1400" dirty="0"/>
          </a:p>
        </p:txBody>
      </p:sp>
      <p:sp>
        <p:nvSpPr>
          <p:cNvPr id="12" name="Text 9"/>
          <p:cNvSpPr txBox="1"/>
          <p:nvPr/>
        </p:nvSpPr>
        <p:spPr>
          <a:xfrm>
            <a:off x="777240" y="4096512"/>
            <a:ext cx="5029200" cy="347472"/>
          </a:xfrm>
          <a:prstGeom prst="rect">
            <a:avLst/>
          </a:prstGeom>
          <a:noFill/>
          <a:ln/>
        </p:spPr>
        <p:txBody>
          <a:bodyPr wrap="square" lIns="0" tIns="0" rIns="0" bIns="0" rtlCol="0" anchor="ctr"/>
          <a:lstStyle/>
          <a:p>
            <a:pPr indent="0" marL="0">
              <a:buNone/>
            </a:pPr>
            <a:r>
              <a:rPr lang="en-US" sz="1400" dirty="0">
                <a:solidFill>
                  <a:schemeClr val="accent6"/>
                </a:solidFill>
                <a:latin typeface="Courier New" pitchFamily="34" charset="0"/>
                <a:ea typeface="Courier New" pitchFamily="34" charset="-122"/>
                <a:cs typeface="Courier New" pitchFamily="34" charset="-120"/>
              </a:rPr>
              <a:t>PhysActivity </a:t>
            </a:r>
            <a:pPr indent="0" marL="0">
              <a:buNone/>
            </a:pPr>
            <a:r>
              <a:rPr lang="en-US" sz="1400" dirty="0">
                <a:solidFill>
                  <a:schemeClr val="accent5"/>
                </a:solidFill>
                <a:latin typeface="Courier New" pitchFamily="34" charset="0"/>
                <a:ea typeface="Courier New" pitchFamily="34" charset="-122"/>
                <a:cs typeface="Courier New" pitchFamily="34" charset="-120"/>
              </a:rPr>
              <a:t>37c9b0e45a1f6d28…a65e</a:t>
            </a:r>
            <a:endParaRPr lang="en-US" sz="1400" dirty="0"/>
          </a:p>
        </p:txBody>
      </p:sp>
      <p:sp>
        <p:nvSpPr>
          <p:cNvPr id="13" name="Text 10"/>
          <p:cNvSpPr txBox="1"/>
          <p:nvPr/>
        </p:nvSpPr>
        <p:spPr>
          <a:xfrm>
            <a:off x="777240" y="4498848"/>
            <a:ext cx="5029200" cy="347472"/>
          </a:xfrm>
          <a:prstGeom prst="rect">
            <a:avLst/>
          </a:prstGeom>
          <a:noFill/>
          <a:ln/>
        </p:spPr>
        <p:txBody>
          <a:bodyPr wrap="square" lIns="0" tIns="0" rIns="0" bIns="0" rtlCol="0" anchor="ctr"/>
          <a:lstStyle/>
          <a:p>
            <a:pPr indent="0" marL="0">
              <a:buNone/>
            </a:pPr>
            <a:r>
              <a:rPr lang="en-US" sz="1400" dirty="0">
                <a:solidFill>
                  <a:schemeClr val="accent6"/>
                </a:solidFill>
                <a:latin typeface="Courier New" pitchFamily="34" charset="0"/>
                <a:ea typeface="Courier New" pitchFamily="34" charset="-122"/>
                <a:cs typeface="Courier New" pitchFamily="34" charset="-120"/>
              </a:rPr>
              <a:t>Enc(logit)   </a:t>
            </a:r>
            <a:pPr indent="0" marL="0">
              <a:buNone/>
            </a:pPr>
            <a:r>
              <a:rPr lang="en-US" sz="1400" dirty="0">
                <a:solidFill>
                  <a:schemeClr val="accent5"/>
                </a:solidFill>
                <a:latin typeface="Courier New" pitchFamily="34" charset="0"/>
                <a:ea typeface="Courier New" pitchFamily="34" charset="-122"/>
                <a:cs typeface="Courier New" pitchFamily="34" charset="-120"/>
              </a:rPr>
              <a:t>a4d2e7091f3cb658…3f07</a:t>
            </a:r>
            <a:endParaRPr lang="en-US" sz="1400" dirty="0"/>
          </a:p>
        </p:txBody>
      </p:sp>
      <p:sp>
        <p:nvSpPr>
          <p:cNvPr id="14" name="Vista hospital"/>
          <p:cNvSpPr/>
          <p:nvPr/>
        </p:nvSpPr>
        <p:spPr>
          <a:xfrm>
            <a:off x="6199632" y="1783080"/>
            <a:ext cx="5440680" cy="3383280"/>
          </a:xfrm>
          <a:prstGeom prst="roundRect">
            <a:avLst>
              <a:gd name="adj" fmla="val 2703"/>
            </a:avLst>
          </a:prstGeom>
          <a:solidFill>
            <a:schemeClr val="tx2"/>
          </a:solidFill>
          <a:ln w="9525">
            <a:solidFill>
              <a:schemeClr val="accent2">
                <a:alpha val="70000"/>
              </a:schemeClr>
            </a:solidFill>
            <a:prstDash val="solid"/>
          </a:ln>
        </p:spPr>
      </p:sp>
      <p:sp>
        <p:nvSpPr>
          <p:cNvPr id="15" name="Hospital círculo"/>
          <p:cNvSpPr/>
          <p:nvPr/>
        </p:nvSpPr>
        <p:spPr>
          <a:xfrm>
            <a:off x="6382512" y="1938528"/>
            <a:ext cx="384048" cy="384048"/>
          </a:xfrm>
          <a:prstGeom prst="ellipse">
            <a:avLst/>
          </a:prstGeom>
          <a:solidFill>
            <a:schemeClr val="accent2"/>
          </a:solidFill>
          <a:ln/>
        </p:spPr>
      </p:sp>
      <p:pic>
        <p:nvPicPr>
          <p:cNvPr id="16" name="Hospital ícono" descr="preencoded.png">    </p:cNvPr>
          <p:cNvPicPr>
            <a:picLocks noChangeAspect="1"/>
          </p:cNvPicPr>
          <p:nvPr/>
        </p:nvPicPr>
        <p:blipFill>
          <a:blip r:embed="rId2"/>
          <a:stretch>
            <a:fillRect/>
          </a:stretch>
        </p:blipFill>
        <p:spPr>
          <a:xfrm>
            <a:off x="6467003" y="2023019"/>
            <a:ext cx="215067" cy="215067"/>
          </a:xfrm>
          <a:prstGeom prst="rect">
            <a:avLst/>
          </a:prstGeom>
        </p:spPr>
      </p:pic>
      <p:sp>
        <p:nvSpPr>
          <p:cNvPr id="17" name="Text 13"/>
          <p:cNvSpPr txBox="1"/>
          <p:nvPr/>
        </p:nvSpPr>
        <p:spPr>
          <a:xfrm>
            <a:off x="6885432" y="1938528"/>
            <a:ext cx="4114800" cy="384048"/>
          </a:xfrm>
          <a:prstGeom prst="rect">
            <a:avLst/>
          </a:prstGeom>
          <a:noFill/>
          <a:ln/>
        </p:spPr>
        <p:txBody>
          <a:bodyPr wrap="square" lIns="0" tIns="0" rIns="0" bIns="0" rtlCol="0" anchor="ctr"/>
          <a:lstStyle/>
          <a:p>
            <a:pPr indent="0" marL="0">
              <a:buNone/>
            </a:pPr>
            <a:r>
              <a:rPr lang="en-US" sz="1200" b="1" spc="100" kern="0" dirty="0">
                <a:solidFill>
                  <a:schemeClr val="accent2"/>
                </a:solidFill>
              </a:rPr>
              <a:t>LO QUE VE EL HOSPITAL</a:t>
            </a:r>
            <a:endParaRPr lang="en-US" sz="1200" dirty="0"/>
          </a:p>
        </p:txBody>
      </p:sp>
      <p:sp>
        <p:nvSpPr>
          <p:cNvPr id="18" name="Text 14"/>
          <p:cNvSpPr txBox="1"/>
          <p:nvPr/>
        </p:nvSpPr>
        <p:spPr>
          <a:xfrm>
            <a:off x="6400800" y="2468880"/>
            <a:ext cx="2743200" cy="320040"/>
          </a:xfrm>
          <a:prstGeom prst="rect">
            <a:avLst/>
          </a:prstGeom>
          <a:noFill/>
          <a:ln/>
        </p:spPr>
        <p:txBody>
          <a:bodyPr wrap="square" lIns="0" tIns="0" rIns="0" bIns="0" rtlCol="0" anchor="ctr"/>
          <a:lstStyle/>
          <a:p>
            <a:pPr indent="0" marL="0">
              <a:buNone/>
            </a:pPr>
            <a:r>
              <a:rPr lang="en-US" sz="1400" dirty="0">
                <a:solidFill>
                  <a:schemeClr val="bg2"/>
                </a:solidFill>
              </a:rPr>
              <a:t>Paciente 0427</a:t>
            </a:r>
            <a:endParaRPr lang="en-US" sz="1400" dirty="0"/>
          </a:p>
        </p:txBody>
      </p:sp>
      <p:sp>
        <p:nvSpPr>
          <p:cNvPr id="19" name="Riesgo"/>
          <p:cNvSpPr/>
          <p:nvPr/>
        </p:nvSpPr>
        <p:spPr>
          <a:xfrm>
            <a:off x="6400800" y="2834640"/>
            <a:ext cx="2194560" cy="960120"/>
          </a:xfrm>
          <a:prstGeom prst="roundRect">
            <a:avLst>
              <a:gd name="adj" fmla="val 9524"/>
            </a:avLst>
          </a:prstGeom>
          <a:solidFill>
            <a:schemeClr val="accent4">
              <a:alpha val="20000"/>
            </a:schemeClr>
          </a:solidFill>
          <a:ln w="9525">
            <a:solidFill>
              <a:schemeClr val="accent4">
                <a:alpha val="80000"/>
              </a:schemeClr>
            </a:solidFill>
            <a:prstDash val="solid"/>
          </a:ln>
        </p:spPr>
      </p:sp>
      <p:sp>
        <p:nvSpPr>
          <p:cNvPr id="20" name="Text 16"/>
          <p:cNvSpPr txBox="1"/>
          <p:nvPr/>
        </p:nvSpPr>
        <p:spPr>
          <a:xfrm>
            <a:off x="6537960" y="2862072"/>
            <a:ext cx="1920240" cy="914400"/>
          </a:xfrm>
          <a:prstGeom prst="rect">
            <a:avLst/>
          </a:prstGeom>
          <a:noFill/>
          <a:ln/>
        </p:spPr>
        <p:txBody>
          <a:bodyPr wrap="square" lIns="0" tIns="0" rIns="0" bIns="0" rtlCol="0" anchor="ctr"/>
          <a:lstStyle/>
          <a:p>
            <a:pPr indent="0" marL="0">
              <a:buNone/>
            </a:pPr>
            <a:r>
              <a:rPr lang="en-US" sz="1100" b="1" spc="100" kern="0" dirty="0">
                <a:solidFill>
                  <a:schemeClr val="accent4"/>
                </a:solidFill>
              </a:rPr>
              <a:t>RIESGO</a:t>
            </a:r>
            <a:endParaRPr lang="en-US" sz="1400" dirty="0"/>
          </a:p>
          <a:p>
            <a:pPr indent="0" marL="0">
              <a:buNone/>
            </a:pPr>
            <a:r>
              <a:rPr lang="en-US" sz="3000" b="1" dirty="0">
                <a:solidFill>
                  <a:schemeClr val="bg1"/>
                </a:solidFill>
              </a:rPr>
              <a:t>ALTO</a:t>
            </a:r>
            <a:endParaRPr lang="en-US" sz="1400" dirty="0"/>
          </a:p>
        </p:txBody>
      </p:sp>
      <p:sp>
        <p:nvSpPr>
          <p:cNvPr id="21" name="Text 17"/>
          <p:cNvSpPr txBox="1"/>
          <p:nvPr/>
        </p:nvSpPr>
        <p:spPr>
          <a:xfrm>
            <a:off x="8823960" y="2834640"/>
            <a:ext cx="2651760" cy="1005840"/>
          </a:xfrm>
          <a:prstGeom prst="rect">
            <a:avLst/>
          </a:prstGeom>
          <a:noFill/>
          <a:ln/>
        </p:spPr>
        <p:txBody>
          <a:bodyPr wrap="square" lIns="0" tIns="0" rIns="0" bIns="0" rtlCol="0" anchor="t"/>
          <a:lstStyle/>
          <a:p>
            <a:pPr indent="0" marL="0">
              <a:spcAft>
                <a:spcPts val="200"/>
              </a:spcAft>
              <a:buNone/>
            </a:pPr>
            <a:r>
              <a:rPr lang="en-US" sz="1200" b="1" dirty="0">
                <a:solidFill>
                  <a:schemeClr val="bg1"/>
                </a:solidFill>
              </a:rPr>
              <a:t>Factores principales</a:t>
            </a:r>
            <a:endParaRPr lang="en-US" sz="1200" dirty="0"/>
          </a:p>
          <a:p>
            <a:pPr marL="342900" indent="-342900">
              <a:spcAft>
                <a:spcPts val="200"/>
              </a:spcAft>
              <a:buSzPct val="100000"/>
              <a:buChar char="•"/>
            </a:pPr>
            <a:r>
              <a:rPr lang="en-US" sz="1200" dirty="0">
                <a:solidFill>
                  <a:schemeClr val="bg2"/>
                </a:solidFill>
              </a:rPr>
              <a:t>IMC elevado</a:t>
            </a:r>
            <a:endParaRPr lang="en-US" sz="1200" dirty="0"/>
          </a:p>
          <a:p>
            <a:pPr marL="342900" indent="-342900">
              <a:spcAft>
                <a:spcPts val="200"/>
              </a:spcAft>
              <a:buSzPct val="100000"/>
              <a:buChar char="•"/>
            </a:pPr>
            <a:r>
              <a:rPr lang="en-US" sz="1200" dirty="0">
                <a:solidFill>
                  <a:schemeClr val="bg2"/>
                </a:solidFill>
              </a:rPr>
              <a:t>Presión alta</a:t>
            </a:r>
            <a:endParaRPr lang="en-US" sz="1200" dirty="0"/>
          </a:p>
          <a:p>
            <a:pPr marL="342900" indent="-342900">
              <a:spcAft>
                <a:spcPts val="200"/>
              </a:spcAft>
              <a:buSzPct val="100000"/>
              <a:buChar char="•"/>
            </a:pPr>
            <a:r>
              <a:rPr lang="en-US" sz="1200" dirty="0">
                <a:solidFill>
                  <a:schemeClr val="bg2"/>
                </a:solidFill>
              </a:rPr>
              <a:t>Sin actividad física</a:t>
            </a:r>
            <a:endParaRPr lang="en-US" sz="1200" dirty="0"/>
          </a:p>
        </p:txBody>
      </p:sp>
      <p:sp>
        <p:nvSpPr>
          <p:cNvPr id="22" name="Granite círculo"/>
          <p:cNvSpPr/>
          <p:nvPr/>
        </p:nvSpPr>
        <p:spPr>
          <a:xfrm>
            <a:off x="6400800" y="4041648"/>
            <a:ext cx="384048" cy="384048"/>
          </a:xfrm>
          <a:prstGeom prst="ellipse">
            <a:avLst/>
          </a:prstGeom>
          <a:solidFill>
            <a:schemeClr val="accent1"/>
          </a:solidFill>
          <a:ln/>
        </p:spPr>
      </p:sp>
      <p:pic>
        <p:nvPicPr>
          <p:cNvPr id="23" name="Granite ícono" descr="preencoded.png">    </p:cNvPr>
          <p:cNvPicPr>
            <a:picLocks noChangeAspect="1"/>
          </p:cNvPicPr>
          <p:nvPr/>
        </p:nvPicPr>
        <p:blipFill>
          <a:blip r:embed="rId3"/>
          <a:stretch>
            <a:fillRect/>
          </a:stretch>
        </p:blipFill>
        <p:spPr>
          <a:xfrm>
            <a:off x="6485291" y="4126139"/>
            <a:ext cx="215067" cy="215067"/>
          </a:xfrm>
          <a:prstGeom prst="rect">
            <a:avLst/>
          </a:prstGeom>
        </p:spPr>
      </p:pic>
      <p:sp>
        <p:nvSpPr>
          <p:cNvPr id="24" name="Text 19"/>
          <p:cNvSpPr txBox="1"/>
          <p:nvPr/>
        </p:nvSpPr>
        <p:spPr>
          <a:xfrm>
            <a:off x="6903720" y="3950208"/>
            <a:ext cx="4572000" cy="868680"/>
          </a:xfrm>
          <a:prstGeom prst="rect">
            <a:avLst/>
          </a:prstGeom>
          <a:noFill/>
          <a:ln/>
        </p:spPr>
        <p:txBody>
          <a:bodyPr wrap="square" lIns="0" tIns="0" rIns="0" bIns="0" rtlCol="0" anchor="ctr"/>
          <a:lstStyle/>
          <a:p>
            <a:pPr indent="0" marL="0">
              <a:buNone/>
            </a:pPr>
            <a:r>
              <a:rPr lang="en-US" sz="1200" i="1" dirty="0">
                <a:solidFill>
                  <a:schemeClr val="bg1"/>
                </a:solidFill>
              </a:rPr>
              <a:t>«Tu riesgo es alto, sobre todo por el peso y la presión. Te recomendamos una prueba de glucosa esta semana.» · Granite</a:t>
            </a:r>
            <a:endParaRPr lang="en-US" sz="1200" dirty="0"/>
          </a:p>
        </p:txBody>
      </p:sp>
      <p:sp>
        <p:nvSpPr>
          <p:cNvPr id="25" name="Text 20"/>
          <p:cNvSpPr txBox="1"/>
          <p:nvPr/>
        </p:nvSpPr>
        <p:spPr>
          <a:xfrm>
            <a:off x="548640" y="5212080"/>
            <a:ext cx="5486400" cy="228600"/>
          </a:xfrm>
          <a:prstGeom prst="rect">
            <a:avLst/>
          </a:prstGeom>
          <a:noFill/>
          <a:ln/>
        </p:spPr>
        <p:txBody>
          <a:bodyPr wrap="square" lIns="0" tIns="0" rIns="0" bIns="0" rtlCol="0" anchor="t"/>
          <a:lstStyle/>
          <a:p>
            <a:pPr indent="0" marL="0">
              <a:buNone/>
            </a:pPr>
            <a:r>
              <a:rPr lang="en-US" sz="1000" dirty="0">
                <a:solidFill>
                  <a:schemeClr val="accent6"/>
                </a:solidFill>
              </a:rPr>
              <a:t>Maqueta ilustrativa de la demo</a:t>
            </a:r>
            <a:endParaRPr lang="en-US" sz="1000" dirty="0"/>
          </a:p>
        </p:txBody>
      </p:sp>
      <p:sp>
        <p:nvSpPr>
          <p:cNvPr id="26" name="AUC claro vs. cifrado"/>
          <p:cNvSpPr/>
          <p:nvPr/>
        </p:nvSpPr>
        <p:spPr>
          <a:xfrm>
            <a:off x="548640" y="5486400"/>
            <a:ext cx="2642616" cy="658368"/>
          </a:xfrm>
          <a:prstGeom prst="roundRect">
            <a:avLst>
              <a:gd name="adj" fmla="val 13889"/>
            </a:avLst>
          </a:prstGeom>
          <a:solidFill>
            <a:schemeClr val="accent1">
              <a:alpha val="20000"/>
            </a:schemeClr>
          </a:solidFill>
          <a:ln/>
        </p:spPr>
      </p:sp>
      <p:sp>
        <p:nvSpPr>
          <p:cNvPr id="27" name="AUC claro vs. cifrado círculo"/>
          <p:cNvSpPr/>
          <p:nvPr/>
        </p:nvSpPr>
        <p:spPr>
          <a:xfrm>
            <a:off x="685800" y="5586984"/>
            <a:ext cx="457200" cy="457200"/>
          </a:xfrm>
          <a:prstGeom prst="ellipse">
            <a:avLst/>
          </a:prstGeom>
          <a:solidFill>
            <a:schemeClr val="accent1"/>
          </a:solidFill>
          <a:ln/>
        </p:spPr>
      </p:sp>
      <p:pic>
        <p:nvPicPr>
          <p:cNvPr id="28" name="AUC claro vs. cifrado ícono" descr="preencoded.png">    </p:cNvPr>
          <p:cNvPicPr>
            <a:picLocks noChangeAspect="1"/>
          </p:cNvPicPr>
          <p:nvPr/>
        </p:nvPicPr>
        <p:blipFill>
          <a:blip r:embed="rId4"/>
          <a:stretch>
            <a:fillRect/>
          </a:stretch>
        </p:blipFill>
        <p:spPr>
          <a:xfrm>
            <a:off x="786384" y="5687568"/>
            <a:ext cx="256032" cy="256032"/>
          </a:xfrm>
          <a:prstGeom prst="rect">
            <a:avLst/>
          </a:prstGeom>
        </p:spPr>
      </p:pic>
      <p:sp>
        <p:nvSpPr>
          <p:cNvPr id="29" name="Text 23"/>
          <p:cNvSpPr txBox="1"/>
          <p:nvPr/>
        </p:nvSpPr>
        <p:spPr>
          <a:xfrm>
            <a:off x="1234440" y="5541264"/>
            <a:ext cx="1874520" cy="310896"/>
          </a:xfrm>
          <a:prstGeom prst="rect">
            <a:avLst/>
          </a:prstGeom>
          <a:noFill/>
          <a:ln/>
        </p:spPr>
        <p:txBody>
          <a:bodyPr wrap="square" lIns="0" tIns="0" rIns="0" bIns="0" rtlCol="0" anchor="ctr"/>
          <a:lstStyle/>
          <a:p>
            <a:pPr indent="0" marL="0">
              <a:buNone/>
            </a:pPr>
            <a:r>
              <a:rPr lang="en-US" sz="1300" b="1" dirty="0">
                <a:solidFill>
                  <a:schemeClr val="bg1"/>
                </a:solidFill>
              </a:rPr>
              <a:t>AUC claro vs. cifrado</a:t>
            </a:r>
            <a:endParaRPr lang="en-US" sz="1300" dirty="0"/>
          </a:p>
        </p:txBody>
      </p:sp>
      <p:sp>
        <p:nvSpPr>
          <p:cNvPr id="30" name="Text 24"/>
          <p:cNvSpPr txBox="1"/>
          <p:nvPr/>
        </p:nvSpPr>
        <p:spPr>
          <a:xfrm>
            <a:off x="1234440" y="5843016"/>
            <a:ext cx="1874520" cy="237744"/>
          </a:xfrm>
          <a:prstGeom prst="rect">
            <a:avLst/>
          </a:prstGeom>
          <a:noFill/>
          <a:ln/>
        </p:spPr>
        <p:txBody>
          <a:bodyPr wrap="square" lIns="0" tIns="0" rIns="0" bIns="0" rtlCol="0" anchor="ctr"/>
          <a:lstStyle/>
          <a:p>
            <a:pPr indent="0" marL="0">
              <a:buNone/>
            </a:pPr>
            <a:r>
              <a:rPr lang="en-US" sz="1000" dirty="0">
                <a:solidFill>
                  <a:schemeClr val="bg2"/>
                </a:solidFill>
              </a:rPr>
              <a:t>medido en vivo en LinuxONE</a:t>
            </a:r>
            <a:endParaRPr lang="en-US" sz="1000" dirty="0"/>
          </a:p>
        </p:txBody>
      </p:sp>
      <p:sp>
        <p:nvSpPr>
          <p:cNvPr id="31" name="Latencia por paciente"/>
          <p:cNvSpPr/>
          <p:nvPr/>
        </p:nvSpPr>
        <p:spPr>
          <a:xfrm>
            <a:off x="3364992" y="5486400"/>
            <a:ext cx="2642616" cy="658368"/>
          </a:xfrm>
          <a:prstGeom prst="roundRect">
            <a:avLst>
              <a:gd name="adj" fmla="val 13889"/>
            </a:avLst>
          </a:prstGeom>
          <a:solidFill>
            <a:schemeClr val="accent1">
              <a:alpha val="20000"/>
            </a:schemeClr>
          </a:solidFill>
          <a:ln/>
        </p:spPr>
      </p:sp>
      <p:sp>
        <p:nvSpPr>
          <p:cNvPr id="32" name="Latencia por paciente círculo"/>
          <p:cNvSpPr/>
          <p:nvPr/>
        </p:nvSpPr>
        <p:spPr>
          <a:xfrm>
            <a:off x="3502152" y="5586984"/>
            <a:ext cx="457200" cy="457200"/>
          </a:xfrm>
          <a:prstGeom prst="ellipse">
            <a:avLst/>
          </a:prstGeom>
          <a:solidFill>
            <a:schemeClr val="accent1"/>
          </a:solidFill>
          <a:ln/>
        </p:spPr>
      </p:sp>
      <p:pic>
        <p:nvPicPr>
          <p:cNvPr id="33" name="Latencia por paciente ícono" descr="preencoded.png">    </p:cNvPr>
          <p:cNvPicPr>
            <a:picLocks noChangeAspect="1"/>
          </p:cNvPicPr>
          <p:nvPr/>
        </p:nvPicPr>
        <p:blipFill>
          <a:blip r:embed="rId5"/>
          <a:stretch>
            <a:fillRect/>
          </a:stretch>
        </p:blipFill>
        <p:spPr>
          <a:xfrm>
            <a:off x="3602736" y="5687568"/>
            <a:ext cx="256032" cy="256032"/>
          </a:xfrm>
          <a:prstGeom prst="rect">
            <a:avLst/>
          </a:prstGeom>
        </p:spPr>
      </p:pic>
      <p:sp>
        <p:nvSpPr>
          <p:cNvPr id="34" name="Text 27"/>
          <p:cNvSpPr txBox="1"/>
          <p:nvPr/>
        </p:nvSpPr>
        <p:spPr>
          <a:xfrm>
            <a:off x="4050792" y="5541264"/>
            <a:ext cx="1874520" cy="310896"/>
          </a:xfrm>
          <a:prstGeom prst="rect">
            <a:avLst/>
          </a:prstGeom>
          <a:noFill/>
          <a:ln/>
        </p:spPr>
        <p:txBody>
          <a:bodyPr wrap="square" lIns="0" tIns="0" rIns="0" bIns="0" rtlCol="0" anchor="ctr"/>
          <a:lstStyle/>
          <a:p>
            <a:pPr indent="0" marL="0">
              <a:buNone/>
            </a:pPr>
            <a:r>
              <a:rPr lang="en-US" sz="1300" b="1" dirty="0">
                <a:solidFill>
                  <a:schemeClr val="bg1"/>
                </a:solidFill>
              </a:rPr>
              <a:t>Latencia por paciente</a:t>
            </a:r>
            <a:endParaRPr lang="en-US" sz="1300" dirty="0"/>
          </a:p>
        </p:txBody>
      </p:sp>
      <p:sp>
        <p:nvSpPr>
          <p:cNvPr id="35" name="Text 28"/>
          <p:cNvSpPr txBox="1"/>
          <p:nvPr/>
        </p:nvSpPr>
        <p:spPr>
          <a:xfrm>
            <a:off x="4050792" y="5843016"/>
            <a:ext cx="1874520" cy="237744"/>
          </a:xfrm>
          <a:prstGeom prst="rect">
            <a:avLst/>
          </a:prstGeom>
          <a:noFill/>
          <a:ln/>
        </p:spPr>
        <p:txBody>
          <a:bodyPr wrap="square" lIns="0" tIns="0" rIns="0" bIns="0" rtlCol="0" anchor="ctr"/>
          <a:lstStyle/>
          <a:p>
            <a:pPr indent="0" marL="0">
              <a:buNone/>
            </a:pPr>
            <a:r>
              <a:rPr lang="en-US" sz="1000" dirty="0">
                <a:solidFill>
                  <a:schemeClr val="bg2"/>
                </a:solidFill>
              </a:rPr>
              <a:t>medido en vivo en LinuxONE</a:t>
            </a:r>
            <a:endParaRPr lang="en-US" sz="1000" dirty="0"/>
          </a:p>
        </p:txBody>
      </p:sp>
      <p:sp>
        <p:nvSpPr>
          <p:cNvPr id="36" name="Tamaño del cifrado"/>
          <p:cNvSpPr/>
          <p:nvPr/>
        </p:nvSpPr>
        <p:spPr>
          <a:xfrm>
            <a:off x="6181344" y="5486400"/>
            <a:ext cx="2642616" cy="658368"/>
          </a:xfrm>
          <a:prstGeom prst="roundRect">
            <a:avLst>
              <a:gd name="adj" fmla="val 13889"/>
            </a:avLst>
          </a:prstGeom>
          <a:solidFill>
            <a:schemeClr val="accent1">
              <a:alpha val="20000"/>
            </a:schemeClr>
          </a:solidFill>
          <a:ln/>
        </p:spPr>
      </p:sp>
      <p:sp>
        <p:nvSpPr>
          <p:cNvPr id="37" name="Tamaño del cifrado círculo"/>
          <p:cNvSpPr/>
          <p:nvPr/>
        </p:nvSpPr>
        <p:spPr>
          <a:xfrm>
            <a:off x="6318504" y="5586984"/>
            <a:ext cx="457200" cy="457200"/>
          </a:xfrm>
          <a:prstGeom prst="ellipse">
            <a:avLst/>
          </a:prstGeom>
          <a:solidFill>
            <a:schemeClr val="accent1"/>
          </a:solidFill>
          <a:ln/>
        </p:spPr>
      </p:sp>
      <p:pic>
        <p:nvPicPr>
          <p:cNvPr id="38" name="Tamaño del cifrado ícono" descr="preencoded.png">    </p:cNvPr>
          <p:cNvPicPr>
            <a:picLocks noChangeAspect="1"/>
          </p:cNvPicPr>
          <p:nvPr/>
        </p:nvPicPr>
        <p:blipFill>
          <a:blip r:embed="rId6"/>
          <a:stretch>
            <a:fillRect/>
          </a:stretch>
        </p:blipFill>
        <p:spPr>
          <a:xfrm>
            <a:off x="6419088" y="5687568"/>
            <a:ext cx="256032" cy="256032"/>
          </a:xfrm>
          <a:prstGeom prst="rect">
            <a:avLst/>
          </a:prstGeom>
        </p:spPr>
      </p:pic>
      <p:sp>
        <p:nvSpPr>
          <p:cNvPr id="39" name="Text 31"/>
          <p:cNvSpPr txBox="1"/>
          <p:nvPr/>
        </p:nvSpPr>
        <p:spPr>
          <a:xfrm>
            <a:off x="6867144" y="5541264"/>
            <a:ext cx="1874520" cy="310896"/>
          </a:xfrm>
          <a:prstGeom prst="rect">
            <a:avLst/>
          </a:prstGeom>
          <a:noFill/>
          <a:ln/>
        </p:spPr>
        <p:txBody>
          <a:bodyPr wrap="square" lIns="0" tIns="0" rIns="0" bIns="0" rtlCol="0" anchor="ctr"/>
          <a:lstStyle/>
          <a:p>
            <a:pPr indent="0" marL="0">
              <a:buNone/>
            </a:pPr>
            <a:r>
              <a:rPr lang="en-US" sz="1300" b="1" dirty="0">
                <a:solidFill>
                  <a:schemeClr val="bg1"/>
                </a:solidFill>
              </a:rPr>
              <a:t>Tamaño del cifrado</a:t>
            </a:r>
            <a:endParaRPr lang="en-US" sz="1300" dirty="0"/>
          </a:p>
        </p:txBody>
      </p:sp>
      <p:sp>
        <p:nvSpPr>
          <p:cNvPr id="40" name="Text 32"/>
          <p:cNvSpPr txBox="1"/>
          <p:nvPr/>
        </p:nvSpPr>
        <p:spPr>
          <a:xfrm>
            <a:off x="6867144" y="5843016"/>
            <a:ext cx="1874520" cy="237744"/>
          </a:xfrm>
          <a:prstGeom prst="rect">
            <a:avLst/>
          </a:prstGeom>
          <a:noFill/>
          <a:ln/>
        </p:spPr>
        <p:txBody>
          <a:bodyPr wrap="square" lIns="0" tIns="0" rIns="0" bIns="0" rtlCol="0" anchor="ctr"/>
          <a:lstStyle/>
          <a:p>
            <a:pPr indent="0" marL="0">
              <a:buNone/>
            </a:pPr>
            <a:r>
              <a:rPr lang="en-US" sz="1000" dirty="0">
                <a:solidFill>
                  <a:schemeClr val="bg2"/>
                </a:solidFill>
              </a:rPr>
              <a:t>medido en vivo en LinuxONE</a:t>
            </a:r>
            <a:endParaRPr lang="en-US" sz="1000" dirty="0"/>
          </a:p>
        </p:txBody>
      </p:sp>
      <p:sp>
        <p:nvSpPr>
          <p:cNvPr id="41" name="Pacientes por minuto"/>
          <p:cNvSpPr/>
          <p:nvPr/>
        </p:nvSpPr>
        <p:spPr>
          <a:xfrm>
            <a:off x="8997696" y="5486400"/>
            <a:ext cx="2642616" cy="658368"/>
          </a:xfrm>
          <a:prstGeom prst="roundRect">
            <a:avLst>
              <a:gd name="adj" fmla="val 13889"/>
            </a:avLst>
          </a:prstGeom>
          <a:solidFill>
            <a:schemeClr val="accent1">
              <a:alpha val="20000"/>
            </a:schemeClr>
          </a:solidFill>
          <a:ln/>
        </p:spPr>
      </p:sp>
      <p:sp>
        <p:nvSpPr>
          <p:cNvPr id="42" name="Pacientes por minuto círculo"/>
          <p:cNvSpPr/>
          <p:nvPr/>
        </p:nvSpPr>
        <p:spPr>
          <a:xfrm>
            <a:off x="9134856" y="5586984"/>
            <a:ext cx="457200" cy="457200"/>
          </a:xfrm>
          <a:prstGeom prst="ellipse">
            <a:avLst/>
          </a:prstGeom>
          <a:solidFill>
            <a:schemeClr val="accent1"/>
          </a:solidFill>
          <a:ln/>
        </p:spPr>
      </p:sp>
      <p:pic>
        <p:nvPicPr>
          <p:cNvPr id="43" name="Pacientes por minuto ícono" descr="preencoded.png">    </p:cNvPr>
          <p:cNvPicPr>
            <a:picLocks noChangeAspect="1"/>
          </p:cNvPicPr>
          <p:nvPr/>
        </p:nvPicPr>
        <p:blipFill>
          <a:blip r:embed="rId7"/>
          <a:stretch>
            <a:fillRect/>
          </a:stretch>
        </p:blipFill>
        <p:spPr>
          <a:xfrm>
            <a:off x="9235440" y="5687568"/>
            <a:ext cx="256032" cy="256032"/>
          </a:xfrm>
          <a:prstGeom prst="rect">
            <a:avLst/>
          </a:prstGeom>
        </p:spPr>
      </p:pic>
      <p:sp>
        <p:nvSpPr>
          <p:cNvPr id="44" name="Text 35"/>
          <p:cNvSpPr txBox="1"/>
          <p:nvPr/>
        </p:nvSpPr>
        <p:spPr>
          <a:xfrm>
            <a:off x="9683496" y="5541264"/>
            <a:ext cx="1874520" cy="310896"/>
          </a:xfrm>
          <a:prstGeom prst="rect">
            <a:avLst/>
          </a:prstGeom>
          <a:noFill/>
          <a:ln/>
        </p:spPr>
        <p:txBody>
          <a:bodyPr wrap="square" lIns="0" tIns="0" rIns="0" bIns="0" rtlCol="0" anchor="ctr"/>
          <a:lstStyle/>
          <a:p>
            <a:pPr indent="0" marL="0">
              <a:buNone/>
            </a:pPr>
            <a:r>
              <a:rPr lang="en-US" sz="1300" b="1" dirty="0">
                <a:solidFill>
                  <a:schemeClr val="bg1"/>
                </a:solidFill>
              </a:rPr>
              <a:t>Pacientes por minuto</a:t>
            </a:r>
            <a:endParaRPr lang="en-US" sz="1300" dirty="0"/>
          </a:p>
        </p:txBody>
      </p:sp>
      <p:sp>
        <p:nvSpPr>
          <p:cNvPr id="45" name="Text 36"/>
          <p:cNvSpPr txBox="1"/>
          <p:nvPr/>
        </p:nvSpPr>
        <p:spPr>
          <a:xfrm>
            <a:off x="9683496" y="5843016"/>
            <a:ext cx="1874520" cy="237744"/>
          </a:xfrm>
          <a:prstGeom prst="rect">
            <a:avLst/>
          </a:prstGeom>
          <a:noFill/>
          <a:ln/>
        </p:spPr>
        <p:txBody>
          <a:bodyPr wrap="square" lIns="0" tIns="0" rIns="0" bIns="0" rtlCol="0" anchor="ctr"/>
          <a:lstStyle/>
          <a:p>
            <a:pPr indent="0" marL="0">
              <a:buNone/>
            </a:pPr>
            <a:r>
              <a:rPr lang="en-US" sz="1000" dirty="0">
                <a:solidFill>
                  <a:schemeClr val="bg2"/>
                </a:solidFill>
              </a:rPr>
              <a:t>medido en vivo en LinuxONE</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768096" y="411480"/>
            <a:ext cx="8229600" cy="310896"/>
          </a:xfrm>
          <a:prstGeom prst="rect">
            <a:avLst/>
          </a:prstGeom>
          <a:noFill/>
          <a:ln/>
        </p:spPr>
        <p:txBody>
          <a:bodyPr wrap="square" lIns="0" tIns="0" rIns="0" bIns="0" rtlCol="0" anchor="ctr"/>
          <a:lstStyle/>
          <a:p>
            <a:pPr indent="0" marL="0">
              <a:buNone/>
            </a:pPr>
            <a:r>
              <a:rPr lang="en-US" sz="1200" b="1" spc="200" kern="0" dirty="0">
                <a:solidFill>
                  <a:schemeClr val="accent5"/>
                </a:solidFill>
              </a:rPr>
              <a:t>06 · DATOS, MODELO Y RIESGO</a:t>
            </a:r>
            <a:endParaRPr lang="en-US" sz="1200" dirty="0"/>
          </a:p>
        </p:txBody>
      </p:sp>
      <p:sp>
        <p:nvSpPr>
          <p:cNvPr id="3" name="Text 1"/>
          <p:cNvSpPr/>
          <p:nvPr>
            <p:ph idx="102" type="title" hasCustomPrompt="1"/>
          </p:nvPr>
        </p:nvSpPr>
        <p:spPr>
          <a:xfrm>
            <a:off x="548640" y="777240"/>
            <a:ext cx="11091672" cy="731520"/>
          </a:xfrm>
          <a:prstGeom prst="rect">
            <a:avLst/>
          </a:prstGeom>
          <a:noFill/>
          <a:ln/>
        </p:spPr>
        <p:txBody>
          <a:bodyPr wrap="square" lIns="0" tIns="0" rIns="0" bIns="0" rtlCol="0" anchor="t"/>
          <a:lstStyle/>
          <a:p>
            <a:pPr algn="l" indent="0" marL="0">
              <a:buNone/>
            </a:pPr>
            <a:r>
              <a:rPr lang="en-US" sz="3000" b="1" dirty="0">
                <a:solidFill>
                  <a:schemeClr val="bg1"/>
                </a:solidFill>
              </a:rPr>
              <a:t>Datos públicos para entrenar, datos cifrados para atender</a:t>
            </a:r>
            <a:endParaRPr lang="en-US" sz="3000" dirty="0"/>
          </a:p>
        </p:txBody>
      </p:sp>
      <p:sp>
        <p:nvSpPr>
          <p:cNvPr id="4" name="253,680"/>
          <p:cNvSpPr/>
          <p:nvPr/>
        </p:nvSpPr>
        <p:spPr>
          <a:xfrm>
            <a:off x="548640" y="1783080"/>
            <a:ext cx="3520440" cy="960120"/>
          </a:xfrm>
          <a:prstGeom prst="roundRect">
            <a:avLst>
              <a:gd name="adj" fmla="val 9524"/>
            </a:avLst>
          </a:prstGeom>
          <a:solidFill>
            <a:schemeClr val="tx2"/>
          </a:solidFill>
          <a:ln/>
        </p:spPr>
      </p:sp>
      <p:sp>
        <p:nvSpPr>
          <p:cNvPr id="5" name="Text 3"/>
          <p:cNvSpPr txBox="1"/>
          <p:nvPr/>
        </p:nvSpPr>
        <p:spPr>
          <a:xfrm>
            <a:off x="731520" y="1783080"/>
            <a:ext cx="1600200" cy="960120"/>
          </a:xfrm>
          <a:prstGeom prst="rect">
            <a:avLst/>
          </a:prstGeom>
          <a:noFill/>
          <a:ln/>
        </p:spPr>
        <p:txBody>
          <a:bodyPr wrap="square" lIns="0" tIns="0" rIns="0" bIns="0" rtlCol="0" anchor="ctr"/>
          <a:lstStyle/>
          <a:p>
            <a:pPr indent="0" marL="0">
              <a:buNone/>
            </a:pPr>
            <a:r>
              <a:rPr lang="en-US" sz="3000" b="1" dirty="0">
                <a:solidFill>
                  <a:schemeClr val="accent5"/>
                </a:solidFill>
              </a:rPr>
              <a:t>253,680</a:t>
            </a:r>
            <a:endParaRPr lang="en-US" sz="3000" dirty="0"/>
          </a:p>
        </p:txBody>
      </p:sp>
      <p:sp>
        <p:nvSpPr>
          <p:cNvPr id="6" name="Text 4"/>
          <p:cNvSpPr txBox="1"/>
          <p:nvPr/>
        </p:nvSpPr>
        <p:spPr>
          <a:xfrm>
            <a:off x="2331720" y="1828800"/>
            <a:ext cx="1600200" cy="868680"/>
          </a:xfrm>
          <a:prstGeom prst="rect">
            <a:avLst/>
          </a:prstGeom>
          <a:noFill/>
          <a:ln/>
        </p:spPr>
        <p:txBody>
          <a:bodyPr wrap="square" lIns="0" tIns="0" rIns="0" bIns="0" rtlCol="0" anchor="ctr"/>
          <a:lstStyle/>
          <a:p>
            <a:pPr indent="0" marL="0">
              <a:buNone/>
            </a:pPr>
            <a:r>
              <a:rPr lang="en-US" sz="1100" dirty="0">
                <a:solidFill>
                  <a:schemeClr val="bg2"/>
                </a:solidFill>
              </a:rPr>
              <a:t>respuestas de la encuesta de salud CDC BRFSS 2015 (UCI, ID 891)</a:t>
            </a:r>
            <a:endParaRPr lang="en-US" sz="1100" dirty="0"/>
          </a:p>
        </p:txBody>
      </p:sp>
      <p:sp>
        <p:nvSpPr>
          <p:cNvPr id="7" name="21"/>
          <p:cNvSpPr/>
          <p:nvPr/>
        </p:nvSpPr>
        <p:spPr>
          <a:xfrm>
            <a:off x="4334256" y="1783080"/>
            <a:ext cx="3520440" cy="960120"/>
          </a:xfrm>
          <a:prstGeom prst="roundRect">
            <a:avLst>
              <a:gd name="adj" fmla="val 9524"/>
            </a:avLst>
          </a:prstGeom>
          <a:solidFill>
            <a:schemeClr val="tx2"/>
          </a:solidFill>
          <a:ln/>
        </p:spPr>
      </p:sp>
      <p:sp>
        <p:nvSpPr>
          <p:cNvPr id="8" name="Text 6"/>
          <p:cNvSpPr txBox="1"/>
          <p:nvPr/>
        </p:nvSpPr>
        <p:spPr>
          <a:xfrm>
            <a:off x="4517136" y="1783080"/>
            <a:ext cx="1600200" cy="960120"/>
          </a:xfrm>
          <a:prstGeom prst="rect">
            <a:avLst/>
          </a:prstGeom>
          <a:noFill/>
          <a:ln/>
        </p:spPr>
        <p:txBody>
          <a:bodyPr wrap="square" lIns="0" tIns="0" rIns="0" bIns="0" rtlCol="0" anchor="ctr"/>
          <a:lstStyle/>
          <a:p>
            <a:pPr indent="0" marL="0">
              <a:buNone/>
            </a:pPr>
            <a:r>
              <a:rPr lang="en-US" sz="3000" b="1" dirty="0">
                <a:solidFill>
                  <a:schemeClr val="accent5"/>
                </a:solidFill>
              </a:rPr>
              <a:t>21</a:t>
            </a:r>
            <a:endParaRPr lang="en-US" sz="3000" dirty="0"/>
          </a:p>
        </p:txBody>
      </p:sp>
      <p:sp>
        <p:nvSpPr>
          <p:cNvPr id="9" name="Text 7"/>
          <p:cNvSpPr txBox="1"/>
          <p:nvPr/>
        </p:nvSpPr>
        <p:spPr>
          <a:xfrm>
            <a:off x="6117336" y="1828800"/>
            <a:ext cx="1600200" cy="868680"/>
          </a:xfrm>
          <a:prstGeom prst="rect">
            <a:avLst/>
          </a:prstGeom>
          <a:noFill/>
          <a:ln/>
        </p:spPr>
        <p:txBody>
          <a:bodyPr wrap="square" lIns="0" tIns="0" rIns="0" bIns="0" rtlCol="0" anchor="ctr"/>
          <a:lstStyle/>
          <a:p>
            <a:pPr indent="0" marL="0">
              <a:buNone/>
            </a:pPr>
            <a:r>
              <a:rPr lang="en-US" sz="1100" dirty="0">
                <a:solidFill>
                  <a:schemeClr val="bg2"/>
                </a:solidFill>
              </a:rPr>
              <a:t>indicadores: IMC, presión, colesterol, actividad física, edad…</a:t>
            </a:r>
            <a:endParaRPr lang="en-US" sz="1100" dirty="0"/>
          </a:p>
        </p:txBody>
      </p:sp>
      <p:sp>
        <p:nvSpPr>
          <p:cNvPr id="10" name="13.9%"/>
          <p:cNvSpPr/>
          <p:nvPr/>
        </p:nvSpPr>
        <p:spPr>
          <a:xfrm>
            <a:off x="8119872" y="1783080"/>
            <a:ext cx="3520440" cy="960120"/>
          </a:xfrm>
          <a:prstGeom prst="roundRect">
            <a:avLst>
              <a:gd name="adj" fmla="val 9524"/>
            </a:avLst>
          </a:prstGeom>
          <a:solidFill>
            <a:schemeClr val="tx2"/>
          </a:solidFill>
          <a:ln/>
        </p:spPr>
      </p:sp>
      <p:sp>
        <p:nvSpPr>
          <p:cNvPr id="11" name="Text 9"/>
          <p:cNvSpPr txBox="1"/>
          <p:nvPr/>
        </p:nvSpPr>
        <p:spPr>
          <a:xfrm>
            <a:off x="8302752" y="1783080"/>
            <a:ext cx="1600200" cy="960120"/>
          </a:xfrm>
          <a:prstGeom prst="rect">
            <a:avLst/>
          </a:prstGeom>
          <a:noFill/>
          <a:ln/>
        </p:spPr>
        <p:txBody>
          <a:bodyPr wrap="square" lIns="0" tIns="0" rIns="0" bIns="0" rtlCol="0" anchor="ctr"/>
          <a:lstStyle/>
          <a:p>
            <a:pPr indent="0" marL="0">
              <a:buNone/>
            </a:pPr>
            <a:r>
              <a:rPr lang="en-US" sz="3000" b="1" dirty="0">
                <a:solidFill>
                  <a:schemeClr val="accent5"/>
                </a:solidFill>
              </a:rPr>
              <a:t>13.9%</a:t>
            </a:r>
            <a:endParaRPr lang="en-US" sz="3000" dirty="0"/>
          </a:p>
        </p:txBody>
      </p:sp>
      <p:sp>
        <p:nvSpPr>
          <p:cNvPr id="12" name="Text 10"/>
          <p:cNvSpPr txBox="1"/>
          <p:nvPr/>
        </p:nvSpPr>
        <p:spPr>
          <a:xfrm>
            <a:off x="9902952" y="1828800"/>
            <a:ext cx="1600200" cy="868680"/>
          </a:xfrm>
          <a:prstGeom prst="rect">
            <a:avLst/>
          </a:prstGeom>
          <a:noFill/>
          <a:ln/>
        </p:spPr>
        <p:txBody>
          <a:bodyPr wrap="square" lIns="0" tIns="0" rIns="0" bIns="0" rtlCol="0" anchor="ctr"/>
          <a:lstStyle/>
          <a:p>
            <a:pPr indent="0" marL="0">
              <a:buNone/>
            </a:pPr>
            <a:r>
              <a:rPr lang="en-US" sz="1100" dirty="0">
                <a:solidFill>
                  <a:schemeClr val="bg2"/>
                </a:solidFill>
              </a:rPr>
              <a:t>casos con prediabetes o diabetes: hay que cuidar el desbalance</a:t>
            </a:r>
            <a:endParaRPr lang="en-US" sz="1100" dirty="0"/>
          </a:p>
        </p:txBody>
      </p:sp>
      <p:sp>
        <p:nvSpPr>
          <p:cNvPr id="13" name="conector"/>
          <p:cNvSpPr/>
          <p:nvPr/>
        </p:nvSpPr>
        <p:spPr>
          <a:xfrm>
            <a:off x="777240" y="3493008"/>
            <a:ext cx="0" cy="274320"/>
          </a:xfrm>
          <a:prstGeom prst="line">
            <a:avLst/>
          </a:prstGeom>
          <a:noFill/>
          <a:ln w="19050">
            <a:solidFill>
              <a:schemeClr val="accent5"/>
            </a:solidFill>
            <a:prstDash val="dash"/>
          </a:ln>
        </p:spPr>
      </p:sp>
      <p:sp>
        <p:nvSpPr>
          <p:cNvPr id="14" name="paso 1"/>
          <p:cNvSpPr/>
          <p:nvPr/>
        </p:nvSpPr>
        <p:spPr>
          <a:xfrm>
            <a:off x="548640" y="3017520"/>
            <a:ext cx="457200" cy="457200"/>
          </a:xfrm>
          <a:prstGeom prst="ellipse">
            <a:avLst/>
          </a:prstGeom>
          <a:solidFill>
            <a:schemeClr val="accent1"/>
          </a:solidFill>
          <a:ln/>
        </p:spPr>
      </p:sp>
      <p:sp>
        <p:nvSpPr>
          <p:cNvPr id="15" name="Text 13"/>
          <p:cNvSpPr txBox="1"/>
          <p:nvPr/>
        </p:nvSpPr>
        <p:spPr>
          <a:xfrm>
            <a:off x="548640" y="30175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6" name="Text 14"/>
          <p:cNvSpPr txBox="1"/>
          <p:nvPr/>
        </p:nvSpPr>
        <p:spPr>
          <a:xfrm>
            <a:off x="1188720" y="2990088"/>
            <a:ext cx="4754880" cy="292608"/>
          </a:xfrm>
          <a:prstGeom prst="rect">
            <a:avLst/>
          </a:prstGeom>
          <a:noFill/>
          <a:ln/>
        </p:spPr>
        <p:txBody>
          <a:bodyPr wrap="square" lIns="0" tIns="0" rIns="0" bIns="0" rtlCol="0" anchor="ctr"/>
          <a:lstStyle/>
          <a:p>
            <a:pPr indent="0" marL="0">
              <a:buNone/>
            </a:pPr>
            <a:r>
              <a:rPr lang="en-US" sz="1400" b="1" dirty="0">
                <a:solidFill>
                  <a:schemeClr val="bg1"/>
                </a:solidFill>
              </a:rPr>
              <a:t>Entrenar con datos públicos</a:t>
            </a:r>
            <a:endParaRPr lang="en-US" sz="1400" dirty="0"/>
          </a:p>
        </p:txBody>
      </p:sp>
      <p:sp>
        <p:nvSpPr>
          <p:cNvPr id="17" name="Text 15"/>
          <p:cNvSpPr txBox="1"/>
          <p:nvPr/>
        </p:nvSpPr>
        <p:spPr>
          <a:xfrm>
            <a:off x="1188720" y="3282696"/>
            <a:ext cx="4754880" cy="384048"/>
          </a:xfrm>
          <a:prstGeom prst="rect">
            <a:avLst/>
          </a:prstGeom>
          <a:noFill/>
          <a:ln/>
        </p:spPr>
        <p:txBody>
          <a:bodyPr wrap="square" lIns="0" tIns="0" rIns="0" bIns="0" rtlCol="0" anchor="t"/>
          <a:lstStyle/>
          <a:p>
            <a:pPr indent="0" marL="0">
              <a:buNone/>
            </a:pPr>
            <a:r>
              <a:rPr lang="en-US" sz="1200" dirty="0">
                <a:solidFill>
                  <a:schemeClr val="bg2"/>
                </a:solidFill>
              </a:rPr>
              <a:t>Regresión logística (y XGBoost en claro como referencia)</a:t>
            </a:r>
            <a:endParaRPr lang="en-US" sz="1200" dirty="0"/>
          </a:p>
        </p:txBody>
      </p:sp>
      <p:sp>
        <p:nvSpPr>
          <p:cNvPr id="18" name="conector"/>
          <p:cNvSpPr/>
          <p:nvPr/>
        </p:nvSpPr>
        <p:spPr>
          <a:xfrm>
            <a:off x="777240" y="4242816"/>
            <a:ext cx="0" cy="274320"/>
          </a:xfrm>
          <a:prstGeom prst="line">
            <a:avLst/>
          </a:prstGeom>
          <a:noFill/>
          <a:ln w="19050">
            <a:solidFill>
              <a:schemeClr val="accent5"/>
            </a:solidFill>
            <a:prstDash val="dash"/>
          </a:ln>
        </p:spPr>
      </p:sp>
      <p:sp>
        <p:nvSpPr>
          <p:cNvPr id="19" name="paso 2"/>
          <p:cNvSpPr/>
          <p:nvPr/>
        </p:nvSpPr>
        <p:spPr>
          <a:xfrm>
            <a:off x="548640" y="3767328"/>
            <a:ext cx="457200" cy="457200"/>
          </a:xfrm>
          <a:prstGeom prst="ellipse">
            <a:avLst/>
          </a:prstGeom>
          <a:solidFill>
            <a:schemeClr val="accent1"/>
          </a:solidFill>
          <a:ln/>
        </p:spPr>
      </p:sp>
      <p:sp>
        <p:nvSpPr>
          <p:cNvPr id="20" name="Text 18"/>
          <p:cNvSpPr txBox="1"/>
          <p:nvPr/>
        </p:nvSpPr>
        <p:spPr>
          <a:xfrm>
            <a:off x="548640" y="376732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1" name="Text 19"/>
          <p:cNvSpPr txBox="1"/>
          <p:nvPr/>
        </p:nvSpPr>
        <p:spPr>
          <a:xfrm>
            <a:off x="1188720" y="3739896"/>
            <a:ext cx="4754880" cy="292608"/>
          </a:xfrm>
          <a:prstGeom prst="rect">
            <a:avLst/>
          </a:prstGeom>
          <a:noFill/>
          <a:ln/>
        </p:spPr>
        <p:txBody>
          <a:bodyPr wrap="square" lIns="0" tIns="0" rIns="0" bIns="0" rtlCol="0" anchor="ctr"/>
          <a:lstStyle/>
          <a:p>
            <a:pPr indent="0" marL="0">
              <a:buNone/>
            </a:pPr>
            <a:r>
              <a:rPr lang="en-US" sz="1400" b="1" dirty="0">
                <a:solidFill>
                  <a:schemeClr val="bg1"/>
                </a:solidFill>
              </a:rPr>
              <a:t>Pesos a punto fijo</a:t>
            </a:r>
            <a:endParaRPr lang="en-US" sz="1400" dirty="0"/>
          </a:p>
        </p:txBody>
      </p:sp>
      <p:sp>
        <p:nvSpPr>
          <p:cNvPr id="22" name="Text 20"/>
          <p:cNvSpPr txBox="1"/>
          <p:nvPr/>
        </p:nvSpPr>
        <p:spPr>
          <a:xfrm>
            <a:off x="1188720" y="4032504"/>
            <a:ext cx="4754880" cy="384048"/>
          </a:xfrm>
          <a:prstGeom prst="rect">
            <a:avLst/>
          </a:prstGeom>
          <a:noFill/>
          <a:ln/>
        </p:spPr>
        <p:txBody>
          <a:bodyPr wrap="square" lIns="0" tIns="0" rIns="0" bIns="0" rtlCol="0" anchor="t"/>
          <a:lstStyle/>
          <a:p>
            <a:pPr indent="0" marL="0">
              <a:buNone/>
            </a:pPr>
            <a:r>
              <a:rPr lang="en-US" sz="1200" dirty="0">
                <a:solidFill>
                  <a:schemeClr val="bg2"/>
                </a:solidFill>
              </a:rPr>
              <a:t>Enteros que el esquema cifrado puede operar</a:t>
            </a:r>
            <a:endParaRPr lang="en-US" sz="1200" dirty="0"/>
          </a:p>
        </p:txBody>
      </p:sp>
      <p:sp>
        <p:nvSpPr>
          <p:cNvPr id="23" name="conector"/>
          <p:cNvSpPr/>
          <p:nvPr/>
        </p:nvSpPr>
        <p:spPr>
          <a:xfrm>
            <a:off x="777240" y="4992624"/>
            <a:ext cx="0" cy="274320"/>
          </a:xfrm>
          <a:prstGeom prst="line">
            <a:avLst/>
          </a:prstGeom>
          <a:noFill/>
          <a:ln w="19050">
            <a:solidFill>
              <a:schemeClr val="accent5"/>
            </a:solidFill>
            <a:prstDash val="dash"/>
          </a:ln>
        </p:spPr>
      </p:sp>
      <p:sp>
        <p:nvSpPr>
          <p:cNvPr id="24" name="paso 3"/>
          <p:cNvSpPr/>
          <p:nvPr/>
        </p:nvSpPr>
        <p:spPr>
          <a:xfrm>
            <a:off x="548640" y="4517136"/>
            <a:ext cx="457200" cy="457200"/>
          </a:xfrm>
          <a:prstGeom prst="ellipse">
            <a:avLst/>
          </a:prstGeom>
          <a:solidFill>
            <a:schemeClr val="accent1"/>
          </a:solidFill>
          <a:ln/>
        </p:spPr>
      </p:sp>
      <p:sp>
        <p:nvSpPr>
          <p:cNvPr id="25" name="Text 23"/>
          <p:cNvSpPr txBox="1"/>
          <p:nvPr/>
        </p:nvSpPr>
        <p:spPr>
          <a:xfrm>
            <a:off x="548640" y="451713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6" name="Text 24"/>
          <p:cNvSpPr txBox="1"/>
          <p:nvPr/>
        </p:nvSpPr>
        <p:spPr>
          <a:xfrm>
            <a:off x="1188720" y="4489704"/>
            <a:ext cx="4754880" cy="292608"/>
          </a:xfrm>
          <a:prstGeom prst="rect">
            <a:avLst/>
          </a:prstGeom>
          <a:noFill/>
          <a:ln/>
        </p:spPr>
        <p:txBody>
          <a:bodyPr wrap="square" lIns="0" tIns="0" rIns="0" bIns="0" rtlCol="0" anchor="ctr"/>
          <a:lstStyle/>
          <a:p>
            <a:pPr indent="0" marL="0">
              <a:buNone/>
            </a:pPr>
            <a:r>
              <a:rPr lang="en-US" sz="1400" b="1" dirty="0">
                <a:solidFill>
                  <a:schemeClr val="bg1"/>
                </a:solidFill>
              </a:rPr>
              <a:t>El paciente se cifra</a:t>
            </a:r>
            <a:endParaRPr lang="en-US" sz="1400" dirty="0"/>
          </a:p>
        </p:txBody>
      </p:sp>
      <p:sp>
        <p:nvSpPr>
          <p:cNvPr id="27" name="Text 25"/>
          <p:cNvSpPr txBox="1"/>
          <p:nvPr/>
        </p:nvSpPr>
        <p:spPr>
          <a:xfrm>
            <a:off x="1188720" y="4782312"/>
            <a:ext cx="4754880" cy="384048"/>
          </a:xfrm>
          <a:prstGeom prst="rect">
            <a:avLst/>
          </a:prstGeom>
          <a:noFill/>
          <a:ln/>
        </p:spPr>
        <p:txBody>
          <a:bodyPr wrap="square" lIns="0" tIns="0" rIns="0" bIns="0" rtlCol="0" anchor="t"/>
          <a:lstStyle/>
          <a:p>
            <a:pPr indent="0" marL="0">
              <a:buNone/>
            </a:pPr>
            <a:r>
              <a:rPr lang="en-US" sz="1200" dirty="0">
                <a:solidFill>
                  <a:schemeClr val="bg2"/>
                </a:solidFill>
              </a:rPr>
              <a:t>21 indicadores cifrados con la llave del hospital</a:t>
            </a:r>
            <a:endParaRPr lang="en-US" sz="1200" dirty="0"/>
          </a:p>
        </p:txBody>
      </p:sp>
      <p:sp>
        <p:nvSpPr>
          <p:cNvPr id="28" name="paso 4"/>
          <p:cNvSpPr/>
          <p:nvPr/>
        </p:nvSpPr>
        <p:spPr>
          <a:xfrm>
            <a:off x="548640" y="5266944"/>
            <a:ext cx="457200" cy="457200"/>
          </a:xfrm>
          <a:prstGeom prst="ellipse">
            <a:avLst/>
          </a:prstGeom>
          <a:solidFill>
            <a:schemeClr val="accent1"/>
          </a:solidFill>
          <a:ln/>
        </p:spPr>
      </p:sp>
      <p:sp>
        <p:nvSpPr>
          <p:cNvPr id="29" name="Text 27"/>
          <p:cNvSpPr txBox="1"/>
          <p:nvPr/>
        </p:nvSpPr>
        <p:spPr>
          <a:xfrm>
            <a:off x="548640" y="526694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30" name="Text 28"/>
          <p:cNvSpPr txBox="1"/>
          <p:nvPr/>
        </p:nvSpPr>
        <p:spPr>
          <a:xfrm>
            <a:off x="1188720" y="5239512"/>
            <a:ext cx="4754880" cy="292608"/>
          </a:xfrm>
          <a:prstGeom prst="rect">
            <a:avLst/>
          </a:prstGeom>
          <a:noFill/>
          <a:ln/>
        </p:spPr>
        <p:txBody>
          <a:bodyPr wrap="square" lIns="0" tIns="0" rIns="0" bIns="0" rtlCol="0" anchor="ctr"/>
          <a:lstStyle/>
          <a:p>
            <a:pPr indent="0" marL="0">
              <a:buNone/>
            </a:pPr>
            <a:r>
              <a:rPr lang="en-US" sz="1400" b="1" dirty="0">
                <a:solidFill>
                  <a:schemeClr val="bg1"/>
                </a:solidFill>
              </a:rPr>
              <a:t>Puntaje cifrado → riesgo</a:t>
            </a:r>
            <a:endParaRPr lang="en-US" sz="1400" dirty="0"/>
          </a:p>
        </p:txBody>
      </p:sp>
      <p:sp>
        <p:nvSpPr>
          <p:cNvPr id="31" name="Text 29"/>
          <p:cNvSpPr txBox="1"/>
          <p:nvPr/>
        </p:nvSpPr>
        <p:spPr>
          <a:xfrm>
            <a:off x="1188720" y="5532120"/>
            <a:ext cx="4754880" cy="384048"/>
          </a:xfrm>
          <a:prstGeom prst="rect">
            <a:avLst/>
          </a:prstGeom>
          <a:noFill/>
          <a:ln/>
        </p:spPr>
        <p:txBody>
          <a:bodyPr wrap="square" lIns="0" tIns="0" rIns="0" bIns="0" rtlCol="0" anchor="t"/>
          <a:lstStyle/>
          <a:p>
            <a:pPr indent="0" marL="0">
              <a:buNone/>
            </a:pPr>
            <a:r>
              <a:rPr lang="en-US" sz="1200" dirty="0">
                <a:solidFill>
                  <a:schemeClr val="bg2"/>
                </a:solidFill>
              </a:rPr>
              <a:t>LinuxONE calcula w · x; el hospital descifra y aplica la sigmoide</a:t>
            </a:r>
            <a:endParaRPr lang="en-US" sz="1200" dirty="0"/>
          </a:p>
        </p:txBody>
      </p:sp>
      <p:sp>
        <p:nvSpPr>
          <p:cNvPr id="32" name="Text 30"/>
          <p:cNvSpPr txBox="1"/>
          <p:nvPr/>
        </p:nvSpPr>
        <p:spPr>
          <a:xfrm>
            <a:off x="6263640" y="3017520"/>
            <a:ext cx="5376672" cy="274320"/>
          </a:xfrm>
          <a:prstGeom prst="rect">
            <a:avLst/>
          </a:prstGeom>
          <a:noFill/>
          <a:ln/>
        </p:spPr>
        <p:txBody>
          <a:bodyPr wrap="square" lIns="0" tIns="0" rIns="0" bIns="0" rtlCol="0" anchor="t"/>
          <a:lstStyle/>
          <a:p>
            <a:pPr indent="0" marL="0">
              <a:buNone/>
            </a:pPr>
            <a:r>
              <a:rPr lang="en-US" sz="1100" b="1" spc="100" kern="0" dirty="0">
                <a:solidFill>
                  <a:schemeClr val="accent5"/>
                </a:solidFill>
              </a:rPr>
              <a:t>CÓMO LO MEDIMOS · RESULTADOS EN VIVO EN LA DEMO</a:t>
            </a:r>
            <a:endParaRPr lang="en-US" sz="1100" dirty="0"/>
          </a:p>
        </p:txBody>
      </p:sp>
      <p:sp>
        <p:nvSpPr>
          <p:cNvPr id="33" name="Métricas"/>
          <p:cNvSpPr/>
          <p:nvPr/>
        </p:nvSpPr>
        <p:spPr>
          <a:xfrm>
            <a:off x="6263640" y="3383280"/>
            <a:ext cx="5376672" cy="1078992"/>
          </a:xfrm>
          <a:prstGeom prst="roundRect">
            <a:avLst>
              <a:gd name="adj" fmla="val 8475"/>
            </a:avLst>
          </a:prstGeom>
          <a:solidFill>
            <a:schemeClr val="accent2">
              <a:alpha val="15000"/>
            </a:schemeClr>
          </a:solidFill>
          <a:ln w="9525">
            <a:solidFill>
              <a:schemeClr val="accent2">
                <a:alpha val="70000"/>
              </a:schemeClr>
            </a:solidFill>
            <a:prstDash val="solid"/>
          </a:ln>
        </p:spPr>
      </p:sp>
      <p:sp>
        <p:nvSpPr>
          <p:cNvPr id="34" name="Métricas círculo"/>
          <p:cNvSpPr/>
          <p:nvPr/>
        </p:nvSpPr>
        <p:spPr>
          <a:xfrm>
            <a:off x="6419088" y="3657600"/>
            <a:ext cx="530352" cy="530352"/>
          </a:xfrm>
          <a:prstGeom prst="ellipse">
            <a:avLst/>
          </a:prstGeom>
          <a:solidFill>
            <a:schemeClr val="accent2"/>
          </a:solidFill>
          <a:ln/>
        </p:spPr>
      </p:sp>
      <p:pic>
        <p:nvPicPr>
          <p:cNvPr id="35" name="Métricas ícono" descr="preencoded.png">    </p:cNvPr>
          <p:cNvPicPr>
            <a:picLocks noChangeAspect="1"/>
          </p:cNvPicPr>
          <p:nvPr/>
        </p:nvPicPr>
        <p:blipFill>
          <a:blip r:embed="rId1"/>
          <a:stretch>
            <a:fillRect/>
          </a:stretch>
        </p:blipFill>
        <p:spPr>
          <a:xfrm>
            <a:off x="6535765" y="3774277"/>
            <a:ext cx="296997" cy="296997"/>
          </a:xfrm>
          <a:prstGeom prst="rect">
            <a:avLst/>
          </a:prstGeom>
        </p:spPr>
      </p:pic>
      <p:sp>
        <p:nvSpPr>
          <p:cNvPr id="36" name="Text 33"/>
          <p:cNvSpPr txBox="1"/>
          <p:nvPr/>
        </p:nvSpPr>
        <p:spPr>
          <a:xfrm>
            <a:off x="7114032" y="3493008"/>
            <a:ext cx="4389120" cy="329184"/>
          </a:xfrm>
          <a:prstGeom prst="rect">
            <a:avLst/>
          </a:prstGeom>
          <a:noFill/>
          <a:ln/>
        </p:spPr>
        <p:txBody>
          <a:bodyPr wrap="square" lIns="0" tIns="0" rIns="0" bIns="0" rtlCol="0" anchor="ctr"/>
          <a:lstStyle/>
          <a:p>
            <a:pPr indent="0" marL="0">
              <a:buNone/>
            </a:pPr>
            <a:r>
              <a:rPr lang="en-US" sz="1500" b="1" dirty="0">
                <a:solidFill>
                  <a:schemeClr val="bg1"/>
                </a:solidFill>
              </a:rPr>
              <a:t>Métricas</a:t>
            </a:r>
            <a:endParaRPr lang="en-US" sz="1500" dirty="0"/>
          </a:p>
        </p:txBody>
      </p:sp>
      <p:sp>
        <p:nvSpPr>
          <p:cNvPr id="37" name="Text 34"/>
          <p:cNvSpPr txBox="1"/>
          <p:nvPr/>
        </p:nvSpPr>
        <p:spPr>
          <a:xfrm>
            <a:off x="7114032" y="3840480"/>
            <a:ext cx="4389120" cy="566928"/>
          </a:xfrm>
          <a:prstGeom prst="rect">
            <a:avLst/>
          </a:prstGeom>
          <a:noFill/>
          <a:ln/>
        </p:spPr>
        <p:txBody>
          <a:bodyPr wrap="square" lIns="0" tIns="0" rIns="0" bIns="0" rtlCol="0" anchor="t"/>
          <a:lstStyle/>
          <a:p>
            <a:pPr indent="0" marL="0">
              <a:buNone/>
            </a:pPr>
            <a:r>
              <a:rPr lang="en-US" sz="1200" dirty="0">
                <a:solidFill>
                  <a:schemeClr val="bg2"/>
                </a:solidFill>
              </a:rPr>
              <a:t>AUC, AUC-PR, sensibilidad y especificidad, calibración, error numérico claro vs. cifrado y latencia en LinuxONE.</a:t>
            </a:r>
            <a:endParaRPr lang="en-US" sz="1200" dirty="0"/>
          </a:p>
        </p:txBody>
      </p:sp>
      <p:sp>
        <p:nvSpPr>
          <p:cNvPr id="38" name="Límites"/>
          <p:cNvSpPr/>
          <p:nvPr/>
        </p:nvSpPr>
        <p:spPr>
          <a:xfrm>
            <a:off x="6263640" y="4590288"/>
            <a:ext cx="5376672" cy="1078992"/>
          </a:xfrm>
          <a:prstGeom prst="roundRect">
            <a:avLst>
              <a:gd name="adj" fmla="val 8475"/>
            </a:avLst>
          </a:prstGeom>
          <a:solidFill>
            <a:schemeClr val="accent4">
              <a:alpha val="15000"/>
            </a:schemeClr>
          </a:solidFill>
          <a:ln w="9525">
            <a:solidFill>
              <a:schemeClr val="accent4">
                <a:alpha val="70000"/>
              </a:schemeClr>
            </a:solidFill>
            <a:prstDash val="solid"/>
          </a:ln>
        </p:spPr>
      </p:sp>
      <p:sp>
        <p:nvSpPr>
          <p:cNvPr id="39" name="Límites círculo"/>
          <p:cNvSpPr/>
          <p:nvPr/>
        </p:nvSpPr>
        <p:spPr>
          <a:xfrm>
            <a:off x="6419088" y="4864608"/>
            <a:ext cx="530352" cy="530352"/>
          </a:xfrm>
          <a:prstGeom prst="ellipse">
            <a:avLst/>
          </a:prstGeom>
          <a:solidFill>
            <a:schemeClr val="accent4"/>
          </a:solidFill>
          <a:ln/>
        </p:spPr>
      </p:sp>
      <p:pic>
        <p:nvPicPr>
          <p:cNvPr id="40" name="Límites ícono" descr="preencoded.png">    </p:cNvPr>
          <p:cNvPicPr>
            <a:picLocks noChangeAspect="1"/>
          </p:cNvPicPr>
          <p:nvPr/>
        </p:nvPicPr>
        <p:blipFill>
          <a:blip r:embed="rId2"/>
          <a:stretch>
            <a:fillRect/>
          </a:stretch>
        </p:blipFill>
        <p:spPr>
          <a:xfrm>
            <a:off x="6535765" y="4981285"/>
            <a:ext cx="296997" cy="296997"/>
          </a:xfrm>
          <a:prstGeom prst="rect">
            <a:avLst/>
          </a:prstGeom>
        </p:spPr>
      </p:pic>
      <p:sp>
        <p:nvSpPr>
          <p:cNvPr id="41" name="Text 37"/>
          <p:cNvSpPr txBox="1"/>
          <p:nvPr/>
        </p:nvSpPr>
        <p:spPr>
          <a:xfrm>
            <a:off x="7114032" y="4700016"/>
            <a:ext cx="4389120" cy="329184"/>
          </a:xfrm>
          <a:prstGeom prst="rect">
            <a:avLst/>
          </a:prstGeom>
          <a:noFill/>
          <a:ln/>
        </p:spPr>
        <p:txBody>
          <a:bodyPr wrap="square" lIns="0" tIns="0" rIns="0" bIns="0" rtlCol="0" anchor="ctr"/>
          <a:lstStyle/>
          <a:p>
            <a:pPr indent="0" marL="0">
              <a:buNone/>
            </a:pPr>
            <a:r>
              <a:rPr lang="en-US" sz="1500" b="1" dirty="0">
                <a:solidFill>
                  <a:schemeClr val="bg1"/>
                </a:solidFill>
              </a:rPr>
              <a:t>Límites</a:t>
            </a:r>
            <a:endParaRPr lang="en-US" sz="1500" dirty="0"/>
          </a:p>
        </p:txBody>
      </p:sp>
      <p:sp>
        <p:nvSpPr>
          <p:cNvPr id="42" name="Text 38"/>
          <p:cNvSpPr txBox="1"/>
          <p:nvPr/>
        </p:nvSpPr>
        <p:spPr>
          <a:xfrm>
            <a:off x="7114032" y="5047488"/>
            <a:ext cx="4389120" cy="566928"/>
          </a:xfrm>
          <a:prstGeom prst="rect">
            <a:avLst/>
          </a:prstGeom>
          <a:noFill/>
          <a:ln/>
        </p:spPr>
        <p:txBody>
          <a:bodyPr wrap="square" lIns="0" tIns="0" rIns="0" bIns="0" rtlCol="0" anchor="t"/>
          <a:lstStyle/>
          <a:p>
            <a:pPr indent="0" marL="0">
              <a:buNone/>
            </a:pPr>
            <a:r>
              <a:rPr lang="en-US" sz="1200" dirty="0">
                <a:solidFill>
                  <a:schemeClr val="bg2"/>
                </a:solidFill>
              </a:rPr>
              <a:t>Datos de EE. UU. y diagnóstico declarado: es una prueba técnica. La validamos con adultos mexicanos de ENSANUT.</a:t>
            </a:r>
            <a:endParaRPr lang="en-US" sz="1200" dirty="0"/>
          </a:p>
        </p:txBody>
      </p:sp>
      <p:sp>
        <p:nvSpPr>
          <p:cNvPr id="43" name="Text 39"/>
          <p:cNvSpPr txBox="1"/>
          <p:nvPr/>
        </p:nvSpPr>
        <p:spPr>
          <a:xfrm>
            <a:off x="548640" y="6089904"/>
            <a:ext cx="11091672" cy="256032"/>
          </a:xfrm>
          <a:prstGeom prst="rect">
            <a:avLst/>
          </a:prstGeom>
          <a:noFill/>
          <a:ln/>
        </p:spPr>
        <p:txBody>
          <a:bodyPr wrap="square" lIns="0" tIns="0" rIns="0" bIns="0" rtlCol="0" anchor="t"/>
          <a:lstStyle/>
          <a:p>
            <a:pPr indent="0" marL="0">
              <a:buNone/>
            </a:pPr>
            <a:r>
              <a:rPr lang="en-US" sz="1000" dirty="0">
                <a:solidFill>
                  <a:schemeClr val="accent6"/>
                </a:solidFill>
              </a:rPr>
              <a:t>Fuente: UCI Machine Learning Repository, CDC Diabetes Health Indicators (ID 891).</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768096" y="411480"/>
            <a:ext cx="8229600" cy="310896"/>
          </a:xfrm>
          <a:prstGeom prst="rect">
            <a:avLst/>
          </a:prstGeom>
          <a:noFill/>
          <a:ln/>
        </p:spPr>
        <p:txBody>
          <a:bodyPr wrap="square" lIns="0" tIns="0" rIns="0" bIns="0" rtlCol="0" anchor="ctr"/>
          <a:lstStyle/>
          <a:p>
            <a:pPr indent="0" marL="0">
              <a:buNone/>
            </a:pPr>
            <a:r>
              <a:rPr lang="en-US" sz="1200" b="1" spc="200" kern="0" dirty="0">
                <a:solidFill>
                  <a:schemeClr val="accent5"/>
                </a:solidFill>
              </a:rPr>
              <a:t>07 · IMPACTO · AI FOR GOOD</a:t>
            </a:r>
            <a:endParaRPr lang="en-US" sz="1200" dirty="0"/>
          </a:p>
        </p:txBody>
      </p:sp>
      <p:sp>
        <p:nvSpPr>
          <p:cNvPr id="3" name="Text 1"/>
          <p:cNvSpPr/>
          <p:nvPr>
            <p:ph idx="102" type="title" hasCustomPrompt="1"/>
          </p:nvPr>
        </p:nvSpPr>
        <p:spPr>
          <a:xfrm>
            <a:off x="548640" y="777240"/>
            <a:ext cx="11091672" cy="731520"/>
          </a:xfrm>
          <a:prstGeom prst="rect">
            <a:avLst/>
          </a:prstGeom>
          <a:noFill/>
          <a:ln/>
        </p:spPr>
        <p:txBody>
          <a:bodyPr wrap="square" lIns="0" tIns="0" rIns="0" bIns="0" rtlCol="0" anchor="t"/>
          <a:lstStyle/>
          <a:p>
            <a:pPr algn="l" indent="0" marL="0">
              <a:buNone/>
            </a:pPr>
            <a:r>
              <a:rPr lang="en-US" sz="3000" b="1" dirty="0">
                <a:solidFill>
                  <a:schemeClr val="bg1"/>
                </a:solidFill>
              </a:rPr>
              <a:t>IA en hospitales públicos sin entregar un solo expediente</a:t>
            </a:r>
            <a:endParaRPr lang="en-US" sz="3000" dirty="0"/>
          </a:p>
        </p:txBody>
      </p:sp>
      <p:sp>
        <p:nvSpPr>
          <p:cNvPr id="4" name="Tamizaje temprano"/>
          <p:cNvSpPr/>
          <p:nvPr/>
        </p:nvSpPr>
        <p:spPr>
          <a:xfrm>
            <a:off x="548640" y="1874520"/>
            <a:ext cx="2642616" cy="2103120"/>
          </a:xfrm>
          <a:prstGeom prst="roundRect">
            <a:avLst>
              <a:gd name="adj" fmla="val 4348"/>
            </a:avLst>
          </a:prstGeom>
          <a:solidFill>
            <a:schemeClr val="tx2"/>
          </a:solidFill>
          <a:ln w="9525">
            <a:solidFill>
              <a:schemeClr val="accent5">
                <a:alpha val="50000"/>
              </a:schemeClr>
            </a:solidFill>
            <a:prstDash val="solid"/>
          </a:ln>
        </p:spPr>
      </p:sp>
      <p:sp>
        <p:nvSpPr>
          <p:cNvPr id="5" name="Tamizaje temprano círculo"/>
          <p:cNvSpPr/>
          <p:nvPr/>
        </p:nvSpPr>
        <p:spPr>
          <a:xfrm>
            <a:off x="777240" y="2103120"/>
            <a:ext cx="566928" cy="566928"/>
          </a:xfrm>
          <a:prstGeom prst="ellipse">
            <a:avLst/>
          </a:prstGeom>
          <a:solidFill>
            <a:schemeClr val="accent1"/>
          </a:solidFill>
          <a:ln/>
        </p:spPr>
      </p:sp>
      <p:pic>
        <p:nvPicPr>
          <p:cNvPr id="6" name="Tamizaje temprano ícono" descr="preencoded.png">    </p:cNvPr>
          <p:cNvPicPr>
            <a:picLocks noChangeAspect="1"/>
          </p:cNvPicPr>
          <p:nvPr/>
        </p:nvPicPr>
        <p:blipFill>
          <a:blip r:embed="rId1"/>
          <a:stretch>
            <a:fillRect/>
          </a:stretch>
        </p:blipFill>
        <p:spPr>
          <a:xfrm>
            <a:off x="901964" y="2227844"/>
            <a:ext cx="317480" cy="317480"/>
          </a:xfrm>
          <a:prstGeom prst="rect">
            <a:avLst/>
          </a:prstGeom>
        </p:spPr>
      </p:pic>
      <p:sp>
        <p:nvSpPr>
          <p:cNvPr id="7" name="Text 4"/>
          <p:cNvSpPr txBox="1"/>
          <p:nvPr/>
        </p:nvSpPr>
        <p:spPr>
          <a:xfrm>
            <a:off x="777240" y="2788920"/>
            <a:ext cx="2240280" cy="347472"/>
          </a:xfrm>
          <a:prstGeom prst="rect">
            <a:avLst/>
          </a:prstGeom>
          <a:noFill/>
          <a:ln/>
        </p:spPr>
        <p:txBody>
          <a:bodyPr wrap="square" lIns="0" tIns="0" rIns="0" bIns="0" rtlCol="0" anchor="ctr"/>
          <a:lstStyle/>
          <a:p>
            <a:pPr indent="0" marL="0">
              <a:buNone/>
            </a:pPr>
            <a:r>
              <a:rPr lang="en-US" sz="1600" b="1" dirty="0">
                <a:solidFill>
                  <a:schemeClr val="bg1"/>
                </a:solidFill>
              </a:rPr>
              <a:t>Tamizaje temprano</a:t>
            </a:r>
            <a:endParaRPr lang="en-US" sz="1600" dirty="0"/>
          </a:p>
        </p:txBody>
      </p:sp>
      <p:sp>
        <p:nvSpPr>
          <p:cNvPr id="8" name="Text 5"/>
          <p:cNvSpPr txBox="1"/>
          <p:nvPr/>
        </p:nvSpPr>
        <p:spPr>
          <a:xfrm>
            <a:off x="777240" y="3154680"/>
            <a:ext cx="2240280" cy="731520"/>
          </a:xfrm>
          <a:prstGeom prst="rect">
            <a:avLst/>
          </a:prstGeom>
          <a:noFill/>
          <a:ln/>
        </p:spPr>
        <p:txBody>
          <a:bodyPr wrap="square" lIns="0" tIns="0" rIns="0" bIns="0" rtlCol="0" anchor="t"/>
          <a:lstStyle/>
          <a:p>
            <a:pPr indent="0" marL="0">
              <a:buNone/>
            </a:pPr>
            <a:r>
              <a:rPr lang="en-US" sz="1200" dirty="0">
                <a:solidFill>
                  <a:schemeClr val="bg2"/>
                </a:solidFill>
              </a:rPr>
              <a:t>1 de cada 3 personas con diabetes no lo sabe: detectarla antes salva años de vida</a:t>
            </a:r>
            <a:endParaRPr lang="en-US" sz="1200" dirty="0"/>
          </a:p>
        </p:txBody>
      </p:sp>
      <p:sp>
        <p:nvSpPr>
          <p:cNvPr id="9" name="Confianza del paciente"/>
          <p:cNvSpPr/>
          <p:nvPr/>
        </p:nvSpPr>
        <p:spPr>
          <a:xfrm>
            <a:off x="3364992" y="1874520"/>
            <a:ext cx="2642616" cy="2103120"/>
          </a:xfrm>
          <a:prstGeom prst="roundRect">
            <a:avLst>
              <a:gd name="adj" fmla="val 4348"/>
            </a:avLst>
          </a:prstGeom>
          <a:solidFill>
            <a:schemeClr val="tx2"/>
          </a:solidFill>
          <a:ln w="9525">
            <a:solidFill>
              <a:schemeClr val="accent5">
                <a:alpha val="50000"/>
              </a:schemeClr>
            </a:solidFill>
            <a:prstDash val="solid"/>
          </a:ln>
        </p:spPr>
      </p:sp>
      <p:sp>
        <p:nvSpPr>
          <p:cNvPr id="10" name="Confianza del paciente círculo"/>
          <p:cNvSpPr/>
          <p:nvPr/>
        </p:nvSpPr>
        <p:spPr>
          <a:xfrm>
            <a:off x="3593592" y="2103120"/>
            <a:ext cx="566928" cy="566928"/>
          </a:xfrm>
          <a:prstGeom prst="ellipse">
            <a:avLst/>
          </a:prstGeom>
          <a:solidFill>
            <a:schemeClr val="accent1"/>
          </a:solidFill>
          <a:ln/>
        </p:spPr>
      </p:sp>
      <p:pic>
        <p:nvPicPr>
          <p:cNvPr id="11" name="Confianza del paciente ícono" descr="preencoded.png">    </p:cNvPr>
          <p:cNvPicPr>
            <a:picLocks noChangeAspect="1"/>
          </p:cNvPicPr>
          <p:nvPr/>
        </p:nvPicPr>
        <p:blipFill>
          <a:blip r:embed="rId2"/>
          <a:stretch>
            <a:fillRect/>
          </a:stretch>
        </p:blipFill>
        <p:spPr>
          <a:xfrm>
            <a:off x="3718316" y="2227844"/>
            <a:ext cx="317480" cy="317480"/>
          </a:xfrm>
          <a:prstGeom prst="rect">
            <a:avLst/>
          </a:prstGeom>
        </p:spPr>
      </p:pic>
      <p:sp>
        <p:nvSpPr>
          <p:cNvPr id="12" name="Text 8"/>
          <p:cNvSpPr txBox="1"/>
          <p:nvPr/>
        </p:nvSpPr>
        <p:spPr>
          <a:xfrm>
            <a:off x="3593592" y="2788920"/>
            <a:ext cx="2240280" cy="347472"/>
          </a:xfrm>
          <a:prstGeom prst="rect">
            <a:avLst/>
          </a:prstGeom>
          <a:noFill/>
          <a:ln/>
        </p:spPr>
        <p:txBody>
          <a:bodyPr wrap="square" lIns="0" tIns="0" rIns="0" bIns="0" rtlCol="0" anchor="ctr"/>
          <a:lstStyle/>
          <a:p>
            <a:pPr indent="0" marL="0">
              <a:buNone/>
            </a:pPr>
            <a:r>
              <a:rPr lang="en-US" sz="1600" b="1" dirty="0">
                <a:solidFill>
                  <a:schemeClr val="bg1"/>
                </a:solidFill>
              </a:rPr>
              <a:t>Confianza del paciente</a:t>
            </a:r>
            <a:endParaRPr lang="en-US" sz="1600" dirty="0"/>
          </a:p>
        </p:txBody>
      </p:sp>
      <p:sp>
        <p:nvSpPr>
          <p:cNvPr id="13" name="Text 9"/>
          <p:cNvSpPr txBox="1"/>
          <p:nvPr/>
        </p:nvSpPr>
        <p:spPr>
          <a:xfrm>
            <a:off x="3593592" y="3154680"/>
            <a:ext cx="2240280" cy="731520"/>
          </a:xfrm>
          <a:prstGeom prst="rect">
            <a:avLst/>
          </a:prstGeom>
          <a:noFill/>
          <a:ln/>
        </p:spPr>
        <p:txBody>
          <a:bodyPr wrap="square" lIns="0" tIns="0" rIns="0" bIns="0" rtlCol="0" anchor="t"/>
          <a:lstStyle/>
          <a:p>
            <a:pPr indent="0" marL="0">
              <a:buNone/>
            </a:pPr>
            <a:r>
              <a:rPr lang="en-US" sz="1200" dirty="0">
                <a:solidFill>
                  <a:schemeClr val="bg2"/>
                </a:solidFill>
              </a:rPr>
              <a:t>Sus datos nunca salen del hospital sin cifrar</a:t>
            </a:r>
            <a:endParaRPr lang="en-US" sz="1200" dirty="0"/>
          </a:p>
        </p:txBody>
      </p:sp>
      <p:sp>
        <p:nvSpPr>
          <p:cNvPr id="14" name="Cumplimiento"/>
          <p:cNvSpPr/>
          <p:nvPr/>
        </p:nvSpPr>
        <p:spPr>
          <a:xfrm>
            <a:off x="6181344" y="1874520"/>
            <a:ext cx="2642616" cy="2103120"/>
          </a:xfrm>
          <a:prstGeom prst="roundRect">
            <a:avLst>
              <a:gd name="adj" fmla="val 4348"/>
            </a:avLst>
          </a:prstGeom>
          <a:solidFill>
            <a:schemeClr val="tx2"/>
          </a:solidFill>
          <a:ln w="9525">
            <a:solidFill>
              <a:schemeClr val="accent5">
                <a:alpha val="50000"/>
              </a:schemeClr>
            </a:solidFill>
            <a:prstDash val="solid"/>
          </a:ln>
        </p:spPr>
      </p:sp>
      <p:sp>
        <p:nvSpPr>
          <p:cNvPr id="15" name="Cumplimiento círculo"/>
          <p:cNvSpPr/>
          <p:nvPr/>
        </p:nvSpPr>
        <p:spPr>
          <a:xfrm>
            <a:off x="6409944" y="2103120"/>
            <a:ext cx="566928" cy="566928"/>
          </a:xfrm>
          <a:prstGeom prst="ellipse">
            <a:avLst/>
          </a:prstGeom>
          <a:solidFill>
            <a:schemeClr val="accent1"/>
          </a:solidFill>
          <a:ln/>
        </p:spPr>
      </p:sp>
      <p:pic>
        <p:nvPicPr>
          <p:cNvPr id="16" name="Cumplimiento ícono" descr="preencoded.png">    </p:cNvPr>
          <p:cNvPicPr>
            <a:picLocks noChangeAspect="1"/>
          </p:cNvPicPr>
          <p:nvPr/>
        </p:nvPicPr>
        <p:blipFill>
          <a:blip r:embed="rId3"/>
          <a:stretch>
            <a:fillRect/>
          </a:stretch>
        </p:blipFill>
        <p:spPr>
          <a:xfrm>
            <a:off x="6534668" y="2227844"/>
            <a:ext cx="317480" cy="317480"/>
          </a:xfrm>
          <a:prstGeom prst="rect">
            <a:avLst/>
          </a:prstGeom>
        </p:spPr>
      </p:pic>
      <p:sp>
        <p:nvSpPr>
          <p:cNvPr id="17" name="Text 12"/>
          <p:cNvSpPr txBox="1"/>
          <p:nvPr/>
        </p:nvSpPr>
        <p:spPr>
          <a:xfrm>
            <a:off x="6409944" y="2788920"/>
            <a:ext cx="2240280" cy="347472"/>
          </a:xfrm>
          <a:prstGeom prst="rect">
            <a:avLst/>
          </a:prstGeom>
          <a:noFill/>
          <a:ln/>
        </p:spPr>
        <p:txBody>
          <a:bodyPr wrap="square" lIns="0" tIns="0" rIns="0" bIns="0" rtlCol="0" anchor="ctr"/>
          <a:lstStyle/>
          <a:p>
            <a:pPr indent="0" marL="0">
              <a:buNone/>
            </a:pPr>
            <a:r>
              <a:rPr lang="en-US" sz="1600" b="1" dirty="0">
                <a:solidFill>
                  <a:schemeClr val="bg1"/>
                </a:solidFill>
              </a:rPr>
              <a:t>Cumplimiento</a:t>
            </a:r>
            <a:endParaRPr lang="en-US" sz="1600" dirty="0"/>
          </a:p>
        </p:txBody>
      </p:sp>
      <p:sp>
        <p:nvSpPr>
          <p:cNvPr id="18" name="Text 13"/>
          <p:cNvSpPr txBox="1"/>
          <p:nvPr/>
        </p:nvSpPr>
        <p:spPr>
          <a:xfrm>
            <a:off x="6409944" y="3154680"/>
            <a:ext cx="2240280" cy="731520"/>
          </a:xfrm>
          <a:prstGeom prst="rect">
            <a:avLst/>
          </a:prstGeom>
          <a:noFill/>
          <a:ln/>
        </p:spPr>
        <p:txBody>
          <a:bodyPr wrap="square" lIns="0" tIns="0" rIns="0" bIns="0" rtlCol="0" anchor="t"/>
          <a:lstStyle/>
          <a:p>
            <a:pPr indent="0" marL="0">
              <a:buNone/>
            </a:pPr>
            <a:r>
              <a:rPr lang="en-US" sz="1200" dirty="0">
                <a:solidFill>
                  <a:schemeClr val="bg2"/>
                </a:solidFill>
              </a:rPr>
              <a:t>Pensado para la ley mexicana de protección de datos personales</a:t>
            </a:r>
            <a:endParaRPr lang="en-US" sz="1200" dirty="0"/>
          </a:p>
        </p:txBody>
      </p:sp>
      <p:sp>
        <p:nvSpPr>
          <p:cNvPr id="19" name="Escalable"/>
          <p:cNvSpPr/>
          <p:nvPr/>
        </p:nvSpPr>
        <p:spPr>
          <a:xfrm>
            <a:off x="8997696" y="1874520"/>
            <a:ext cx="2642616" cy="2103120"/>
          </a:xfrm>
          <a:prstGeom prst="roundRect">
            <a:avLst>
              <a:gd name="adj" fmla="val 4348"/>
            </a:avLst>
          </a:prstGeom>
          <a:solidFill>
            <a:schemeClr val="tx2"/>
          </a:solidFill>
          <a:ln w="9525">
            <a:solidFill>
              <a:schemeClr val="accent5">
                <a:alpha val="50000"/>
              </a:schemeClr>
            </a:solidFill>
            <a:prstDash val="solid"/>
          </a:ln>
        </p:spPr>
      </p:sp>
      <p:sp>
        <p:nvSpPr>
          <p:cNvPr id="20" name="Escalable círculo"/>
          <p:cNvSpPr/>
          <p:nvPr/>
        </p:nvSpPr>
        <p:spPr>
          <a:xfrm>
            <a:off x="9226296" y="2103120"/>
            <a:ext cx="566928" cy="566928"/>
          </a:xfrm>
          <a:prstGeom prst="ellipse">
            <a:avLst/>
          </a:prstGeom>
          <a:solidFill>
            <a:schemeClr val="accent1"/>
          </a:solidFill>
          <a:ln/>
        </p:spPr>
      </p:sp>
      <p:pic>
        <p:nvPicPr>
          <p:cNvPr id="21" name="Escalable ícono" descr="preencoded.png">    </p:cNvPr>
          <p:cNvPicPr>
            <a:picLocks noChangeAspect="1"/>
          </p:cNvPicPr>
          <p:nvPr/>
        </p:nvPicPr>
        <p:blipFill>
          <a:blip r:embed="rId4"/>
          <a:stretch>
            <a:fillRect/>
          </a:stretch>
        </p:blipFill>
        <p:spPr>
          <a:xfrm>
            <a:off x="9351020" y="2227844"/>
            <a:ext cx="317480" cy="317480"/>
          </a:xfrm>
          <a:prstGeom prst="rect">
            <a:avLst/>
          </a:prstGeom>
        </p:spPr>
      </p:pic>
      <p:sp>
        <p:nvSpPr>
          <p:cNvPr id="22" name="Text 16"/>
          <p:cNvSpPr txBox="1"/>
          <p:nvPr/>
        </p:nvSpPr>
        <p:spPr>
          <a:xfrm>
            <a:off x="9226296" y="2788920"/>
            <a:ext cx="2240280" cy="347472"/>
          </a:xfrm>
          <a:prstGeom prst="rect">
            <a:avLst/>
          </a:prstGeom>
          <a:noFill/>
          <a:ln/>
        </p:spPr>
        <p:txBody>
          <a:bodyPr wrap="square" lIns="0" tIns="0" rIns="0" bIns="0" rtlCol="0" anchor="ctr"/>
          <a:lstStyle/>
          <a:p>
            <a:pPr indent="0" marL="0">
              <a:buNone/>
            </a:pPr>
            <a:r>
              <a:rPr lang="en-US" sz="1600" b="1" dirty="0">
                <a:solidFill>
                  <a:schemeClr val="bg1"/>
                </a:solidFill>
              </a:rPr>
              <a:t>Escalable</a:t>
            </a:r>
            <a:endParaRPr lang="en-US" sz="1600" dirty="0"/>
          </a:p>
        </p:txBody>
      </p:sp>
      <p:sp>
        <p:nvSpPr>
          <p:cNvPr id="23" name="Text 17"/>
          <p:cNvSpPr txBox="1"/>
          <p:nvPr/>
        </p:nvSpPr>
        <p:spPr>
          <a:xfrm>
            <a:off x="9226296" y="3154680"/>
            <a:ext cx="2240280" cy="731520"/>
          </a:xfrm>
          <a:prstGeom prst="rect">
            <a:avLst/>
          </a:prstGeom>
          <a:noFill/>
          <a:ln/>
        </p:spPr>
        <p:txBody>
          <a:bodyPr wrap="square" lIns="0" tIns="0" rIns="0" bIns="0" rtlCol="0" anchor="t"/>
          <a:lstStyle/>
          <a:p>
            <a:pPr indent="0" marL="0">
              <a:buNone/>
            </a:pPr>
            <a:r>
              <a:rPr lang="en-US" sz="1200" dirty="0">
                <a:solidFill>
                  <a:schemeClr val="bg2"/>
                </a:solidFill>
              </a:rPr>
              <a:t>El mismo esquema sirve para hipertensión, enfermedad renal y más</a:t>
            </a:r>
            <a:endParaRPr lang="en-US" sz="1200" dirty="0"/>
          </a:p>
        </p:txBody>
      </p:sp>
      <p:sp>
        <p:nvSpPr>
          <p:cNvPr id="24" name="Text 18"/>
          <p:cNvSpPr txBox="1"/>
          <p:nvPr/>
        </p:nvSpPr>
        <p:spPr>
          <a:xfrm>
            <a:off x="548640" y="4206240"/>
            <a:ext cx="11091672" cy="640080"/>
          </a:xfrm>
          <a:prstGeom prst="rect">
            <a:avLst/>
          </a:prstGeom>
          <a:noFill/>
          <a:ln/>
        </p:spPr>
        <p:txBody>
          <a:bodyPr wrap="square" lIns="0" tIns="0" rIns="0" bIns="0" rtlCol="0" anchor="ctr"/>
          <a:lstStyle/>
          <a:p>
            <a:pPr indent="0" marL="0">
              <a:buNone/>
            </a:pPr>
            <a:r>
              <a:rPr lang="en-US" sz="3200" b="1" dirty="0">
                <a:solidFill>
                  <a:schemeClr val="bg1"/>
                </a:solidFill>
              </a:rPr>
              <a:t>La IA ve el riesgo. </a:t>
            </a:r>
            <a:pPr indent="0" marL="0">
              <a:buNone/>
            </a:pPr>
            <a:r>
              <a:rPr lang="en-US" sz="3200" b="1" dirty="0">
                <a:solidFill>
                  <a:schemeClr val="accent5"/>
                </a:solidFill>
              </a:rPr>
              <a:t>Nadie ve al paciente.</a:t>
            </a:r>
            <a:endParaRPr lang="en-US" sz="3200" dirty="0"/>
          </a:p>
        </p:txBody>
      </p:sp>
      <p:pic>
        <p:nvPicPr>
          <p:cNvPr id="25" name="Logo del equipo" descr="/private/tmp/claude-501/-Users-haowei-Documents-Antimarrulla/5372125f-ee1a-4aa0-8aef-43e32d332201/scratchpad/dx/logo.png">    </p:cNvPr>
          <p:cNvPicPr>
            <a:picLocks noChangeAspect="1"/>
          </p:cNvPicPr>
          <p:nvPr/>
        </p:nvPicPr>
        <p:blipFill>
          <a:blip r:embed="rId5"/>
          <a:stretch>
            <a:fillRect/>
          </a:stretch>
        </p:blipFill>
        <p:spPr>
          <a:xfrm>
            <a:off x="548640" y="4983480"/>
            <a:ext cx="1097280" cy="1097280"/>
          </a:xfrm>
          <a:prstGeom prst="rect">
            <a:avLst/>
          </a:prstGeom>
        </p:spPr>
      </p:pic>
      <p:sp>
        <p:nvSpPr>
          <p:cNvPr id="26" name="Text 19"/>
          <p:cNvSpPr txBox="1"/>
          <p:nvPr/>
        </p:nvSpPr>
        <p:spPr>
          <a:xfrm>
            <a:off x="1828800" y="5029200"/>
            <a:ext cx="6400800" cy="1005840"/>
          </a:xfrm>
          <a:prstGeom prst="rect">
            <a:avLst/>
          </a:prstGeom>
          <a:noFill/>
          <a:ln/>
        </p:spPr>
        <p:txBody>
          <a:bodyPr wrap="square" lIns="0" tIns="0" rIns="0" bIns="0" rtlCol="0" anchor="ctr"/>
          <a:lstStyle/>
          <a:p>
            <a:pPr indent="0" marL="0">
              <a:spcAft>
                <a:spcPts val="300"/>
              </a:spcAft>
              <a:buNone/>
            </a:pPr>
            <a:r>
              <a:rPr lang="en-US" sz="1600" b="1" dirty="0">
                <a:solidFill>
                  <a:schemeClr val="bg1"/>
                </a:solidFill>
              </a:rPr>
              <a:t>Los Antimarrulla · UACJ · MIAAD</a:t>
            </a:r>
            <a:endParaRPr lang="en-US" sz="1400" dirty="0"/>
          </a:p>
          <a:p>
            <a:pPr indent="0" marL="0">
              <a:spcAft>
                <a:spcPts val="300"/>
              </a:spcAft>
              <a:buNone/>
            </a:pPr>
            <a:r>
              <a:rPr lang="en-US" sz="1200" i="1" dirty="0">
                <a:solidFill>
                  <a:schemeClr val="bg2"/>
                </a:solidFill>
              </a:rPr>
              <a:t>Combatimos la flojera y la procrastinación</a:t>
            </a:r>
            <a:endParaRPr lang="en-US" sz="1400" dirty="0"/>
          </a:p>
          <a:p>
            <a:pPr indent="0" marL="0">
              <a:spcAft>
                <a:spcPts val="300"/>
              </a:spcAft>
              <a:buNone/>
            </a:pPr>
            <a:r>
              <a:rPr lang="en-US" sz="1200" u="sng" dirty="0">
                <a:solidFill>
                  <a:schemeClr val="accent5"/>
                </a:solidFill>
                <a:hlinkClick r:id="rId6" invalidUrl="" action="" tgtFrame="" tooltip="" history="1" highlightClick="0" endSnd="0">
                  <a:extLst>
                    <a:ext uri="{A12FA001-AC4F-418D-AE19-62706E023703}">
                      <ahyp:hlinkClr xmlns:ahyp="http://schemas.microsoft.com/office/drawing/2018/hyperlinkcolor" val="tx"/>
                    </a:ext>
                  </a:extLst>
                </a:hlinkClick>
              </a:rPr>
              <a:t>github.com/UACJ-MIAAD/antimarrulla-ibmz-datathon-2026</a:t>
            </a:r>
            <a:endParaRPr lang="en-US" sz="1400" dirty="0"/>
          </a:p>
        </p:txBody>
      </p:sp>
      <p:sp>
        <p:nvSpPr>
          <p:cNvPr id="27" name="Text 20"/>
          <p:cNvSpPr txBox="1"/>
          <p:nvPr/>
        </p:nvSpPr>
        <p:spPr>
          <a:xfrm>
            <a:off x="8503920" y="5029200"/>
            <a:ext cx="3136392" cy="731520"/>
          </a:xfrm>
          <a:prstGeom prst="rect">
            <a:avLst/>
          </a:prstGeom>
          <a:noFill/>
          <a:ln/>
        </p:spPr>
        <p:txBody>
          <a:bodyPr wrap="square" lIns="0" tIns="0" rIns="0" bIns="0" rtlCol="0" anchor="ctr"/>
          <a:lstStyle/>
          <a:p>
            <a:pPr algn="r" indent="0" marL="0">
              <a:buNone/>
            </a:pPr>
            <a:r>
              <a:rPr lang="en-US" sz="4400" b="1" dirty="0">
                <a:solidFill>
                  <a:schemeClr val="bg1"/>
                </a:solidFill>
              </a:rPr>
              <a:t>Gracias</a:t>
            </a:r>
            <a:endParaRPr lang="en-US" sz="4400" dirty="0"/>
          </a:p>
        </p:txBody>
      </p:sp>
      <p:sp>
        <p:nvSpPr>
          <p:cNvPr id="28" name="Text 21"/>
          <p:cNvSpPr txBox="1"/>
          <p:nvPr/>
        </p:nvSpPr>
        <p:spPr>
          <a:xfrm>
            <a:off x="7315200" y="5760720"/>
            <a:ext cx="4325112" cy="274320"/>
          </a:xfrm>
          <a:prstGeom prst="rect">
            <a:avLst/>
          </a:prstGeom>
          <a:noFill/>
          <a:ln/>
        </p:spPr>
        <p:txBody>
          <a:bodyPr wrap="square" lIns="0" tIns="0" rIns="0" bIns="0" rtlCol="0" anchor="t"/>
          <a:lstStyle/>
          <a:p>
            <a:pPr algn="r" indent="0" marL="0">
              <a:buNone/>
            </a:pPr>
            <a:r>
              <a:rPr lang="en-US" sz="1000" dirty="0">
                <a:solidFill>
                  <a:schemeClr val="bg2"/>
                </a:solidFill>
              </a:rPr>
              <a:t>Herramienta de tamizaje: no sustituye el diagnóstico médico.</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Antimarrulla Tamizaje">
  <a:themeElements>
    <a:clrScheme name="Antimarrulla Tamizaje">
      <a:dk1>
        <a:srgbClr val="0E0E13"/>
      </a:dk1>
      <a:lt1>
        <a:srgbClr val="FFFFFF"/>
      </a:lt1>
      <a:dk2>
        <a:srgbClr val="1A1A24"/>
      </a:dk2>
      <a:lt2>
        <a:srgbClr val="E0E0E0"/>
      </a:lt2>
      <a:accent1>
        <a:srgbClr val="0F62FE"/>
      </a:accent1>
      <a:accent2>
        <a:srgbClr val="24A148"/>
      </a:accent2>
      <a:accent3>
        <a:srgbClr val="FA4D56"/>
      </a:accent3>
      <a:accent4>
        <a:srgbClr val="F1C21B"/>
      </a:accent4>
      <a:accent5>
        <a:srgbClr val="78A9FF"/>
      </a:accent5>
      <a:accent6>
        <a:srgbClr val="8D8D8D"/>
      </a:accent6>
      <a:hlink>
        <a:srgbClr val="78A9FF"/>
      </a:hlink>
      <a:folHlink>
        <a:srgbClr val="A6C8FF"/>
      </a:folHlink>
    </a:clrScheme>
    <a:fontScheme name="Antimarrulla Tamizaj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UACJ MIAAD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Los Antimarrulla · Tamizaje a ciegas</dc:title>
  <dc:subject>PptxGenJS Presentation</dc:subject>
  <dc:creator>Los Antimarrulla</dc:creator>
  <cp:lastModifiedBy>Los Antimarrulla</cp:lastModifiedBy>
  <cp:revision>1</cp:revision>
  <dcterms:created xsi:type="dcterms:W3CDTF">2026-10-17T08:55:59Z</dcterms:created>
  <dcterms:modified xsi:type="dcterms:W3CDTF">2026-10-17T08:55:59Z</dcterms:modified>
</cp:coreProperties>
</file>