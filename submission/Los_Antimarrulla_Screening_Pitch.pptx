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slide10.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4d76fd5ce548dc" /><Relationship Type="http://schemas.openxmlformats.org/officeDocument/2006/relationships/extended-properties" Target="/docProps/app.xml" Id="R430f25a14bc64f0c" /><Relationship Type="http://schemas.openxmlformats.org/officeDocument/2006/relationships/officeDocument" Target="/ppt/presentation.xml" Id="R61ba1325878f4cb6" /></Relationships>
</file>

<file path=ppt/presentation.xml><?xml version="1.0" encoding="utf-8"?>
<p:presentation xmlns:p="http://schemas.openxmlformats.org/presentationml/2006/main">
  <p:sldMasterIdLst>
    <p:sldMasterId xmlns:r="http://schemas.openxmlformats.org/officeDocument/2006/relationships" id="2147483648" r:id="Ra2e6c43658524f7e"/>
  </p:sldMasterIdLst>
  <p:notesMasterIdLst>
    <p:notesMasterId xmlns:r="http://schemas.openxmlformats.org/officeDocument/2006/relationships" r:id="R4c568041e2d44577"/>
  </p:notesMasterIdLst>
  <p:sldIdLst>
    <p:sldId xmlns:r="http://schemas.openxmlformats.org/officeDocument/2006/relationships" id="256" r:id="R4c41c8e1b7ab43c5"/>
    <p:sldId xmlns:r="http://schemas.openxmlformats.org/officeDocument/2006/relationships" id="257" r:id="Ra7d9efd6d2a74074"/>
    <p:sldId xmlns:r="http://schemas.openxmlformats.org/officeDocument/2006/relationships" id="258" r:id="Rfbba6f04b4dc4609"/>
    <p:sldId xmlns:r="http://schemas.openxmlformats.org/officeDocument/2006/relationships" id="259" r:id="Rcd2f9dc96dea46af"/>
    <p:sldId xmlns:r="http://schemas.openxmlformats.org/officeDocument/2006/relationships" id="260" r:id="Rcf00226a3c514bd1"/>
    <p:sldId xmlns:r="http://schemas.openxmlformats.org/officeDocument/2006/relationships" id="261" r:id="R3ea4778ff67e4564"/>
    <p:sldId xmlns:r="http://schemas.openxmlformats.org/officeDocument/2006/relationships" id="262" r:id="Rd97f4c489e4a41b4"/>
    <p:sldId xmlns:r="http://schemas.openxmlformats.org/officeDocument/2006/relationships" id="264" r:id="rId1"/>
    <p:sldId xmlns:r="http://schemas.openxmlformats.org/officeDocument/2006/relationships" id="265" r:id="rId2"/>
    <p:sldId xmlns:r="http://schemas.openxmlformats.org/officeDocument/2006/relationships" id="263" r:id="R4a979595fb78475e"/>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fe6868e9331485c" /><Relationship Type="http://schemas.openxmlformats.org/officeDocument/2006/relationships/slideMaster" Target="/ppt/slideMasters/slideMaster1.xml" Id="Ra2e6c43658524f7e" /><Relationship Type="http://schemas.openxmlformats.org/officeDocument/2006/relationships/notesMaster" Target="/ppt/notesMasters/notesMaster1.xml" Id="R4c568041e2d44577" /><Relationship Type="http://schemas.openxmlformats.org/officeDocument/2006/relationships/presProps" Target="/ppt/presProps.xml" Id="R270eec203f9b4e70" /><Relationship Type="http://schemas.openxmlformats.org/officeDocument/2006/relationships/viewProps" Target="/ppt/viewProps.xml" Id="R3ef5ed28ea7c4dde" /><Relationship Type="http://schemas.openxmlformats.org/officeDocument/2006/relationships/tableStyles" Target="/ppt/tableStyles.xml" Id="Ree65c7d1cb66454e" /><Relationship Type="http://schemas.openxmlformats.org/officeDocument/2006/relationships/slide" Target="/ppt/slides/slide1.xml" Id="R4c41c8e1b7ab43c5" /><Relationship Type="http://schemas.openxmlformats.org/officeDocument/2006/relationships/slide" Target="/ppt/slides/slide2.xml" Id="Ra7d9efd6d2a74074" /><Relationship Type="http://schemas.openxmlformats.org/officeDocument/2006/relationships/slide" Target="/ppt/slides/slide3.xml" Id="Rfbba6f04b4dc4609" /><Relationship Type="http://schemas.openxmlformats.org/officeDocument/2006/relationships/slide" Target="/ppt/slides/slide4.xml" Id="Rcd2f9dc96dea46af" /><Relationship Type="http://schemas.openxmlformats.org/officeDocument/2006/relationships/slide" Target="/ppt/slides/slide5.xml" Id="Rcf00226a3c514bd1" /><Relationship Type="http://schemas.openxmlformats.org/officeDocument/2006/relationships/slide" Target="/ppt/slides/slide6.xml" Id="R3ea4778ff67e4564" /><Relationship Type="http://schemas.openxmlformats.org/officeDocument/2006/relationships/slide" Target="/ppt/slides/slide7.xml" Id="Rd97f4c489e4a41b4" /><Relationship Type="http://schemas.openxmlformats.org/officeDocument/2006/relationships/slide" Target="/ppt/slides/slide8.xml" Id="R4a979595fb78475e" />  <Relationship Id="rId1" Type="http://schemas.openxmlformats.org/officeDocument/2006/relationships/slide" Target="slides/slide9.xml"/>
  <Relationship Id="rId2" Type="http://schemas.openxmlformats.org/officeDocument/2006/relationships/slide" Target="slides/slide10.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b48934d43d4d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Antimarrulla Tamizaje">
  <a:themeElements>
    <a:clrScheme name="Antimarrulla Tamizaje">
      <a:dk1>
        <a:srgbClr val="0E0E13"/>
      </a:dk1>
      <a:lt1>
        <a:srgbClr val="FFFFFF"/>
      </a:lt1>
      <a:dk2>
        <a:srgbClr val="1A1A24"/>
      </a:dk2>
      <a:lt2>
        <a:srgbClr val="E0E0E0"/>
      </a:lt2>
      <a:accent1>
        <a:srgbClr val="0F62FE"/>
      </a:accent1>
      <a:accent2>
        <a:srgbClr val="24A148"/>
      </a:accent2>
      <a:accent3>
        <a:srgbClr val="FA4D56"/>
      </a:accent3>
      <a:accent4>
        <a:srgbClr val="F1C21B"/>
      </a:accent4>
      <a:accent5>
        <a:srgbClr val="78A9FF"/>
      </a:accent5>
      <a:accent6>
        <a:srgbClr val="8D8D8D"/>
      </a:accent6>
      <a:hlink>
        <a:srgbClr val="78A9FF"/>
      </a:hlink>
      <a:folHlink>
        <a:srgbClr val="A6C8FF"/>
      </a:folHlink>
    </a:clrScheme>
    <a:fontScheme name="Antimarrulla Tamizaj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ntimarrulla Tamizaj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e25bdc26544ed8" /><Relationship Type="http://schemas.openxmlformats.org/officeDocument/2006/relationships/notesMaster" Target="/ppt/notesMasters/notesMaster1.xml" Id="Rd995fe7518be45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dbe2cdbd94558" /><Relationship Type="http://schemas.openxmlformats.org/officeDocument/2006/relationships/notesMaster" Target="/ppt/notesMasters/notesMaster1.xml" Id="Rbe4a4e50b2e046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1060b13806470c" /><Relationship Type="http://schemas.openxmlformats.org/officeDocument/2006/relationships/notesMaster" Target="/ppt/notesMasters/notesMaster1.xml" Id="Rc71513df1f234f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3a832ab56a4e2e" /><Relationship Type="http://schemas.openxmlformats.org/officeDocument/2006/relationships/notesMaster" Target="/ppt/notesMasters/notesMaster1.xml" Id="Rb98db808c78b46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eedeaac8e94cca" /><Relationship Type="http://schemas.openxmlformats.org/officeDocument/2006/relationships/notesMaster" Target="/ppt/notesMasters/notesMaster1.xml" Id="R80e1fda33a5e45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a1e2c130bf408a" /><Relationship Type="http://schemas.openxmlformats.org/officeDocument/2006/relationships/notesMaster" Target="/ppt/notesMasters/notesMaster1.xml" Id="R4f6572a6f8844e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eab90073034d46" /><Relationship Type="http://schemas.openxmlformats.org/officeDocument/2006/relationships/notesMaster" Target="/ppt/notesMasters/notesMaster1.xml" Id="R7e2458077a114e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828b1d8e3a4c16" /><Relationship Type="http://schemas.openxmlformats.org/officeDocument/2006/relationships/notesMaster" Target="/ppt/notesMasters/notesMaster1.xml" Id="Rd615c02c556c47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a1e2c130bf408a" /><Relationship Type="http://schemas.openxmlformats.org/officeDocument/2006/relationships/notesMaster" Target="/ppt/notesMasters/notesMaster1.xml" Id="R4f6572a6f8844e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a1e2c130bf408a" /><Relationship Type="http://schemas.openxmlformats.org/officeDocument/2006/relationships/notesMaster" Target="/ppt/notesMasters/notesMaster1.xml" Id="R4f6572a6f8844e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Los Antimarrulla from UACJ. Our project estimates diabetes risk from encrypted inputs. The risk service receives ciphertexts only. Local execution is verified; LinuxONE evidence remains pending. Theme 2: AI Secured.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Mexico, 18.3% of adults live with diabetes; around one in three people with diabetes are unaware of it. In 2024, 112,577 deaths were attributed to diabetes. We explore whether an external risk service can evaluate encrypted inputs without receiving readable patient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hospital encrypts the 19 indicators and retains the private key. The service evaluates ciphertexts. Only the hospital decrypts and displays the risk and feature contributions. This is screening support, not diagnosis. The same-VM administrator remains trusted; demonstration patients are synthetic.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Paillier multiplies ciphertexts to add their plaintext values and raises ciphertexts to integer powers to multiply those values. This produces the model score without service-side decryption. Mutual TLS 1.3 protects transport; AES-256-GCM protects vault records. Capture LinuxONE/OpenSSL evidence before making any hardware-acceleration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VM terminal only after running the release on it: docs/LINUXONE.md. Capture uname -m, lscpu, provider dashboard, OpenSSL versions and both containers. The hospital owns the Paillier private key and AES vault; the service has no Paillier private key. The planned demo shares a trusted VM. CPACF support does not establish measured acceleration of Paillier.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19-feature model logistic-cdc19-v1 was measured at clean commit be9b27e. All 2,000 stratified CDC decrypted integers matched the fixed-point reference, and all three ROC-AUC values were 0.806525. A separate 200-request synthetic benchmark against two local Docker containers matched every expected integer, with client p50 114.8 ms and p95 118.2 ms; requests carry 19 ciphertexts (24.3 KB). The UI screenshot is actual local execution of synthetic profile C (63.3%). These results do not establish LinuxONE execution. Evidence: submission/evidence/metrics/measurement_process_local-darwin-arm64_20261018T030142Z.json and measurement_api_local-darwin-arm64_20261018T030546Z.json.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public-data model reaches test AUC 0.825 and sensitivity 0.807 with 19 features (Education and Income removed) at a validation-selected threshold. This predicts the survey label, not future diabetes or mortality. A separate reduced model evaluated on ENSANUT reaches AUC around 0.77 and underestimates risk; it does not validate the MVP for Mexican clinical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aim to support earlier screening without sharing readable patient records with the risk service. The hospital retains decryption and clinical interpretation. AI sees the risk; the service receives ciphertexts only. Thank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E5, unencrypted public aggregates. Weekly SINAVE-notified type 1 and type 2 diabetes cases for 222 series: national, four regions and 32 states, by men, women and all. Each series uses damped ETS or seasonal naive, chosen on rolling origins, then reconciled top-down. A separate nested evaluation over weeks 12 to 63 gives SMAPE about 13% nationally, 25% by region and 60% by state, where sparse type 1 series dominate. Nominal 80% bands cover about 64% in practice, so they stay exploratory. Budgets appear only when a user enters a sourced unit cost. Forecasting has not been run on LinuxONE. Dashboard: antimarrulla-tamizaje.netlify.app/forecast.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stated as a plan. October 2026: the encrypted screening MVP, with LinuxONE evidence runs recorded by make evidence-run (profiles 20, 200, 2,000 and 16,000) and validated in CI. Q1 2027: recalibrate on Mexican data, because the reduced ENSANUT experiment underestimated risk, and benchmark s390x at scale. Q2 2027: a hospital pilot with the hospital container on site and the risk service on LinuxONE. Q4 2027: CKKS for non-linear models, Granite explanations on the hospital side and forecasts on LinuxONE. Clinical validation, legal and privacy review and a security audit are gates before any clinical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55eab696844d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5d3fa6602b4864" /><Relationship Type="http://schemas.openxmlformats.org/officeDocument/2006/relationships/image" Target="/ppt/media/image.png" Id="R9d51ad565b834e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822ab470044386" /><Relationship Type="http://schemas.openxmlformats.org/officeDocument/2006/relationships/image" Target="/ppt/media/image2.png" Id="R210abae570ab42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6603b017dc49fe" /><Relationship Type="http://schemas.openxmlformats.org/officeDocument/2006/relationships/image" Target="/ppt/media/image3.png" Id="R6f66afe1dc5e4ee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PORTADA">
    <p:bg>
      <p:bgPr>
        <a:blipFill xmlns:a="http://schemas.openxmlformats.org/drawingml/2006/main" rotWithShape="1">
          <a:blip xmlns:r="http://schemas.openxmlformats.org/officeDocument/2006/relationships" r:embed="R9d51ad565b834e14">
            <a:lum/>
          </a:blip>
          <a:srcRect l="0" t="0" r="0" b="0"/>
          <a:stretch>
            <a:fillRect l="0" t="0" r="0" b="0"/>
          </a:stretch>
        </a:blip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8323EAB-1F9B-4544-B0ED-02481CFA7874}"/>
              </a:ext>
            </a:extLst>
          </p:cNvPr>
          <p:cNvSpPr>
            <a:spLocks xmlns:a="http://schemas.openxmlformats.org/drawingml/2006/main" noGrp="1"/>
          </p:cNvSpPr>
          <p:nvPr>
            <p:ph type="title" idx="100" hasCustomPrompt="1"/>
          </p:nvPr>
        </p:nvSpPr>
        <p:spPr>
          <a:xfrm xmlns:a="http://schemas.openxmlformats.org/drawingml/2006/main">
            <a:off x="640080" y="1783080"/>
            <a:ext cx="6949440" cy="11430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6000" b="1">
                <a:solidFill>
                  <a:schemeClr val="bg1"/>
                </a:solidFill>
              </a:defRPr>
            </a:lvl1pPr>
          </a:lstStyle>
          <a:p xmlns:a="http://schemas.openxmlformats.org/drawingml/2006/main">
            <a:pPr marL="0" indent="0" algn="l">
              <a:buNone/>
            </a:pPr>
            <a:endParaRPr sz="6000"/>
          </a:p>
        </p:txBody>
      </p:sp>
      <p:sp>
        <p:nvSpPr>
          <p:cNvPr id="3" name="Text 0">
            <a:extLst xmlns:a="http://schemas.openxmlformats.org/drawingml/2006/main">
              <a:ext uri="{FF2B5EF4-FFF2-40B4-BE49-F238E27FC236}">
                <a16:creationId xmlns:a16="http://schemas.microsoft.com/office/drawing/2014/main" id="{A61F4A9B-920B-42B8-8460-74E5D85E50AF}"/>
              </a:ext>
            </a:extLst>
          </p:cNvPr>
          <p:cNvSpPr>
            <a:spLocks xmlns:a="http://schemas.openxmlformats.org/drawingml/2006/main" noGrp="1"/>
          </p:cNvSpPr>
          <p:nvPr>
            <p:ph type="body" idx="101" hasCustomPrompt="1"/>
          </p:nvPr>
        </p:nvSpPr>
        <p:spPr>
          <a:xfrm xmlns:a="http://schemas.openxmlformats.org/drawingml/2006/main">
            <a:off x="640080" y="2971800"/>
            <a:ext cx="6583680" cy="594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a:solidFill>
                  <a:schemeClr val="bg2"/>
                </a:solidFill>
              </a:defRPr>
            </a:lvl1pPr>
          </a:lstStyle>
          <a:p xmlns:a="http://schemas.openxmlformats.org/drawingml/2006/main">
            <a:pPr marL="0" indent="0" algn="l">
              <a:buNone/>
            </a:pPr>
            <a:endParaRPr sz="3000"/>
          </a:p>
        </p:txBody>
      </p:sp>
    </p:spTree>
  </p:cSld>
</p:sldLayout>
</file>

<file path=ppt/slideLayouts/slideLayout3.xml><?xml version="1.0" encoding="utf-8"?>
<p:sldLayout xmlns:p="http://schemas.openxmlformats.org/presentationml/2006/main" preserve="1">
  <p:cSld name="CONTENIDO">
    <p:bg>
      <p:bgPr>
        <a:blipFill xmlns:a="http://schemas.openxmlformats.org/drawingml/2006/main" rotWithShape="1">
          <a:blip xmlns:r="http://schemas.openxmlformats.org/officeDocument/2006/relationships" r:embed="R210abae570ab42a5">
            <a:lum/>
          </a:blip>
          <a:srcRect l="0" t="0" r="0" b="0"/>
          <a:stretch>
            <a:fillRect l="0" t="0" r="0" b="0"/>
          </a:stretch>
        </a:blip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FF95363-BE24-47C4-9001-84FED88AE224}"/>
              </a:ext>
            </a:extLst>
          </p:cNvPr>
          <p:cNvSpPr>
            <a:spLocks xmlns:a="http://schemas.openxmlformats.org/drawingml/2006/main" noGrp="1"/>
          </p:cNvSpPr>
          <p:nvPr/>
        </p:nvSpPr>
        <p:spPr>
          <a:xfrm xmlns:a="http://schemas.openxmlformats.org/drawingml/2006/main">
            <a:off x="548640" y="512064"/>
            <a:ext cx="118872" cy="118872"/>
          </a:xfrm>
          <a:prstGeom xmlns:a="http://schemas.openxmlformats.org/drawingml/2006/main" prst="rect">
            <a:avLst/>
          </a:prstGeom>
          <a:solidFill xmlns:a="http://schemas.openxmlformats.org/drawingml/2006/main">
            <a:schemeClr val="accent1"/>
          </a:solidFill>
        </p:spPr>
      </p:sp>
      <p:sp>
        <p:nvSpPr>
          <p:cNvPr id="3" name="Text 1">
            <a:extLst xmlns:a="http://schemas.openxmlformats.org/drawingml/2006/main">
              <a:ext uri="{FF2B5EF4-FFF2-40B4-BE49-F238E27FC236}">
                <a16:creationId xmlns:a16="http://schemas.microsoft.com/office/drawing/2014/main" id="{7EBCE71C-82D9-4FB8-9E63-17DFAE54D2ED}"/>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1200" b="1" kern="0" spc="200">
                <a:solidFill>
                  <a:schemeClr val="accent5"/>
                </a:solidFill>
              </a:defRPr>
            </a:lvl1pPr>
          </a:lstStyle>
          <a:p xmlns:a="http://schemas.openxmlformats.org/drawingml/2006/main">
            <a:pPr marL="0" indent="0">
              <a:buNone/>
            </a:pPr>
            <a:endParaRPr sz="1200"/>
          </a:p>
        </p:txBody>
      </p:sp>
      <p:sp>
        <p:nvSpPr>
          <p:cNvPr id="4" name="Text 1">
            <a:extLst xmlns:a="http://schemas.openxmlformats.org/drawingml/2006/main">
              <a:ext uri="{FF2B5EF4-FFF2-40B4-BE49-F238E27FC236}">
                <a16:creationId xmlns:a16="http://schemas.microsoft.com/office/drawing/2014/main" id="{669C008B-F3AC-4C81-8EA6-7FF3E879D49D}"/>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bg1"/>
                </a:solidFill>
              </a:defRPr>
            </a:lvl1pPr>
          </a:lstStyle>
          <a:p xmlns:a="http://schemas.openxmlformats.org/drawingml/2006/main">
            <a:pPr marL="0" indent="0" algn="l">
              <a:buNone/>
            </a:pPr>
            <a:endParaRPr sz="3000"/>
          </a:p>
        </p:txBody>
      </p:sp>
      <p:sp>
        <p:nvSpPr>
          <p:cNvPr id="5" name="Text 1">
            <a:extLst xmlns:a="http://schemas.openxmlformats.org/drawingml/2006/main">
              <a:ext uri="{FF2B5EF4-FFF2-40B4-BE49-F238E27FC236}">
                <a16:creationId xmlns:a16="http://schemas.microsoft.com/office/drawing/2014/main" id="{BB94CDB0-2BC8-49E6-8B55-9339D233D743}"/>
              </a:ext>
            </a:extLst>
          </p:cNvPr>
          <p:cNvSpPr>
            <a:spLocks xmlns:a="http://schemas.openxmlformats.org/drawingml/2006/main" noGrp="1"/>
          </p:cNvSpPr>
          <p:nvPr/>
        </p:nvSpPr>
        <p:spPr>
          <a:xfrm xmlns:a="http://schemas.openxmlformats.org/drawingml/2006/main">
            <a:off x="548640" y="640080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chemeClr val="accent6"/>
                </a:solidFill>
              </a:rPr>
              <a:t>Los Antimarrulla · Privacy-preserving screening · IBM Z Datathon 2026</a:t>
            </a:r>
            <a:endParaRPr sz="900"/>
          </a:p>
        </p:txBody>
      </p:sp>
      <p:sp>
        <p:nvSpPr>
          <p:cNvPr id="25" name="Slide Number Placeholder 0">
            <a:extLst xmlns:a="http://schemas.openxmlformats.org/drawingml/2006/main">
              <a:ext uri="{FF2B5EF4-FFF2-40B4-BE49-F238E27FC236}">
                <a16:creationId xmlns:a16="http://schemas.microsoft.com/office/drawing/2014/main" id="{5AF6647D-7484-4510-AD8A-99AED1492A80}"/>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CIERRE">
    <p:bg>
      <p:bgPr>
        <a:blipFill xmlns:a="http://schemas.openxmlformats.org/drawingml/2006/main" rotWithShape="1">
          <a:blip xmlns:r="http://schemas.openxmlformats.org/officeDocument/2006/relationships" r:embed="R6f66afe1dc5e4ee4">
            <a:lum/>
          </a:blip>
          <a:srcRect l="0" t="0" r="0" b="0"/>
          <a:stretch>
            <a:fillRect l="0" t="0" r="0" b="0"/>
          </a:stretch>
        </a:blip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0C98FF5-1F9A-4D9D-9442-F97577DC02A2}"/>
              </a:ext>
            </a:extLst>
          </p:cNvPr>
          <p:cNvSpPr>
            <a:spLocks xmlns:a="http://schemas.openxmlformats.org/drawingml/2006/main" noGrp="1"/>
          </p:cNvSpPr>
          <p:nvPr/>
        </p:nvSpPr>
        <p:spPr>
          <a:xfrm xmlns:a="http://schemas.openxmlformats.org/drawingml/2006/main">
            <a:off x="548640" y="512064"/>
            <a:ext cx="118872" cy="118872"/>
          </a:xfrm>
          <a:prstGeom xmlns:a="http://schemas.openxmlformats.org/drawingml/2006/main" prst="rect">
            <a:avLst/>
          </a:prstGeom>
          <a:solidFill xmlns:a="http://schemas.openxmlformats.org/drawingml/2006/main">
            <a:schemeClr val="accent1"/>
          </a:solidFill>
        </p:spPr>
      </p:sp>
      <p:sp>
        <p:nvSpPr>
          <p:cNvPr id="3" name="Text 1">
            <a:extLst xmlns:a="http://schemas.openxmlformats.org/drawingml/2006/main">
              <a:ext uri="{FF2B5EF4-FFF2-40B4-BE49-F238E27FC236}">
                <a16:creationId xmlns:a16="http://schemas.microsoft.com/office/drawing/2014/main" id="{2030B3CB-AA7B-4DAE-B5D0-1B158D5E19D7}"/>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1200" b="1" kern="0" spc="200">
                <a:solidFill>
                  <a:schemeClr val="accent5"/>
                </a:solidFill>
              </a:defRPr>
            </a:lvl1pPr>
          </a:lstStyle>
          <a:p xmlns:a="http://schemas.openxmlformats.org/drawingml/2006/main">
            <a:pPr marL="0" indent="0">
              <a:buNone/>
            </a:pPr>
            <a:endParaRPr sz="1200"/>
          </a:p>
        </p:txBody>
      </p:sp>
      <p:sp>
        <p:nvSpPr>
          <p:cNvPr id="4" name="Text 1">
            <a:extLst xmlns:a="http://schemas.openxmlformats.org/drawingml/2006/main">
              <a:ext uri="{FF2B5EF4-FFF2-40B4-BE49-F238E27FC236}">
                <a16:creationId xmlns:a16="http://schemas.microsoft.com/office/drawing/2014/main" id="{85B631A5-BE46-4707-A52B-F24E706D0885}"/>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bg1"/>
                </a:solidFill>
              </a:defRPr>
            </a:lvl1pPr>
          </a:lstStyle>
          <a:p xmlns:a="http://schemas.openxmlformats.org/drawingml/2006/main">
            <a:pPr marL="0" indent="0" algn="l">
              <a:buNone/>
            </a:pPr>
            <a:endParaRPr sz="3000"/>
          </a:p>
        </p:txBody>
      </p:sp>
      <p:sp>
        <p:nvSpPr>
          <p:cNvPr id="5" name="Text 1">
            <a:extLst xmlns:a="http://schemas.openxmlformats.org/drawingml/2006/main">
              <a:ext uri="{FF2B5EF4-FFF2-40B4-BE49-F238E27FC236}">
                <a16:creationId xmlns:a16="http://schemas.microsoft.com/office/drawing/2014/main" id="{780E942F-6DC3-4E2E-9632-69DDA866331B}"/>
              </a:ext>
            </a:extLst>
          </p:cNvPr>
          <p:cNvSpPr>
            <a:spLocks xmlns:a="http://schemas.openxmlformats.org/drawingml/2006/main" noGrp="1"/>
          </p:cNvSpPr>
          <p:nvPr/>
        </p:nvSpPr>
        <p:spPr>
          <a:xfrm xmlns:a="http://schemas.openxmlformats.org/drawingml/2006/main">
            <a:off x="548640" y="640080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chemeClr val="accent6"/>
                </a:solidFill>
              </a:rPr>
              <a:t>Los Antimarrulla · Privacy-preserving screening · IBM Z Datathon 2026</a:t>
            </a:r>
            <a:endParaRPr sz="900"/>
          </a:p>
        </p:txBody>
      </p:sp>
      <p:sp>
        <p:nvSpPr>
          <p:cNvPr id="25" name="Slide Number Placeholder 0">
            <a:extLst xmlns:a="http://schemas.openxmlformats.org/drawingml/2006/main">
              <a:ext uri="{FF2B5EF4-FFF2-40B4-BE49-F238E27FC236}">
                <a16:creationId xmlns:a16="http://schemas.microsoft.com/office/drawing/2014/main" id="{C4843A7D-D499-4777-BCBA-251D63D2931E}"/>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1004</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25aa06192847bd" /><Relationship Type="http://schemas.openxmlformats.org/officeDocument/2006/relationships/slideLayout" Target="/ppt/slideLayouts/slideLayout1.xml" Id="R2e3de372076c40de" /><Relationship Type="http://schemas.openxmlformats.org/officeDocument/2006/relationships/slideLayout" Target="/ppt/slideLayouts/slideLayout2.xml" Id="R3da4c93dd01b477e" /><Relationship Type="http://schemas.openxmlformats.org/officeDocument/2006/relationships/slideLayout" Target="/ppt/slideLayouts/slideLayout3.xml" Id="R89d2d20201544c88" /><Relationship Type="http://schemas.openxmlformats.org/officeDocument/2006/relationships/slideLayout" Target="/ppt/slideLayouts/slideLayout4.xml" Id="R9faf0da98a4f470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8953000D-7061-48E2-BF18-2312CC22C15D}"/>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3de372076c40de"/>
    <p:sldLayoutId xmlns:r="http://schemas.openxmlformats.org/officeDocument/2006/relationships" id="2147483650" r:id="R3da4c93dd01b477e"/>
    <p:sldLayoutId xmlns:r="http://schemas.openxmlformats.org/officeDocument/2006/relationships" id="2147483651" r:id="R89d2d20201544c88"/>
    <p:sldLayoutId xmlns:r="http://schemas.openxmlformats.org/officeDocument/2006/relationships" id="2147483652" r:id="R9faf0da98a4f470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Antimarrulla Tamizaje">
  <a:themeElements>
    <a:clrScheme name="Antimarrulla Tamizaje">
      <a:dk1>
        <a:srgbClr val="0E0E13"/>
      </a:dk1>
      <a:lt1>
        <a:srgbClr val="FFFFFF"/>
      </a:lt1>
      <a:dk2>
        <a:srgbClr val="1A1A24"/>
      </a:dk2>
      <a:lt2>
        <a:srgbClr val="E0E0E0"/>
      </a:lt2>
      <a:accent1>
        <a:srgbClr val="0F62FE"/>
      </a:accent1>
      <a:accent2>
        <a:srgbClr val="24A148"/>
      </a:accent2>
      <a:accent3>
        <a:srgbClr val="FA4D56"/>
      </a:accent3>
      <a:accent4>
        <a:srgbClr val="F1C21B"/>
      </a:accent4>
      <a:accent5>
        <a:srgbClr val="78A9FF"/>
      </a:accent5>
      <a:accent6>
        <a:srgbClr val="8D8D8D"/>
      </a:accent6>
      <a:hlink>
        <a:srgbClr val="78A9FF"/>
      </a:hlink>
      <a:folHlink>
        <a:srgbClr val="A6C8FF"/>
      </a:folHlink>
    </a:clrScheme>
    <a:fontScheme name="Antimarrulla Tamizaj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ntimarrulla Tamizaj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3cc37c226b64216" /><Relationship Type="http://schemas.openxmlformats.org/officeDocument/2006/relationships/image" Target="/ppt/media/image4.png" Id="R2512758ef16c4a60" /><Relationship Type="http://schemas.openxmlformats.org/officeDocument/2006/relationships/notesSlide" Target="/ppt/notesSlides/notesSlide1.xml" Id="R39e9eebb332746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6db2d5c96e44395" /><Relationship Type="http://schemas.openxmlformats.org/officeDocument/2006/relationships/image" Target="/ppt/media/image5.png" Id="R8b09adff7fa84c3b" /><Relationship Type="http://schemas.openxmlformats.org/officeDocument/2006/relationships/image" Target="/ppt/media/image6.png" Id="Re11989c7aecc4f7c" /><Relationship Type="http://schemas.openxmlformats.org/officeDocument/2006/relationships/image" Target="/ppt/media/image7.png" Id="Rcaa9d11fdb7a42c0" /><Relationship Type="http://schemas.openxmlformats.org/officeDocument/2006/relationships/notesSlide" Target="/ppt/notesSlides/notesSlide2.xml" Id="R5079a58693ea46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a2ab2b54b12a481d" /><Relationship Type="http://schemas.openxmlformats.org/officeDocument/2006/relationships/image" Target="/ppt/media/image8.png" Id="R0480be4919d245a0" /><Relationship Type="http://schemas.openxmlformats.org/officeDocument/2006/relationships/image" Target="/ppt/media/image9.png" Id="Rd045707ac06e4402" /><Relationship Type="http://schemas.openxmlformats.org/officeDocument/2006/relationships/image" Target="/ppt/media/image10.png" Id="R52235260986d4f22" /><Relationship Type="http://schemas.openxmlformats.org/officeDocument/2006/relationships/image" Target="/ppt/media/image11.png" Id="Rf28b3604c72b4887" /><Relationship Type="http://schemas.openxmlformats.org/officeDocument/2006/relationships/image" Target="/ppt/media/image12.png" Id="R962af70b1b9f4768" /><Relationship Type="http://schemas.openxmlformats.org/officeDocument/2006/relationships/image" Target="/ppt/media/image13.png" Id="R33af8bd38ca04211" /><Relationship Type="http://schemas.openxmlformats.org/officeDocument/2006/relationships/image" Target="/ppt/media/image14.png" Id="Rb0d07e89e4fd49a4" /><Relationship Type="http://schemas.openxmlformats.org/officeDocument/2006/relationships/notesSlide" Target="/ppt/notesSlides/notesSlide3.xml" Id="Radf084befd06412b" /><Relationship Type="http://schemas.openxmlformats.org/officeDocument/2006/relationships/image" Target="/ppt/media/deck_diagram_s3.png" Id="RdeckDiagram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395a63ee1b7426e" /><Relationship Type="http://schemas.openxmlformats.org/officeDocument/2006/relationships/image" Target="/ppt/media/image15.png" Id="R0c03b34e40d34156" /><Relationship Type="http://schemas.openxmlformats.org/officeDocument/2006/relationships/image" Target="/ppt/media/image16.png" Id="Rd9d6ed8ecb0a4976" /><Relationship Type="http://schemas.openxmlformats.org/officeDocument/2006/relationships/image" Target="/ppt/media/image17.png" Id="R02e3a590536443ec" /><Relationship Type="http://schemas.openxmlformats.org/officeDocument/2006/relationships/notesSlide" Target="/ppt/notesSlides/notesSlide4.xml" Id="R5d432a62d3054e7c" /><Relationship Type="http://schemas.openxmlformats.org/officeDocument/2006/relationships/image" Target="/ppt/media/deck_diagram_s4.png" Id="RdeckDiagram4"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cd5d06b7fb554050" /><Relationship Type="http://schemas.openxmlformats.org/officeDocument/2006/relationships/image" Target="/ppt/media/image18.png" Id="Rc8076edebd7f466c" /><Relationship Type="http://schemas.openxmlformats.org/officeDocument/2006/relationships/image" Target="/ppt/media/image19.png" Id="R19f7f6f8d48d4e95" /><Relationship Type="http://schemas.openxmlformats.org/officeDocument/2006/relationships/image" Target="/ppt/media/image20.png" Id="R7d8d6fe6f9804d31" /><Relationship Type="http://schemas.openxmlformats.org/officeDocument/2006/relationships/image" Target="/ppt/media/image21.png" Id="Reef8e0352a304c81" /><Relationship Type="http://schemas.openxmlformats.org/officeDocument/2006/relationships/image" Target="/ppt/media/image22.png" Id="R59c16c90015f4d5f" /><Relationship Type="http://schemas.openxmlformats.org/officeDocument/2006/relationships/notesSlide" Target="/ppt/notesSlides/notesSlide5.xml" Id="R58b64637305b4adb" /><Relationship Type="http://schemas.openxmlformats.org/officeDocument/2006/relationships/image" Target="/ppt/media/deck_diagram_s5.png" Id="RdeckDiagram5"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117706e171d64819" /><Relationship Type="http://schemas.openxmlformats.org/officeDocument/2006/relationships/image" Target="/ppt/media/image.jpeg" Id="Re50bd47dc23f4fbe" /><Relationship Type="http://schemas.openxmlformats.org/officeDocument/2006/relationships/image" Target="/ppt/media/image23.png" Id="R32ced3a6cefc4d7f" /><Relationship Type="http://schemas.openxmlformats.org/officeDocument/2006/relationships/image" Target="/ppt/media/image24.png" Id="R5f5d1304621848b8" /><Relationship Type="http://schemas.openxmlformats.org/officeDocument/2006/relationships/image" Target="/ppt/media/image25.png" Id="R5ef65c5779194fe7" /><Relationship Type="http://schemas.openxmlformats.org/officeDocument/2006/relationships/image" Target="/ppt/media/image26.png" Id="R4baf8ec1ec68463f" /><Relationship Type="http://schemas.openxmlformats.org/officeDocument/2006/relationships/notesSlide" Target="/ppt/notesSlides/notesSlide6.xml" Id="R7930c4a5e98444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0aaef4fe38684df6" /><Relationship Type="http://schemas.openxmlformats.org/officeDocument/2006/relationships/image" Target="/ppt/media/image27.png" Id="Rfc0de45e0c384224" /><Relationship Type="http://schemas.openxmlformats.org/officeDocument/2006/relationships/image" Target="/ppt/media/image28.png" Id="R8e1cb59c3188473c" /><Relationship Type="http://schemas.openxmlformats.org/officeDocument/2006/relationships/notesSlide" Target="/ppt/notesSlides/notesSlide7.xml" Id="R41e0fcf8981049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4109195e87634313" /><Relationship Type="http://schemas.openxmlformats.org/officeDocument/2006/relationships/image" Target="/ppt/media/image29.png" Id="Rbb42b58a464b4117" /><Relationship Type="http://schemas.openxmlformats.org/officeDocument/2006/relationships/image" Target="/ppt/media/image30.png" Id="R9d700b5c90a5434b" /><Relationship Type="http://schemas.openxmlformats.org/officeDocument/2006/relationships/image" Target="/ppt/media/image31.png" Id="Rd74a1ad0632b4195" /><Relationship Type="http://schemas.openxmlformats.org/officeDocument/2006/relationships/image" Target="/ppt/media/image32.png" Id="R1128623a77c942f6" /><Relationship Type="http://schemas.openxmlformats.org/officeDocument/2006/relationships/image" Target="/ppt/media/image33.png" Id="Ra98a0e4ab5184d91" /><Relationship Type="http://schemas.openxmlformats.org/officeDocument/2006/relationships/notesSlide" Target="/ppt/notesSlides/notesSlide8.xml" Id="R0225cdb418fa42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17706e171d64819" /><Relationship Type="http://schemas.openxmlformats.org/officeDocument/2006/relationships/image" Target="/ppt/media/image_fc.jpeg" Id="Re50bd47dc23f4fbe" /><Relationship Type="http://schemas.openxmlformats.org/officeDocument/2006/relationships/image" Target="/ppt/media/image23.png" Id="R32ced3a6cefc4d7f" /><Relationship Type="http://schemas.openxmlformats.org/officeDocument/2006/relationships/image" Target="/ppt/media/image24.png" Id="R5f5d1304621848b8" /><Relationship Type="http://schemas.openxmlformats.org/officeDocument/2006/relationships/image" Target="/ppt/media/image25.png" Id="R5ef65c5779194fe7" /><Relationship Type="http://schemas.openxmlformats.org/officeDocument/2006/relationships/image" Target="/ppt/media/image26.png" Id="R4baf8ec1ec68463f" /><Relationship Type="http://schemas.openxmlformats.org/officeDocument/2006/relationships/notesSlide" Target="/ppt/notesSlides/notesSlide9.xml" Id="Rnotes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aaef4fe38684df6" /><Relationship Type="http://schemas.openxmlformats.org/officeDocument/2006/relationships/image" Target="/ppt/media/image27.png" Id="Rfc0de45e0c384224" /><Relationship Type="http://schemas.openxmlformats.org/officeDocument/2006/relationships/image" Target="/ppt/media/image28.png" Id="R8e1cb59c3188473c" /><Relationship Type="http://schemas.openxmlformats.org/officeDocument/2006/relationships/notesSlide" Target="/ppt/notesSlides/notesSlide10.xml" Id="RnotesE1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2515B45-21EA-4CBB-B7C6-86A07CA4019F}"/>
              </a:ext>
            </a:extLst>
          </p:cNvPr>
          <p:cNvSpPr>
            <a:spLocks xmlns:a="http://schemas.openxmlformats.org/drawingml/2006/main" noGrp="1"/>
          </p:cNvSpPr>
          <p:nvPr/>
        </p:nvSpPr>
        <p:spPr>
          <a:xfrm xmlns:a="http://schemas.openxmlformats.org/drawingml/2006/main">
            <a:off x="640080" y="1371600"/>
            <a:ext cx="6949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spc="300">
                <a:solidFill>
                  <a:schemeClr val="accent5"/>
                </a:solidFill>
              </a:rPr>
              <a:t>IBM Z DATATHON 2026  ·  THEME 2: AI SECURED</a:t>
            </a:r>
            <a:endParaRPr sz="1400"/>
          </a:p>
        </p:txBody>
      </p:sp>
      <p:sp>
        <p:nvSpPr>
          <p:cNvPr id="3" name="Text 0">
            <a:extLst xmlns:a="http://schemas.openxmlformats.org/drawingml/2006/main">
              <a:ext uri="{FF2B5EF4-FFF2-40B4-BE49-F238E27FC236}">
                <a16:creationId xmlns:a16="http://schemas.microsoft.com/office/drawing/2014/main" id="{7204BCA2-66C1-4B3D-BDDD-B5794AB1E82A}"/>
              </a:ext>
            </a:extLst>
          </p:cNvPr>
          <p:cNvSpPr>
            <a:spLocks xmlns:a="http://schemas.openxmlformats.org/drawingml/2006/main" noGrp="1"/>
          </p:cNvSpPr>
          <p:nvPr>
            <p:ph type="title" idx="100" hasCustomPrompt="1"/>
          </p:nvPr>
        </p:nvSpPr>
        <p:spPr>
          <a:xfrm xmlns:a="http://schemas.openxmlformats.org/drawingml/2006/main">
            <a:off x="640080" y="1783080"/>
            <a:ext cx="69494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6000" b="1">
                <a:solidFill>
                  <a:schemeClr val="bg1"/>
                </a:solidFill>
              </a:rPr>
              <a:t>Los Antimarrulla</a:t>
            </a:r>
            <a:endParaRPr sz="6000"/>
          </a:p>
        </p:txBody>
      </p:sp>
      <p:sp>
        <p:nvSpPr>
          <p:cNvPr id="4" name="Text 0">
            <a:extLst xmlns:a="http://schemas.openxmlformats.org/drawingml/2006/main">
              <a:ext uri="{FF2B5EF4-FFF2-40B4-BE49-F238E27FC236}">
                <a16:creationId xmlns:a16="http://schemas.microsoft.com/office/drawing/2014/main" id="{20D28D81-6169-43C3-972A-B67716B7F1DF}"/>
              </a:ext>
            </a:extLst>
          </p:cNvPr>
          <p:cNvSpPr>
            <a:spLocks xmlns:a="http://schemas.openxmlformats.org/drawingml/2006/main" noGrp="1"/>
          </p:cNvSpPr>
          <p:nvPr>
            <p:ph type="body" idx="101" hasCustomPrompt="1"/>
          </p:nvPr>
        </p:nvSpPr>
        <p:spPr>
          <a:xfrm xmlns:a="http://schemas.openxmlformats.org/drawingml/2006/main">
            <a:off x="640080" y="2971800"/>
            <a:ext cx="6583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a:solidFill>
                  <a:schemeClr val="bg2"/>
                </a:solidFill>
              </a:rPr>
              <a:t>Privacy-preserving screening</a:t>
            </a:r>
            <a:endParaRPr sz="3000"/>
          </a:p>
        </p:txBody>
      </p:sp>
      <p:sp>
        <p:nvSpPr>
          <p:cNvPr id="5" name="Text 3">
            <a:extLst xmlns:a="http://schemas.openxmlformats.org/drawingml/2006/main">
              <a:ext uri="{FF2B5EF4-FFF2-40B4-BE49-F238E27FC236}">
                <a16:creationId xmlns:a16="http://schemas.microsoft.com/office/drawing/2014/main" id="{46549452-DE15-4A7C-9392-5D6FB057183E}"/>
              </a:ext>
            </a:extLst>
          </p:cNvPr>
          <p:cNvSpPr>
            <a:spLocks xmlns:a="http://schemas.openxmlformats.org/drawingml/2006/main" noGrp="1"/>
          </p:cNvSpPr>
          <p:nvPr/>
        </p:nvSpPr>
        <p:spPr>
          <a:xfrm xmlns:a="http://schemas.openxmlformats.org/drawingml/2006/main">
            <a:off x="640080" y="3703320"/>
            <a:ext cx="5852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bg2"/>
                </a:solidFill>
              </a:rPr>
              <a:t>AI estimates diabetes risk from encrypted inputs. Designed for IBM LinuxONE; local results available today.</a:t>
            </a:r>
            <a:endParaRPr sz="1600"/>
          </a:p>
        </p:txBody>
      </p:sp>
      <p:pic>
        <p:nvPicPr>
          <p:cNvPr id="6" name="Logo del equipo">
            <a:extLst xmlns:a="http://schemas.openxmlformats.org/drawingml/2006/main">
              <a:ext uri="{FF2B5EF4-FFF2-40B4-BE49-F238E27FC236}">
                <a16:creationId xmlns:a16="http://schemas.microsoft.com/office/drawing/2014/main" id="{3E3EE22D-5363-4117-9FAB-AA16428FBBC4}"/>
              </a:ext>
            </a:extLst>
          </p:cNvPr>
          <p:cNvPicPr>
            <a:picLocks xmlns:a="http://schemas.openxmlformats.org/drawingml/2006/main" noChangeAspect="1"/>
          </p:cNvPicPr>
          <p:nvPr/>
        </p:nvPicPr>
        <p:blipFill>
          <a:blip xmlns:r="http://schemas.openxmlformats.org/officeDocument/2006/relationships" xmlns:a="http://schemas.openxmlformats.org/drawingml/2006/main" r:embed="R2512758ef16c4a60"/>
          <a:stretch xmlns:a="http://schemas.openxmlformats.org/drawingml/2006/main">
            <a:fillRect l="0" t="0" r="0" b="0"/>
          </a:stretch>
        </p:blipFill>
        <p:spPr>
          <a:xfrm xmlns:a="http://schemas.openxmlformats.org/drawingml/2006/main">
            <a:off x="640080" y="4846320"/>
            <a:ext cx="1188720" cy="118872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F216B24-15AA-4587-B925-E22906068DF6}"/>
              </a:ext>
            </a:extLst>
          </p:cNvPr>
          <p:cNvSpPr>
            <a:spLocks xmlns:a="http://schemas.openxmlformats.org/drawingml/2006/main" noGrp="1"/>
          </p:cNvSpPr>
          <p:nvPr/>
        </p:nvSpPr>
        <p:spPr>
          <a:xfrm xmlns:a="http://schemas.openxmlformats.org/drawingml/2006/main">
            <a:off x="2011680" y="5029200"/>
            <a:ext cx="56692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400"/>
              </a:spcAft>
              <a:buNone/>
            </a:pPr>
            <a:r>
              <a:rPr sz="1200">
                <a:solidFill>
                  <a:schemeClr val="bg1"/>
                </a:solidFill>
              </a:rPr>
              <a:t>Javier Augusto Rebull Saucedo · Álvaro Hernández Jarquín</a:t>
            </a:r>
            <a:endParaRPr sz="1200"/>
          </a:p>
          <a:p xmlns:a="http://schemas.openxmlformats.org/drawingml/2006/main">
            <a:pPr marL="0" indent="0">
              <a:spcAft>
                <a:spcPts val="400"/>
              </a:spcAft>
              <a:buNone/>
            </a:pPr>
            <a:r>
              <a:rPr sz="1200">
                <a:solidFill>
                  <a:schemeClr val="bg1"/>
                </a:solidFill>
              </a:rPr>
              <a:t>Carlos Enrique Gonzalez Moran · Yazmin Ivonne Flores Martinez</a:t>
            </a:r>
          </a:p>
          <a:p xmlns:a="http://schemas.openxmlformats.org/drawingml/2006/main">
            <a:pPr marL="0" indent="0">
              <a:spcAft>
                <a:spcPts val="400"/>
              </a:spcAft>
              <a:buNone/>
            </a:pPr>
            <a:r>
              <a:rPr sz="1200">
                <a:solidFill>
                  <a:schemeClr val="bg1"/>
                </a:solidFill>
              </a:rPr>
              <a:t>UACJ · Master’s in AI and Data Analytics (MIAAD)</a:t>
            </a:r>
          </a:p>
        </p:txBody>
      </p:sp>
    </p:spTree>
    <p:extLst>
      <p:ext uri="{BB962C8B-B14F-4D97-AF65-F5344CB8AC3E}">
        <p14:creationId xmlns:p14="http://schemas.microsoft.com/office/powerpoint/2010/main" val="113795163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345FD336-5E0E-4D27-85E2-D2D01C3D315F}"/>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01 · THE PROBLEM</a:t>
            </a:r>
            <a:endParaRPr sz="1200"/>
          </a:p>
        </p:txBody>
      </p:sp>
      <p:sp>
        <p:nvSpPr>
          <p:cNvPr id="3" name="Text 1">
            <a:extLst xmlns:a="http://schemas.openxmlformats.org/drawingml/2006/main">
              <a:ext uri="{FF2B5EF4-FFF2-40B4-BE49-F238E27FC236}">
                <a16:creationId xmlns:a16="http://schemas.microsoft.com/office/drawing/2014/main" id="{7B82D535-7B39-4187-9187-6798B5BE3582}"/>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Diabetes is widespread; health records are sensitive</a:t>
            </a:r>
            <a:endParaRPr sz="3000"/>
          </a:p>
        </p:txBody>
      </p:sp>
      <p:sp>
        <p:nvSpPr>
          <p:cNvPr id="4" name="Text 2">
            <a:extLst xmlns:a="http://schemas.openxmlformats.org/drawingml/2006/main">
              <a:ext uri="{FF2B5EF4-FFF2-40B4-BE49-F238E27FC236}">
                <a16:creationId xmlns:a16="http://schemas.microsoft.com/office/drawing/2014/main" id="{EACF0970-B3AF-4E21-9AF9-0E4657E11DE0}"/>
              </a:ext>
            </a:extLst>
          </p:cNvPr>
          <p:cNvSpPr>
            <a:spLocks xmlns:a="http://schemas.openxmlformats.org/drawingml/2006/main" noGrp="1"/>
          </p:cNvSpPr>
          <p:nvPr/>
        </p:nvSpPr>
        <p:spPr>
          <a:xfrm xmlns:a="http://schemas.openxmlformats.org/drawingml/2006/main">
            <a:off x="548640" y="1874520"/>
            <a:ext cx="2743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chemeClr val="accent5"/>
                </a:solidFill>
              </a:rPr>
              <a:t>18.3%</a:t>
            </a:r>
            <a:endParaRPr sz="4400"/>
          </a:p>
        </p:txBody>
      </p:sp>
      <p:sp>
        <p:nvSpPr>
          <p:cNvPr id="5" name="Text 3">
            <a:extLst xmlns:a="http://schemas.openxmlformats.org/drawingml/2006/main">
              <a:ext uri="{FF2B5EF4-FFF2-40B4-BE49-F238E27FC236}">
                <a16:creationId xmlns:a16="http://schemas.microsoft.com/office/drawing/2014/main" id="{0D3A3D5C-5094-4B32-88CE-1069793FB791}"/>
              </a:ext>
            </a:extLst>
          </p:cNvPr>
          <p:cNvSpPr>
            <a:spLocks xmlns:a="http://schemas.openxmlformats.org/drawingml/2006/main" noGrp="1"/>
          </p:cNvSpPr>
          <p:nvPr/>
        </p:nvSpPr>
        <p:spPr>
          <a:xfrm xmlns:a="http://schemas.openxmlformats.org/drawingml/2006/main">
            <a:off x="3383280" y="1874520"/>
            <a:ext cx="2651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of adults in Mexico live with diabetes</a:t>
            </a:r>
            <a:endParaRPr sz="1400"/>
          </a:p>
        </p:txBody>
      </p:sp>
      <p:sp>
        <p:nvSpPr>
          <p:cNvPr id="6" name="Text 4">
            <a:extLst xmlns:a="http://schemas.openxmlformats.org/drawingml/2006/main">
              <a:ext uri="{FF2B5EF4-FFF2-40B4-BE49-F238E27FC236}">
                <a16:creationId xmlns:a16="http://schemas.microsoft.com/office/drawing/2014/main" id="{D9C29326-6156-4CDC-9426-455C12B67873}"/>
              </a:ext>
            </a:extLst>
          </p:cNvPr>
          <p:cNvSpPr>
            <a:spLocks xmlns:a="http://schemas.openxmlformats.org/drawingml/2006/main" noGrp="1"/>
          </p:cNvSpPr>
          <p:nvPr/>
        </p:nvSpPr>
        <p:spPr>
          <a:xfrm xmlns:a="http://schemas.openxmlformats.org/drawingml/2006/main">
            <a:off x="548640" y="2898648"/>
            <a:ext cx="2743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chemeClr val="accent5"/>
                </a:solidFill>
              </a:rPr>
              <a:t>1 in 3</a:t>
            </a:r>
            <a:endParaRPr sz="4400"/>
          </a:p>
        </p:txBody>
      </p:sp>
      <p:sp>
        <p:nvSpPr>
          <p:cNvPr id="7" name="Text 5">
            <a:extLst xmlns:a="http://schemas.openxmlformats.org/drawingml/2006/main">
              <a:ext uri="{FF2B5EF4-FFF2-40B4-BE49-F238E27FC236}">
                <a16:creationId xmlns:a16="http://schemas.microsoft.com/office/drawing/2014/main" id="{780EABF4-C562-4275-A69E-3334AF30DB35}"/>
              </a:ext>
            </a:extLst>
          </p:cNvPr>
          <p:cNvSpPr>
            <a:spLocks xmlns:a="http://schemas.openxmlformats.org/drawingml/2006/main" noGrp="1"/>
          </p:cNvSpPr>
          <p:nvPr/>
        </p:nvSpPr>
        <p:spPr>
          <a:xfrm xmlns:a="http://schemas.openxmlformats.org/drawingml/2006/main">
            <a:off x="3383280" y="2898648"/>
            <a:ext cx="2651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people with diabetes are unaware of it</a:t>
            </a:r>
            <a:endParaRPr sz="1400"/>
          </a:p>
        </p:txBody>
      </p:sp>
      <p:sp>
        <p:nvSpPr>
          <p:cNvPr id="8" name="Text 6">
            <a:extLst xmlns:a="http://schemas.openxmlformats.org/drawingml/2006/main">
              <a:ext uri="{FF2B5EF4-FFF2-40B4-BE49-F238E27FC236}">
                <a16:creationId xmlns:a16="http://schemas.microsoft.com/office/drawing/2014/main" id="{2765916F-F45E-4473-8867-A211A0160D44}"/>
              </a:ext>
            </a:extLst>
          </p:cNvPr>
          <p:cNvSpPr>
            <a:spLocks xmlns:a="http://schemas.openxmlformats.org/drawingml/2006/main" noGrp="1"/>
          </p:cNvSpPr>
          <p:nvPr/>
        </p:nvSpPr>
        <p:spPr>
          <a:xfrm xmlns:a="http://schemas.openxmlformats.org/drawingml/2006/main">
            <a:off x="548640" y="3922776"/>
            <a:ext cx="2743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chemeClr val="accent5"/>
                </a:solidFill>
              </a:rPr>
              <a:t>112,577</a:t>
            </a:r>
            <a:endParaRPr sz="4400"/>
          </a:p>
        </p:txBody>
      </p:sp>
      <p:sp>
        <p:nvSpPr>
          <p:cNvPr id="9" name="Text 7">
            <a:extLst xmlns:a="http://schemas.openxmlformats.org/drawingml/2006/main">
              <a:ext uri="{FF2B5EF4-FFF2-40B4-BE49-F238E27FC236}">
                <a16:creationId xmlns:a16="http://schemas.microsoft.com/office/drawing/2014/main" id="{AE5A0D68-0FE3-4182-94D8-66C73A587C72}"/>
              </a:ext>
            </a:extLst>
          </p:cNvPr>
          <p:cNvSpPr>
            <a:spLocks xmlns:a="http://schemas.openxmlformats.org/drawingml/2006/main" noGrp="1"/>
          </p:cNvSpPr>
          <p:nvPr/>
        </p:nvSpPr>
        <p:spPr>
          <a:xfrm xmlns:a="http://schemas.openxmlformats.org/drawingml/2006/main">
            <a:off x="3383280" y="3922776"/>
            <a:ext cx="2651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bg2"/>
                </a:solidFill>
              </a:rPr>
              <a:t>deaths in 2024: Mexico’s second leading cause of death</a:t>
            </a:r>
            <a:endParaRPr sz="1400"/>
          </a:p>
        </p:txBody>
      </p:sp>
      <p:sp>
        <p:nvSpPr>
          <p:cNvPr id="10" name="Hospital">
            <a:extLst xmlns:a="http://schemas.openxmlformats.org/drawingml/2006/main">
              <a:ext uri="{FF2B5EF4-FFF2-40B4-BE49-F238E27FC236}">
                <a16:creationId xmlns:a16="http://schemas.microsoft.com/office/drawing/2014/main" id="{2390351C-0CE8-4CA8-8C14-F02095D073F3}"/>
              </a:ext>
            </a:extLst>
          </p:cNvPr>
          <p:cNvSpPr>
            <a:spLocks xmlns:a="http://schemas.openxmlformats.org/drawingml/2006/main" noGrp="1"/>
          </p:cNvSpPr>
          <p:nvPr/>
        </p:nvSpPr>
        <p:spPr>
          <a:xfrm xmlns:a="http://schemas.openxmlformats.org/drawingml/2006/main">
            <a:off x="6629400" y="2743200"/>
            <a:ext cx="1554480" cy="914400"/>
          </a:xfrm>
          <a:prstGeom xmlns:a="http://schemas.openxmlformats.org/drawingml/2006/main" prst="roundRect">
            <a:avLst>
              <a:gd name="adj" fmla="val 10000"/>
            </a:avLst>
          </a:prstGeom>
          <a:solidFill xmlns:a="http://schemas.openxmlformats.org/drawingml/2006/main">
            <a:schemeClr val="tx2"/>
          </a:solidFill>
          <a:ln xmlns:a="http://schemas.openxmlformats.org/drawingml/2006/main" w="9525">
            <a:solidFill>
              <a:schemeClr val="accent5">
                <a:alpha val="70000"/>
              </a:schemeClr>
            </a:solidFill>
            <a:prstDash val="solid"/>
          </a:ln>
        </p:spPr>
      </p:sp>
      <p:sp>
        <p:nvSpPr>
          <p:cNvPr id="11" name="Hospital círculo">
            <a:extLst xmlns:a="http://schemas.openxmlformats.org/drawingml/2006/main">
              <a:ext uri="{FF2B5EF4-FFF2-40B4-BE49-F238E27FC236}">
                <a16:creationId xmlns:a16="http://schemas.microsoft.com/office/drawing/2014/main" id="{060F1CC1-91DB-4216-BA6F-C0B0C00725D7}"/>
              </a:ext>
            </a:extLst>
          </p:cNvPr>
          <p:cNvSpPr>
            <a:spLocks xmlns:a="http://schemas.openxmlformats.org/drawingml/2006/main" noGrp="1"/>
          </p:cNvSpPr>
          <p:nvPr/>
        </p:nvSpPr>
        <p:spPr>
          <a:xfrm xmlns:a="http://schemas.openxmlformats.org/drawingml/2006/main">
            <a:off x="6766560" y="2971800"/>
            <a:ext cx="457200" cy="457200"/>
          </a:xfrm>
          <a:prstGeom xmlns:a="http://schemas.openxmlformats.org/drawingml/2006/main" prst="ellipse">
            <a:avLst/>
          </a:prstGeom>
          <a:solidFill xmlns:a="http://schemas.openxmlformats.org/drawingml/2006/main">
            <a:schemeClr val="accent1"/>
          </a:solidFill>
        </p:spPr>
      </p:sp>
      <p:pic>
        <p:nvPicPr>
          <p:cNvPr id="12" name="Hospital ícono">
            <a:extLst xmlns:a="http://schemas.openxmlformats.org/drawingml/2006/main">
              <a:ext uri="{FF2B5EF4-FFF2-40B4-BE49-F238E27FC236}">
                <a16:creationId xmlns:a16="http://schemas.microsoft.com/office/drawing/2014/main" id="{B7B67613-15D8-4EDE-BF01-3FBFEE487A22}"/>
              </a:ext>
            </a:extLst>
          </p:cNvPr>
          <p:cNvPicPr>
            <a:picLocks xmlns:a="http://schemas.openxmlformats.org/drawingml/2006/main" noChangeAspect="1"/>
          </p:cNvPicPr>
          <p:nvPr/>
        </p:nvPicPr>
        <p:blipFill>
          <a:blip xmlns:r="http://schemas.openxmlformats.org/officeDocument/2006/relationships" xmlns:a="http://schemas.openxmlformats.org/drawingml/2006/main" r:embed="R8b09adff7fa84c3b"/>
          <a:stretch xmlns:a="http://schemas.openxmlformats.org/drawingml/2006/main">
            <a:fillRect l="0" t="0" r="0" b="0"/>
          </a:stretch>
        </p:blipFill>
        <p:spPr>
          <a:xfrm xmlns:a="http://schemas.openxmlformats.org/drawingml/2006/main">
            <a:off x="6867144" y="3072384"/>
            <a:ext cx="256032" cy="256032"/>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6FBD2192-CC47-43A8-B7DC-FB779B93267C}"/>
              </a:ext>
            </a:extLst>
          </p:cNvPr>
          <p:cNvSpPr>
            <a:spLocks xmlns:a="http://schemas.openxmlformats.org/drawingml/2006/main" noGrp="1"/>
          </p:cNvSpPr>
          <p:nvPr/>
        </p:nvSpPr>
        <p:spPr>
          <a:xfrm xmlns:a="http://schemas.openxmlformats.org/drawingml/2006/main">
            <a:off x="7315200" y="2743200"/>
            <a:ext cx="822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chemeClr val="bg1"/>
                </a:solidFill>
              </a:rPr>
              <a:t>Hospital</a:t>
            </a:r>
            <a:endParaRPr sz="1300"/>
          </a:p>
        </p:txBody>
      </p:sp>
      <p:sp>
        <p:nvSpPr>
          <p:cNvPr id="14" name="flecha">
            <a:extLst xmlns:a="http://schemas.openxmlformats.org/drawingml/2006/main">
              <a:ext uri="{FF2B5EF4-FFF2-40B4-BE49-F238E27FC236}">
                <a16:creationId xmlns:a16="http://schemas.microsoft.com/office/drawing/2014/main" id="{3BD0CABE-EFFC-441F-9739-BDEEF8D4E901}"/>
              </a:ext>
            </a:extLst>
          </p:cNvPr>
          <p:cNvSpPr>
            <a:spLocks xmlns:a="http://schemas.openxmlformats.org/drawingml/2006/main" noGrp="1"/>
          </p:cNvSpPr>
          <p:nvPr/>
        </p:nvSpPr>
        <p:spPr>
          <a:xfrm xmlns:a="http://schemas.openxmlformats.org/drawingml/2006/main" flipH="0" flipV="1">
            <a:off x="8229600" y="2377440"/>
            <a:ext cx="502920" cy="822960"/>
          </a:xfrm>
          <a:prstGeom xmlns:a="http://schemas.openxmlformats.org/drawingml/2006/main" prst="line">
            <a:avLst/>
          </a:prstGeom>
          <a:noFill xmlns:a="http://schemas.openxmlformats.org/drawingml/2006/main"/>
          <a:ln xmlns:a="http://schemas.openxmlformats.org/drawingml/2006/main" w="22225">
            <a:solidFill>
              <a:schemeClr val="accent3"/>
            </a:solidFill>
            <a:prstDash val="solid"/>
            <a:tailEnd type="triangle"/>
          </a:ln>
        </p:spPr>
      </p:sp>
      <p:sp>
        <p:nvSpPr>
          <p:cNvPr id="15" name="Compartir expedientes">
            <a:extLst xmlns:a="http://schemas.openxmlformats.org/drawingml/2006/main">
              <a:ext uri="{FF2B5EF4-FFF2-40B4-BE49-F238E27FC236}">
                <a16:creationId xmlns:a16="http://schemas.microsoft.com/office/drawing/2014/main" id="{8D40FAC3-706A-47B6-B423-1BF990DAA80A}"/>
              </a:ext>
            </a:extLst>
          </p:cNvPr>
          <p:cNvSpPr>
            <a:spLocks xmlns:a="http://schemas.openxmlformats.org/drawingml/2006/main" noGrp="1"/>
          </p:cNvSpPr>
          <p:nvPr/>
        </p:nvSpPr>
        <p:spPr>
          <a:xfrm xmlns:a="http://schemas.openxmlformats.org/drawingml/2006/main">
            <a:off x="8778240" y="1965960"/>
            <a:ext cx="2862072" cy="868680"/>
          </a:xfrm>
          <a:prstGeom xmlns:a="http://schemas.openxmlformats.org/drawingml/2006/main" prst="roundRect">
            <a:avLst>
              <a:gd name="adj" fmla="val 10526"/>
            </a:avLst>
          </a:prstGeom>
          <a:solidFill xmlns:a="http://schemas.openxmlformats.org/drawingml/2006/main">
            <a:schemeClr val="accent3">
              <a:alpha val="15000"/>
            </a:schemeClr>
          </a:solidFill>
          <a:ln xmlns:a="http://schemas.openxmlformats.org/drawingml/2006/main" w="9525">
            <a:solidFill>
              <a:schemeClr val="accent3">
                <a:alpha val="70000"/>
              </a:schemeClr>
            </a:solidFill>
            <a:prstDash val="solid"/>
          </a:ln>
        </p:spPr>
      </p:sp>
      <p:sp>
        <p:nvSpPr>
          <p:cNvPr id="16" name="Compartir expedientes círculo">
            <a:extLst xmlns:a="http://schemas.openxmlformats.org/drawingml/2006/main">
              <a:ext uri="{FF2B5EF4-FFF2-40B4-BE49-F238E27FC236}">
                <a16:creationId xmlns:a16="http://schemas.microsoft.com/office/drawing/2014/main" id="{CFB9FC9F-23A6-4F31-818E-55D8CCE3DA3C}"/>
              </a:ext>
            </a:extLst>
          </p:cNvPr>
          <p:cNvSpPr>
            <a:spLocks xmlns:a="http://schemas.openxmlformats.org/drawingml/2006/main" noGrp="1"/>
          </p:cNvSpPr>
          <p:nvPr/>
        </p:nvSpPr>
        <p:spPr>
          <a:xfrm xmlns:a="http://schemas.openxmlformats.org/drawingml/2006/main">
            <a:off x="8915400" y="2167128"/>
            <a:ext cx="457200" cy="457200"/>
          </a:xfrm>
          <a:prstGeom xmlns:a="http://schemas.openxmlformats.org/drawingml/2006/main" prst="ellipse">
            <a:avLst/>
          </a:prstGeom>
          <a:solidFill xmlns:a="http://schemas.openxmlformats.org/drawingml/2006/main">
            <a:schemeClr val="accent3"/>
          </a:solidFill>
        </p:spPr>
      </p:sp>
      <p:pic>
        <p:nvPicPr>
          <p:cNvPr id="17" name="Compartir expedientes ícono">
            <a:extLst xmlns:a="http://schemas.openxmlformats.org/drawingml/2006/main">
              <a:ext uri="{FF2B5EF4-FFF2-40B4-BE49-F238E27FC236}">
                <a16:creationId xmlns:a16="http://schemas.microsoft.com/office/drawing/2014/main" id="{DE2F0442-154C-45EE-B418-99DA4B694C90}"/>
              </a:ext>
            </a:extLst>
          </p:cNvPr>
          <p:cNvPicPr>
            <a:picLocks xmlns:a="http://schemas.openxmlformats.org/drawingml/2006/main" noChangeAspect="1"/>
          </p:cNvPicPr>
          <p:nvPr/>
        </p:nvPicPr>
        <p:blipFill>
          <a:blip xmlns:r="http://schemas.openxmlformats.org/officeDocument/2006/relationships" xmlns:a="http://schemas.openxmlformats.org/drawingml/2006/main" r:embed="Re11989c7aecc4f7c"/>
          <a:stretch xmlns:a="http://schemas.openxmlformats.org/drawingml/2006/main">
            <a:fillRect l="0" t="0" r="0" b="0"/>
          </a:stretch>
        </p:blipFill>
        <p:spPr>
          <a:xfrm xmlns:a="http://schemas.openxmlformats.org/drawingml/2006/main">
            <a:off x="9015984" y="2267712"/>
            <a:ext cx="256032" cy="256032"/>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9109EC42-0F9B-4361-B45C-0837FC7FE6A2}"/>
              </a:ext>
            </a:extLst>
          </p:cNvPr>
          <p:cNvSpPr>
            <a:spLocks xmlns:a="http://schemas.openxmlformats.org/drawingml/2006/main" noGrp="1"/>
          </p:cNvSpPr>
          <p:nvPr/>
        </p:nvSpPr>
        <p:spPr>
          <a:xfrm xmlns:a="http://schemas.openxmlformats.org/drawingml/2006/main">
            <a:off x="9491472" y="2075688"/>
            <a:ext cx="2057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Share health records</a:t>
            </a:r>
            <a:endParaRPr sz="1400"/>
          </a:p>
        </p:txBody>
      </p:sp>
      <p:sp>
        <p:nvSpPr>
          <p:cNvPr id="19" name="Text 15">
            <a:extLst xmlns:a="http://schemas.openxmlformats.org/drawingml/2006/main">
              <a:ext uri="{FF2B5EF4-FFF2-40B4-BE49-F238E27FC236}">
                <a16:creationId xmlns:a16="http://schemas.microsoft.com/office/drawing/2014/main" id="{BAD399B0-D8C8-454D-BAEB-C5A27C7AE821}"/>
              </a:ext>
            </a:extLst>
          </p:cNvPr>
          <p:cNvSpPr>
            <a:spLocks xmlns:a="http://schemas.openxmlformats.org/drawingml/2006/main" noGrp="1"/>
          </p:cNvSpPr>
          <p:nvPr/>
        </p:nvSpPr>
        <p:spPr>
          <a:xfrm xmlns:a="http://schemas.openxmlformats.org/drawingml/2006/main">
            <a:off x="9491472" y="2395728"/>
            <a:ext cx="20574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Privacy and legal risk</a:t>
            </a:r>
            <a:endParaRPr sz="1100"/>
          </a:p>
        </p:txBody>
      </p:sp>
      <p:sp>
        <p:nvSpPr>
          <p:cNvPr id="20" name="flecha">
            <a:extLst xmlns:a="http://schemas.openxmlformats.org/drawingml/2006/main">
              <a:ext uri="{FF2B5EF4-FFF2-40B4-BE49-F238E27FC236}">
                <a16:creationId xmlns:a16="http://schemas.microsoft.com/office/drawing/2014/main" id="{71158394-180D-4B10-B5D3-788ADC74AA73}"/>
              </a:ext>
            </a:extLst>
          </p:cNvPr>
          <p:cNvSpPr>
            <a:spLocks xmlns:a="http://schemas.openxmlformats.org/drawingml/2006/main" noGrp="1"/>
          </p:cNvSpPr>
          <p:nvPr/>
        </p:nvSpPr>
        <p:spPr>
          <a:xfrm xmlns:a="http://schemas.openxmlformats.org/drawingml/2006/main">
            <a:off x="8229600" y="3200400"/>
            <a:ext cx="502920" cy="1005840"/>
          </a:xfrm>
          <a:prstGeom xmlns:a="http://schemas.openxmlformats.org/drawingml/2006/main" prst="line">
            <a:avLst/>
          </a:prstGeom>
          <a:noFill xmlns:a="http://schemas.openxmlformats.org/drawingml/2006/main"/>
          <a:ln xmlns:a="http://schemas.openxmlformats.org/drawingml/2006/main" w="22225">
            <a:solidFill>
              <a:schemeClr val="accent4"/>
            </a:solidFill>
            <a:prstDash val="solid"/>
            <a:tailEnd type="triangle"/>
          </a:ln>
        </p:spPr>
      </p:sp>
      <p:sp>
        <p:nvSpPr>
          <p:cNvPr id="21" name="No compartir">
            <a:extLst xmlns:a="http://schemas.openxmlformats.org/drawingml/2006/main">
              <a:ext uri="{FF2B5EF4-FFF2-40B4-BE49-F238E27FC236}">
                <a16:creationId xmlns:a16="http://schemas.microsoft.com/office/drawing/2014/main" id="{1922F0CE-B089-48D9-AF41-5D472BBED3B7}"/>
              </a:ext>
            </a:extLst>
          </p:cNvPr>
          <p:cNvSpPr>
            <a:spLocks xmlns:a="http://schemas.openxmlformats.org/drawingml/2006/main" noGrp="1"/>
          </p:cNvSpPr>
          <p:nvPr/>
        </p:nvSpPr>
        <p:spPr>
          <a:xfrm xmlns:a="http://schemas.openxmlformats.org/drawingml/2006/main">
            <a:off x="8778240" y="3794760"/>
            <a:ext cx="2862072" cy="868680"/>
          </a:xfrm>
          <a:prstGeom xmlns:a="http://schemas.openxmlformats.org/drawingml/2006/main" prst="roundRect">
            <a:avLst>
              <a:gd name="adj" fmla="val 10526"/>
            </a:avLst>
          </a:prstGeom>
          <a:solidFill xmlns:a="http://schemas.openxmlformats.org/drawingml/2006/main">
            <a:schemeClr val="accent4">
              <a:alpha val="15000"/>
            </a:schemeClr>
          </a:solidFill>
          <a:ln xmlns:a="http://schemas.openxmlformats.org/drawingml/2006/main" w="9525">
            <a:solidFill>
              <a:schemeClr val="accent4">
                <a:alpha val="70000"/>
              </a:schemeClr>
            </a:solidFill>
            <a:prstDash val="solid"/>
          </a:ln>
        </p:spPr>
      </p:sp>
      <p:sp>
        <p:nvSpPr>
          <p:cNvPr id="22" name="No compartir círculo">
            <a:extLst xmlns:a="http://schemas.openxmlformats.org/drawingml/2006/main">
              <a:ext uri="{FF2B5EF4-FFF2-40B4-BE49-F238E27FC236}">
                <a16:creationId xmlns:a16="http://schemas.microsoft.com/office/drawing/2014/main" id="{AB7ACB3E-9E0E-43EB-8ECD-5B446E45E7F3}"/>
              </a:ext>
            </a:extLst>
          </p:cNvPr>
          <p:cNvSpPr>
            <a:spLocks xmlns:a="http://schemas.openxmlformats.org/drawingml/2006/main" noGrp="1"/>
          </p:cNvSpPr>
          <p:nvPr/>
        </p:nvSpPr>
        <p:spPr>
          <a:xfrm xmlns:a="http://schemas.openxmlformats.org/drawingml/2006/main">
            <a:off x="8915400" y="3995928"/>
            <a:ext cx="457200" cy="457200"/>
          </a:xfrm>
          <a:prstGeom xmlns:a="http://schemas.openxmlformats.org/drawingml/2006/main" prst="ellipse">
            <a:avLst/>
          </a:prstGeom>
          <a:solidFill xmlns:a="http://schemas.openxmlformats.org/drawingml/2006/main">
            <a:schemeClr val="accent4"/>
          </a:solidFill>
        </p:spPr>
      </p:sp>
      <p:pic>
        <p:nvPicPr>
          <p:cNvPr id="23" name="No compartir ícono">
            <a:extLst xmlns:a="http://schemas.openxmlformats.org/drawingml/2006/main">
              <a:ext uri="{FF2B5EF4-FFF2-40B4-BE49-F238E27FC236}">
                <a16:creationId xmlns:a16="http://schemas.microsoft.com/office/drawing/2014/main" id="{78AD0739-A0EF-48C9-B30B-B0D711D1E72F}"/>
              </a:ext>
            </a:extLst>
          </p:cNvPr>
          <p:cNvPicPr>
            <a:picLocks xmlns:a="http://schemas.openxmlformats.org/drawingml/2006/main" noChangeAspect="1"/>
          </p:cNvPicPr>
          <p:nvPr/>
        </p:nvPicPr>
        <p:blipFill>
          <a:blip xmlns:r="http://schemas.openxmlformats.org/officeDocument/2006/relationships" xmlns:a="http://schemas.openxmlformats.org/drawingml/2006/main" r:embed="Rcaa9d11fdb7a42c0"/>
          <a:stretch xmlns:a="http://schemas.openxmlformats.org/drawingml/2006/main">
            <a:fillRect l="0" t="0" r="0" b="0"/>
          </a:stretch>
        </p:blipFill>
        <p:spPr>
          <a:xfrm xmlns:a="http://schemas.openxmlformats.org/drawingml/2006/main">
            <a:off x="9015984" y="4096512"/>
            <a:ext cx="256032" cy="256032"/>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EE023D3F-00D8-495B-AF7F-D1CC156742E5}"/>
              </a:ext>
            </a:extLst>
          </p:cNvPr>
          <p:cNvSpPr>
            <a:spLocks xmlns:a="http://schemas.openxmlformats.org/drawingml/2006/main" noGrp="1"/>
          </p:cNvSpPr>
          <p:nvPr/>
        </p:nvSpPr>
        <p:spPr>
          <a:xfrm xmlns:a="http://schemas.openxmlformats.org/drawingml/2006/main">
            <a:off x="9491472" y="3904488"/>
            <a:ext cx="2057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Keep records local</a:t>
            </a:r>
            <a:endParaRPr sz="1400"/>
          </a:p>
        </p:txBody>
      </p:sp>
      <p:sp>
        <p:nvSpPr>
          <p:cNvPr id="25" name="Text 20">
            <a:extLst xmlns:a="http://schemas.openxmlformats.org/drawingml/2006/main">
              <a:ext uri="{FF2B5EF4-FFF2-40B4-BE49-F238E27FC236}">
                <a16:creationId xmlns:a16="http://schemas.microsoft.com/office/drawing/2014/main" id="{4689D25D-0DE6-48D7-808F-41B714B1EC92}"/>
              </a:ext>
            </a:extLst>
          </p:cNvPr>
          <p:cNvSpPr>
            <a:spLocks xmlns:a="http://schemas.openxmlformats.org/drawingml/2006/main" noGrp="1"/>
          </p:cNvSpPr>
          <p:nvPr/>
        </p:nvSpPr>
        <p:spPr>
          <a:xfrm xmlns:a="http://schemas.openxmlformats.org/drawingml/2006/main">
            <a:off x="9491472" y="4224528"/>
            <a:ext cx="20574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External models cannot read them</a:t>
            </a:r>
            <a:endParaRPr sz="1100"/>
          </a:p>
        </p:txBody>
      </p:sp>
      <p:sp>
        <p:nvSpPr>
          <p:cNvPr id="26" name="Pregunta">
            <a:extLst xmlns:a="http://schemas.openxmlformats.org/drawingml/2006/main">
              <a:ext uri="{FF2B5EF4-FFF2-40B4-BE49-F238E27FC236}">
                <a16:creationId xmlns:a16="http://schemas.microsoft.com/office/drawing/2014/main" id="{E9BFE3B6-C4C5-464E-98E3-A557564B0D25}"/>
              </a:ext>
            </a:extLst>
          </p:cNvPr>
          <p:cNvSpPr>
            <a:spLocks xmlns:a="http://schemas.openxmlformats.org/drawingml/2006/main" noGrp="1"/>
          </p:cNvSpPr>
          <p:nvPr/>
        </p:nvSpPr>
        <p:spPr>
          <a:xfrm xmlns:a="http://schemas.openxmlformats.org/drawingml/2006/main">
            <a:off x="548640" y="5468112"/>
            <a:ext cx="11091672" cy="548640"/>
          </a:xfrm>
          <a:prstGeom xmlns:a="http://schemas.openxmlformats.org/drawingml/2006/main" prst="roundRect">
            <a:avLst>
              <a:gd name="adj" fmla="val 16667"/>
            </a:avLst>
          </a:prstGeom>
          <a:solidFill xmlns:a="http://schemas.openxmlformats.org/drawingml/2006/main">
            <a:schemeClr val="accent1">
              <a:alpha val="28000"/>
            </a:schemeClr>
          </a:solidFill>
        </p:spPr>
      </p:sp>
      <p:sp>
        <p:nvSpPr>
          <p:cNvPr id="27" name="Text 22">
            <a:extLst xmlns:a="http://schemas.openxmlformats.org/drawingml/2006/main">
              <a:ext uri="{FF2B5EF4-FFF2-40B4-BE49-F238E27FC236}">
                <a16:creationId xmlns:a16="http://schemas.microsoft.com/office/drawing/2014/main" id="{21C53F13-FEE7-4901-B7D2-8731F45F1A88}"/>
              </a:ext>
            </a:extLst>
          </p:cNvPr>
          <p:cNvSpPr>
            <a:spLocks xmlns:a="http://schemas.openxmlformats.org/drawingml/2006/main" noGrp="1"/>
          </p:cNvSpPr>
          <p:nvPr/>
        </p:nvSpPr>
        <p:spPr>
          <a:xfrm xmlns:a="http://schemas.openxmlformats.org/drawingml/2006/main">
            <a:off x="731520" y="5468112"/>
            <a:ext cx="107259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i="1">
                <a:solidFill>
                  <a:schemeClr val="bg1"/>
                </a:solidFill>
              </a:rPr>
              <a:t>Can AI calculate risk without reading the patient’s inputs?</a:t>
            </a:r>
            <a:endParaRPr sz="2000"/>
          </a:p>
        </p:txBody>
      </p:sp>
      <p:sp>
        <p:nvSpPr>
          <p:cNvPr id="28" name="Text 23">
            <a:extLst xmlns:a="http://schemas.openxmlformats.org/drawingml/2006/main">
              <a:ext uri="{FF2B5EF4-FFF2-40B4-BE49-F238E27FC236}">
                <a16:creationId xmlns:a16="http://schemas.microsoft.com/office/drawing/2014/main" id="{24D0026C-CDCA-4F6A-B93E-C3DB2E46188F}"/>
              </a:ext>
            </a:extLst>
          </p:cNvPr>
          <p:cNvSpPr>
            <a:spLocks xmlns:a="http://schemas.openxmlformats.org/drawingml/2006/main" noGrp="1"/>
          </p:cNvSpPr>
          <p:nvPr/>
        </p:nvSpPr>
        <p:spPr>
          <a:xfrm xmlns:a="http://schemas.openxmlformats.org/drawingml/2006/main">
            <a:off x="548640" y="6089904"/>
            <a:ext cx="11091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6"/>
                </a:solidFill>
              </a:rPr>
              <a:t>Sources: ENSANUT 2022 (Basto-Abreu et al., Salud Pública de México, 2023); 2024 registered deaths and SSA hospital discharge microdata, DGIS/INEGI.</a:t>
            </a:r>
            <a:endParaRPr sz="1000"/>
          </a:p>
        </p:txBody>
      </p:sp>
      <p:sp>
        <p:nvSpPr>
          <p:cNvPr id="29" name="Slide Number Placeholder 0">
            <a:extLst xmlns:a="http://schemas.openxmlformats.org/drawingml/2006/main">
              <a:ext uri="{FF2B5EF4-FFF2-40B4-BE49-F238E27FC236}">
                <a16:creationId xmlns:a16="http://schemas.microsoft.com/office/drawing/2014/main" id="{D557928F-8147-4ECB-9DE2-E7F32B9DD4D5}"/>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2773028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26B0FB9F-8809-4E7B-800F-4F75C6D81221}"/>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02 · THE SOLUTION</a:t>
            </a:r>
            <a:endParaRPr sz="1200"/>
          </a:p>
        </p:txBody>
      </p:sp>
      <p:sp>
        <p:nvSpPr>
          <p:cNvPr id="3" name="Text 1">
            <a:extLst xmlns:a="http://schemas.openxmlformats.org/drawingml/2006/main">
              <a:ext uri="{FF2B5EF4-FFF2-40B4-BE49-F238E27FC236}">
                <a16:creationId xmlns:a16="http://schemas.microsoft.com/office/drawing/2014/main" id="{5D30CC8A-60D9-4991-B022-AF06AA85C099}"/>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Calculate risk from encrypted inputs</a:t>
            </a:r>
            <a:endParaRPr sz="3000"/>
          </a:p>
        </p:txBody>
      </p:sp>
      <p:pic xmlns:a="http://schemas.openxmlformats.org/drawingml/2006/main">
        <p:nvPicPr>
          <p:cNvPr id="303" name="Deck diagram slide 3" descr="Solution flow: hospital encrypts 19 answers, the LinuxONE risk service evaluates ciphertexts and returns Enc(z), the hospital decrypts"/>
          <p:cNvPicPr>
            <a:picLocks noChangeAspect="1"/>
          </p:cNvPicPr>
          <p:nvPr/>
        </p:nvPicPr>
        <p:blipFill>
          <a:blip xmlns:r="http://schemas.openxmlformats.org/officeDocument/2006/relationships" r:embed="RdeckDiagram3"/>
          <a:stretch>
            <a:fillRect/>
          </a:stretch>
        </p:blipFill>
        <p:spPr>
          <a:xfrm>
            <a:off x="548640" y="1645920"/>
            <a:ext cx="11091672" cy="2011680"/>
          </a:xfrm>
          <a:prstGeom prst="rect">
            <a:avLst/>
          </a:prstGeom>
        </p:spPr>
      </p:pic>
      <p:sp>
        <p:nvSpPr>
          <p:cNvPr id="27" name="Solo cifrados">
            <a:extLst xmlns:a="http://schemas.openxmlformats.org/drawingml/2006/main">
              <a:ext uri="{FF2B5EF4-FFF2-40B4-BE49-F238E27FC236}">
                <a16:creationId xmlns:a16="http://schemas.microsoft.com/office/drawing/2014/main" id="{9E277A21-CDAF-4A2D-9284-730249FFC74D}"/>
              </a:ext>
            </a:extLst>
          </p:cNvPr>
          <p:cNvSpPr>
            <a:spLocks xmlns:a="http://schemas.openxmlformats.org/drawingml/2006/main" noGrp="1"/>
          </p:cNvSpPr>
          <p:nvPr/>
        </p:nvSpPr>
        <p:spPr>
          <a:xfrm xmlns:a="http://schemas.openxmlformats.org/drawingml/2006/main">
            <a:off x="548640" y="3794760"/>
            <a:ext cx="3520440" cy="1097280"/>
          </a:xfrm>
          <a:prstGeom xmlns:a="http://schemas.openxmlformats.org/drawingml/2006/main" prst="roundRect">
            <a:avLst>
              <a:gd name="adj" fmla="val 8333"/>
            </a:avLst>
          </a:prstGeom>
          <a:solidFill xmlns:a="http://schemas.openxmlformats.org/drawingml/2006/main">
            <a:schemeClr val="accent2">
              <a:alpha val="12000"/>
            </a:schemeClr>
          </a:solidFill>
          <a:ln xmlns:a="http://schemas.openxmlformats.org/drawingml/2006/main" w="9525">
            <a:solidFill>
              <a:schemeClr val="accent2">
                <a:alpha val="50000"/>
              </a:schemeClr>
            </a:solidFill>
            <a:prstDash val="solid"/>
          </a:ln>
        </p:spPr>
      </p:sp>
      <p:sp>
        <p:nvSpPr>
          <p:cNvPr id="28" name="Solo cifrados círculo">
            <a:extLst xmlns:a="http://schemas.openxmlformats.org/drawingml/2006/main">
              <a:ext uri="{FF2B5EF4-FFF2-40B4-BE49-F238E27FC236}">
                <a16:creationId xmlns:a16="http://schemas.microsoft.com/office/drawing/2014/main" id="{3126E6D8-D86D-419E-BBA9-2BCCE0396C8E}"/>
              </a:ext>
            </a:extLst>
          </p:cNvPr>
          <p:cNvSpPr>
            <a:spLocks xmlns:a="http://schemas.openxmlformats.org/drawingml/2006/main" noGrp="1"/>
          </p:cNvSpPr>
          <p:nvPr/>
        </p:nvSpPr>
        <p:spPr>
          <a:xfrm xmlns:a="http://schemas.openxmlformats.org/drawingml/2006/main">
            <a:off x="731520" y="4023360"/>
            <a:ext cx="548640" cy="548640"/>
          </a:xfrm>
          <a:prstGeom xmlns:a="http://schemas.openxmlformats.org/drawingml/2006/main" prst="ellipse">
            <a:avLst/>
          </a:prstGeom>
          <a:solidFill xmlns:a="http://schemas.openxmlformats.org/drawingml/2006/main">
            <a:schemeClr val="accent2"/>
          </a:solidFill>
        </p:spPr>
      </p:sp>
      <p:pic>
        <p:nvPicPr>
          <p:cNvPr id="29" name="Solo cifrados ícono">
            <a:extLst xmlns:a="http://schemas.openxmlformats.org/drawingml/2006/main">
              <a:ext uri="{FF2B5EF4-FFF2-40B4-BE49-F238E27FC236}">
                <a16:creationId xmlns:a16="http://schemas.microsoft.com/office/drawing/2014/main" id="{6904D59D-FF70-41C7-8471-BC633F795EB3}"/>
              </a:ext>
            </a:extLst>
          </p:cNvPr>
          <p:cNvPicPr>
            <a:picLocks xmlns:a="http://schemas.openxmlformats.org/drawingml/2006/main" noChangeAspect="1"/>
          </p:cNvPicPr>
          <p:nvPr/>
        </p:nvPicPr>
        <p:blipFill>
          <a:blip xmlns:r="http://schemas.openxmlformats.org/officeDocument/2006/relationships" xmlns:a="http://schemas.openxmlformats.org/drawingml/2006/main" r:embed="R962af70b1b9f4768"/>
          <a:stretch xmlns:a="http://schemas.openxmlformats.org/drawingml/2006/main">
            <a:fillRect l="0" t="0" r="0" b="0"/>
          </a:stretch>
        </p:blipFill>
        <p:spPr>
          <a:xfrm xmlns:a="http://schemas.openxmlformats.org/drawingml/2006/main">
            <a:off x="852221" y="4144061"/>
            <a:ext cx="307238" cy="307238"/>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15ECC3D2-C069-4E64-88EF-3D1BA26FC08E}"/>
              </a:ext>
            </a:extLst>
          </p:cNvPr>
          <p:cNvSpPr>
            <a:spLocks xmlns:a="http://schemas.openxmlformats.org/drawingml/2006/main" noGrp="1"/>
          </p:cNvSpPr>
          <p:nvPr/>
        </p:nvSpPr>
        <p:spPr>
          <a:xfrm xmlns:a="http://schemas.openxmlformats.org/drawingml/2006/main">
            <a:off x="1463040" y="3904488"/>
            <a:ext cx="2468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Ciphertexts only</a:t>
            </a:r>
            <a:endParaRPr sz="1500"/>
          </a:p>
        </p:txBody>
      </p:sp>
      <p:sp>
        <p:nvSpPr>
          <p:cNvPr id="31" name="Text 24">
            <a:extLst xmlns:a="http://schemas.openxmlformats.org/drawingml/2006/main">
              <a:ext uri="{FF2B5EF4-FFF2-40B4-BE49-F238E27FC236}">
                <a16:creationId xmlns:a16="http://schemas.microsoft.com/office/drawing/2014/main" id="{5AC3F961-2BF7-4DB1-92ED-AB3A82B91AB5}"/>
              </a:ext>
            </a:extLst>
          </p:cNvPr>
          <p:cNvSpPr>
            <a:spLocks xmlns:a="http://schemas.openxmlformats.org/drawingml/2006/main" noGrp="1"/>
          </p:cNvSpPr>
          <p:nvPr/>
        </p:nvSpPr>
        <p:spPr>
          <a:xfrm xmlns:a="http://schemas.openxmlformats.org/drawingml/2006/main">
            <a:off x="1463040" y="4261104"/>
            <a:ext cx="2468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The risk service receives no readable age, BMI, blood pressure or other feature</a:t>
            </a:r>
            <a:endParaRPr sz="1200"/>
          </a:p>
        </p:txBody>
      </p:sp>
      <p:sp>
        <p:nvSpPr>
          <p:cNvPr id="32" name="Misma precisión">
            <a:extLst xmlns:a="http://schemas.openxmlformats.org/drawingml/2006/main">
              <a:ext uri="{FF2B5EF4-FFF2-40B4-BE49-F238E27FC236}">
                <a16:creationId xmlns:a16="http://schemas.microsoft.com/office/drawing/2014/main" id="{5540726F-0333-4805-8680-20509A4AC254}"/>
              </a:ext>
            </a:extLst>
          </p:cNvPr>
          <p:cNvSpPr>
            <a:spLocks xmlns:a="http://schemas.openxmlformats.org/drawingml/2006/main" noGrp="1"/>
          </p:cNvSpPr>
          <p:nvPr/>
        </p:nvSpPr>
        <p:spPr>
          <a:xfrm xmlns:a="http://schemas.openxmlformats.org/drawingml/2006/main">
            <a:off x="4334256" y="3794760"/>
            <a:ext cx="3520440" cy="1097280"/>
          </a:xfrm>
          <a:prstGeom xmlns:a="http://schemas.openxmlformats.org/drawingml/2006/main" prst="roundRect">
            <a:avLst>
              <a:gd name="adj" fmla="val 8333"/>
            </a:avLst>
          </a:prstGeom>
          <a:solidFill xmlns:a="http://schemas.openxmlformats.org/drawingml/2006/main">
            <a:schemeClr val="accent2">
              <a:alpha val="12000"/>
            </a:schemeClr>
          </a:solidFill>
          <a:ln xmlns:a="http://schemas.openxmlformats.org/drawingml/2006/main" w="9525">
            <a:solidFill>
              <a:schemeClr val="accent2">
                <a:alpha val="50000"/>
              </a:schemeClr>
            </a:solidFill>
            <a:prstDash val="solid"/>
          </a:ln>
        </p:spPr>
      </p:sp>
      <p:sp>
        <p:nvSpPr>
          <p:cNvPr id="33" name="Misma precisión círculo">
            <a:extLst xmlns:a="http://schemas.openxmlformats.org/drawingml/2006/main">
              <a:ext uri="{FF2B5EF4-FFF2-40B4-BE49-F238E27FC236}">
                <a16:creationId xmlns:a16="http://schemas.microsoft.com/office/drawing/2014/main" id="{5A99AE9A-EE8D-4672-BB63-291F20E9B99B}"/>
              </a:ext>
            </a:extLst>
          </p:cNvPr>
          <p:cNvSpPr>
            <a:spLocks xmlns:a="http://schemas.openxmlformats.org/drawingml/2006/main" noGrp="1"/>
          </p:cNvSpPr>
          <p:nvPr/>
        </p:nvSpPr>
        <p:spPr>
          <a:xfrm xmlns:a="http://schemas.openxmlformats.org/drawingml/2006/main">
            <a:off x="4517136" y="4023360"/>
            <a:ext cx="548640" cy="548640"/>
          </a:xfrm>
          <a:prstGeom xmlns:a="http://schemas.openxmlformats.org/drawingml/2006/main" prst="ellipse">
            <a:avLst/>
          </a:prstGeom>
          <a:solidFill xmlns:a="http://schemas.openxmlformats.org/drawingml/2006/main">
            <a:schemeClr val="accent2"/>
          </a:solidFill>
        </p:spPr>
      </p:sp>
      <p:pic>
        <p:nvPicPr>
          <p:cNvPr id="34" name="Misma precisión ícono">
            <a:extLst xmlns:a="http://schemas.openxmlformats.org/drawingml/2006/main">
              <a:ext uri="{FF2B5EF4-FFF2-40B4-BE49-F238E27FC236}">
                <a16:creationId xmlns:a16="http://schemas.microsoft.com/office/drawing/2014/main" id="{6595A3D1-2FB0-437F-B7BB-F123A12E4F9E}"/>
              </a:ext>
            </a:extLst>
          </p:cNvPr>
          <p:cNvPicPr>
            <a:picLocks xmlns:a="http://schemas.openxmlformats.org/drawingml/2006/main" noChangeAspect="1"/>
          </p:cNvPicPr>
          <p:nvPr/>
        </p:nvPicPr>
        <p:blipFill>
          <a:blip xmlns:r="http://schemas.openxmlformats.org/officeDocument/2006/relationships" xmlns:a="http://schemas.openxmlformats.org/drawingml/2006/main" r:embed="R33af8bd38ca04211"/>
          <a:stretch xmlns:a="http://schemas.openxmlformats.org/drawingml/2006/main">
            <a:fillRect l="0" t="0" r="0" b="0"/>
          </a:stretch>
        </p:blipFill>
        <p:spPr>
          <a:xfrm xmlns:a="http://schemas.openxmlformats.org/drawingml/2006/main">
            <a:off x="4637837" y="4144061"/>
            <a:ext cx="307238" cy="307238"/>
          </a:xfrm>
          <a:prstGeom xmlns:a="http://schemas.openxmlformats.org/drawingml/2006/main" prst="rect">
            <a:avLst/>
          </a:prstGeom>
        </p:spPr>
      </p:pic>
      <p:sp>
        <p:nvSpPr>
          <p:cNvPr id="35" name="Text 27">
            <a:extLst xmlns:a="http://schemas.openxmlformats.org/drawingml/2006/main">
              <a:ext uri="{FF2B5EF4-FFF2-40B4-BE49-F238E27FC236}">
                <a16:creationId xmlns:a16="http://schemas.microsoft.com/office/drawing/2014/main" id="{14A72B1E-8615-4D4C-B67F-C5BBEF0A9D11}"/>
              </a:ext>
            </a:extLst>
          </p:cNvPr>
          <p:cNvSpPr>
            <a:spLocks xmlns:a="http://schemas.openxmlformats.org/drawingml/2006/main" noGrp="1"/>
          </p:cNvSpPr>
          <p:nvPr/>
        </p:nvSpPr>
        <p:spPr>
          <a:xfrm xmlns:a="http://schemas.openxmlformats.org/drawingml/2006/main">
            <a:off x="5248656" y="3904488"/>
            <a:ext cx="2468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Same ranking</a:t>
            </a:r>
            <a:endParaRPr sz="1500"/>
          </a:p>
        </p:txBody>
      </p:sp>
      <p:sp>
        <p:nvSpPr>
          <p:cNvPr id="36" name="Text 28">
            <a:extLst xmlns:a="http://schemas.openxmlformats.org/drawingml/2006/main">
              <a:ext uri="{FF2B5EF4-FFF2-40B4-BE49-F238E27FC236}">
                <a16:creationId xmlns:a16="http://schemas.microsoft.com/office/drawing/2014/main" id="{9658A50C-A03A-4BA7-8B6E-D39AA8B175AB}"/>
              </a:ext>
            </a:extLst>
          </p:cNvPr>
          <p:cNvSpPr>
            <a:spLocks xmlns:a="http://schemas.openxmlformats.org/drawingml/2006/main" noGrp="1"/>
          </p:cNvSpPr>
          <p:nvPr/>
        </p:nvSpPr>
        <p:spPr>
          <a:xfrm xmlns:a="http://schemas.openxmlformats.org/drawingml/2006/main">
            <a:off x="5248656" y="4261104"/>
            <a:ext cx="2468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Local sample: encrypted AUC equals plaintext AUC</a:t>
            </a:r>
            <a:endParaRPr sz="1200"/>
          </a:p>
        </p:txBody>
      </p:sp>
      <p:sp>
        <p:nvSpPr>
          <p:cNvPr id="37" name="Tamizaje, no diagnóstico">
            <a:extLst xmlns:a="http://schemas.openxmlformats.org/drawingml/2006/main">
              <a:ext uri="{FF2B5EF4-FFF2-40B4-BE49-F238E27FC236}">
                <a16:creationId xmlns:a16="http://schemas.microsoft.com/office/drawing/2014/main" id="{E847152B-1957-4ABA-8229-5D3DF2D2A17E}"/>
              </a:ext>
            </a:extLst>
          </p:cNvPr>
          <p:cNvSpPr>
            <a:spLocks xmlns:a="http://schemas.openxmlformats.org/drawingml/2006/main" noGrp="1"/>
          </p:cNvSpPr>
          <p:nvPr/>
        </p:nvSpPr>
        <p:spPr>
          <a:xfrm xmlns:a="http://schemas.openxmlformats.org/drawingml/2006/main">
            <a:off x="8119872" y="3794760"/>
            <a:ext cx="3520440" cy="1097280"/>
          </a:xfrm>
          <a:prstGeom xmlns:a="http://schemas.openxmlformats.org/drawingml/2006/main" prst="roundRect">
            <a:avLst>
              <a:gd name="adj" fmla="val 8333"/>
            </a:avLst>
          </a:prstGeom>
          <a:solidFill xmlns:a="http://schemas.openxmlformats.org/drawingml/2006/main">
            <a:schemeClr val="accent2">
              <a:alpha val="12000"/>
            </a:schemeClr>
          </a:solidFill>
          <a:ln xmlns:a="http://schemas.openxmlformats.org/drawingml/2006/main" w="9525">
            <a:solidFill>
              <a:schemeClr val="accent2">
                <a:alpha val="50000"/>
              </a:schemeClr>
            </a:solidFill>
            <a:prstDash val="solid"/>
          </a:ln>
        </p:spPr>
      </p:sp>
      <p:sp>
        <p:nvSpPr>
          <p:cNvPr id="38" name="Tamizaje, no diagnóstico círculo">
            <a:extLst xmlns:a="http://schemas.openxmlformats.org/drawingml/2006/main">
              <a:ext uri="{FF2B5EF4-FFF2-40B4-BE49-F238E27FC236}">
                <a16:creationId xmlns:a16="http://schemas.microsoft.com/office/drawing/2014/main" id="{66D7FCA0-6176-482E-ABEA-1CFED0477DCD}"/>
              </a:ext>
            </a:extLst>
          </p:cNvPr>
          <p:cNvSpPr>
            <a:spLocks xmlns:a="http://schemas.openxmlformats.org/drawingml/2006/main" noGrp="1"/>
          </p:cNvSpPr>
          <p:nvPr/>
        </p:nvSpPr>
        <p:spPr>
          <a:xfrm xmlns:a="http://schemas.openxmlformats.org/drawingml/2006/main">
            <a:off x="8302752" y="4023360"/>
            <a:ext cx="548640" cy="548640"/>
          </a:xfrm>
          <a:prstGeom xmlns:a="http://schemas.openxmlformats.org/drawingml/2006/main" prst="ellipse">
            <a:avLst/>
          </a:prstGeom>
          <a:solidFill xmlns:a="http://schemas.openxmlformats.org/drawingml/2006/main">
            <a:schemeClr val="accent2"/>
          </a:solidFill>
        </p:spPr>
      </p:sp>
      <p:pic>
        <p:nvPicPr>
          <p:cNvPr id="39" name="Tamizaje, no diagnóstico ícono">
            <a:extLst xmlns:a="http://schemas.openxmlformats.org/drawingml/2006/main">
              <a:ext uri="{FF2B5EF4-FFF2-40B4-BE49-F238E27FC236}">
                <a16:creationId xmlns:a16="http://schemas.microsoft.com/office/drawing/2014/main" id="{B4BBFBE0-9CD7-48FD-936F-DCDB8D4E875D}"/>
              </a:ext>
            </a:extLst>
          </p:cNvPr>
          <p:cNvPicPr>
            <a:picLocks xmlns:a="http://schemas.openxmlformats.org/drawingml/2006/main" noChangeAspect="1"/>
          </p:cNvPicPr>
          <p:nvPr/>
        </p:nvPicPr>
        <p:blipFill>
          <a:blip xmlns:r="http://schemas.openxmlformats.org/officeDocument/2006/relationships" xmlns:a="http://schemas.openxmlformats.org/drawingml/2006/main" r:embed="Rb0d07e89e4fd49a4"/>
          <a:stretch xmlns:a="http://schemas.openxmlformats.org/drawingml/2006/main">
            <a:fillRect l="0" t="0" r="0" b="0"/>
          </a:stretch>
        </p:blipFill>
        <p:spPr>
          <a:xfrm xmlns:a="http://schemas.openxmlformats.org/drawingml/2006/main">
            <a:off x="8423453" y="4144061"/>
            <a:ext cx="307238" cy="307238"/>
          </a:xfrm>
          <a:prstGeom xmlns:a="http://schemas.openxmlformats.org/drawingml/2006/main" prst="rect">
            <a:avLst/>
          </a:prstGeom>
        </p:spPr>
      </p:pic>
      <p:sp>
        <p:nvSpPr>
          <p:cNvPr id="40" name="Text 31">
            <a:extLst xmlns:a="http://schemas.openxmlformats.org/drawingml/2006/main">
              <a:ext uri="{FF2B5EF4-FFF2-40B4-BE49-F238E27FC236}">
                <a16:creationId xmlns:a16="http://schemas.microsoft.com/office/drawing/2014/main" id="{6E81E34E-CFD5-41D5-9987-059AF3ED187D}"/>
              </a:ext>
            </a:extLst>
          </p:cNvPr>
          <p:cNvSpPr>
            <a:spLocks xmlns:a="http://schemas.openxmlformats.org/drawingml/2006/main" noGrp="1"/>
          </p:cNvSpPr>
          <p:nvPr/>
        </p:nvSpPr>
        <p:spPr>
          <a:xfrm xmlns:a="http://schemas.openxmlformats.org/drawingml/2006/main">
            <a:off x="9034272" y="3904488"/>
            <a:ext cx="2468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Screening support</a:t>
            </a:r>
            <a:endParaRPr sz="1500"/>
          </a:p>
        </p:txBody>
      </p:sp>
      <p:sp>
        <p:nvSpPr>
          <p:cNvPr id="41" name="Text 32">
            <a:extLst xmlns:a="http://schemas.openxmlformats.org/drawingml/2006/main">
              <a:ext uri="{FF2B5EF4-FFF2-40B4-BE49-F238E27FC236}">
                <a16:creationId xmlns:a16="http://schemas.microsoft.com/office/drawing/2014/main" id="{EADC0458-C119-43A7-95AB-3CFCD0363B74}"/>
              </a:ext>
            </a:extLst>
          </p:cNvPr>
          <p:cNvSpPr>
            <a:spLocks xmlns:a="http://schemas.openxmlformats.org/drawingml/2006/main" noGrp="1"/>
          </p:cNvSpPr>
          <p:nvPr/>
        </p:nvSpPr>
        <p:spPr>
          <a:xfrm xmlns:a="http://schemas.openxmlformats.org/drawingml/2006/main">
            <a:off x="9034272" y="4261104"/>
            <a:ext cx="24688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Prioritize confirmatory glucose testing; this is not a diagnosis</a:t>
            </a:r>
            <a:endParaRPr sz="1200"/>
          </a:p>
        </p:txBody>
      </p:sp>
      <p:sp>
        <p:nvSpPr>
          <p:cNvPr id="42" name="Text 33">
            <a:extLst xmlns:a="http://schemas.openxmlformats.org/drawingml/2006/main">
              <a:ext uri="{FF2B5EF4-FFF2-40B4-BE49-F238E27FC236}">
                <a16:creationId xmlns:a16="http://schemas.microsoft.com/office/drawing/2014/main" id="{2C3FB9F2-1EF4-4D4A-BFC0-6F6C4D398CAB}"/>
              </a:ext>
            </a:extLst>
          </p:cNvPr>
          <p:cNvSpPr>
            <a:spLocks xmlns:a="http://schemas.openxmlformats.org/drawingml/2006/main" noGrp="1"/>
          </p:cNvSpPr>
          <p:nvPr/>
        </p:nvSpPr>
        <p:spPr>
          <a:xfrm xmlns:a="http://schemas.openxmlformats.org/drawingml/2006/main">
            <a:off x="548640" y="5120640"/>
            <a:ext cx="1109167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chemeClr val="bg1"/>
                </a:solidFill>
              </a:rPr>
              <a:t>AI sees the risk. Nobody sees the patient.</a:t>
            </a:r>
            <a:endParaRPr sz="2600"/>
          </a:p>
        </p:txBody>
      </p:sp>
      <p:sp>
        <p:nvSpPr>
          <p:cNvPr id="43" name="Text 34">
            <a:extLst xmlns:a="http://schemas.openxmlformats.org/drawingml/2006/main">
              <a:ext uri="{FF2B5EF4-FFF2-40B4-BE49-F238E27FC236}">
                <a16:creationId xmlns:a16="http://schemas.microsoft.com/office/drawing/2014/main" id="{5D929F97-76AA-4BD2-97C0-3B521FBA3CD8}"/>
              </a:ext>
            </a:extLst>
          </p:cNvPr>
          <p:cNvSpPr>
            <a:spLocks xmlns:a="http://schemas.openxmlformats.org/drawingml/2006/main" noGrp="1"/>
          </p:cNvSpPr>
          <p:nvPr/>
        </p:nvSpPr>
        <p:spPr>
          <a:xfrm xmlns:a="http://schemas.openxmlformats.org/drawingml/2006/main">
            <a:off x="548640" y="5641848"/>
            <a:ext cx="1109167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Scope: the risk service receives ciphertexts only. The planned LinuxONE demo uses two containers on one VM with a trusted administrator and synthetic patients. VM execution is still pending.</a:t>
            </a:r>
            <a:endParaRPr sz="1100"/>
          </a:p>
        </p:txBody>
      </p:sp>
      <p:sp>
        <p:nvSpPr>
          <p:cNvPr id="44" name="Slide Number Placeholder 0">
            <a:extLst xmlns:a="http://schemas.openxmlformats.org/drawingml/2006/main">
              <a:ext uri="{FF2B5EF4-FFF2-40B4-BE49-F238E27FC236}">
                <a16:creationId xmlns:a16="http://schemas.microsoft.com/office/drawing/2014/main" id="{C2A89A8F-6ACC-41AB-AD7A-A61E621FC0F1}"/>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21325728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6533432-8C2D-40B0-B54B-55868719ADFF}"/>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03 · HOMOMORPHIC ENCRYPTION</a:t>
            </a:r>
            <a:endParaRPr sz="1200"/>
          </a:p>
        </p:txBody>
      </p:sp>
      <p:sp>
        <p:nvSpPr>
          <p:cNvPr id="3" name="Text 1">
            <a:extLst xmlns:a="http://schemas.openxmlformats.org/drawingml/2006/main">
              <a:ext uri="{FF2B5EF4-FFF2-40B4-BE49-F238E27FC236}">
                <a16:creationId xmlns:a16="http://schemas.microsoft.com/office/drawing/2014/main" id="{34EAA67D-365A-4F05-A8E0-BEDC1602C917}"/>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Calculate a score without decrypting inputs</a:t>
            </a:r>
            <a:endParaRPr sz="3000"/>
          </a:p>
        </p:txBody>
      </p:sp>
      <p:pic xmlns:a="http://schemas.openxmlformats.org/drawingml/2006/main">
        <p:nvPicPr>
          <p:cNvPr id="304" name="Deck diagram slide 4" descr="Encrypted dot product: ciphertexts raised to integer weights times Enc(B) give Enc(z); the hospital decrypts z"/>
          <p:cNvPicPr>
            <a:picLocks noChangeAspect="1"/>
          </p:cNvPicPr>
          <p:nvPr/>
        </p:nvPicPr>
        <p:blipFill>
          <a:blip xmlns:r="http://schemas.openxmlformats.org/officeDocument/2006/relationships" r:embed="RdeckDiagram4"/>
          <a:stretch>
            <a:fillRect/>
          </a:stretch>
        </p:blipFill>
        <p:spPr>
          <a:xfrm>
            <a:off x="548640" y="1783080"/>
            <a:ext cx="5989320" cy="2194560"/>
          </a:xfrm>
          <a:prstGeom prst="rect">
            <a:avLst/>
          </a:prstGeom>
        </p:spPr>
      </p:pic>
      <p:sp>
        <p:nvSpPr>
          <p:cNvPr id="10" name="En tránsito">
            <a:extLst xmlns:a="http://schemas.openxmlformats.org/drawingml/2006/main">
              <a:ext uri="{FF2B5EF4-FFF2-40B4-BE49-F238E27FC236}">
                <a16:creationId xmlns:a16="http://schemas.microsoft.com/office/drawing/2014/main" id="{E4AE1323-2EAD-4526-ABE9-F825D6EAF45E}"/>
              </a:ext>
            </a:extLst>
          </p:cNvPr>
          <p:cNvSpPr>
            <a:spLocks xmlns:a="http://schemas.openxmlformats.org/drawingml/2006/main" noGrp="1"/>
          </p:cNvSpPr>
          <p:nvPr/>
        </p:nvSpPr>
        <p:spPr>
          <a:xfrm xmlns:a="http://schemas.openxmlformats.org/drawingml/2006/main">
            <a:off x="6812280" y="1783080"/>
            <a:ext cx="4828032" cy="658368"/>
          </a:xfrm>
          <a:prstGeom xmlns:a="http://schemas.openxmlformats.org/drawingml/2006/main" prst="roundRect">
            <a:avLst>
              <a:gd name="adj" fmla="val 13889"/>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11" name="En tránsito círculo">
            <a:extLst xmlns:a="http://schemas.openxmlformats.org/drawingml/2006/main">
              <a:ext uri="{FF2B5EF4-FFF2-40B4-BE49-F238E27FC236}">
                <a16:creationId xmlns:a16="http://schemas.microsoft.com/office/drawing/2014/main" id="{0241EEBB-34A4-41DE-A576-8784EA985012}"/>
              </a:ext>
            </a:extLst>
          </p:cNvPr>
          <p:cNvSpPr>
            <a:spLocks xmlns:a="http://schemas.openxmlformats.org/drawingml/2006/main" noGrp="1"/>
          </p:cNvSpPr>
          <p:nvPr/>
        </p:nvSpPr>
        <p:spPr>
          <a:xfrm xmlns:a="http://schemas.openxmlformats.org/drawingml/2006/main">
            <a:off x="6949440" y="1901952"/>
            <a:ext cx="420624" cy="420624"/>
          </a:xfrm>
          <a:prstGeom xmlns:a="http://schemas.openxmlformats.org/drawingml/2006/main" prst="ellipse">
            <a:avLst/>
          </a:prstGeom>
          <a:solidFill xmlns:a="http://schemas.openxmlformats.org/drawingml/2006/main">
            <a:schemeClr val="accent1"/>
          </a:solidFill>
        </p:spPr>
      </p:sp>
      <p:pic>
        <p:nvPicPr>
          <p:cNvPr id="12" name="En tránsito ícono">
            <a:extLst xmlns:a="http://schemas.openxmlformats.org/drawingml/2006/main">
              <a:ext uri="{FF2B5EF4-FFF2-40B4-BE49-F238E27FC236}">
                <a16:creationId xmlns:a16="http://schemas.microsoft.com/office/drawing/2014/main" id="{4EFE8591-DB7D-44D0-8831-D75B318C8412}"/>
              </a:ext>
            </a:extLst>
          </p:cNvPr>
          <p:cNvPicPr>
            <a:picLocks xmlns:a="http://schemas.openxmlformats.org/drawingml/2006/main" noChangeAspect="1"/>
          </p:cNvPicPr>
          <p:nvPr/>
        </p:nvPicPr>
        <p:blipFill>
          <a:blip xmlns:r="http://schemas.openxmlformats.org/officeDocument/2006/relationships" xmlns:a="http://schemas.openxmlformats.org/drawingml/2006/main" r:embed="R0c03b34e40d34156"/>
          <a:stretch xmlns:a="http://schemas.openxmlformats.org/drawingml/2006/main">
            <a:fillRect l="0" t="0" r="0" b="0"/>
          </a:stretch>
        </p:blipFill>
        <p:spPr>
          <a:xfrm xmlns:a="http://schemas.openxmlformats.org/drawingml/2006/main">
            <a:off x="7041977" y="1994489"/>
            <a:ext cx="235549" cy="235549"/>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610178B8-6968-4746-BB08-BC9424EDB41E}"/>
              </a:ext>
            </a:extLst>
          </p:cNvPr>
          <p:cNvSpPr>
            <a:spLocks xmlns:a="http://schemas.openxmlformats.org/drawingml/2006/main" noGrp="1"/>
          </p:cNvSpPr>
          <p:nvPr/>
        </p:nvSpPr>
        <p:spPr>
          <a:xfrm xmlns:a="http://schemas.openxmlformats.org/drawingml/2006/main">
            <a:off x="7498080" y="1837944"/>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In transit</a:t>
            </a:r>
            <a:endParaRPr sz="1400"/>
          </a:p>
        </p:txBody>
      </p:sp>
      <p:sp>
        <p:nvSpPr>
          <p:cNvPr id="14" name="Text 11">
            <a:extLst xmlns:a="http://schemas.openxmlformats.org/drawingml/2006/main">
              <a:ext uri="{FF2B5EF4-FFF2-40B4-BE49-F238E27FC236}">
                <a16:creationId xmlns:a16="http://schemas.microsoft.com/office/drawing/2014/main" id="{DC7B0697-5E9C-404D-8CF9-9ADBB56F7195}"/>
              </a:ext>
            </a:extLst>
          </p:cNvPr>
          <p:cNvSpPr>
            <a:spLocks xmlns:a="http://schemas.openxmlformats.org/drawingml/2006/main" noGrp="1"/>
          </p:cNvSpPr>
          <p:nvPr/>
        </p:nvSpPr>
        <p:spPr>
          <a:xfrm xmlns:a="http://schemas.openxmlformats.org/drawingml/2006/main">
            <a:off x="8732520" y="1837944"/>
            <a:ext cx="2788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bg2"/>
                </a:solidFill>
              </a:rPr>
              <a:t>Mutual TLS 1.3 between hospital and service</a:t>
            </a:r>
            <a:endParaRPr sz="1200"/>
          </a:p>
        </p:txBody>
      </p:sp>
      <p:sp>
        <p:nvSpPr>
          <p:cNvPr id="15" name="En reposo">
            <a:extLst xmlns:a="http://schemas.openxmlformats.org/drawingml/2006/main">
              <a:ext uri="{FF2B5EF4-FFF2-40B4-BE49-F238E27FC236}">
                <a16:creationId xmlns:a16="http://schemas.microsoft.com/office/drawing/2014/main" id="{7CB95DDC-2E81-4721-8E39-A27E7BB13FC9}"/>
              </a:ext>
            </a:extLst>
          </p:cNvPr>
          <p:cNvSpPr>
            <a:spLocks xmlns:a="http://schemas.openxmlformats.org/drawingml/2006/main" noGrp="1"/>
          </p:cNvSpPr>
          <p:nvPr/>
        </p:nvSpPr>
        <p:spPr>
          <a:xfrm xmlns:a="http://schemas.openxmlformats.org/drawingml/2006/main">
            <a:off x="6812280" y="2532888"/>
            <a:ext cx="4828032" cy="658368"/>
          </a:xfrm>
          <a:prstGeom xmlns:a="http://schemas.openxmlformats.org/drawingml/2006/main" prst="roundRect">
            <a:avLst>
              <a:gd name="adj" fmla="val 13889"/>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16" name="En reposo círculo">
            <a:extLst xmlns:a="http://schemas.openxmlformats.org/drawingml/2006/main">
              <a:ext uri="{FF2B5EF4-FFF2-40B4-BE49-F238E27FC236}">
                <a16:creationId xmlns:a16="http://schemas.microsoft.com/office/drawing/2014/main" id="{B20FB49E-A688-455B-B835-FC8F8164EF1E}"/>
              </a:ext>
            </a:extLst>
          </p:cNvPr>
          <p:cNvSpPr>
            <a:spLocks xmlns:a="http://schemas.openxmlformats.org/drawingml/2006/main" noGrp="1"/>
          </p:cNvSpPr>
          <p:nvPr/>
        </p:nvSpPr>
        <p:spPr>
          <a:xfrm xmlns:a="http://schemas.openxmlformats.org/drawingml/2006/main">
            <a:off x="6949440" y="2651760"/>
            <a:ext cx="420624" cy="420624"/>
          </a:xfrm>
          <a:prstGeom xmlns:a="http://schemas.openxmlformats.org/drawingml/2006/main" prst="ellipse">
            <a:avLst/>
          </a:prstGeom>
          <a:solidFill xmlns:a="http://schemas.openxmlformats.org/drawingml/2006/main">
            <a:schemeClr val="accent1"/>
          </a:solidFill>
        </p:spPr>
      </p:sp>
      <p:pic>
        <p:nvPicPr>
          <p:cNvPr id="17" name="En reposo ícono">
            <a:extLst xmlns:a="http://schemas.openxmlformats.org/drawingml/2006/main">
              <a:ext uri="{FF2B5EF4-FFF2-40B4-BE49-F238E27FC236}">
                <a16:creationId xmlns:a16="http://schemas.microsoft.com/office/drawing/2014/main" id="{907F54FA-05E2-4474-B488-20ACF5529452}"/>
              </a:ext>
            </a:extLst>
          </p:cNvPr>
          <p:cNvPicPr>
            <a:picLocks xmlns:a="http://schemas.openxmlformats.org/drawingml/2006/main" noChangeAspect="1"/>
          </p:cNvPicPr>
          <p:nvPr/>
        </p:nvPicPr>
        <p:blipFill>
          <a:blip xmlns:r="http://schemas.openxmlformats.org/officeDocument/2006/relationships" xmlns:a="http://schemas.openxmlformats.org/drawingml/2006/main" r:embed="Rd9d6ed8ecb0a4976"/>
          <a:stretch xmlns:a="http://schemas.openxmlformats.org/drawingml/2006/main">
            <a:fillRect l="0" t="0" r="0" b="0"/>
          </a:stretch>
        </p:blipFill>
        <p:spPr>
          <a:xfrm xmlns:a="http://schemas.openxmlformats.org/drawingml/2006/main">
            <a:off x="7041977" y="2744297"/>
            <a:ext cx="235549" cy="235549"/>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57651D80-A3F8-488C-A5A0-7B62AB72A7EF}"/>
              </a:ext>
            </a:extLst>
          </p:cNvPr>
          <p:cNvSpPr>
            <a:spLocks xmlns:a="http://schemas.openxmlformats.org/drawingml/2006/main" noGrp="1"/>
          </p:cNvSpPr>
          <p:nvPr/>
        </p:nvSpPr>
        <p:spPr>
          <a:xfrm xmlns:a="http://schemas.openxmlformats.org/drawingml/2006/main">
            <a:off x="7498080" y="2587752"/>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At rest</a:t>
            </a:r>
            <a:endParaRPr sz="1400"/>
          </a:p>
        </p:txBody>
      </p:sp>
      <p:sp>
        <p:nvSpPr>
          <p:cNvPr id="19" name="Text 15">
            <a:extLst xmlns:a="http://schemas.openxmlformats.org/drawingml/2006/main">
              <a:ext uri="{FF2B5EF4-FFF2-40B4-BE49-F238E27FC236}">
                <a16:creationId xmlns:a16="http://schemas.microsoft.com/office/drawing/2014/main" id="{E7E28C50-35FB-4EEB-8BB9-B7E16C0C27C2}"/>
              </a:ext>
            </a:extLst>
          </p:cNvPr>
          <p:cNvSpPr>
            <a:spLocks xmlns:a="http://schemas.openxmlformats.org/drawingml/2006/main" noGrp="1"/>
          </p:cNvSpPr>
          <p:nvPr/>
        </p:nvSpPr>
        <p:spPr>
          <a:xfrm xmlns:a="http://schemas.openxmlformats.org/drawingml/2006/main">
            <a:off x="8732520" y="2587752"/>
            <a:ext cx="2788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bg2"/>
                </a:solidFill>
              </a:rPr>
              <a:t>AES-256-GCM in the hospital vault</a:t>
            </a:r>
            <a:endParaRPr sz="1200"/>
          </a:p>
        </p:txBody>
      </p:sp>
      <p:sp>
        <p:nvSpPr>
          <p:cNvPr id="20" name="En uso">
            <a:extLst xmlns:a="http://schemas.openxmlformats.org/drawingml/2006/main">
              <a:ext uri="{FF2B5EF4-FFF2-40B4-BE49-F238E27FC236}">
                <a16:creationId xmlns:a16="http://schemas.microsoft.com/office/drawing/2014/main" id="{17439297-157A-4BC1-BB93-3133BCFBA45C}"/>
              </a:ext>
            </a:extLst>
          </p:cNvPr>
          <p:cNvSpPr>
            <a:spLocks xmlns:a="http://schemas.openxmlformats.org/drawingml/2006/main" noGrp="1"/>
          </p:cNvSpPr>
          <p:nvPr/>
        </p:nvSpPr>
        <p:spPr>
          <a:xfrm xmlns:a="http://schemas.openxmlformats.org/drawingml/2006/main">
            <a:off x="6812280" y="3282696"/>
            <a:ext cx="4828032" cy="658368"/>
          </a:xfrm>
          <a:prstGeom xmlns:a="http://schemas.openxmlformats.org/drawingml/2006/main" prst="roundRect">
            <a:avLst>
              <a:gd name="adj" fmla="val 13889"/>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21" name="En uso círculo">
            <a:extLst xmlns:a="http://schemas.openxmlformats.org/drawingml/2006/main">
              <a:ext uri="{FF2B5EF4-FFF2-40B4-BE49-F238E27FC236}">
                <a16:creationId xmlns:a16="http://schemas.microsoft.com/office/drawing/2014/main" id="{BE6EFB16-510B-4E7D-AAEF-388519BAD095}"/>
              </a:ext>
            </a:extLst>
          </p:cNvPr>
          <p:cNvSpPr>
            <a:spLocks xmlns:a="http://schemas.openxmlformats.org/drawingml/2006/main" noGrp="1"/>
          </p:cNvSpPr>
          <p:nvPr/>
        </p:nvSpPr>
        <p:spPr>
          <a:xfrm xmlns:a="http://schemas.openxmlformats.org/drawingml/2006/main">
            <a:off x="6949440" y="3401568"/>
            <a:ext cx="420624" cy="420624"/>
          </a:xfrm>
          <a:prstGeom xmlns:a="http://schemas.openxmlformats.org/drawingml/2006/main" prst="ellipse">
            <a:avLst/>
          </a:prstGeom>
          <a:solidFill xmlns:a="http://schemas.openxmlformats.org/drawingml/2006/main">
            <a:schemeClr val="accent1"/>
          </a:solidFill>
        </p:spPr>
      </p:sp>
      <p:pic>
        <p:nvPicPr>
          <p:cNvPr id="22" name="En uso ícono">
            <a:extLst xmlns:a="http://schemas.openxmlformats.org/drawingml/2006/main">
              <a:ext uri="{FF2B5EF4-FFF2-40B4-BE49-F238E27FC236}">
                <a16:creationId xmlns:a16="http://schemas.microsoft.com/office/drawing/2014/main" id="{3F066339-162E-4A3F-AB38-390803DC1B87}"/>
              </a:ext>
            </a:extLst>
          </p:cNvPr>
          <p:cNvPicPr>
            <a:picLocks xmlns:a="http://schemas.openxmlformats.org/drawingml/2006/main" noChangeAspect="1"/>
          </p:cNvPicPr>
          <p:nvPr/>
        </p:nvPicPr>
        <p:blipFill>
          <a:blip xmlns:r="http://schemas.openxmlformats.org/officeDocument/2006/relationships" xmlns:a="http://schemas.openxmlformats.org/drawingml/2006/main" r:embed="R02e3a590536443ec"/>
          <a:stretch xmlns:a="http://schemas.openxmlformats.org/drawingml/2006/main">
            <a:fillRect l="0" t="0" r="0" b="0"/>
          </a:stretch>
        </p:blipFill>
        <p:spPr>
          <a:xfrm xmlns:a="http://schemas.openxmlformats.org/drawingml/2006/main">
            <a:off x="7041977" y="3494105"/>
            <a:ext cx="235549" cy="235549"/>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FB0B5BFB-CA40-4A1C-98AB-F84B2404BE0E}"/>
              </a:ext>
            </a:extLst>
          </p:cNvPr>
          <p:cNvSpPr>
            <a:spLocks xmlns:a="http://schemas.openxmlformats.org/drawingml/2006/main" noGrp="1"/>
          </p:cNvSpPr>
          <p:nvPr/>
        </p:nvSpPr>
        <p:spPr>
          <a:xfrm xmlns:a="http://schemas.openxmlformats.org/drawingml/2006/main">
            <a:off x="7498080" y="3337560"/>
            <a:ext cx="1280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During use</a:t>
            </a:r>
            <a:endParaRPr sz="1400"/>
          </a:p>
        </p:txBody>
      </p:sp>
      <p:sp>
        <p:nvSpPr>
          <p:cNvPr id="24" name="Text 19">
            <a:extLst xmlns:a="http://schemas.openxmlformats.org/drawingml/2006/main">
              <a:ext uri="{FF2B5EF4-FFF2-40B4-BE49-F238E27FC236}">
                <a16:creationId xmlns:a16="http://schemas.microsoft.com/office/drawing/2014/main" id="{AF7374AB-213F-4702-833B-911464EF439F}"/>
              </a:ext>
            </a:extLst>
          </p:cNvPr>
          <p:cNvSpPr>
            <a:spLocks xmlns:a="http://schemas.openxmlformats.org/drawingml/2006/main" noGrp="1"/>
          </p:cNvSpPr>
          <p:nvPr/>
        </p:nvSpPr>
        <p:spPr>
          <a:xfrm xmlns:a="http://schemas.openxmlformats.org/drawingml/2006/main">
            <a:off x="8732520" y="3337560"/>
            <a:ext cx="2788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bg2"/>
                </a:solidFill>
              </a:rPr>
              <a:t>2048-bit Paillier: calculation without decryption</a:t>
            </a:r>
            <a:endParaRPr sz="1200"/>
          </a:p>
        </p:txBody>
      </p:sp>
      <p:sp>
        <p:nvSpPr>
          <p:cNvPr id="25" name="Text 20">
            <a:extLst xmlns:a="http://schemas.openxmlformats.org/drawingml/2006/main">
              <a:ext uri="{FF2B5EF4-FFF2-40B4-BE49-F238E27FC236}">
                <a16:creationId xmlns:a16="http://schemas.microsoft.com/office/drawing/2014/main" id="{A20AD98B-AD25-424F-B488-2D7CF0D3D25D}"/>
              </a:ext>
            </a:extLst>
          </p:cNvPr>
          <p:cNvSpPr>
            <a:spLocks xmlns:a="http://schemas.openxmlformats.org/drawingml/2006/main" noGrp="1"/>
          </p:cNvSpPr>
          <p:nvPr/>
        </p:nvSpPr>
        <p:spPr>
          <a:xfrm xmlns:a="http://schemas.openxmlformats.org/drawingml/2006/main">
            <a:off x="548640" y="4114800"/>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bg1"/>
                </a:solidFill>
              </a:rPr>
              <a:t>Who can see what?</a:t>
            </a:r>
            <a:endParaRPr sz="1600"/>
          </a:p>
        </p:txBody>
      </p:sp>
      <p:graphicFrame>
        <p:nvGraphicFramePr>
          <p:cNvPr id="26" name="Quién ve qué">
            <a:extLst xmlns:a="http://schemas.openxmlformats.org/drawingml/2006/main">
              <a:ext uri="{FF2B5EF4-FFF2-40B4-BE49-F238E27FC236}">
                <a16:creationId xmlns:a16="http://schemas.microsoft.com/office/drawing/2014/main" id="{41B6BB4C-AC98-493F-82FE-B292B9318992}"/>
              </a:ext>
            </a:extLst>
          </p:cNvPr>
          <p:cNvGraphicFramePr/>
          <p:nvPr/>
        </p:nvGraphicFramePr>
        <p:xfrm>
          <a:off xmlns:a="http://schemas.openxmlformats.org/drawingml/2006/main" x="548640" y="4480560"/>
          <a:ext xmlns:a="http://schemas.openxmlformats.org/drawingml/2006/main" cx="11091672" cy="914400"/>
        </p:xfrm>
        <a:graphic xmlns:a="http://schemas.openxmlformats.org/drawingml/2006/main">
          <a:graphicData uri="http://schemas.openxmlformats.org/drawingml/2006/table">
            <a:tbl>
              <a:tblPr/>
              <a:tblGrid>
                <a:gridCol w="3931920"/>
                <a:gridCol w="3749040"/>
                <a:gridCol w="3410712"/>
              </a:tblGrid>
              <a:tr h="301752">
                <a:tc>
                  <a:txBody>
                    <a:bodyPr/>
                    <a:lstStyle/>
                    <a:p>
                      <a:pPr marL="0" indent="0">
                        <a:buNone/>
                      </a:pPr>
                      <a:r>
                        <a:rPr sz="1200" b="1">
                          <a:solidFill>
                            <a:schemeClr val="accent5"/>
                          </a:solidFill>
                          <a:latin typeface="Arial"/>
                          <a:ea typeface="Arial"/>
                          <a:cs typeface="Arial"/>
                        </a:rPr>
                        <a:t>Component</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tx2"/>
                    </a:solidFill>
                  </a:tcPr>
                </a:tc>
                <a:tc>
                  <a:txBody>
                    <a:bodyPr/>
                    <a:lstStyle/>
                    <a:p>
                      <a:pPr marL="0" indent="0">
                        <a:buNone/>
                      </a:pPr>
                      <a:r>
                        <a:rPr sz="1200" b="1">
                          <a:solidFill>
                            <a:schemeClr val="accent5"/>
                          </a:solidFill>
                          <a:latin typeface="Arial"/>
                          <a:ea typeface="Arial"/>
                          <a:cs typeface="Arial"/>
                        </a:rPr>
                        <a:t>Patient inputs</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tx2"/>
                    </a:solidFill>
                  </a:tcPr>
                </a:tc>
                <a:tc>
                  <a:txBody>
                    <a:bodyPr/>
                    <a:lstStyle/>
                    <a:p>
                      <a:pPr marL="0" indent="0">
                        <a:buNone/>
                      </a:pPr>
                      <a:r>
                        <a:rPr sz="1200" b="1">
                          <a:solidFill>
                            <a:schemeClr val="accent5"/>
                          </a:solidFill>
                          <a:latin typeface="Arial"/>
                          <a:ea typeface="Arial"/>
                          <a:cs typeface="Arial"/>
                        </a:rPr>
                        <a:t>Risk result</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solidFill>
                      <a:schemeClr val="tx2"/>
                    </a:solidFill>
                  </a:tcPr>
                </a:tc>
              </a:tr>
              <a:tr h="301752">
                <a:tc>
                  <a:txBody>
                    <a:bodyPr/>
                    <a:lstStyle/>
                    <a:p>
                      <a:pPr marL="0" indent="0">
                        <a:buNone/>
                      </a:pPr>
                      <a:r>
                        <a:rPr sz="1200">
                          <a:solidFill>
                            <a:schemeClr val="bg1"/>
                          </a:solidFill>
                          <a:latin typeface="Arial"/>
                          <a:ea typeface="Arial"/>
                          <a:cs typeface="Arial"/>
                        </a:rPr>
                        <a:t>Hospital (private-key holder)</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a:solidFill>
                            <a:schemeClr val="bg2"/>
                          </a:solidFill>
                          <a:latin typeface="Arial"/>
                          <a:ea typeface="Arial"/>
                          <a:cs typeface="Arial"/>
                        </a:rPr>
                        <a:t>Plaintext: its own patients</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a:solidFill>
                            <a:schemeClr val="bg2"/>
                          </a:solidFill>
                          <a:latin typeface="Arial"/>
                          <a:ea typeface="Arial"/>
                          <a:cs typeface="Arial"/>
                        </a:rPr>
                        <a:t>Plaintext</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301752">
                <a:tc>
                  <a:txBody>
                    <a:bodyPr/>
                    <a:lstStyle/>
                    <a:p>
                      <a:pPr marL="0" indent="0">
                        <a:buNone/>
                      </a:pPr>
                      <a:r>
                        <a:rPr sz="1200">
                          <a:solidFill>
                            <a:schemeClr val="bg1"/>
                          </a:solidFill>
                          <a:latin typeface="Arial"/>
                          <a:ea typeface="Arial"/>
                          <a:cs typeface="Arial"/>
                        </a:rPr>
                        <a:t>Risk service (no private key)</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Ciphertexts only</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Ciphertext only</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301752">
                <a:tc>
                  <a:txBody>
                    <a:bodyPr/>
                    <a:lstStyle/>
                    <a:p>
                      <a:pPr marL="0" indent="0">
                        <a:buNone/>
                      </a:pPr>
                      <a:r>
                        <a:rPr sz="1200">
                          <a:solidFill>
                            <a:schemeClr val="bg1"/>
                          </a:solidFill>
                          <a:latin typeface="Arial"/>
                          <a:ea typeface="Arial"/>
                          <a:cs typeface="Arial"/>
                        </a:rPr>
                        <a:t>Hospital vault records</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AES-256-GCM ciphertext</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AES-256-GCM ciphertext</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r h="301752">
                <a:tc>
                  <a:txBody>
                    <a:bodyPr/>
                    <a:lstStyle/>
                    <a:p>
                      <a:pPr marL="0" indent="0">
                        <a:buNone/>
                      </a:pPr>
                      <a:r>
                        <a:rPr sz="1200">
                          <a:solidFill>
                            <a:schemeClr val="bg1"/>
                          </a:solidFill>
                          <a:latin typeface="Arial"/>
                          <a:ea typeface="Arial"/>
                          <a:cs typeface="Arial"/>
                        </a:rPr>
                        <a:t>Service logs</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No: IDs, ms and byte counts only</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c>
                  <a:txBody>
                    <a:bodyPr/>
                    <a:lstStyle/>
                    <a:p>
                      <a:pPr marL="0" indent="0">
                        <a:buNone/>
                      </a:pPr>
                      <a:r>
                        <a:rPr sz="1200" b="1">
                          <a:solidFill>
                            <a:schemeClr val="accent2"/>
                          </a:solidFill>
                          <a:latin typeface="Arial"/>
                          <a:ea typeface="Arial"/>
                          <a:cs typeface="Arial"/>
                        </a:rPr>
                        <a:t>No</a:t>
                      </a:r>
                      <a:endParaRPr sz="1200">
                        <a:latin typeface="Arial"/>
                        <a:ea typeface="Arial"/>
                        <a:cs typeface="Arial"/>
                      </a:endParaRPr>
                    </a:p>
                  </a:txBody>
                  <a:tcPr marL="109728" marR="109728" marT="0" marB="0" anchor="ctr">
                    <a:lnL w="9525" cmpd="sng">
                      <a:solidFill>
                        <a:srgbClr val="2E2E3A"/>
                      </a:solidFill>
                      <a:prstDash val="solid"/>
                    </a:lnL>
                    <a:lnR w="9525" cmpd="sng">
                      <a:solidFill>
                        <a:srgbClr val="2E2E3A"/>
                      </a:solidFill>
                      <a:prstDash val="solid"/>
                    </a:lnR>
                    <a:lnT w="9525" cmpd="sng">
                      <a:solidFill>
                        <a:srgbClr val="2E2E3A"/>
                      </a:solidFill>
                      <a:prstDash val="solid"/>
                    </a:lnT>
                    <a:lnB w="9525" cmpd="sng">
                      <a:solidFill>
                        <a:srgbClr val="2E2E3A"/>
                      </a:solidFill>
                      <a:prstDash val="solid"/>
                    </a:lnB>
                  </a:tcPr>
                </a:tc>
              </a:tr>
            </a:tbl>
          </a:graphicData>
        </a:graphic>
      </p:graphicFrame>
      <p:sp>
        <p:nvSpPr>
          <p:cNvPr id="27" name="Slide Number Placeholder 0">
            <a:extLst xmlns:a="http://schemas.openxmlformats.org/drawingml/2006/main">
              <a:ext uri="{FF2B5EF4-FFF2-40B4-BE49-F238E27FC236}">
                <a16:creationId xmlns:a16="http://schemas.microsoft.com/office/drawing/2014/main" id="{4E296B7B-EE99-4C60-92F6-EF9A347F153A}"/>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455708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640BF8C6-1D07-4173-936C-61282B3082DD}"/>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04 · WHY IBM Z</a:t>
            </a:r>
            <a:endParaRPr sz="1200"/>
          </a:p>
        </p:txBody>
      </p:sp>
      <p:sp>
        <p:nvSpPr>
          <p:cNvPr id="3" name="Text 1">
            <a:extLst xmlns:a="http://schemas.openxmlformats.org/drawingml/2006/main">
              <a:ext uri="{FF2B5EF4-FFF2-40B4-BE49-F238E27FC236}">
                <a16:creationId xmlns:a16="http://schemas.microsoft.com/office/drawing/2014/main" id="{13067362-509E-44A2-9E00-A91D3D01E2DB}"/>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Two containers; the private key stays at the hospital</a:t>
            </a:r>
            <a:endParaRPr sz="3000"/>
          </a:p>
        </p:txBody>
      </p:sp>
      <p:pic xmlns:a="http://schemas.openxmlformats.org/drawingml/2006/main">
        <p:nvPicPr>
          <p:cNvPr id="305" name="Deck diagram slide 5" descr="Architecture on IBM LinuxONE: hospital container with the private key and vault, keyless risk service, mutual TLS 1.3 channel"/>
          <p:cNvPicPr>
            <a:picLocks noChangeAspect="1"/>
          </p:cNvPicPr>
          <p:nvPr/>
        </p:nvPicPr>
        <p:blipFill>
          <a:blip xmlns:r="http://schemas.openxmlformats.org/officeDocument/2006/relationships" r:embed="RdeckDiagram5"/>
          <a:stretch>
            <a:fillRect/>
          </a:stretch>
        </p:blipFill>
        <p:spPr>
          <a:xfrm>
            <a:off x="731520" y="1737360"/>
            <a:ext cx="7269480" cy="4122989"/>
          </a:xfrm>
          <a:prstGeom prst="rect">
            <a:avLst/>
          </a:prstGeom>
        </p:spPr>
      </p:pic>
      <p:sp>
        <p:nvSpPr>
          <p:cNvPr id="40" name="Cómputo pesado, en serio círculo">
            <a:extLst xmlns:a="http://schemas.openxmlformats.org/drawingml/2006/main">
              <a:ext uri="{FF2B5EF4-FFF2-40B4-BE49-F238E27FC236}">
                <a16:creationId xmlns:a16="http://schemas.microsoft.com/office/drawing/2014/main" id="{AB93805A-64F3-4103-9232-06249FF42DED}"/>
              </a:ext>
            </a:extLst>
          </p:cNvPr>
          <p:cNvSpPr>
            <a:spLocks xmlns:a="http://schemas.openxmlformats.org/drawingml/2006/main" noGrp="1"/>
          </p:cNvSpPr>
          <p:nvPr/>
        </p:nvSpPr>
        <p:spPr>
          <a:xfrm xmlns:a="http://schemas.openxmlformats.org/drawingml/2006/main">
            <a:off x="8458200" y="1874520"/>
            <a:ext cx="502920" cy="502920"/>
          </a:xfrm>
          <a:prstGeom xmlns:a="http://schemas.openxmlformats.org/drawingml/2006/main" prst="ellipse">
            <a:avLst/>
          </a:prstGeom>
          <a:solidFill xmlns:a="http://schemas.openxmlformats.org/drawingml/2006/main">
            <a:schemeClr val="accent1"/>
          </a:solidFill>
        </p:spPr>
      </p:sp>
      <p:pic>
        <p:nvPicPr>
          <p:cNvPr id="41" name="Cómputo pesado, en serio ícono">
            <a:extLst xmlns:a="http://schemas.openxmlformats.org/drawingml/2006/main">
              <a:ext uri="{FF2B5EF4-FFF2-40B4-BE49-F238E27FC236}">
                <a16:creationId xmlns:a16="http://schemas.microsoft.com/office/drawing/2014/main" id="{63CDD721-2FBE-43A8-BB56-532067A19453}"/>
              </a:ext>
            </a:extLst>
          </p:cNvPr>
          <p:cNvPicPr>
            <a:picLocks xmlns:a="http://schemas.openxmlformats.org/drawingml/2006/main" noChangeAspect="1"/>
          </p:cNvPicPr>
          <p:nvPr/>
        </p:nvPicPr>
        <p:blipFill>
          <a:blip xmlns:r="http://schemas.openxmlformats.org/officeDocument/2006/relationships" xmlns:a="http://schemas.openxmlformats.org/drawingml/2006/main" r:embed="R7d8d6fe6f9804d31"/>
          <a:stretch xmlns:a="http://schemas.openxmlformats.org/drawingml/2006/main">
            <a:fillRect l="0" t="0" r="0" b="0"/>
          </a:stretch>
        </p:blipFill>
        <p:spPr>
          <a:xfrm xmlns:a="http://schemas.openxmlformats.org/drawingml/2006/main">
            <a:off x="8568842" y="1985162"/>
            <a:ext cx="281635" cy="281635"/>
          </a:xfrm>
          <a:prstGeom xmlns:a="http://schemas.openxmlformats.org/drawingml/2006/main" prst="rect">
            <a:avLst/>
          </a:prstGeom>
        </p:spPr>
      </p:pic>
      <p:sp>
        <p:nvSpPr>
          <p:cNvPr id="42" name="Text 37">
            <a:extLst xmlns:a="http://schemas.openxmlformats.org/drawingml/2006/main">
              <a:ext uri="{FF2B5EF4-FFF2-40B4-BE49-F238E27FC236}">
                <a16:creationId xmlns:a16="http://schemas.microsoft.com/office/drawing/2014/main" id="{0518457C-9FD1-4248-A4FC-1E537EB4D6C6}"/>
              </a:ext>
            </a:extLst>
          </p:cNvPr>
          <p:cNvSpPr>
            <a:spLocks xmlns:a="http://schemas.openxmlformats.org/drawingml/2006/main" noGrp="1"/>
          </p:cNvSpPr>
          <p:nvPr/>
        </p:nvSpPr>
        <p:spPr>
          <a:xfrm xmlns:a="http://schemas.openxmlformats.org/drawingml/2006/main">
            <a:off x="9098280" y="1828800"/>
            <a:ext cx="2542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Large-integer workload</a:t>
            </a:r>
            <a:endParaRPr sz="1400"/>
          </a:p>
        </p:txBody>
      </p:sp>
      <p:sp>
        <p:nvSpPr>
          <p:cNvPr id="43" name="Text 38">
            <a:extLst xmlns:a="http://schemas.openxmlformats.org/drawingml/2006/main">
              <a:ext uri="{FF2B5EF4-FFF2-40B4-BE49-F238E27FC236}">
                <a16:creationId xmlns:a16="http://schemas.microsoft.com/office/drawing/2014/main" id="{DD1B8706-1A3D-4C19-9EFA-F65831346C9F}"/>
              </a:ext>
            </a:extLst>
          </p:cNvPr>
          <p:cNvSpPr>
            <a:spLocks xmlns:a="http://schemas.openxmlformats.org/drawingml/2006/main" noGrp="1"/>
          </p:cNvSpPr>
          <p:nvPr/>
        </p:nvSpPr>
        <p:spPr>
          <a:xfrm xmlns:a="http://schemas.openxmlformats.org/drawingml/2006/main">
            <a:off x="9098280" y="2212848"/>
            <a:ext cx="254203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Modular exponentiation over integers thousands of bits long for every patient</a:t>
            </a:r>
            <a:endParaRPr sz="1200"/>
          </a:p>
        </p:txBody>
      </p:sp>
      <p:sp>
        <p:nvSpPr>
          <p:cNvPr id="44" name="Aislamiento y cifrado círculo">
            <a:extLst xmlns:a="http://schemas.openxmlformats.org/drawingml/2006/main">
              <a:ext uri="{FF2B5EF4-FFF2-40B4-BE49-F238E27FC236}">
                <a16:creationId xmlns:a16="http://schemas.microsoft.com/office/drawing/2014/main" id="{1BF6F595-8AB3-4178-A26A-1A28A64D4A44}"/>
              </a:ext>
            </a:extLst>
          </p:cNvPr>
          <p:cNvSpPr>
            <a:spLocks xmlns:a="http://schemas.openxmlformats.org/drawingml/2006/main" noGrp="1"/>
          </p:cNvSpPr>
          <p:nvPr/>
        </p:nvSpPr>
        <p:spPr>
          <a:xfrm xmlns:a="http://schemas.openxmlformats.org/drawingml/2006/main">
            <a:off x="8458200" y="3154680"/>
            <a:ext cx="502920" cy="502920"/>
          </a:xfrm>
          <a:prstGeom xmlns:a="http://schemas.openxmlformats.org/drawingml/2006/main" prst="ellipse">
            <a:avLst/>
          </a:prstGeom>
          <a:solidFill xmlns:a="http://schemas.openxmlformats.org/drawingml/2006/main">
            <a:schemeClr val="accent1"/>
          </a:solidFill>
        </p:spPr>
      </p:sp>
      <p:pic>
        <p:nvPicPr>
          <p:cNvPr id="45" name="Aislamiento y cifrado ícono">
            <a:extLst xmlns:a="http://schemas.openxmlformats.org/drawingml/2006/main">
              <a:ext uri="{FF2B5EF4-FFF2-40B4-BE49-F238E27FC236}">
                <a16:creationId xmlns:a16="http://schemas.microsoft.com/office/drawing/2014/main" id="{C6616B5D-E317-4C1B-9BBA-2CC630153FB6}"/>
              </a:ext>
            </a:extLst>
          </p:cNvPr>
          <p:cNvPicPr>
            <a:picLocks xmlns:a="http://schemas.openxmlformats.org/drawingml/2006/main" noChangeAspect="1"/>
          </p:cNvPicPr>
          <p:nvPr/>
        </p:nvPicPr>
        <p:blipFill>
          <a:blip xmlns:r="http://schemas.openxmlformats.org/officeDocument/2006/relationships" xmlns:a="http://schemas.openxmlformats.org/drawingml/2006/main" r:embed="Reef8e0352a304c81"/>
          <a:stretch xmlns:a="http://schemas.openxmlformats.org/drawingml/2006/main">
            <a:fillRect l="0" t="0" r="0" b="0"/>
          </a:stretch>
        </p:blipFill>
        <p:spPr>
          <a:xfrm xmlns:a="http://schemas.openxmlformats.org/drawingml/2006/main">
            <a:off x="8568842" y="3265322"/>
            <a:ext cx="281635" cy="281635"/>
          </a:xfrm>
          <a:prstGeom xmlns:a="http://schemas.openxmlformats.org/drawingml/2006/main" prst="rect">
            <a:avLst/>
          </a:prstGeom>
        </p:spPr>
      </p:pic>
      <p:sp>
        <p:nvSpPr>
          <p:cNvPr id="46" name="Text 40">
            <a:extLst xmlns:a="http://schemas.openxmlformats.org/drawingml/2006/main">
              <a:ext uri="{FF2B5EF4-FFF2-40B4-BE49-F238E27FC236}">
                <a16:creationId xmlns:a16="http://schemas.microsoft.com/office/drawing/2014/main" id="{5CC05172-1D9F-4780-9A51-B900FAC51D86}"/>
              </a:ext>
            </a:extLst>
          </p:cNvPr>
          <p:cNvSpPr>
            <a:spLocks xmlns:a="http://schemas.openxmlformats.org/drawingml/2006/main" noGrp="1"/>
          </p:cNvSpPr>
          <p:nvPr/>
        </p:nvSpPr>
        <p:spPr>
          <a:xfrm xmlns:a="http://schemas.openxmlformats.org/drawingml/2006/main">
            <a:off x="9098280" y="3108960"/>
            <a:ext cx="2542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Isolation and encryption</a:t>
            </a:r>
            <a:endParaRPr sz="1400"/>
          </a:p>
        </p:txBody>
      </p:sp>
      <p:sp>
        <p:nvSpPr>
          <p:cNvPr id="47" name="Text 41">
            <a:extLst xmlns:a="http://schemas.openxmlformats.org/drawingml/2006/main">
              <a:ext uri="{FF2B5EF4-FFF2-40B4-BE49-F238E27FC236}">
                <a16:creationId xmlns:a16="http://schemas.microsoft.com/office/drawing/2014/main" id="{9F0BCFD0-3108-487B-B41E-9096EFBC1E2E}"/>
              </a:ext>
            </a:extLst>
          </p:cNvPr>
          <p:cNvSpPr>
            <a:spLocks xmlns:a="http://schemas.openxmlformats.org/drawingml/2006/main" noGrp="1"/>
          </p:cNvSpPr>
          <p:nvPr/>
        </p:nvSpPr>
        <p:spPr>
          <a:xfrm xmlns:a="http://schemas.openxmlformats.org/drawingml/2006/main">
            <a:off x="9098280" y="3493008"/>
            <a:ext cx="254203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Separate containers and mutual TLS; effective CPACF use has not been measured</a:t>
            </a:r>
            <a:endParaRPr sz="1200"/>
          </a:p>
        </p:txBody>
      </p:sp>
      <p:sp>
        <p:nvSpPr>
          <p:cNvPr id="48" name="Medido, no prometido círculo">
            <a:extLst xmlns:a="http://schemas.openxmlformats.org/drawingml/2006/main">
              <a:ext uri="{FF2B5EF4-FFF2-40B4-BE49-F238E27FC236}">
                <a16:creationId xmlns:a16="http://schemas.microsoft.com/office/drawing/2014/main" id="{146D59BD-5077-41DD-B66D-FA24AE6EA072}"/>
              </a:ext>
            </a:extLst>
          </p:cNvPr>
          <p:cNvSpPr>
            <a:spLocks xmlns:a="http://schemas.openxmlformats.org/drawingml/2006/main" noGrp="1"/>
          </p:cNvSpPr>
          <p:nvPr/>
        </p:nvSpPr>
        <p:spPr>
          <a:xfrm xmlns:a="http://schemas.openxmlformats.org/drawingml/2006/main">
            <a:off x="8458200" y="4434840"/>
            <a:ext cx="502920" cy="502920"/>
          </a:xfrm>
          <a:prstGeom xmlns:a="http://schemas.openxmlformats.org/drawingml/2006/main" prst="ellipse">
            <a:avLst/>
          </a:prstGeom>
          <a:solidFill xmlns:a="http://schemas.openxmlformats.org/drawingml/2006/main">
            <a:schemeClr val="accent1"/>
          </a:solidFill>
        </p:spPr>
      </p:sp>
      <p:pic>
        <p:nvPicPr>
          <p:cNvPr id="49" name="Medido, no prometido ícono">
            <a:extLst xmlns:a="http://schemas.openxmlformats.org/drawingml/2006/main">
              <a:ext uri="{FF2B5EF4-FFF2-40B4-BE49-F238E27FC236}">
                <a16:creationId xmlns:a16="http://schemas.microsoft.com/office/drawing/2014/main" id="{2D115AE9-CFF9-4535-AC5D-C1FD1B2018FE}"/>
              </a:ext>
            </a:extLst>
          </p:cNvPr>
          <p:cNvPicPr>
            <a:picLocks xmlns:a="http://schemas.openxmlformats.org/drawingml/2006/main" noChangeAspect="1"/>
          </p:cNvPicPr>
          <p:nvPr/>
        </p:nvPicPr>
        <p:blipFill>
          <a:blip xmlns:r="http://schemas.openxmlformats.org/officeDocument/2006/relationships" xmlns:a="http://schemas.openxmlformats.org/drawingml/2006/main" r:embed="R59c16c90015f4d5f"/>
          <a:stretch xmlns:a="http://schemas.openxmlformats.org/drawingml/2006/main">
            <a:fillRect l="0" t="0" r="0" b="0"/>
          </a:stretch>
        </p:blipFill>
        <p:spPr>
          <a:xfrm xmlns:a="http://schemas.openxmlformats.org/drawingml/2006/main">
            <a:off x="8568842" y="4545482"/>
            <a:ext cx="281635" cy="281635"/>
          </a:xfrm>
          <a:prstGeom xmlns:a="http://schemas.openxmlformats.org/drawingml/2006/main" prst="rect">
            <a:avLst/>
          </a:prstGeom>
        </p:spPr>
      </p:pic>
      <p:sp>
        <p:nvSpPr>
          <p:cNvPr id="50" name="Text 43">
            <a:extLst xmlns:a="http://schemas.openxmlformats.org/drawingml/2006/main">
              <a:ext uri="{FF2B5EF4-FFF2-40B4-BE49-F238E27FC236}">
                <a16:creationId xmlns:a16="http://schemas.microsoft.com/office/drawing/2014/main" id="{5B1C956A-B56C-40F8-AB92-8EF6AC5DE0B9}"/>
              </a:ext>
            </a:extLst>
          </p:cNvPr>
          <p:cNvSpPr>
            <a:spLocks xmlns:a="http://schemas.openxmlformats.org/drawingml/2006/main" noGrp="1"/>
          </p:cNvSpPr>
          <p:nvPr/>
        </p:nvSpPr>
        <p:spPr>
          <a:xfrm xmlns:a="http://schemas.openxmlformats.org/drawingml/2006/main">
            <a:off x="9098280" y="4389120"/>
            <a:ext cx="25420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Measure the actual platform</a:t>
            </a:r>
            <a:endParaRPr sz="1400"/>
          </a:p>
        </p:txBody>
      </p:sp>
      <p:sp>
        <p:nvSpPr>
          <p:cNvPr id="51" name="Text 44">
            <a:extLst xmlns:a="http://schemas.openxmlformats.org/drawingml/2006/main">
              <a:ext uri="{FF2B5EF4-FFF2-40B4-BE49-F238E27FC236}">
                <a16:creationId xmlns:a16="http://schemas.microsoft.com/office/drawing/2014/main" id="{40C8F160-9132-4AFC-B9F1-7F768C57337E}"/>
              </a:ext>
            </a:extLst>
          </p:cNvPr>
          <p:cNvSpPr>
            <a:spLocks xmlns:a="http://schemas.openxmlformats.org/drawingml/2006/main" noGrp="1"/>
          </p:cNvSpPr>
          <p:nvPr/>
        </p:nvSpPr>
        <p:spPr>
          <a:xfrm xmlns:a="http://schemas.openxmlformats.org/drawingml/2006/main">
            <a:off x="9098280" y="4773168"/>
            <a:ext cx="254203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Local results available; repeat the same benchmark on LinuxONE</a:t>
            </a:r>
            <a:endParaRPr sz="1200"/>
          </a:p>
        </p:txBody>
      </p:sp>
      <p:sp>
        <p:nvSpPr>
          <p:cNvPr id="52" name="Text 45">
            <a:extLst xmlns:a="http://schemas.openxmlformats.org/drawingml/2006/main">
              <a:ext uri="{FF2B5EF4-FFF2-40B4-BE49-F238E27FC236}">
                <a16:creationId xmlns:a16="http://schemas.microsoft.com/office/drawing/2014/main" id="{DAB61E1C-E923-432D-AE46-69CC7EDE1D2D}"/>
              </a:ext>
            </a:extLst>
          </p:cNvPr>
          <p:cNvSpPr>
            <a:spLocks xmlns:a="http://schemas.openxmlformats.org/drawingml/2006/main" noGrp="1"/>
          </p:cNvSpPr>
          <p:nvPr/>
        </p:nvSpPr>
        <p:spPr>
          <a:xfrm xmlns:a="http://schemas.openxmlformats.org/drawingml/2006/main">
            <a:off x="548640" y="5897880"/>
            <a:ext cx="11091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accent5"/>
                </a:solidFill>
              </a:rPr>
              <a:t>Stack: Python · scikit-learn · python-paillier + gmpy2 · cryptography (TLS 1.3, AES-256-GCM) · Docker (Ubuntu 24.04, s390x)</a:t>
            </a:r>
            <a:endParaRPr sz="1200"/>
          </a:p>
        </p:txBody>
      </p:sp>
      <p:sp>
        <p:nvSpPr>
          <p:cNvPr id="53" name="Slide Number Placeholder 0">
            <a:extLst xmlns:a="http://schemas.openxmlformats.org/drawingml/2006/main">
              <a:ext uri="{FF2B5EF4-FFF2-40B4-BE49-F238E27FC236}">
                <a16:creationId xmlns:a16="http://schemas.microsoft.com/office/drawing/2014/main" id="{8FA508FE-42C0-457D-8AFC-1EA4D797E2A4}"/>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6486111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B675727-45C6-4D40-A1C1-EE3223BF19F8}"/>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05 · ACTUAL LOCAL DEMO</a:t>
            </a:r>
            <a:endParaRPr sz="1200"/>
          </a:p>
        </p:txBody>
      </p:sp>
      <p:sp>
        <p:nvSpPr>
          <p:cNvPr id="3" name="Text 1">
            <a:extLst xmlns:a="http://schemas.openxmlformats.org/drawingml/2006/main">
              <a:ext uri="{FF2B5EF4-FFF2-40B4-BE49-F238E27FC236}">
                <a16:creationId xmlns:a16="http://schemas.microsoft.com/office/drawing/2014/main" id="{7613E905-00E0-427C-AFCA-AC3A97BF44D2}"/>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The service sees ciphertexts; the hospital sees risk</a:t>
            </a:r>
            <a:endParaRPr sz="3000"/>
          </a:p>
        </p:txBody>
      </p:sp>
      <p:pic>
        <p:nvPicPr>
          <p:cNvPr id="4" name="Captura real de la demo">
            <a:extLst xmlns:a="http://schemas.openxmlformats.org/drawingml/2006/main">
              <a:ext uri="{FF2B5EF4-FFF2-40B4-BE49-F238E27FC236}">
                <a16:creationId xmlns:a16="http://schemas.microsoft.com/office/drawing/2014/main" id="{9791C1D6-1D0E-4261-BC3F-109D1A7DA917}"/>
              </a:ext>
            </a:extLst>
          </p:cNvPr>
          <p:cNvPicPr>
            <a:picLocks xmlns:a="http://schemas.openxmlformats.org/drawingml/2006/main" noChangeAspect="1"/>
          </p:cNvPicPr>
          <p:nvPr/>
        </p:nvPicPr>
        <p:blipFill>
          <a:blip xmlns:r="http://schemas.openxmlformats.org/officeDocument/2006/relationships" xmlns:a="http://schemas.openxmlformats.org/drawingml/2006/main" r:embed="Re50bd47dc23f4fbe"/>
          <a:stretch xmlns:a="http://schemas.openxmlformats.org/drawingml/2006/main"/>
        </p:blipFill>
        <p:spPr>
          <a:xfrm xmlns:a="http://schemas.openxmlformats.org/drawingml/2006/main">
            <a:off x="694748" y="1691640"/>
            <a:ext cx="5633095" cy="41148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56218E3-8D87-4D95-B1BC-7374C4CB8593}"/>
              </a:ext>
            </a:extLst>
          </p:cNvPr>
          <p:cNvSpPr>
            <a:spLocks xmlns:a="http://schemas.openxmlformats.org/drawingml/2006/main" noGrp="1"/>
          </p:cNvSpPr>
          <p:nvPr/>
        </p:nvSpPr>
        <p:spPr>
          <a:xfrm xmlns:a="http://schemas.openxmlformats.org/drawingml/2006/main">
            <a:off x="548640" y="5852160"/>
            <a:ext cx="59253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6"/>
                </a:solidFill>
              </a:rPr>
              <a:t>Actual English UI with a synthetic patient · local containers · LinuxONE run pending</a:t>
            </a:r>
            <a:endParaRPr sz="1000"/>
          </a:p>
        </p:txBody>
      </p:sp>
      <p:sp>
        <p:nvSpPr>
          <p:cNvPr id="6" name="2,000 de 2,000">
            <a:extLst xmlns:a="http://schemas.openxmlformats.org/drawingml/2006/main">
              <a:ext uri="{FF2B5EF4-FFF2-40B4-BE49-F238E27FC236}">
                <a16:creationId xmlns:a16="http://schemas.microsoft.com/office/drawing/2014/main" id="{7CE73FB1-5AAE-44CE-9A90-D2568710A9C9}"/>
              </a:ext>
            </a:extLst>
          </p:cNvPr>
          <p:cNvSpPr>
            <a:spLocks xmlns:a="http://schemas.openxmlformats.org/drawingml/2006/main" noGrp="1"/>
          </p:cNvSpPr>
          <p:nvPr/>
        </p:nvSpPr>
        <p:spPr>
          <a:xfrm xmlns:a="http://schemas.openxmlformats.org/drawingml/2006/main">
            <a:off x="6720840" y="169164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7" name="2,000 de 2,000 círculo">
            <a:extLst xmlns:a="http://schemas.openxmlformats.org/drawingml/2006/main">
              <a:ext uri="{FF2B5EF4-FFF2-40B4-BE49-F238E27FC236}">
                <a16:creationId xmlns:a16="http://schemas.microsoft.com/office/drawing/2014/main" id="{4326DF7E-32FB-4955-B3B0-BCA4CF3D8F2A}"/>
              </a:ext>
            </a:extLst>
          </p:cNvPr>
          <p:cNvSpPr>
            <a:spLocks xmlns:a="http://schemas.openxmlformats.org/drawingml/2006/main" noGrp="1"/>
          </p:cNvSpPr>
          <p:nvPr/>
        </p:nvSpPr>
        <p:spPr>
          <a:xfrm xmlns:a="http://schemas.openxmlformats.org/drawingml/2006/main">
            <a:off x="6858000" y="1874520"/>
            <a:ext cx="512064" cy="512064"/>
          </a:xfrm>
          <a:prstGeom xmlns:a="http://schemas.openxmlformats.org/drawingml/2006/main" prst="ellipse">
            <a:avLst/>
          </a:prstGeom>
          <a:solidFill xmlns:a="http://schemas.openxmlformats.org/drawingml/2006/main">
            <a:schemeClr val="accent1"/>
          </a:solidFill>
        </p:spPr>
      </p:sp>
      <p:pic>
        <p:nvPicPr>
          <p:cNvPr id="8" name="2,000 de 2,000 ícono">
            <a:extLst xmlns:a="http://schemas.openxmlformats.org/drawingml/2006/main">
              <a:ext uri="{FF2B5EF4-FFF2-40B4-BE49-F238E27FC236}">
                <a16:creationId xmlns:a16="http://schemas.microsoft.com/office/drawing/2014/main" id="{83EE3D52-7428-4BA5-94D8-80E06A68DC54}"/>
              </a:ext>
            </a:extLst>
          </p:cNvPr>
          <p:cNvPicPr>
            <a:picLocks xmlns:a="http://schemas.openxmlformats.org/drawingml/2006/main" noChangeAspect="1"/>
          </p:cNvPicPr>
          <p:nvPr/>
        </p:nvPicPr>
        <p:blipFill>
          <a:blip xmlns:r="http://schemas.openxmlformats.org/officeDocument/2006/relationships" xmlns:a="http://schemas.openxmlformats.org/drawingml/2006/main" r:embed="R32ced3a6cefc4d7f"/>
          <a:stretch xmlns:a="http://schemas.openxmlformats.org/drawingml/2006/main">
            <a:fillRect l="0" t="0" r="0" b="0"/>
          </a:stretch>
        </p:blipFill>
        <p:spPr>
          <a:xfrm xmlns:a="http://schemas.openxmlformats.org/drawingml/2006/main">
            <a:off x="6970654" y="1987174"/>
            <a:ext cx="286756" cy="286756"/>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E3248989-0352-4093-9B04-DD8173E6B903}"/>
              </a:ext>
            </a:extLst>
          </p:cNvPr>
          <p:cNvSpPr>
            <a:spLocks xmlns:a="http://schemas.openxmlformats.org/drawingml/2006/main" noGrp="1"/>
          </p:cNvSpPr>
          <p:nvPr/>
        </p:nvSpPr>
        <p:spPr>
          <a:xfrm xmlns:a="http://schemas.openxmlformats.org/drawingml/2006/main">
            <a:off x="7498080" y="174650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2,000 of 2,000</a:t>
            </a:r>
            <a:endParaRPr sz="1700"/>
          </a:p>
        </p:txBody>
      </p:sp>
      <p:sp>
        <p:nvSpPr>
          <p:cNvPr id="10" name="Text 6">
            <a:extLst xmlns:a="http://schemas.openxmlformats.org/drawingml/2006/main">
              <a:ext uri="{FF2B5EF4-FFF2-40B4-BE49-F238E27FC236}">
                <a16:creationId xmlns:a16="http://schemas.microsoft.com/office/drawing/2014/main" id="{261B7668-C5D4-44B4-ABCE-9D21CA0C599A}"/>
              </a:ext>
            </a:extLst>
          </p:cNvPr>
          <p:cNvSpPr>
            <a:spLocks xmlns:a="http://schemas.openxmlformats.org/drawingml/2006/main" noGrp="1"/>
          </p:cNvSpPr>
          <p:nvPr/>
        </p:nvSpPr>
        <p:spPr>
          <a:xfrm xmlns:a="http://schemas.openxmlformats.org/drawingml/2006/main">
            <a:off x="7498080" y="211226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decrypted integers exactly match the fixed-point reference</a:t>
            </a:r>
            <a:endParaRPr sz="1100"/>
          </a:p>
        </p:txBody>
      </p:sp>
      <p:sp>
        <p:nvSpPr>
          <p:cNvPr id="11" name="ROC-AUC 0.807">
            <a:extLst xmlns:a="http://schemas.openxmlformats.org/drawingml/2006/main">
              <a:ext uri="{FF2B5EF4-FFF2-40B4-BE49-F238E27FC236}">
                <a16:creationId xmlns:a16="http://schemas.microsoft.com/office/drawing/2014/main" id="{37D825E5-7C1D-48C8-9B91-B337403F2C6D}"/>
              </a:ext>
            </a:extLst>
          </p:cNvPr>
          <p:cNvSpPr>
            <a:spLocks xmlns:a="http://schemas.openxmlformats.org/drawingml/2006/main" noGrp="1"/>
          </p:cNvSpPr>
          <p:nvPr/>
        </p:nvSpPr>
        <p:spPr>
          <a:xfrm xmlns:a="http://schemas.openxmlformats.org/drawingml/2006/main">
            <a:off x="6720840" y="269748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12" name="ROC-AUC 0.807 círculo">
            <a:extLst xmlns:a="http://schemas.openxmlformats.org/drawingml/2006/main">
              <a:ext uri="{FF2B5EF4-FFF2-40B4-BE49-F238E27FC236}">
                <a16:creationId xmlns:a16="http://schemas.microsoft.com/office/drawing/2014/main" id="{E00F4279-DA0D-497A-9FDF-78FC0146727F}"/>
              </a:ext>
            </a:extLst>
          </p:cNvPr>
          <p:cNvSpPr>
            <a:spLocks xmlns:a="http://schemas.openxmlformats.org/drawingml/2006/main" noGrp="1"/>
          </p:cNvSpPr>
          <p:nvPr/>
        </p:nvSpPr>
        <p:spPr>
          <a:xfrm xmlns:a="http://schemas.openxmlformats.org/drawingml/2006/main">
            <a:off x="6858000" y="2880360"/>
            <a:ext cx="512064" cy="512064"/>
          </a:xfrm>
          <a:prstGeom xmlns:a="http://schemas.openxmlformats.org/drawingml/2006/main" prst="ellipse">
            <a:avLst/>
          </a:prstGeom>
          <a:solidFill xmlns:a="http://schemas.openxmlformats.org/drawingml/2006/main">
            <a:schemeClr val="accent1"/>
          </a:solidFill>
        </p:spPr>
      </p:sp>
      <p:pic>
        <p:nvPicPr>
          <p:cNvPr id="13" name="ROC-AUC 0.807 ícono">
            <a:extLst xmlns:a="http://schemas.openxmlformats.org/drawingml/2006/main">
              <a:ext uri="{FF2B5EF4-FFF2-40B4-BE49-F238E27FC236}">
                <a16:creationId xmlns:a16="http://schemas.microsoft.com/office/drawing/2014/main" id="{80085199-5FD1-42CF-8586-4640A66E8539}"/>
              </a:ext>
            </a:extLst>
          </p:cNvPr>
          <p:cNvPicPr>
            <a:picLocks xmlns:a="http://schemas.openxmlformats.org/drawingml/2006/main" noChangeAspect="1"/>
          </p:cNvPicPr>
          <p:nvPr/>
        </p:nvPicPr>
        <p:blipFill>
          <a:blip xmlns:r="http://schemas.openxmlformats.org/officeDocument/2006/relationships" xmlns:a="http://schemas.openxmlformats.org/drawingml/2006/main" r:embed="R5f5d1304621848b8"/>
          <a:stretch xmlns:a="http://schemas.openxmlformats.org/drawingml/2006/main">
            <a:fillRect l="0" t="0" r="0" b="0"/>
          </a:stretch>
        </p:blipFill>
        <p:spPr>
          <a:xfrm xmlns:a="http://schemas.openxmlformats.org/drawingml/2006/main">
            <a:off x="6970654" y="2993014"/>
            <a:ext cx="286756" cy="2867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E57C77C6-985E-413D-A351-949649F46735}"/>
              </a:ext>
            </a:extLst>
          </p:cNvPr>
          <p:cNvSpPr>
            <a:spLocks xmlns:a="http://schemas.openxmlformats.org/drawingml/2006/main" noGrp="1"/>
          </p:cNvSpPr>
          <p:nvPr/>
        </p:nvSpPr>
        <p:spPr>
          <a:xfrm xmlns:a="http://schemas.openxmlformats.org/drawingml/2006/main">
            <a:off x="7498080" y="275234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ROC-AUC 0.807</a:t>
            </a:r>
            <a:endParaRPr sz="1700"/>
          </a:p>
        </p:txBody>
      </p:sp>
      <p:sp>
        <p:nvSpPr>
          <p:cNvPr id="15" name="Text 10">
            <a:extLst xmlns:a="http://schemas.openxmlformats.org/drawingml/2006/main">
              <a:ext uri="{FF2B5EF4-FFF2-40B4-BE49-F238E27FC236}">
                <a16:creationId xmlns:a16="http://schemas.microsoft.com/office/drawing/2014/main" id="{AAF6A046-2F22-4F2E-8802-37C78E6CDC4F}"/>
              </a:ext>
            </a:extLst>
          </p:cNvPr>
          <p:cNvSpPr>
            <a:spLocks xmlns:a="http://schemas.openxmlformats.org/drawingml/2006/main" noGrp="1"/>
          </p:cNvSpPr>
          <p:nvPr/>
        </p:nvSpPr>
        <p:spPr>
          <a:xfrm xmlns:a="http://schemas.openxmlformats.org/drawingml/2006/main">
            <a:off x="7498080" y="311810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equal across float, fixed point and encryption on the same 2,000 records</a:t>
            </a:r>
            <a:endParaRPr sz="1100"/>
          </a:p>
        </p:txBody>
      </p:sp>
      <p:sp>
        <p:nvSpPr>
          <p:cNvPr id="16" name="129 ms (p50)">
            <a:extLst xmlns:a="http://schemas.openxmlformats.org/drawingml/2006/main">
              <a:ext uri="{FF2B5EF4-FFF2-40B4-BE49-F238E27FC236}">
                <a16:creationId xmlns:a16="http://schemas.microsoft.com/office/drawing/2014/main" id="{2B2729FC-8028-4E60-AC24-AF472CC25151}"/>
              </a:ext>
            </a:extLst>
          </p:cNvPr>
          <p:cNvSpPr>
            <a:spLocks xmlns:a="http://schemas.openxmlformats.org/drawingml/2006/main" noGrp="1"/>
          </p:cNvSpPr>
          <p:nvPr/>
        </p:nvSpPr>
        <p:spPr>
          <a:xfrm xmlns:a="http://schemas.openxmlformats.org/drawingml/2006/main">
            <a:off x="6720840" y="370332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17" name="129 ms (p50) círculo">
            <a:extLst xmlns:a="http://schemas.openxmlformats.org/drawingml/2006/main">
              <a:ext uri="{FF2B5EF4-FFF2-40B4-BE49-F238E27FC236}">
                <a16:creationId xmlns:a16="http://schemas.microsoft.com/office/drawing/2014/main" id="{1EF0AFFD-6B6A-4E8C-B91D-53F832900A77}"/>
              </a:ext>
            </a:extLst>
          </p:cNvPr>
          <p:cNvSpPr>
            <a:spLocks xmlns:a="http://schemas.openxmlformats.org/drawingml/2006/main" noGrp="1"/>
          </p:cNvSpPr>
          <p:nvPr/>
        </p:nvSpPr>
        <p:spPr>
          <a:xfrm xmlns:a="http://schemas.openxmlformats.org/drawingml/2006/main">
            <a:off x="6858000" y="3886200"/>
            <a:ext cx="512064" cy="512064"/>
          </a:xfrm>
          <a:prstGeom xmlns:a="http://schemas.openxmlformats.org/drawingml/2006/main" prst="ellipse">
            <a:avLst/>
          </a:prstGeom>
          <a:solidFill xmlns:a="http://schemas.openxmlformats.org/drawingml/2006/main">
            <a:schemeClr val="accent1"/>
          </a:solidFill>
        </p:spPr>
      </p:sp>
      <p:pic>
        <p:nvPicPr>
          <p:cNvPr id="18" name="129 ms (p50) ícono">
            <a:extLst xmlns:a="http://schemas.openxmlformats.org/drawingml/2006/main">
              <a:ext uri="{FF2B5EF4-FFF2-40B4-BE49-F238E27FC236}">
                <a16:creationId xmlns:a16="http://schemas.microsoft.com/office/drawing/2014/main" id="{36FF8D49-4112-4026-A04C-128B1D92F464}"/>
              </a:ext>
            </a:extLst>
          </p:cNvPr>
          <p:cNvPicPr>
            <a:picLocks xmlns:a="http://schemas.openxmlformats.org/drawingml/2006/main" noChangeAspect="1"/>
          </p:cNvPicPr>
          <p:nvPr/>
        </p:nvPicPr>
        <p:blipFill>
          <a:blip xmlns:r="http://schemas.openxmlformats.org/officeDocument/2006/relationships" xmlns:a="http://schemas.openxmlformats.org/drawingml/2006/main" r:embed="R5ef65c5779194fe7"/>
          <a:stretch xmlns:a="http://schemas.openxmlformats.org/drawingml/2006/main">
            <a:fillRect l="0" t="0" r="0" b="0"/>
          </a:stretch>
        </p:blipFill>
        <p:spPr>
          <a:xfrm xmlns:a="http://schemas.openxmlformats.org/drawingml/2006/main">
            <a:off x="6970654" y="3998854"/>
            <a:ext cx="286756" cy="286756"/>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C417450E-D581-48B5-8767-2EA3E2E61C6E}"/>
              </a:ext>
            </a:extLst>
          </p:cNvPr>
          <p:cNvSpPr>
            <a:spLocks xmlns:a="http://schemas.openxmlformats.org/drawingml/2006/main" noGrp="1"/>
          </p:cNvSpPr>
          <p:nvPr/>
        </p:nvSpPr>
        <p:spPr>
          <a:xfrm xmlns:a="http://schemas.openxmlformats.org/drawingml/2006/main">
            <a:off x="7498080" y="375818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115 ms (p50)</a:t>
            </a:r>
            <a:endParaRPr sz="1700"/>
          </a:p>
        </p:txBody>
      </p:sp>
      <p:sp>
        <p:nvSpPr>
          <p:cNvPr id="20" name="Text 14">
            <a:extLst xmlns:a="http://schemas.openxmlformats.org/drawingml/2006/main">
              <a:ext uri="{FF2B5EF4-FFF2-40B4-BE49-F238E27FC236}">
                <a16:creationId xmlns:a16="http://schemas.microsoft.com/office/drawing/2014/main" id="{8FC20039-96AE-4834-A624-03E28BF05507}"/>
              </a:ext>
            </a:extLst>
          </p:cNvPr>
          <p:cNvSpPr>
            <a:spLocks xmlns:a="http://schemas.openxmlformats.org/drawingml/2006/main" noGrp="1"/>
          </p:cNvSpPr>
          <p:nvPr/>
        </p:nvSpPr>
        <p:spPr>
          <a:xfrm xmlns:a="http://schemas.openxmlformats.org/drawingml/2006/main">
            <a:off x="7498080" y="412394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Hospital API: encrypt, mTLS, evaluate, decrypt and vault write (200 synthetic requests)</a:t>
            </a:r>
            <a:endParaRPr sz="1100"/>
          </a:p>
        </p:txBody>
      </p:sp>
      <p:sp>
        <p:nvSpPr>
          <p:cNvPr id="21" name="24.3 KB → 1.4 KB">
            <a:extLst xmlns:a="http://schemas.openxmlformats.org/drawingml/2006/main">
              <a:ext uri="{FF2B5EF4-FFF2-40B4-BE49-F238E27FC236}">
                <a16:creationId xmlns:a16="http://schemas.microsoft.com/office/drawing/2014/main" id="{60C7EE51-4110-4BD6-AA06-1022932EF1C0}"/>
              </a:ext>
            </a:extLst>
          </p:cNvPr>
          <p:cNvSpPr>
            <a:spLocks xmlns:a="http://schemas.openxmlformats.org/drawingml/2006/main" noGrp="1"/>
          </p:cNvSpPr>
          <p:nvPr/>
        </p:nvSpPr>
        <p:spPr>
          <a:xfrm xmlns:a="http://schemas.openxmlformats.org/drawingml/2006/main">
            <a:off x="6720840" y="470916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22" name="24.3 KB → 1.4 KB círculo">
            <a:extLst xmlns:a="http://schemas.openxmlformats.org/drawingml/2006/main">
              <a:ext uri="{FF2B5EF4-FFF2-40B4-BE49-F238E27FC236}">
                <a16:creationId xmlns:a16="http://schemas.microsoft.com/office/drawing/2014/main" id="{41095B4A-AE0B-4A0C-B98C-4EBB205BBFA6}"/>
              </a:ext>
            </a:extLst>
          </p:cNvPr>
          <p:cNvSpPr>
            <a:spLocks xmlns:a="http://schemas.openxmlformats.org/drawingml/2006/main" noGrp="1"/>
          </p:cNvSpPr>
          <p:nvPr/>
        </p:nvSpPr>
        <p:spPr>
          <a:xfrm xmlns:a="http://schemas.openxmlformats.org/drawingml/2006/main">
            <a:off x="6858000" y="4892040"/>
            <a:ext cx="512064" cy="512064"/>
          </a:xfrm>
          <a:prstGeom xmlns:a="http://schemas.openxmlformats.org/drawingml/2006/main" prst="ellipse">
            <a:avLst/>
          </a:prstGeom>
          <a:solidFill xmlns:a="http://schemas.openxmlformats.org/drawingml/2006/main">
            <a:schemeClr val="accent1"/>
          </a:solidFill>
        </p:spPr>
      </p:sp>
      <p:pic>
        <p:nvPicPr>
          <p:cNvPr id="23" name="24.3 KB → 1.4 KB ícono">
            <a:extLst xmlns:a="http://schemas.openxmlformats.org/drawingml/2006/main">
              <a:ext uri="{FF2B5EF4-FFF2-40B4-BE49-F238E27FC236}">
                <a16:creationId xmlns:a16="http://schemas.microsoft.com/office/drawing/2014/main" id="{7F3D9260-3149-442F-8770-3F62B522D0F1}"/>
              </a:ext>
            </a:extLst>
          </p:cNvPr>
          <p:cNvPicPr>
            <a:picLocks xmlns:a="http://schemas.openxmlformats.org/drawingml/2006/main" noChangeAspect="1"/>
          </p:cNvPicPr>
          <p:nvPr/>
        </p:nvPicPr>
        <p:blipFill>
          <a:blip xmlns:r="http://schemas.openxmlformats.org/officeDocument/2006/relationships" xmlns:a="http://schemas.openxmlformats.org/drawingml/2006/main" r:embed="R4baf8ec1ec68463f"/>
          <a:stretch xmlns:a="http://schemas.openxmlformats.org/drawingml/2006/main">
            <a:fillRect l="0" t="0" r="0" b="0"/>
          </a:stretch>
        </p:blipFill>
        <p:spPr>
          <a:xfrm xmlns:a="http://schemas.openxmlformats.org/drawingml/2006/main">
            <a:off x="6970654" y="5004694"/>
            <a:ext cx="286756" cy="286756"/>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1275C137-C6F7-4E94-AB80-197B491E98D2}"/>
              </a:ext>
            </a:extLst>
          </p:cNvPr>
          <p:cNvSpPr>
            <a:spLocks xmlns:a="http://schemas.openxmlformats.org/drawingml/2006/main" noGrp="1"/>
          </p:cNvSpPr>
          <p:nvPr/>
        </p:nvSpPr>
        <p:spPr>
          <a:xfrm xmlns:a="http://schemas.openxmlformats.org/drawingml/2006/main">
            <a:off x="7498080" y="476402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24.3 KB → 1.4 KB</a:t>
            </a:r>
            <a:endParaRPr sz="1700"/>
          </a:p>
        </p:txBody>
      </p:sp>
      <p:sp>
        <p:nvSpPr>
          <p:cNvPr id="25" name="Text 18">
            <a:extLst xmlns:a="http://schemas.openxmlformats.org/drawingml/2006/main">
              <a:ext uri="{FF2B5EF4-FFF2-40B4-BE49-F238E27FC236}">
                <a16:creationId xmlns:a16="http://schemas.microsoft.com/office/drawing/2014/main" id="{ABCABECA-0125-4198-A58A-221CB8CB3349}"/>
              </a:ext>
            </a:extLst>
          </p:cNvPr>
          <p:cNvSpPr>
            <a:spLocks xmlns:a="http://schemas.openxmlformats.org/drawingml/2006/main" noGrp="1"/>
          </p:cNvSpPr>
          <p:nvPr/>
        </p:nvSpPr>
        <p:spPr>
          <a:xfrm xmlns:a="http://schemas.openxmlformats.org/drawingml/2006/main">
            <a:off x="7498080" y="512978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19 input ciphertexts → one encrypted score</a:t>
            </a:r>
            <a:endParaRPr sz="1100"/>
          </a:p>
        </p:txBody>
      </p:sp>
      <p:sp>
        <p:nvSpPr>
          <p:cNvPr id="26" name="Text 19">
            <a:extLst xmlns:a="http://schemas.openxmlformats.org/drawingml/2006/main">
              <a:ext uri="{FF2B5EF4-FFF2-40B4-BE49-F238E27FC236}">
                <a16:creationId xmlns:a16="http://schemas.microsoft.com/office/drawing/2014/main" id="{18A1E4D6-A93C-46F3-BEA5-070896256DA1}"/>
              </a:ext>
            </a:extLst>
          </p:cNvPr>
          <p:cNvSpPr>
            <a:spLocks xmlns:a="http://schemas.openxmlformats.org/drawingml/2006/main" noGrp="1"/>
          </p:cNvSpPr>
          <p:nvPr/>
        </p:nvSpPr>
        <p:spPr>
          <a:xfrm xmlns:a="http://schemas.openxmlformats.org/drawingml/2006/main">
            <a:off x="6720840" y="5760720"/>
            <a:ext cx="491947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4"/>
                </a:solidFill>
              </a:rPr>
              <a:t>LOCAL benchmark · model logistic-cdc19-v1 · commit be9b27e · macOS arm64 / Docker · 2048-bit key. API p95: 118 ms. LinuxONE run pending; repeat with make measure-api-docker.</a:t>
            </a:r>
            <a:endParaRPr sz="1000"/>
          </a:p>
        </p:txBody>
      </p:sp>
      <p:sp>
        <p:nvSpPr>
          <p:cNvPr id="27" name="Slide Number Placeholder 0">
            <a:extLst xmlns:a="http://schemas.openxmlformats.org/drawingml/2006/main">
              <a:ext uri="{FF2B5EF4-FFF2-40B4-BE49-F238E27FC236}">
                <a16:creationId xmlns:a16="http://schemas.microsoft.com/office/drawing/2014/main" id="{36E123FC-56CD-4511-8432-2489215E3D9C}"/>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47016726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C4DE0A9-A01E-4E2F-8CCE-A01F49FF6800}"/>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06 · DATA, MODEL AND LIMITS</a:t>
            </a:r>
            <a:endParaRPr sz="1200"/>
          </a:p>
        </p:txBody>
      </p:sp>
      <p:sp>
        <p:nvSpPr>
          <p:cNvPr id="3" name="Text 1">
            <a:extLst xmlns:a="http://schemas.openxmlformats.org/drawingml/2006/main">
              <a:ext uri="{FF2B5EF4-FFF2-40B4-BE49-F238E27FC236}">
                <a16:creationId xmlns:a16="http://schemas.microsoft.com/office/drawing/2014/main" id="{B3910DF6-87A9-44A1-BAA5-F88DB36CD224}"/>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Train on public data; evaluate encrypted patient inputs</a:t>
            </a:r>
            <a:endParaRPr sz="3000"/>
          </a:p>
        </p:txBody>
      </p:sp>
      <p:sp>
        <p:nvSpPr>
          <p:cNvPr id="4" name="253,680">
            <a:extLst xmlns:a="http://schemas.openxmlformats.org/drawingml/2006/main">
              <a:ext uri="{FF2B5EF4-FFF2-40B4-BE49-F238E27FC236}">
                <a16:creationId xmlns:a16="http://schemas.microsoft.com/office/drawing/2014/main" id="{E7DB1422-41EA-46E9-B916-641630ADF8B8}"/>
              </a:ext>
            </a:extLst>
          </p:cNvPr>
          <p:cNvSpPr>
            <a:spLocks xmlns:a="http://schemas.openxmlformats.org/drawingml/2006/main" noGrp="1"/>
          </p:cNvSpPr>
          <p:nvPr/>
        </p:nvSpPr>
        <p:spPr>
          <a:xfrm xmlns:a="http://schemas.openxmlformats.org/drawingml/2006/main">
            <a:off x="548640"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5" name="Text 3">
            <a:extLst xmlns:a="http://schemas.openxmlformats.org/drawingml/2006/main">
              <a:ext uri="{FF2B5EF4-FFF2-40B4-BE49-F238E27FC236}">
                <a16:creationId xmlns:a16="http://schemas.microsoft.com/office/drawing/2014/main" id="{DDEA2EAD-C407-4010-A33F-443D6F496F2C}"/>
              </a:ext>
            </a:extLst>
          </p:cNvPr>
          <p:cNvSpPr>
            <a:spLocks xmlns:a="http://schemas.openxmlformats.org/drawingml/2006/main" noGrp="1"/>
          </p:cNvSpPr>
          <p:nvPr/>
        </p:nvSpPr>
        <p:spPr>
          <a:xfrm xmlns:a="http://schemas.openxmlformats.org/drawingml/2006/main">
            <a:off x="731520"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253,680</a:t>
            </a:r>
            <a:endParaRPr sz="3000"/>
          </a:p>
        </p:txBody>
      </p:sp>
      <p:sp>
        <p:nvSpPr>
          <p:cNvPr id="6" name="Text 4">
            <a:extLst xmlns:a="http://schemas.openxmlformats.org/drawingml/2006/main">
              <a:ext uri="{FF2B5EF4-FFF2-40B4-BE49-F238E27FC236}">
                <a16:creationId xmlns:a16="http://schemas.microsoft.com/office/drawing/2014/main" id="{6CD34BAF-1C57-4863-9F84-A3CD5EAE8526}"/>
              </a:ext>
            </a:extLst>
          </p:cNvPr>
          <p:cNvSpPr>
            <a:spLocks xmlns:a="http://schemas.openxmlformats.org/drawingml/2006/main" noGrp="1"/>
          </p:cNvSpPr>
          <p:nvPr/>
        </p:nvSpPr>
        <p:spPr>
          <a:xfrm xmlns:a="http://schemas.openxmlformats.org/drawingml/2006/main">
            <a:off x="2331720"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public CDC BRFSS 2015 health survey records (UCI ID 891)</a:t>
            </a:r>
            <a:endParaRPr sz="1100"/>
          </a:p>
        </p:txBody>
      </p:sp>
      <p:sp>
        <p:nvSpPr>
          <p:cNvPr id="7" name="21">
            <a:extLst xmlns:a="http://schemas.openxmlformats.org/drawingml/2006/main">
              <a:ext uri="{FF2B5EF4-FFF2-40B4-BE49-F238E27FC236}">
                <a16:creationId xmlns:a16="http://schemas.microsoft.com/office/drawing/2014/main" id="{9916D5D1-6F81-4737-930F-F52170FCF3AC}"/>
              </a:ext>
            </a:extLst>
          </p:cNvPr>
          <p:cNvSpPr>
            <a:spLocks xmlns:a="http://schemas.openxmlformats.org/drawingml/2006/main" noGrp="1"/>
          </p:cNvSpPr>
          <p:nvPr/>
        </p:nvSpPr>
        <p:spPr>
          <a:xfrm xmlns:a="http://schemas.openxmlformats.org/drawingml/2006/main">
            <a:off x="4334256"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8" name="Text 6">
            <a:extLst xmlns:a="http://schemas.openxmlformats.org/drawingml/2006/main">
              <a:ext uri="{FF2B5EF4-FFF2-40B4-BE49-F238E27FC236}">
                <a16:creationId xmlns:a16="http://schemas.microsoft.com/office/drawing/2014/main" id="{CE696A82-1D0E-4B07-BC70-ACF6F2471003}"/>
              </a:ext>
            </a:extLst>
          </p:cNvPr>
          <p:cNvSpPr>
            <a:spLocks xmlns:a="http://schemas.openxmlformats.org/drawingml/2006/main" noGrp="1"/>
          </p:cNvSpPr>
          <p:nvPr/>
        </p:nvSpPr>
        <p:spPr>
          <a:xfrm xmlns:a="http://schemas.openxmlformats.org/drawingml/2006/main">
            <a:off x="4517136"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19</a:t>
            </a:r>
            <a:endParaRPr sz="3000"/>
          </a:p>
        </p:txBody>
      </p:sp>
      <p:sp>
        <p:nvSpPr>
          <p:cNvPr id="9" name="Text 7">
            <a:extLst xmlns:a="http://schemas.openxmlformats.org/drawingml/2006/main">
              <a:ext uri="{FF2B5EF4-FFF2-40B4-BE49-F238E27FC236}">
                <a16:creationId xmlns:a16="http://schemas.microsoft.com/office/drawing/2014/main" id="{1207F869-1A8A-4165-BEB7-44092934CC06}"/>
              </a:ext>
            </a:extLst>
          </p:cNvPr>
          <p:cNvSpPr>
            <a:spLocks xmlns:a="http://schemas.openxmlformats.org/drawingml/2006/main" noGrp="1"/>
          </p:cNvSpPr>
          <p:nvPr/>
        </p:nvSpPr>
        <p:spPr>
          <a:xfrm xmlns:a="http://schemas.openxmlformats.org/drawingml/2006/main">
            <a:off x="6117336"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indicators: BMI, blood pressure, cholesterol, activity, age… (Education and Income removed)</a:t>
            </a:r>
            <a:endParaRPr sz="1100"/>
          </a:p>
        </p:txBody>
      </p:sp>
      <p:sp>
        <p:nvSpPr>
          <p:cNvPr id="10" name="13.9%">
            <a:extLst xmlns:a="http://schemas.openxmlformats.org/drawingml/2006/main">
              <a:ext uri="{FF2B5EF4-FFF2-40B4-BE49-F238E27FC236}">
                <a16:creationId xmlns:a16="http://schemas.microsoft.com/office/drawing/2014/main" id="{55EF02D7-8155-49C3-A3FA-97FB89D9A58C}"/>
              </a:ext>
            </a:extLst>
          </p:cNvPr>
          <p:cNvSpPr>
            <a:spLocks xmlns:a="http://schemas.openxmlformats.org/drawingml/2006/main" noGrp="1"/>
          </p:cNvSpPr>
          <p:nvPr/>
        </p:nvSpPr>
        <p:spPr>
          <a:xfrm xmlns:a="http://schemas.openxmlformats.org/drawingml/2006/main">
            <a:off x="8119872"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11" name="Text 9">
            <a:extLst xmlns:a="http://schemas.openxmlformats.org/drawingml/2006/main">
              <a:ext uri="{FF2B5EF4-FFF2-40B4-BE49-F238E27FC236}">
                <a16:creationId xmlns:a16="http://schemas.microsoft.com/office/drawing/2014/main" id="{B394A62B-9F83-4191-8537-C51D027A16D3}"/>
              </a:ext>
            </a:extLst>
          </p:cNvPr>
          <p:cNvSpPr>
            <a:spLocks xmlns:a="http://schemas.openxmlformats.org/drawingml/2006/main" noGrp="1"/>
          </p:cNvSpPr>
          <p:nvPr/>
        </p:nvSpPr>
        <p:spPr>
          <a:xfrm xmlns:a="http://schemas.openxmlformats.org/drawingml/2006/main">
            <a:off x="8302752"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13.9%</a:t>
            </a:r>
            <a:endParaRPr sz="3000"/>
          </a:p>
        </p:txBody>
      </p:sp>
      <p:sp>
        <p:nvSpPr>
          <p:cNvPr id="12" name="Text 10">
            <a:extLst xmlns:a="http://schemas.openxmlformats.org/drawingml/2006/main">
              <a:ext uri="{FF2B5EF4-FFF2-40B4-BE49-F238E27FC236}">
                <a16:creationId xmlns:a16="http://schemas.microsoft.com/office/drawing/2014/main" id="{EA0BF3AB-F17E-46FE-B05B-1404BD5A20DE}"/>
              </a:ext>
            </a:extLst>
          </p:cNvPr>
          <p:cNvSpPr>
            <a:spLocks xmlns:a="http://schemas.openxmlformats.org/drawingml/2006/main" noGrp="1"/>
          </p:cNvSpPr>
          <p:nvPr/>
        </p:nvSpPr>
        <p:spPr>
          <a:xfrm xmlns:a="http://schemas.openxmlformats.org/drawingml/2006/main">
            <a:off x="9902952"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self-reported prediabetes or diabetes: account for class imbalance</a:t>
            </a:r>
            <a:endParaRPr sz="1100"/>
          </a:p>
        </p:txBody>
      </p:sp>
      <p:sp>
        <p:nvSpPr>
          <p:cNvPr id="13" name="conector">
            <a:extLst xmlns:a="http://schemas.openxmlformats.org/drawingml/2006/main">
              <a:ext uri="{FF2B5EF4-FFF2-40B4-BE49-F238E27FC236}">
                <a16:creationId xmlns:a16="http://schemas.microsoft.com/office/drawing/2014/main" id="{FB0E6C64-14D6-4A41-A1ED-3E768F170DC5}"/>
              </a:ext>
            </a:extLst>
          </p:cNvPr>
          <p:cNvSpPr>
            <a:spLocks xmlns:a="http://schemas.openxmlformats.org/drawingml/2006/main" noGrp="1"/>
          </p:cNvSpPr>
          <p:nvPr/>
        </p:nvSpPr>
        <p:spPr>
          <a:xfrm xmlns:a="http://schemas.openxmlformats.org/drawingml/2006/main">
            <a:off x="777240" y="3493008"/>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14" name="paso 1">
            <a:extLst xmlns:a="http://schemas.openxmlformats.org/drawingml/2006/main">
              <a:ext uri="{FF2B5EF4-FFF2-40B4-BE49-F238E27FC236}">
                <a16:creationId xmlns:a16="http://schemas.microsoft.com/office/drawing/2014/main" id="{B20B6246-4475-4131-888A-3C1EE22FF08E}"/>
              </a:ext>
            </a:extLst>
          </p:cNvPr>
          <p:cNvSpPr>
            <a:spLocks xmlns:a="http://schemas.openxmlformats.org/drawingml/2006/main" noGrp="1"/>
          </p:cNvSpPr>
          <p:nvPr/>
        </p:nvSpPr>
        <p:spPr>
          <a:xfrm xmlns:a="http://schemas.openxmlformats.org/drawingml/2006/main">
            <a:off x="548640" y="3017520"/>
            <a:ext cx="457200" cy="457200"/>
          </a:xfrm>
          <a:prstGeom xmlns:a="http://schemas.openxmlformats.org/drawingml/2006/main" prst="ellipse">
            <a:avLst/>
          </a:prstGeom>
          <a:solidFill xmlns:a="http://schemas.openxmlformats.org/drawingml/2006/main">
            <a:schemeClr val="accent1"/>
          </a:solidFill>
        </p:spPr>
      </p:sp>
      <p:sp>
        <p:nvSpPr>
          <p:cNvPr id="15" name="Text 13">
            <a:extLst xmlns:a="http://schemas.openxmlformats.org/drawingml/2006/main">
              <a:ext uri="{FF2B5EF4-FFF2-40B4-BE49-F238E27FC236}">
                <a16:creationId xmlns:a16="http://schemas.microsoft.com/office/drawing/2014/main" id="{41CC5E54-AC20-4425-A6E7-86ABFCED5C05}"/>
              </a:ext>
            </a:extLst>
          </p:cNvPr>
          <p:cNvSpPr>
            <a:spLocks xmlns:a="http://schemas.openxmlformats.org/drawingml/2006/main" noGrp="1"/>
          </p:cNvSpPr>
          <p:nvPr/>
        </p:nvSpPr>
        <p:spPr>
          <a:xfrm xmlns:a="http://schemas.openxmlformats.org/drawingml/2006/main">
            <a:off x="548640" y="30175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1</a:t>
            </a:r>
            <a:endParaRPr sz="1600"/>
          </a:p>
        </p:txBody>
      </p:sp>
      <p:sp>
        <p:nvSpPr>
          <p:cNvPr id="16" name="Text 14">
            <a:extLst xmlns:a="http://schemas.openxmlformats.org/drawingml/2006/main">
              <a:ext uri="{FF2B5EF4-FFF2-40B4-BE49-F238E27FC236}">
                <a16:creationId xmlns:a16="http://schemas.microsoft.com/office/drawing/2014/main" id="{48A08C5C-56AA-4EBF-B2FD-0990EB3F52AE}"/>
              </a:ext>
            </a:extLst>
          </p:cNvPr>
          <p:cNvSpPr>
            <a:spLocks xmlns:a="http://schemas.openxmlformats.org/drawingml/2006/main" noGrp="1"/>
          </p:cNvSpPr>
          <p:nvPr/>
        </p:nvSpPr>
        <p:spPr>
          <a:xfrm xmlns:a="http://schemas.openxmlformats.org/drawingml/2006/main">
            <a:off x="1188720" y="2990088"/>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Train on public records</a:t>
            </a:r>
            <a:endParaRPr sz="1400"/>
          </a:p>
        </p:txBody>
      </p:sp>
      <p:sp>
        <p:nvSpPr>
          <p:cNvPr id="17" name="Text 15">
            <a:extLst xmlns:a="http://schemas.openxmlformats.org/drawingml/2006/main">
              <a:ext uri="{FF2B5EF4-FFF2-40B4-BE49-F238E27FC236}">
                <a16:creationId xmlns:a16="http://schemas.microsoft.com/office/drawing/2014/main" id="{343A8BF2-9A36-4F9E-A8C7-036378FBE170}"/>
              </a:ext>
            </a:extLst>
          </p:cNvPr>
          <p:cNvSpPr>
            <a:spLocks xmlns:a="http://schemas.openxmlformats.org/drawingml/2006/main" noGrp="1"/>
          </p:cNvSpPr>
          <p:nvPr/>
        </p:nvSpPr>
        <p:spPr>
          <a:xfrm xmlns:a="http://schemas.openxmlformats.org/drawingml/2006/main">
            <a:off x="1188720" y="3282696"/>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Logistic regression; standardization folded into model weights</a:t>
            </a:r>
            <a:endParaRPr sz="1200"/>
          </a:p>
        </p:txBody>
      </p:sp>
      <p:sp>
        <p:nvSpPr>
          <p:cNvPr id="18" name="conector">
            <a:extLst xmlns:a="http://schemas.openxmlformats.org/drawingml/2006/main">
              <a:ext uri="{FF2B5EF4-FFF2-40B4-BE49-F238E27FC236}">
                <a16:creationId xmlns:a16="http://schemas.microsoft.com/office/drawing/2014/main" id="{D1B83B55-12E1-48D8-8A22-CA1D5E5E0851}"/>
              </a:ext>
            </a:extLst>
          </p:cNvPr>
          <p:cNvSpPr>
            <a:spLocks xmlns:a="http://schemas.openxmlformats.org/drawingml/2006/main" noGrp="1"/>
          </p:cNvSpPr>
          <p:nvPr/>
        </p:nvSpPr>
        <p:spPr>
          <a:xfrm xmlns:a="http://schemas.openxmlformats.org/drawingml/2006/main">
            <a:off x="777240" y="4242816"/>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19" name="paso 2">
            <a:extLst xmlns:a="http://schemas.openxmlformats.org/drawingml/2006/main">
              <a:ext uri="{FF2B5EF4-FFF2-40B4-BE49-F238E27FC236}">
                <a16:creationId xmlns:a16="http://schemas.microsoft.com/office/drawing/2014/main" id="{E661DC74-84BD-491B-B090-592C5AA9D385}"/>
              </a:ext>
            </a:extLst>
          </p:cNvPr>
          <p:cNvSpPr>
            <a:spLocks xmlns:a="http://schemas.openxmlformats.org/drawingml/2006/main" noGrp="1"/>
          </p:cNvSpPr>
          <p:nvPr/>
        </p:nvSpPr>
        <p:spPr>
          <a:xfrm xmlns:a="http://schemas.openxmlformats.org/drawingml/2006/main">
            <a:off x="548640" y="3767328"/>
            <a:ext cx="457200" cy="457200"/>
          </a:xfrm>
          <a:prstGeom xmlns:a="http://schemas.openxmlformats.org/drawingml/2006/main" prst="ellipse">
            <a:avLst/>
          </a:prstGeom>
          <a:solidFill xmlns:a="http://schemas.openxmlformats.org/drawingml/2006/main">
            <a:schemeClr val="accent1"/>
          </a:solidFill>
        </p:spPr>
      </p:sp>
      <p:sp>
        <p:nvSpPr>
          <p:cNvPr id="20" name="Text 18">
            <a:extLst xmlns:a="http://schemas.openxmlformats.org/drawingml/2006/main">
              <a:ext uri="{FF2B5EF4-FFF2-40B4-BE49-F238E27FC236}">
                <a16:creationId xmlns:a16="http://schemas.microsoft.com/office/drawing/2014/main" id="{C42B77C1-DD0C-4985-BE7F-B88E08D78C9D}"/>
              </a:ext>
            </a:extLst>
          </p:cNvPr>
          <p:cNvSpPr>
            <a:spLocks xmlns:a="http://schemas.openxmlformats.org/drawingml/2006/main" noGrp="1"/>
          </p:cNvSpPr>
          <p:nvPr/>
        </p:nvSpPr>
        <p:spPr>
          <a:xfrm xmlns:a="http://schemas.openxmlformats.org/drawingml/2006/main">
            <a:off x="548640" y="376732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2</a:t>
            </a:r>
            <a:endParaRPr sz="1600"/>
          </a:p>
        </p:txBody>
      </p:sp>
      <p:sp>
        <p:nvSpPr>
          <p:cNvPr id="21" name="Text 19">
            <a:extLst xmlns:a="http://schemas.openxmlformats.org/drawingml/2006/main">
              <a:ext uri="{FF2B5EF4-FFF2-40B4-BE49-F238E27FC236}">
                <a16:creationId xmlns:a16="http://schemas.microsoft.com/office/drawing/2014/main" id="{5A8C9266-8697-4DC6-811F-2FAAE8B5993F}"/>
              </a:ext>
            </a:extLst>
          </p:cNvPr>
          <p:cNvSpPr>
            <a:spLocks xmlns:a="http://schemas.openxmlformats.org/drawingml/2006/main" noGrp="1"/>
          </p:cNvSpPr>
          <p:nvPr/>
        </p:nvSpPr>
        <p:spPr>
          <a:xfrm xmlns:a="http://schemas.openxmlformats.org/drawingml/2006/main">
            <a:off x="1188720" y="3739896"/>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Quantize the weights</a:t>
            </a:r>
            <a:endParaRPr sz="1400"/>
          </a:p>
        </p:txBody>
      </p:sp>
      <p:sp>
        <p:nvSpPr>
          <p:cNvPr id="22" name="Text 20">
            <a:extLst xmlns:a="http://schemas.openxmlformats.org/drawingml/2006/main">
              <a:ext uri="{FF2B5EF4-FFF2-40B4-BE49-F238E27FC236}">
                <a16:creationId xmlns:a16="http://schemas.microsoft.com/office/drawing/2014/main" id="{A65400F7-27C0-48D5-9AD8-6E6ECB8451AD}"/>
              </a:ext>
            </a:extLst>
          </p:cNvPr>
          <p:cNvSpPr>
            <a:spLocks xmlns:a="http://schemas.openxmlformats.org/drawingml/2006/main" noGrp="1"/>
          </p:cNvSpPr>
          <p:nvPr/>
        </p:nvSpPr>
        <p:spPr>
          <a:xfrm xmlns:a="http://schemas.openxmlformats.org/drawingml/2006/main">
            <a:off x="1188720" y="4032504"/>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Round weights × 10⁹; all 19 inputs are already integers</a:t>
            </a:r>
            <a:endParaRPr sz="1200"/>
          </a:p>
        </p:txBody>
      </p:sp>
      <p:sp>
        <p:nvSpPr>
          <p:cNvPr id="23" name="conector">
            <a:extLst xmlns:a="http://schemas.openxmlformats.org/drawingml/2006/main">
              <a:ext uri="{FF2B5EF4-FFF2-40B4-BE49-F238E27FC236}">
                <a16:creationId xmlns:a16="http://schemas.microsoft.com/office/drawing/2014/main" id="{88745128-50ED-4238-8ABF-DC68B8212344}"/>
              </a:ext>
            </a:extLst>
          </p:cNvPr>
          <p:cNvSpPr>
            <a:spLocks xmlns:a="http://schemas.openxmlformats.org/drawingml/2006/main" noGrp="1"/>
          </p:cNvSpPr>
          <p:nvPr/>
        </p:nvSpPr>
        <p:spPr>
          <a:xfrm xmlns:a="http://schemas.openxmlformats.org/drawingml/2006/main">
            <a:off x="777240" y="4992624"/>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24" name="paso 3">
            <a:extLst xmlns:a="http://schemas.openxmlformats.org/drawingml/2006/main">
              <a:ext uri="{FF2B5EF4-FFF2-40B4-BE49-F238E27FC236}">
                <a16:creationId xmlns:a16="http://schemas.microsoft.com/office/drawing/2014/main" id="{5AF7996F-81F4-41CB-9C00-2DBD9AF91D87}"/>
              </a:ext>
            </a:extLst>
          </p:cNvPr>
          <p:cNvSpPr>
            <a:spLocks xmlns:a="http://schemas.openxmlformats.org/drawingml/2006/main" noGrp="1"/>
          </p:cNvSpPr>
          <p:nvPr/>
        </p:nvSpPr>
        <p:spPr>
          <a:xfrm xmlns:a="http://schemas.openxmlformats.org/drawingml/2006/main">
            <a:off x="548640" y="4517136"/>
            <a:ext cx="457200" cy="457200"/>
          </a:xfrm>
          <a:prstGeom xmlns:a="http://schemas.openxmlformats.org/drawingml/2006/main" prst="ellipse">
            <a:avLst/>
          </a:prstGeom>
          <a:solidFill xmlns:a="http://schemas.openxmlformats.org/drawingml/2006/main">
            <a:schemeClr val="accent1"/>
          </a:solidFill>
        </p:spPr>
      </p:sp>
      <p:sp>
        <p:nvSpPr>
          <p:cNvPr id="25" name="Text 23">
            <a:extLst xmlns:a="http://schemas.openxmlformats.org/drawingml/2006/main">
              <a:ext uri="{FF2B5EF4-FFF2-40B4-BE49-F238E27FC236}">
                <a16:creationId xmlns:a16="http://schemas.microsoft.com/office/drawing/2014/main" id="{8EFC69D7-A5A6-41F6-A5A0-E3FB688FE902}"/>
              </a:ext>
            </a:extLst>
          </p:cNvPr>
          <p:cNvSpPr>
            <a:spLocks xmlns:a="http://schemas.openxmlformats.org/drawingml/2006/main" noGrp="1"/>
          </p:cNvSpPr>
          <p:nvPr/>
        </p:nvSpPr>
        <p:spPr>
          <a:xfrm xmlns:a="http://schemas.openxmlformats.org/drawingml/2006/main">
            <a:off x="548640" y="4517136"/>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3</a:t>
            </a:r>
            <a:endParaRPr sz="1600"/>
          </a:p>
        </p:txBody>
      </p:sp>
      <p:sp>
        <p:nvSpPr>
          <p:cNvPr id="26" name="Text 24">
            <a:extLst xmlns:a="http://schemas.openxmlformats.org/drawingml/2006/main">
              <a:ext uri="{FF2B5EF4-FFF2-40B4-BE49-F238E27FC236}">
                <a16:creationId xmlns:a16="http://schemas.microsoft.com/office/drawing/2014/main" id="{B276AEAC-162E-422A-9703-217C1CBAD153}"/>
              </a:ext>
            </a:extLst>
          </p:cNvPr>
          <p:cNvSpPr>
            <a:spLocks xmlns:a="http://schemas.openxmlformats.org/drawingml/2006/main" noGrp="1"/>
          </p:cNvSpPr>
          <p:nvPr/>
        </p:nvSpPr>
        <p:spPr>
          <a:xfrm xmlns:a="http://schemas.openxmlformats.org/drawingml/2006/main">
            <a:off x="1188720" y="4489704"/>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Encrypt patient inputs</a:t>
            </a:r>
            <a:endParaRPr sz="1400"/>
          </a:p>
        </p:txBody>
      </p:sp>
      <p:sp>
        <p:nvSpPr>
          <p:cNvPr id="27" name="Text 25">
            <a:extLst xmlns:a="http://schemas.openxmlformats.org/drawingml/2006/main">
              <a:ext uri="{FF2B5EF4-FFF2-40B4-BE49-F238E27FC236}">
                <a16:creationId xmlns:a16="http://schemas.microsoft.com/office/drawing/2014/main" id="{BB2C4072-759B-4306-8B51-29C31CD34B0B}"/>
              </a:ext>
            </a:extLst>
          </p:cNvPr>
          <p:cNvSpPr>
            <a:spLocks xmlns:a="http://schemas.openxmlformats.org/drawingml/2006/main" noGrp="1"/>
          </p:cNvSpPr>
          <p:nvPr/>
        </p:nvSpPr>
        <p:spPr>
          <a:xfrm xmlns:a="http://schemas.openxmlformats.org/drawingml/2006/main">
            <a:off x="1188720" y="4782312"/>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Encrypt 19 indicators using the hospital’s key</a:t>
            </a:r>
            <a:endParaRPr sz="1200"/>
          </a:p>
        </p:txBody>
      </p:sp>
      <p:sp>
        <p:nvSpPr>
          <p:cNvPr id="28" name="paso 4">
            <a:extLst xmlns:a="http://schemas.openxmlformats.org/drawingml/2006/main">
              <a:ext uri="{FF2B5EF4-FFF2-40B4-BE49-F238E27FC236}">
                <a16:creationId xmlns:a16="http://schemas.microsoft.com/office/drawing/2014/main" id="{4E22729E-6EC3-4972-8B8C-CC0996F9CCF1}"/>
              </a:ext>
            </a:extLst>
          </p:cNvPr>
          <p:cNvSpPr>
            <a:spLocks xmlns:a="http://schemas.openxmlformats.org/drawingml/2006/main" noGrp="1"/>
          </p:cNvSpPr>
          <p:nvPr/>
        </p:nvSpPr>
        <p:spPr>
          <a:xfrm xmlns:a="http://schemas.openxmlformats.org/drawingml/2006/main">
            <a:off x="548640" y="5266944"/>
            <a:ext cx="457200" cy="457200"/>
          </a:xfrm>
          <a:prstGeom xmlns:a="http://schemas.openxmlformats.org/drawingml/2006/main" prst="ellipse">
            <a:avLst/>
          </a:prstGeom>
          <a:solidFill xmlns:a="http://schemas.openxmlformats.org/drawingml/2006/main">
            <a:schemeClr val="accent1"/>
          </a:solidFill>
        </p:spPr>
      </p:sp>
      <p:sp>
        <p:nvSpPr>
          <p:cNvPr id="29" name="Text 27">
            <a:extLst xmlns:a="http://schemas.openxmlformats.org/drawingml/2006/main">
              <a:ext uri="{FF2B5EF4-FFF2-40B4-BE49-F238E27FC236}">
                <a16:creationId xmlns:a16="http://schemas.microsoft.com/office/drawing/2014/main" id="{67F8C2C1-D674-4FBA-BCF9-F6F8118DE65D}"/>
              </a:ext>
            </a:extLst>
          </p:cNvPr>
          <p:cNvSpPr>
            <a:spLocks xmlns:a="http://schemas.openxmlformats.org/drawingml/2006/main" noGrp="1"/>
          </p:cNvSpPr>
          <p:nvPr/>
        </p:nvSpPr>
        <p:spPr>
          <a:xfrm xmlns:a="http://schemas.openxmlformats.org/drawingml/2006/main">
            <a:off x="548640" y="5266944"/>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4</a:t>
            </a:r>
            <a:endParaRPr sz="1600"/>
          </a:p>
        </p:txBody>
      </p:sp>
      <p:sp>
        <p:nvSpPr>
          <p:cNvPr id="30" name="Text 28">
            <a:extLst xmlns:a="http://schemas.openxmlformats.org/drawingml/2006/main">
              <a:ext uri="{FF2B5EF4-FFF2-40B4-BE49-F238E27FC236}">
                <a16:creationId xmlns:a16="http://schemas.microsoft.com/office/drawing/2014/main" id="{2BBB1881-04FB-4CA5-BA21-4C92316E4731}"/>
              </a:ext>
            </a:extLst>
          </p:cNvPr>
          <p:cNvSpPr>
            <a:spLocks xmlns:a="http://schemas.openxmlformats.org/drawingml/2006/main" noGrp="1"/>
          </p:cNvSpPr>
          <p:nvPr/>
        </p:nvSpPr>
        <p:spPr>
          <a:xfrm xmlns:a="http://schemas.openxmlformats.org/drawingml/2006/main">
            <a:off x="1188720" y="5239512"/>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Encrypted score → risk</a:t>
            </a:r>
            <a:endParaRPr sz="1400"/>
          </a:p>
        </p:txBody>
      </p:sp>
      <p:sp>
        <p:nvSpPr>
          <p:cNvPr id="31" name="Text 29">
            <a:extLst xmlns:a="http://schemas.openxmlformats.org/drawingml/2006/main">
              <a:ext uri="{FF2B5EF4-FFF2-40B4-BE49-F238E27FC236}">
                <a16:creationId xmlns:a16="http://schemas.microsoft.com/office/drawing/2014/main" id="{0AB77F81-8D4C-467D-8AA3-42FE77048006}"/>
              </a:ext>
            </a:extLst>
          </p:cNvPr>
          <p:cNvSpPr>
            <a:spLocks xmlns:a="http://schemas.openxmlformats.org/drawingml/2006/main" noGrp="1"/>
          </p:cNvSpPr>
          <p:nvPr/>
        </p:nvSpPr>
        <p:spPr>
          <a:xfrm xmlns:a="http://schemas.openxmlformats.org/drawingml/2006/main">
            <a:off x="1188720" y="5532120"/>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The service evaluates w · x on ciphertexts; the hospital decrypts and applies sigmoid</a:t>
            </a:r>
            <a:endParaRPr sz="1200"/>
          </a:p>
        </p:txBody>
      </p:sp>
      <p:sp>
        <p:nvSpPr>
          <p:cNvPr id="32" name="Text 30">
            <a:extLst xmlns:a="http://schemas.openxmlformats.org/drawingml/2006/main">
              <a:ext uri="{FF2B5EF4-FFF2-40B4-BE49-F238E27FC236}">
                <a16:creationId xmlns:a16="http://schemas.microsoft.com/office/drawing/2014/main" id="{7FEF0A0A-7ACA-4D2B-A43E-82C24CE44D1D}"/>
              </a:ext>
            </a:extLst>
          </p:cNvPr>
          <p:cNvSpPr>
            <a:spLocks xmlns:a="http://schemas.openxmlformats.org/drawingml/2006/main" noGrp="1"/>
          </p:cNvSpPr>
          <p:nvPr/>
        </p:nvSpPr>
        <p:spPr>
          <a:xfrm xmlns:a="http://schemas.openxmlformats.org/drawingml/2006/main">
            <a:off x="6263640" y="3017520"/>
            <a:ext cx="5376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00">
                <a:solidFill>
                  <a:schemeClr val="accent5"/>
                </a:solidFill>
              </a:rPr>
              <a:t>TEST RESULTS (38,052 RECORDS)</a:t>
            </a:r>
            <a:endParaRPr sz="1100"/>
          </a:p>
        </p:txBody>
      </p:sp>
      <p:sp>
        <p:nvSpPr>
          <p:cNvPr id="33" name="Métricas">
            <a:extLst xmlns:a="http://schemas.openxmlformats.org/drawingml/2006/main">
              <a:ext uri="{FF2B5EF4-FFF2-40B4-BE49-F238E27FC236}">
                <a16:creationId xmlns:a16="http://schemas.microsoft.com/office/drawing/2014/main" id="{EC880691-5CEA-45FE-920D-8D3CC074F18D}"/>
              </a:ext>
            </a:extLst>
          </p:cNvPr>
          <p:cNvSpPr>
            <a:spLocks xmlns:a="http://schemas.openxmlformats.org/drawingml/2006/main" noGrp="1"/>
          </p:cNvSpPr>
          <p:nvPr/>
        </p:nvSpPr>
        <p:spPr>
          <a:xfrm xmlns:a="http://schemas.openxmlformats.org/drawingml/2006/main">
            <a:off x="6263640" y="3383280"/>
            <a:ext cx="5376672" cy="1078992"/>
          </a:xfrm>
          <a:prstGeom xmlns:a="http://schemas.openxmlformats.org/drawingml/2006/main" prst="roundRect">
            <a:avLst>
              <a:gd name="adj" fmla="val 8475"/>
            </a:avLst>
          </a:prstGeom>
          <a:solidFill xmlns:a="http://schemas.openxmlformats.org/drawingml/2006/main">
            <a:schemeClr val="accent2">
              <a:alpha val="15000"/>
            </a:schemeClr>
          </a:solidFill>
          <a:ln xmlns:a="http://schemas.openxmlformats.org/drawingml/2006/main" w="9525">
            <a:solidFill>
              <a:schemeClr val="accent2">
                <a:alpha val="70000"/>
              </a:schemeClr>
            </a:solidFill>
            <a:prstDash val="solid"/>
          </a:ln>
        </p:spPr>
      </p:sp>
      <p:sp>
        <p:nvSpPr>
          <p:cNvPr id="34" name="Métricas círculo">
            <a:extLst xmlns:a="http://schemas.openxmlformats.org/drawingml/2006/main">
              <a:ext uri="{FF2B5EF4-FFF2-40B4-BE49-F238E27FC236}">
                <a16:creationId xmlns:a16="http://schemas.microsoft.com/office/drawing/2014/main" id="{A3ABE300-192A-40E0-82FA-2BFC08D29B68}"/>
              </a:ext>
            </a:extLst>
          </p:cNvPr>
          <p:cNvSpPr>
            <a:spLocks xmlns:a="http://schemas.openxmlformats.org/drawingml/2006/main" noGrp="1"/>
          </p:cNvSpPr>
          <p:nvPr/>
        </p:nvSpPr>
        <p:spPr>
          <a:xfrm xmlns:a="http://schemas.openxmlformats.org/drawingml/2006/main">
            <a:off x="6419088" y="3657600"/>
            <a:ext cx="530352" cy="530352"/>
          </a:xfrm>
          <a:prstGeom xmlns:a="http://schemas.openxmlformats.org/drawingml/2006/main" prst="ellipse">
            <a:avLst/>
          </a:prstGeom>
          <a:solidFill xmlns:a="http://schemas.openxmlformats.org/drawingml/2006/main">
            <a:schemeClr val="accent2"/>
          </a:solidFill>
        </p:spPr>
      </p:sp>
      <p:pic>
        <p:nvPicPr>
          <p:cNvPr id="35" name="Métricas ícono">
            <a:extLst xmlns:a="http://schemas.openxmlformats.org/drawingml/2006/main">
              <a:ext uri="{FF2B5EF4-FFF2-40B4-BE49-F238E27FC236}">
                <a16:creationId xmlns:a16="http://schemas.microsoft.com/office/drawing/2014/main" id="{93A76CF4-6837-4974-9A8F-11030472E5D5}"/>
              </a:ext>
            </a:extLst>
          </p:cNvPr>
          <p:cNvPicPr>
            <a:picLocks xmlns:a="http://schemas.openxmlformats.org/drawingml/2006/main" noChangeAspect="1"/>
          </p:cNvPicPr>
          <p:nvPr/>
        </p:nvPicPr>
        <p:blipFill>
          <a:blip xmlns:r="http://schemas.openxmlformats.org/officeDocument/2006/relationships" xmlns:a="http://schemas.openxmlformats.org/drawingml/2006/main" r:embed="Rfc0de45e0c384224"/>
          <a:stretch xmlns:a="http://schemas.openxmlformats.org/drawingml/2006/main">
            <a:fillRect l="0" t="0" r="0" b="0"/>
          </a:stretch>
        </p:blipFill>
        <p:spPr>
          <a:xfrm xmlns:a="http://schemas.openxmlformats.org/drawingml/2006/main">
            <a:off x="6535765" y="3774277"/>
            <a:ext cx="296997" cy="296997"/>
          </a:xfrm>
          <a:prstGeom xmlns:a="http://schemas.openxmlformats.org/drawingml/2006/main" prst="rect">
            <a:avLst/>
          </a:prstGeom>
        </p:spPr>
      </p:pic>
      <p:sp>
        <p:nvSpPr>
          <p:cNvPr id="36" name="Text 33">
            <a:extLst xmlns:a="http://schemas.openxmlformats.org/drawingml/2006/main">
              <a:ext uri="{FF2B5EF4-FFF2-40B4-BE49-F238E27FC236}">
                <a16:creationId xmlns:a16="http://schemas.microsoft.com/office/drawing/2014/main" id="{D8184D06-E015-45DA-8D6C-65FA5A71592C}"/>
              </a:ext>
            </a:extLst>
          </p:cNvPr>
          <p:cNvSpPr>
            <a:spLocks xmlns:a="http://schemas.openxmlformats.org/drawingml/2006/main" noGrp="1"/>
          </p:cNvSpPr>
          <p:nvPr/>
        </p:nvSpPr>
        <p:spPr>
          <a:xfrm xmlns:a="http://schemas.openxmlformats.org/drawingml/2006/main">
            <a:off x="7114032" y="3493008"/>
            <a:ext cx="4389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Metrics</a:t>
            </a:r>
            <a:endParaRPr sz="1500"/>
          </a:p>
        </p:txBody>
      </p:sp>
      <p:sp>
        <p:nvSpPr>
          <p:cNvPr id="37" name="Text 34">
            <a:extLst xmlns:a="http://schemas.openxmlformats.org/drawingml/2006/main">
              <a:ext uri="{FF2B5EF4-FFF2-40B4-BE49-F238E27FC236}">
                <a16:creationId xmlns:a16="http://schemas.microsoft.com/office/drawing/2014/main" id="{8CF8D52A-8C74-4D4F-B439-458EBCBF7362}"/>
              </a:ext>
            </a:extLst>
          </p:cNvPr>
          <p:cNvSpPr>
            <a:spLocks xmlns:a="http://schemas.openxmlformats.org/drawingml/2006/main" noGrp="1"/>
          </p:cNvSpPr>
          <p:nvPr/>
        </p:nvSpPr>
        <p:spPr>
          <a:xfrm xmlns:a="http://schemas.openxmlformats.org/drawingml/2006/main">
            <a:off x="7114032" y="3840480"/>
            <a:ext cx="43891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ROC-AUC 0.825 · AP 0.414 · sensitivity 0.807 · specificity 0.689 · PPV 0.296 · Brier 0.098. Threshold selected on validation.</a:t>
            </a:r>
            <a:endParaRPr sz="1200"/>
          </a:p>
        </p:txBody>
      </p:sp>
      <p:sp>
        <p:nvSpPr>
          <p:cNvPr id="38" name="Límites">
            <a:extLst xmlns:a="http://schemas.openxmlformats.org/drawingml/2006/main">
              <a:ext uri="{FF2B5EF4-FFF2-40B4-BE49-F238E27FC236}">
                <a16:creationId xmlns:a16="http://schemas.microsoft.com/office/drawing/2014/main" id="{5C92B429-B5E6-48F6-9A8C-549EB31593BF}"/>
              </a:ext>
            </a:extLst>
          </p:cNvPr>
          <p:cNvSpPr>
            <a:spLocks xmlns:a="http://schemas.openxmlformats.org/drawingml/2006/main" noGrp="1"/>
          </p:cNvSpPr>
          <p:nvPr/>
        </p:nvSpPr>
        <p:spPr>
          <a:xfrm xmlns:a="http://schemas.openxmlformats.org/drawingml/2006/main">
            <a:off x="6263640" y="4590288"/>
            <a:ext cx="5376672" cy="1078992"/>
          </a:xfrm>
          <a:prstGeom xmlns:a="http://schemas.openxmlformats.org/drawingml/2006/main" prst="roundRect">
            <a:avLst>
              <a:gd name="adj" fmla="val 8475"/>
            </a:avLst>
          </a:prstGeom>
          <a:solidFill xmlns:a="http://schemas.openxmlformats.org/drawingml/2006/main">
            <a:schemeClr val="accent4">
              <a:alpha val="15000"/>
            </a:schemeClr>
          </a:solidFill>
          <a:ln xmlns:a="http://schemas.openxmlformats.org/drawingml/2006/main" w="9525">
            <a:solidFill>
              <a:schemeClr val="accent4">
                <a:alpha val="70000"/>
              </a:schemeClr>
            </a:solidFill>
            <a:prstDash val="solid"/>
          </a:ln>
        </p:spPr>
      </p:sp>
      <p:sp>
        <p:nvSpPr>
          <p:cNvPr id="39" name="Límites círculo">
            <a:extLst xmlns:a="http://schemas.openxmlformats.org/drawingml/2006/main">
              <a:ext uri="{FF2B5EF4-FFF2-40B4-BE49-F238E27FC236}">
                <a16:creationId xmlns:a16="http://schemas.microsoft.com/office/drawing/2014/main" id="{E4AA23A6-055A-4D05-9959-328F73D3878A}"/>
              </a:ext>
            </a:extLst>
          </p:cNvPr>
          <p:cNvSpPr>
            <a:spLocks xmlns:a="http://schemas.openxmlformats.org/drawingml/2006/main" noGrp="1"/>
          </p:cNvSpPr>
          <p:nvPr/>
        </p:nvSpPr>
        <p:spPr>
          <a:xfrm xmlns:a="http://schemas.openxmlformats.org/drawingml/2006/main">
            <a:off x="6419088" y="4864608"/>
            <a:ext cx="530352" cy="530352"/>
          </a:xfrm>
          <a:prstGeom xmlns:a="http://schemas.openxmlformats.org/drawingml/2006/main" prst="ellipse">
            <a:avLst/>
          </a:prstGeom>
          <a:solidFill xmlns:a="http://schemas.openxmlformats.org/drawingml/2006/main">
            <a:schemeClr val="accent4"/>
          </a:solidFill>
        </p:spPr>
      </p:sp>
      <p:pic>
        <p:nvPicPr>
          <p:cNvPr id="40" name="Límites ícono">
            <a:extLst xmlns:a="http://schemas.openxmlformats.org/drawingml/2006/main">
              <a:ext uri="{FF2B5EF4-FFF2-40B4-BE49-F238E27FC236}">
                <a16:creationId xmlns:a16="http://schemas.microsoft.com/office/drawing/2014/main" id="{095FC878-48BA-4748-B77E-322C211299C6}"/>
              </a:ext>
            </a:extLst>
          </p:cNvPr>
          <p:cNvPicPr>
            <a:picLocks xmlns:a="http://schemas.openxmlformats.org/drawingml/2006/main" noChangeAspect="1"/>
          </p:cNvPicPr>
          <p:nvPr/>
        </p:nvPicPr>
        <p:blipFill>
          <a:blip xmlns:r="http://schemas.openxmlformats.org/officeDocument/2006/relationships" xmlns:a="http://schemas.openxmlformats.org/drawingml/2006/main" r:embed="R8e1cb59c3188473c"/>
          <a:stretch xmlns:a="http://schemas.openxmlformats.org/drawingml/2006/main">
            <a:fillRect l="0" t="0" r="0" b="0"/>
          </a:stretch>
        </p:blipFill>
        <p:spPr>
          <a:xfrm xmlns:a="http://schemas.openxmlformats.org/drawingml/2006/main">
            <a:off x="6535765" y="4981285"/>
            <a:ext cx="296997" cy="296997"/>
          </a:xfrm>
          <a:prstGeom xmlns:a="http://schemas.openxmlformats.org/drawingml/2006/main" prst="rect">
            <a:avLst/>
          </a:prstGeom>
        </p:spPr>
      </p:pic>
      <p:sp>
        <p:nvSpPr>
          <p:cNvPr id="41" name="Text 37">
            <a:extLst xmlns:a="http://schemas.openxmlformats.org/drawingml/2006/main">
              <a:ext uri="{FF2B5EF4-FFF2-40B4-BE49-F238E27FC236}">
                <a16:creationId xmlns:a16="http://schemas.microsoft.com/office/drawing/2014/main" id="{16742B53-8B34-4477-8001-76AC7441D4F1}"/>
              </a:ext>
            </a:extLst>
          </p:cNvPr>
          <p:cNvSpPr>
            <a:spLocks xmlns:a="http://schemas.openxmlformats.org/drawingml/2006/main" noGrp="1"/>
          </p:cNvSpPr>
          <p:nvPr/>
        </p:nvSpPr>
        <p:spPr>
          <a:xfrm xmlns:a="http://schemas.openxmlformats.org/drawingml/2006/main">
            <a:off x="7114032" y="4700016"/>
            <a:ext cx="4389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Limitations</a:t>
            </a:r>
            <a:endParaRPr sz="1500"/>
          </a:p>
        </p:txBody>
      </p:sp>
      <p:sp>
        <p:nvSpPr>
          <p:cNvPr id="42" name="Text 38">
            <a:extLst xmlns:a="http://schemas.openxmlformats.org/drawingml/2006/main">
              <a:ext uri="{FF2B5EF4-FFF2-40B4-BE49-F238E27FC236}">
                <a16:creationId xmlns:a16="http://schemas.microsoft.com/office/drawing/2014/main" id="{18408005-2C13-4A63-A10B-F3B3AA0B3E39}"/>
              </a:ext>
            </a:extLst>
          </p:cNvPr>
          <p:cNvSpPr>
            <a:spLocks xmlns:a="http://schemas.openxmlformats.org/drawingml/2006/main" noGrp="1"/>
          </p:cNvSpPr>
          <p:nvPr/>
        </p:nvSpPr>
        <p:spPr>
          <a:xfrm xmlns:a="http://schemas.openxmlformats.org/drawingml/2006/main">
            <a:off x="7114032" y="5047488"/>
            <a:ext cx="43891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Label: self-reported U.S. diagnosis, not future diabetes. A separate reduced ten-feature ENSANUT model reaches AUC ≈0.77 and underestimates risk.</a:t>
            </a:r>
            <a:endParaRPr sz="1200"/>
          </a:p>
        </p:txBody>
      </p:sp>
      <p:sp>
        <p:nvSpPr>
          <p:cNvPr id="43" name="Text 39">
            <a:extLst xmlns:a="http://schemas.openxmlformats.org/drawingml/2006/main">
              <a:ext uri="{FF2B5EF4-FFF2-40B4-BE49-F238E27FC236}">
                <a16:creationId xmlns:a16="http://schemas.microsoft.com/office/drawing/2014/main" id="{33CB5153-62BB-444E-9C8B-7D05308C2B51}"/>
              </a:ext>
            </a:extLst>
          </p:cNvPr>
          <p:cNvSpPr>
            <a:spLocks xmlns:a="http://schemas.openxmlformats.org/drawingml/2006/main" noGrp="1"/>
          </p:cNvSpPr>
          <p:nvPr/>
        </p:nvSpPr>
        <p:spPr>
          <a:xfrm xmlns:a="http://schemas.openxmlformats.org/drawingml/2006/main">
            <a:off x="548640" y="6089904"/>
            <a:ext cx="11091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6"/>
                </a:solidFill>
              </a:rPr>
              <a:t>Source: UCI Machine Learning Repository, CDC Diabetes Health Indicators (ID 891).</a:t>
            </a:r>
            <a:endParaRPr sz="1000"/>
          </a:p>
        </p:txBody>
      </p:sp>
      <p:sp>
        <p:nvSpPr>
          <p:cNvPr id="44" name="Slide Number Placeholder 0">
            <a:extLst xmlns:a="http://schemas.openxmlformats.org/drawingml/2006/main">
              <a:ext uri="{FF2B5EF4-FFF2-40B4-BE49-F238E27FC236}">
                <a16:creationId xmlns:a16="http://schemas.microsoft.com/office/drawing/2014/main" id="{B14CA5A1-588A-4FE4-B866-557619FFB856}"/>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71442793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D705EF4-4361-4EDA-942E-AA4A9F35A576}"/>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09 · IMPACT · AI FOR GOOD</a:t>
            </a:r>
            <a:endParaRPr sz="1200"/>
          </a:p>
        </p:txBody>
      </p:sp>
      <p:sp>
        <p:nvSpPr>
          <p:cNvPr id="3" name="Text 1">
            <a:extLst xmlns:a="http://schemas.openxmlformats.org/drawingml/2006/main">
              <a:ext uri="{FF2B5EF4-FFF2-40B4-BE49-F238E27FC236}">
                <a16:creationId xmlns:a16="http://schemas.microsoft.com/office/drawing/2014/main" id="{CBB6CD29-5EF7-4AFE-87C7-470A41B91E0F}"/>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Screening support without sharing readable records</a:t>
            </a:r>
            <a:endParaRPr sz="3000"/>
          </a:p>
        </p:txBody>
      </p:sp>
      <p:sp>
        <p:nvSpPr>
          <p:cNvPr id="4" name="Tamizaje temprano">
            <a:extLst xmlns:a="http://schemas.openxmlformats.org/drawingml/2006/main">
              <a:ext uri="{FF2B5EF4-FFF2-40B4-BE49-F238E27FC236}">
                <a16:creationId xmlns:a16="http://schemas.microsoft.com/office/drawing/2014/main" id="{3327AB26-BE03-4B8B-93CF-BB7C4A0F174F}"/>
              </a:ext>
            </a:extLst>
          </p:cNvPr>
          <p:cNvSpPr>
            <a:spLocks xmlns:a="http://schemas.openxmlformats.org/drawingml/2006/main" noGrp="1"/>
          </p:cNvSpPr>
          <p:nvPr/>
        </p:nvSpPr>
        <p:spPr>
          <a:xfrm xmlns:a="http://schemas.openxmlformats.org/drawingml/2006/main">
            <a:off x="548640" y="1874520"/>
            <a:ext cx="2642616" cy="2103120"/>
          </a:xfrm>
          <a:prstGeom xmlns:a="http://schemas.openxmlformats.org/drawingml/2006/main" prst="roundRect">
            <a:avLst>
              <a:gd name="adj" fmla="val 4348"/>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5" name="Tamizaje temprano círculo">
            <a:extLst xmlns:a="http://schemas.openxmlformats.org/drawingml/2006/main">
              <a:ext uri="{FF2B5EF4-FFF2-40B4-BE49-F238E27FC236}">
                <a16:creationId xmlns:a16="http://schemas.microsoft.com/office/drawing/2014/main" id="{65E6FCD6-4309-4002-B145-3A1F5C577F69}"/>
              </a:ext>
            </a:extLst>
          </p:cNvPr>
          <p:cNvSpPr>
            <a:spLocks xmlns:a="http://schemas.openxmlformats.org/drawingml/2006/main" noGrp="1"/>
          </p:cNvSpPr>
          <p:nvPr/>
        </p:nvSpPr>
        <p:spPr>
          <a:xfrm xmlns:a="http://schemas.openxmlformats.org/drawingml/2006/main">
            <a:off x="777240" y="2103120"/>
            <a:ext cx="566928" cy="566928"/>
          </a:xfrm>
          <a:prstGeom xmlns:a="http://schemas.openxmlformats.org/drawingml/2006/main" prst="ellipse">
            <a:avLst/>
          </a:prstGeom>
          <a:solidFill xmlns:a="http://schemas.openxmlformats.org/drawingml/2006/main">
            <a:schemeClr val="accent1"/>
          </a:solidFill>
        </p:spPr>
      </p:sp>
      <p:pic>
        <p:nvPicPr>
          <p:cNvPr id="6" name="Tamizaje temprano ícono">
            <a:extLst xmlns:a="http://schemas.openxmlformats.org/drawingml/2006/main">
              <a:ext uri="{FF2B5EF4-FFF2-40B4-BE49-F238E27FC236}">
                <a16:creationId xmlns:a16="http://schemas.microsoft.com/office/drawing/2014/main" id="{842846B2-A9ED-4740-82D3-AA1584DE3FE6}"/>
              </a:ext>
            </a:extLst>
          </p:cNvPr>
          <p:cNvPicPr>
            <a:picLocks xmlns:a="http://schemas.openxmlformats.org/drawingml/2006/main" noChangeAspect="1"/>
          </p:cNvPicPr>
          <p:nvPr/>
        </p:nvPicPr>
        <p:blipFill>
          <a:blip xmlns:r="http://schemas.openxmlformats.org/officeDocument/2006/relationships" xmlns:a="http://schemas.openxmlformats.org/drawingml/2006/main" r:embed="Rbb42b58a464b4117"/>
          <a:stretch xmlns:a="http://schemas.openxmlformats.org/drawingml/2006/main">
            <a:fillRect l="0" t="0" r="0" b="0"/>
          </a:stretch>
        </p:blipFill>
        <p:spPr>
          <a:xfrm xmlns:a="http://schemas.openxmlformats.org/drawingml/2006/main">
            <a:off x="901964" y="2227844"/>
            <a:ext cx="317480" cy="31748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4430A41-395A-40A3-95DC-5F46200EF7BB}"/>
              </a:ext>
            </a:extLst>
          </p:cNvPr>
          <p:cNvSpPr>
            <a:spLocks xmlns:a="http://schemas.openxmlformats.org/drawingml/2006/main" noGrp="1"/>
          </p:cNvSpPr>
          <p:nvPr/>
        </p:nvSpPr>
        <p:spPr>
          <a:xfrm xmlns:a="http://schemas.openxmlformats.org/drawingml/2006/main">
            <a:off x="777240" y="2788920"/>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bg1"/>
                </a:solidFill>
              </a:rPr>
              <a:t>Earlier screening</a:t>
            </a:r>
            <a:endParaRPr sz="1600"/>
          </a:p>
        </p:txBody>
      </p:sp>
      <p:sp>
        <p:nvSpPr>
          <p:cNvPr id="8" name="Text 5">
            <a:extLst xmlns:a="http://schemas.openxmlformats.org/drawingml/2006/main">
              <a:ext uri="{FF2B5EF4-FFF2-40B4-BE49-F238E27FC236}">
                <a16:creationId xmlns:a16="http://schemas.microsoft.com/office/drawing/2014/main" id="{0EE33BEF-63D0-43C1-8780-8F99C756593D}"/>
              </a:ext>
            </a:extLst>
          </p:cNvPr>
          <p:cNvSpPr>
            <a:spLocks xmlns:a="http://schemas.openxmlformats.org/drawingml/2006/main" noGrp="1"/>
          </p:cNvSpPr>
          <p:nvPr/>
        </p:nvSpPr>
        <p:spPr>
          <a:xfrm xmlns:a="http://schemas.openxmlformats.org/drawingml/2006/main">
            <a:off x="777240" y="3154680"/>
            <a:ext cx="22402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Support earlier confirmatory testing for people who may be unaware of diabetes</a:t>
            </a:r>
            <a:endParaRPr sz="1200"/>
          </a:p>
        </p:txBody>
      </p:sp>
      <p:sp>
        <p:nvSpPr>
          <p:cNvPr id="9" name="Confianza del paciente">
            <a:extLst xmlns:a="http://schemas.openxmlformats.org/drawingml/2006/main">
              <a:ext uri="{FF2B5EF4-FFF2-40B4-BE49-F238E27FC236}">
                <a16:creationId xmlns:a16="http://schemas.microsoft.com/office/drawing/2014/main" id="{CBCF7266-B498-4274-AF3A-6CD19934F630}"/>
              </a:ext>
            </a:extLst>
          </p:cNvPr>
          <p:cNvSpPr>
            <a:spLocks xmlns:a="http://schemas.openxmlformats.org/drawingml/2006/main" noGrp="1"/>
          </p:cNvSpPr>
          <p:nvPr/>
        </p:nvSpPr>
        <p:spPr>
          <a:xfrm xmlns:a="http://schemas.openxmlformats.org/drawingml/2006/main">
            <a:off x="3364992" y="1874520"/>
            <a:ext cx="2642616" cy="2103120"/>
          </a:xfrm>
          <a:prstGeom xmlns:a="http://schemas.openxmlformats.org/drawingml/2006/main" prst="roundRect">
            <a:avLst>
              <a:gd name="adj" fmla="val 4348"/>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10" name="Confianza del paciente círculo">
            <a:extLst xmlns:a="http://schemas.openxmlformats.org/drawingml/2006/main">
              <a:ext uri="{FF2B5EF4-FFF2-40B4-BE49-F238E27FC236}">
                <a16:creationId xmlns:a16="http://schemas.microsoft.com/office/drawing/2014/main" id="{7F907A7E-3303-49C9-BEFD-1DAC3C55A67B}"/>
              </a:ext>
            </a:extLst>
          </p:cNvPr>
          <p:cNvSpPr>
            <a:spLocks xmlns:a="http://schemas.openxmlformats.org/drawingml/2006/main" noGrp="1"/>
          </p:cNvSpPr>
          <p:nvPr/>
        </p:nvSpPr>
        <p:spPr>
          <a:xfrm xmlns:a="http://schemas.openxmlformats.org/drawingml/2006/main">
            <a:off x="3593592" y="2103120"/>
            <a:ext cx="566928" cy="566928"/>
          </a:xfrm>
          <a:prstGeom xmlns:a="http://schemas.openxmlformats.org/drawingml/2006/main" prst="ellipse">
            <a:avLst/>
          </a:prstGeom>
          <a:solidFill xmlns:a="http://schemas.openxmlformats.org/drawingml/2006/main">
            <a:schemeClr val="accent1"/>
          </a:solidFill>
        </p:spPr>
      </p:sp>
      <p:pic>
        <p:nvPicPr>
          <p:cNvPr id="11" name="Confianza del paciente ícono">
            <a:extLst xmlns:a="http://schemas.openxmlformats.org/drawingml/2006/main">
              <a:ext uri="{FF2B5EF4-FFF2-40B4-BE49-F238E27FC236}">
                <a16:creationId xmlns:a16="http://schemas.microsoft.com/office/drawing/2014/main" id="{B28A71B4-7A1A-4EE3-A477-9AE6255FE8CA}"/>
              </a:ext>
            </a:extLst>
          </p:cNvPr>
          <p:cNvPicPr>
            <a:picLocks xmlns:a="http://schemas.openxmlformats.org/drawingml/2006/main" noChangeAspect="1"/>
          </p:cNvPicPr>
          <p:nvPr/>
        </p:nvPicPr>
        <p:blipFill>
          <a:blip xmlns:r="http://schemas.openxmlformats.org/officeDocument/2006/relationships" xmlns:a="http://schemas.openxmlformats.org/drawingml/2006/main" r:embed="R9d700b5c90a5434b"/>
          <a:stretch xmlns:a="http://schemas.openxmlformats.org/drawingml/2006/main">
            <a:fillRect l="0" t="0" r="0" b="0"/>
          </a:stretch>
        </p:blipFill>
        <p:spPr>
          <a:xfrm xmlns:a="http://schemas.openxmlformats.org/drawingml/2006/main">
            <a:off x="3718316" y="2227844"/>
            <a:ext cx="317480" cy="31748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C7AB0FD-A555-4EE4-9865-9D3BDAFEDDE7}"/>
              </a:ext>
            </a:extLst>
          </p:cNvPr>
          <p:cNvSpPr>
            <a:spLocks xmlns:a="http://schemas.openxmlformats.org/drawingml/2006/main" noGrp="1"/>
          </p:cNvSpPr>
          <p:nvPr/>
        </p:nvSpPr>
        <p:spPr>
          <a:xfrm xmlns:a="http://schemas.openxmlformats.org/drawingml/2006/main">
            <a:off x="3593592" y="2788920"/>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bg1"/>
                </a:solidFill>
              </a:rPr>
              <a:t>Patient trust</a:t>
            </a:r>
            <a:endParaRPr sz="1600"/>
          </a:p>
        </p:txBody>
      </p:sp>
      <p:sp>
        <p:nvSpPr>
          <p:cNvPr id="13" name="Text 9">
            <a:extLst xmlns:a="http://schemas.openxmlformats.org/drawingml/2006/main">
              <a:ext uri="{FF2B5EF4-FFF2-40B4-BE49-F238E27FC236}">
                <a16:creationId xmlns:a16="http://schemas.microsoft.com/office/drawing/2014/main" id="{6EAD837E-BB02-49A3-8E47-41DF639FAF72}"/>
              </a:ext>
            </a:extLst>
          </p:cNvPr>
          <p:cNvSpPr>
            <a:spLocks xmlns:a="http://schemas.openxmlformats.org/drawingml/2006/main" noGrp="1"/>
          </p:cNvSpPr>
          <p:nvPr/>
        </p:nvSpPr>
        <p:spPr>
          <a:xfrm xmlns:a="http://schemas.openxmlformats.org/drawingml/2006/main">
            <a:off x="3593592" y="3154680"/>
            <a:ext cx="22402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The external risk service receives encrypted inputs</a:t>
            </a:r>
            <a:endParaRPr sz="1200"/>
          </a:p>
        </p:txBody>
      </p:sp>
      <p:sp>
        <p:nvSpPr>
          <p:cNvPr id="14" name="Cumplimiento">
            <a:extLst xmlns:a="http://schemas.openxmlformats.org/drawingml/2006/main">
              <a:ext uri="{FF2B5EF4-FFF2-40B4-BE49-F238E27FC236}">
                <a16:creationId xmlns:a16="http://schemas.microsoft.com/office/drawing/2014/main" id="{8EA234C9-C00D-4385-852B-8890B3C88F00}"/>
              </a:ext>
            </a:extLst>
          </p:cNvPr>
          <p:cNvSpPr>
            <a:spLocks xmlns:a="http://schemas.openxmlformats.org/drawingml/2006/main" noGrp="1"/>
          </p:cNvSpPr>
          <p:nvPr/>
        </p:nvSpPr>
        <p:spPr>
          <a:xfrm xmlns:a="http://schemas.openxmlformats.org/drawingml/2006/main">
            <a:off x="6181344" y="1874520"/>
            <a:ext cx="2642616" cy="2103120"/>
          </a:xfrm>
          <a:prstGeom xmlns:a="http://schemas.openxmlformats.org/drawingml/2006/main" prst="roundRect">
            <a:avLst>
              <a:gd name="adj" fmla="val 4348"/>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15" name="Cumplimiento círculo">
            <a:extLst xmlns:a="http://schemas.openxmlformats.org/drawingml/2006/main">
              <a:ext uri="{FF2B5EF4-FFF2-40B4-BE49-F238E27FC236}">
                <a16:creationId xmlns:a16="http://schemas.microsoft.com/office/drawing/2014/main" id="{B3307AA1-1855-4BC5-945C-534E0A1726EE}"/>
              </a:ext>
            </a:extLst>
          </p:cNvPr>
          <p:cNvSpPr>
            <a:spLocks xmlns:a="http://schemas.openxmlformats.org/drawingml/2006/main" noGrp="1"/>
          </p:cNvSpPr>
          <p:nvPr/>
        </p:nvSpPr>
        <p:spPr>
          <a:xfrm xmlns:a="http://schemas.openxmlformats.org/drawingml/2006/main">
            <a:off x="6409944" y="2103120"/>
            <a:ext cx="566928" cy="566928"/>
          </a:xfrm>
          <a:prstGeom xmlns:a="http://schemas.openxmlformats.org/drawingml/2006/main" prst="ellipse">
            <a:avLst/>
          </a:prstGeom>
          <a:solidFill xmlns:a="http://schemas.openxmlformats.org/drawingml/2006/main">
            <a:schemeClr val="accent1"/>
          </a:solidFill>
        </p:spPr>
      </p:sp>
      <p:pic>
        <p:nvPicPr>
          <p:cNvPr id="16" name="Cumplimiento ícono">
            <a:extLst xmlns:a="http://schemas.openxmlformats.org/drawingml/2006/main">
              <a:ext uri="{FF2B5EF4-FFF2-40B4-BE49-F238E27FC236}">
                <a16:creationId xmlns:a16="http://schemas.microsoft.com/office/drawing/2014/main" id="{5B791091-AADC-4830-8D66-FF8A3D965272}"/>
              </a:ext>
            </a:extLst>
          </p:cNvPr>
          <p:cNvPicPr>
            <a:picLocks xmlns:a="http://schemas.openxmlformats.org/drawingml/2006/main" noChangeAspect="1"/>
          </p:cNvPicPr>
          <p:nvPr/>
        </p:nvPicPr>
        <p:blipFill>
          <a:blip xmlns:r="http://schemas.openxmlformats.org/officeDocument/2006/relationships" xmlns:a="http://schemas.openxmlformats.org/drawingml/2006/main" r:embed="Rd74a1ad0632b4195"/>
          <a:stretch xmlns:a="http://schemas.openxmlformats.org/drawingml/2006/main">
            <a:fillRect l="0" t="0" r="0" b="0"/>
          </a:stretch>
        </p:blipFill>
        <p:spPr>
          <a:xfrm xmlns:a="http://schemas.openxmlformats.org/drawingml/2006/main">
            <a:off x="6534668" y="2227844"/>
            <a:ext cx="317480" cy="31748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7689E6C0-0C8F-4990-872F-91D1B60DEBC6}"/>
              </a:ext>
            </a:extLst>
          </p:cNvPr>
          <p:cNvSpPr>
            <a:spLocks xmlns:a="http://schemas.openxmlformats.org/drawingml/2006/main" noGrp="1"/>
          </p:cNvSpPr>
          <p:nvPr/>
        </p:nvSpPr>
        <p:spPr>
          <a:xfrm xmlns:a="http://schemas.openxmlformats.org/drawingml/2006/main">
            <a:off x="6409944" y="2788920"/>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bg1"/>
                </a:solidFill>
              </a:rPr>
              <a:t>Privacy safeguards</a:t>
            </a:r>
            <a:endParaRPr sz="1600"/>
          </a:p>
        </p:txBody>
      </p:sp>
      <p:sp>
        <p:nvSpPr>
          <p:cNvPr id="18" name="Text 13">
            <a:extLst xmlns:a="http://schemas.openxmlformats.org/drawingml/2006/main">
              <a:ext uri="{FF2B5EF4-FFF2-40B4-BE49-F238E27FC236}">
                <a16:creationId xmlns:a16="http://schemas.microsoft.com/office/drawing/2014/main" id="{D34BD79C-6D2B-45C7-AE6C-E20F60B4A845}"/>
              </a:ext>
            </a:extLst>
          </p:cNvPr>
          <p:cNvSpPr>
            <a:spLocks xmlns:a="http://schemas.openxmlformats.org/drawingml/2006/main" noGrp="1"/>
          </p:cNvSpPr>
          <p:nvPr/>
        </p:nvSpPr>
        <p:spPr>
          <a:xfrm xmlns:a="http://schemas.openxmlformats.org/drawingml/2006/main">
            <a:off x="6409944" y="3154680"/>
            <a:ext cx="22402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A privacy-preserving design; clinical and legal review remain necessary</a:t>
            </a:r>
            <a:endParaRPr sz="1200"/>
          </a:p>
        </p:txBody>
      </p:sp>
      <p:sp>
        <p:nvSpPr>
          <p:cNvPr id="19" name="Escalable">
            <a:extLst xmlns:a="http://schemas.openxmlformats.org/drawingml/2006/main">
              <a:ext uri="{FF2B5EF4-FFF2-40B4-BE49-F238E27FC236}">
                <a16:creationId xmlns:a16="http://schemas.microsoft.com/office/drawing/2014/main" id="{4C02A60C-658D-4B2D-BBAA-15EA46E6A827}"/>
              </a:ext>
            </a:extLst>
          </p:cNvPr>
          <p:cNvSpPr>
            <a:spLocks xmlns:a="http://schemas.openxmlformats.org/drawingml/2006/main" noGrp="1"/>
          </p:cNvSpPr>
          <p:nvPr/>
        </p:nvSpPr>
        <p:spPr>
          <a:xfrm xmlns:a="http://schemas.openxmlformats.org/drawingml/2006/main">
            <a:off x="8997696" y="1874520"/>
            <a:ext cx="2642616" cy="2103120"/>
          </a:xfrm>
          <a:prstGeom xmlns:a="http://schemas.openxmlformats.org/drawingml/2006/main" prst="roundRect">
            <a:avLst>
              <a:gd name="adj" fmla="val 4348"/>
            </a:avLst>
          </a:prstGeom>
          <a:solidFill xmlns:a="http://schemas.openxmlformats.org/drawingml/2006/main">
            <a:schemeClr val="tx2"/>
          </a:solidFill>
          <a:ln xmlns:a="http://schemas.openxmlformats.org/drawingml/2006/main" w="9525">
            <a:solidFill>
              <a:schemeClr val="accent5">
                <a:alpha val="50000"/>
              </a:schemeClr>
            </a:solidFill>
            <a:prstDash val="solid"/>
          </a:ln>
        </p:spPr>
      </p:sp>
      <p:sp>
        <p:nvSpPr>
          <p:cNvPr id="20" name="Escalable círculo">
            <a:extLst xmlns:a="http://schemas.openxmlformats.org/drawingml/2006/main">
              <a:ext uri="{FF2B5EF4-FFF2-40B4-BE49-F238E27FC236}">
                <a16:creationId xmlns:a16="http://schemas.microsoft.com/office/drawing/2014/main" id="{36E2A0D5-315F-4A4F-B513-D523A76582A7}"/>
              </a:ext>
            </a:extLst>
          </p:cNvPr>
          <p:cNvSpPr>
            <a:spLocks xmlns:a="http://schemas.openxmlformats.org/drawingml/2006/main" noGrp="1"/>
          </p:cNvSpPr>
          <p:nvPr/>
        </p:nvSpPr>
        <p:spPr>
          <a:xfrm xmlns:a="http://schemas.openxmlformats.org/drawingml/2006/main">
            <a:off x="9226296" y="2103120"/>
            <a:ext cx="566928" cy="566928"/>
          </a:xfrm>
          <a:prstGeom xmlns:a="http://schemas.openxmlformats.org/drawingml/2006/main" prst="ellipse">
            <a:avLst/>
          </a:prstGeom>
          <a:solidFill xmlns:a="http://schemas.openxmlformats.org/drawingml/2006/main">
            <a:schemeClr val="accent1"/>
          </a:solidFill>
        </p:spPr>
      </p:sp>
      <p:pic>
        <p:nvPicPr>
          <p:cNvPr id="21" name="Escalable ícono">
            <a:extLst xmlns:a="http://schemas.openxmlformats.org/drawingml/2006/main">
              <a:ext uri="{FF2B5EF4-FFF2-40B4-BE49-F238E27FC236}">
                <a16:creationId xmlns:a16="http://schemas.microsoft.com/office/drawing/2014/main" id="{C8FBFAC5-0FEF-422E-9B96-3D3813E55277}"/>
              </a:ext>
            </a:extLst>
          </p:cNvPr>
          <p:cNvPicPr>
            <a:picLocks xmlns:a="http://schemas.openxmlformats.org/drawingml/2006/main" noChangeAspect="1"/>
          </p:cNvPicPr>
          <p:nvPr/>
        </p:nvPicPr>
        <p:blipFill>
          <a:blip xmlns:r="http://schemas.openxmlformats.org/officeDocument/2006/relationships" xmlns:a="http://schemas.openxmlformats.org/drawingml/2006/main" r:embed="R1128623a77c942f6"/>
          <a:stretch xmlns:a="http://schemas.openxmlformats.org/drawingml/2006/main">
            <a:fillRect l="0" t="0" r="0" b="0"/>
          </a:stretch>
        </p:blipFill>
        <p:spPr>
          <a:xfrm xmlns:a="http://schemas.openxmlformats.org/drawingml/2006/main">
            <a:off x="9351020" y="2227844"/>
            <a:ext cx="317480" cy="31748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9727743C-A9CE-4B48-B2CD-6EE202AC581A}"/>
              </a:ext>
            </a:extLst>
          </p:cNvPr>
          <p:cNvSpPr>
            <a:spLocks xmlns:a="http://schemas.openxmlformats.org/drawingml/2006/main" noGrp="1"/>
          </p:cNvSpPr>
          <p:nvPr/>
        </p:nvSpPr>
        <p:spPr>
          <a:xfrm xmlns:a="http://schemas.openxmlformats.org/drawingml/2006/main">
            <a:off x="9226296" y="2788920"/>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chemeClr val="bg1"/>
                </a:solidFill>
              </a:rPr>
              <a:t>Further applications</a:t>
            </a:r>
            <a:endParaRPr sz="1600"/>
          </a:p>
        </p:txBody>
      </p:sp>
      <p:sp>
        <p:nvSpPr>
          <p:cNvPr id="23" name="Text 17">
            <a:extLst xmlns:a="http://schemas.openxmlformats.org/drawingml/2006/main">
              <a:ext uri="{FF2B5EF4-FFF2-40B4-BE49-F238E27FC236}">
                <a16:creationId xmlns:a16="http://schemas.microsoft.com/office/drawing/2014/main" id="{374B4776-A173-4D57-B95C-AFB261CA1BBF}"/>
              </a:ext>
            </a:extLst>
          </p:cNvPr>
          <p:cNvSpPr>
            <a:spLocks xmlns:a="http://schemas.openxmlformats.org/drawingml/2006/main" noGrp="1"/>
          </p:cNvSpPr>
          <p:nvPr/>
        </p:nvSpPr>
        <p:spPr>
          <a:xfrm xmlns:a="http://schemas.openxmlformats.org/drawingml/2006/main">
            <a:off x="9226296" y="3154680"/>
            <a:ext cx="22402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Explore other linear screening models after separate validation</a:t>
            </a:r>
            <a:endParaRPr sz="1200"/>
          </a:p>
        </p:txBody>
      </p:sp>
      <p:sp>
        <p:nvSpPr>
          <p:cNvPr id="24" name="Text 18">
            <a:extLst xmlns:a="http://schemas.openxmlformats.org/drawingml/2006/main">
              <a:ext uri="{FF2B5EF4-FFF2-40B4-BE49-F238E27FC236}">
                <a16:creationId xmlns:a16="http://schemas.microsoft.com/office/drawing/2014/main" id="{BE9D18D2-B419-473E-9528-DD94C4F40C2E}"/>
              </a:ext>
            </a:extLst>
          </p:cNvPr>
          <p:cNvSpPr>
            <a:spLocks xmlns:a="http://schemas.openxmlformats.org/drawingml/2006/main" noGrp="1"/>
          </p:cNvSpPr>
          <p:nvPr/>
        </p:nvSpPr>
        <p:spPr>
          <a:xfrm xmlns:a="http://schemas.openxmlformats.org/drawingml/2006/main">
            <a:off x="548640" y="420624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chemeClr val="bg1"/>
                </a:solidFill>
              </a:rPr>
              <a:t>AI sees the risk. Nobody sees the patient.</a:t>
            </a:r>
            <a:endParaRPr sz="3200"/>
          </a:p>
        </p:txBody>
      </p:sp>
      <p:pic>
        <p:nvPicPr>
          <p:cNvPr id="25" name="Logo del equipo">
            <a:extLst xmlns:a="http://schemas.openxmlformats.org/drawingml/2006/main">
              <a:ext uri="{FF2B5EF4-FFF2-40B4-BE49-F238E27FC236}">
                <a16:creationId xmlns:a16="http://schemas.microsoft.com/office/drawing/2014/main" id="{92AAD7F1-F334-4B52-A99A-8D95E4CAA746}"/>
              </a:ext>
            </a:extLst>
          </p:cNvPr>
          <p:cNvPicPr>
            <a:picLocks xmlns:a="http://schemas.openxmlformats.org/drawingml/2006/main" noChangeAspect="1"/>
          </p:cNvPicPr>
          <p:nvPr/>
        </p:nvPicPr>
        <p:blipFill>
          <a:blip xmlns:r="http://schemas.openxmlformats.org/officeDocument/2006/relationships" xmlns:a="http://schemas.openxmlformats.org/drawingml/2006/main" r:embed="Ra98a0e4ab5184d91"/>
          <a:stretch xmlns:a="http://schemas.openxmlformats.org/drawingml/2006/main">
            <a:fillRect l="0" t="0" r="0" b="0"/>
          </a:stretch>
        </p:blipFill>
        <p:spPr>
          <a:xfrm xmlns:a="http://schemas.openxmlformats.org/drawingml/2006/main">
            <a:off x="548640" y="4983480"/>
            <a:ext cx="1097280" cy="1097280"/>
          </a:xfrm>
          <a:prstGeom xmlns:a="http://schemas.openxmlformats.org/drawingml/2006/main" prst="rect">
            <a:avLst/>
          </a:prstGeom>
        </p:spPr>
      </p:pic>
      <p:sp>
        <p:nvSpPr>
          <p:cNvPr id="26" name="Text 19">
            <a:extLst xmlns:a="http://schemas.openxmlformats.org/drawingml/2006/main">
              <a:ext uri="{FF2B5EF4-FFF2-40B4-BE49-F238E27FC236}">
                <a16:creationId xmlns:a16="http://schemas.microsoft.com/office/drawing/2014/main" id="{5B549140-0DDB-4D90-8A5C-340A3DBCBBA4}"/>
              </a:ext>
            </a:extLst>
          </p:cNvPr>
          <p:cNvSpPr>
            <a:spLocks xmlns:a="http://schemas.openxmlformats.org/drawingml/2006/main" noGrp="1"/>
          </p:cNvSpPr>
          <p:nvPr/>
        </p:nvSpPr>
        <p:spPr>
          <a:xfrm xmlns:a="http://schemas.openxmlformats.org/drawingml/2006/main">
            <a:off x="1828800" y="5029200"/>
            <a:ext cx="64008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spcAft>
                <a:spcPts val="300"/>
              </a:spcAft>
              <a:buNone/>
            </a:pPr>
            <a:r>
              <a:rPr sz="1600" b="1">
                <a:solidFill>
                  <a:schemeClr val="bg1"/>
                </a:solidFill>
              </a:rPr>
              <a:t>Los Antimarrulla · UACJ · MIAAD</a:t>
            </a:r>
            <a:endParaRPr sz="1400"/>
          </a:p>
          <a:p xmlns:a="http://schemas.openxmlformats.org/drawingml/2006/main">
            <a:pPr marL="0" indent="0">
              <a:spcAft>
                <a:spcPts val="300"/>
              </a:spcAft>
              <a:buNone/>
            </a:pPr>
            <a:r>
              <a:rPr sz="1600" b="1">
                <a:solidFill>
                  <a:schemeClr val="bg1"/>
                </a:solidFill>
              </a:rPr>
              <a:t>We challenge idleness and procrastination</a:t>
            </a:r>
          </a:p>
          <a:p xmlns:a="http://schemas.openxmlformats.org/drawingml/2006/main">
            <a:pPr marL="0" indent="0">
              <a:spcAft>
                <a:spcPts val="300"/>
              </a:spcAft>
              <a:buNone/>
            </a:pPr>
            <a:r>
              <a:rPr sz="1600" b="1">
                <a:solidFill>
                  <a:schemeClr val="bg1"/>
                </a:solidFill>
              </a:rPr>
              <a:t>github.com/UACJ-MIAAD/antimarrulla-ibmz-datathon-2026</a:t>
            </a:r>
          </a:p>
        </p:txBody>
      </p:sp>
      <p:sp>
        <p:nvSpPr>
          <p:cNvPr id="27" name="Text 20">
            <a:extLst xmlns:a="http://schemas.openxmlformats.org/drawingml/2006/main">
              <a:ext uri="{FF2B5EF4-FFF2-40B4-BE49-F238E27FC236}">
                <a16:creationId xmlns:a16="http://schemas.microsoft.com/office/drawing/2014/main" id="{41E28C29-45D6-4AC5-9C96-717EA50C7837}"/>
              </a:ext>
            </a:extLst>
          </p:cNvPr>
          <p:cNvSpPr>
            <a:spLocks xmlns:a="http://schemas.openxmlformats.org/drawingml/2006/main" noGrp="1"/>
          </p:cNvSpPr>
          <p:nvPr/>
        </p:nvSpPr>
        <p:spPr>
          <a:xfrm xmlns:a="http://schemas.openxmlformats.org/drawingml/2006/main">
            <a:off x="8503920" y="5029200"/>
            <a:ext cx="313639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400" b="1">
                <a:solidFill>
                  <a:schemeClr val="bg1"/>
                </a:solidFill>
              </a:rPr>
              <a:t>Thank you</a:t>
            </a:r>
            <a:endParaRPr sz="4400"/>
          </a:p>
        </p:txBody>
      </p:sp>
      <p:sp>
        <p:nvSpPr>
          <p:cNvPr id="28" name="Text 21">
            <a:extLst xmlns:a="http://schemas.openxmlformats.org/drawingml/2006/main">
              <a:ext uri="{FF2B5EF4-FFF2-40B4-BE49-F238E27FC236}">
                <a16:creationId xmlns:a16="http://schemas.microsoft.com/office/drawing/2014/main" id="{513642D4-4527-4D05-8816-E635F155E789}"/>
              </a:ext>
            </a:extLst>
          </p:cNvPr>
          <p:cNvSpPr>
            <a:spLocks xmlns:a="http://schemas.openxmlformats.org/drawingml/2006/main" noGrp="1"/>
          </p:cNvSpPr>
          <p:nvPr/>
        </p:nvSpPr>
        <p:spPr>
          <a:xfrm xmlns:a="http://schemas.openxmlformats.org/drawingml/2006/main">
            <a:off x="7315200" y="5760720"/>
            <a:ext cx="432511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chemeClr val="bg2"/>
                </a:solidFill>
              </a:rPr>
              <a:t>Screening support does not replace medical diagnosis.</a:t>
            </a:r>
            <a:endParaRPr sz="1000"/>
          </a:p>
        </p:txBody>
      </p:sp>
      <p:sp>
        <p:nvSpPr>
          <p:cNvPr id="29" name="Slide Number Placeholder 0">
            <a:extLst xmlns:a="http://schemas.openxmlformats.org/drawingml/2006/main">
              <a:ext uri="{FF2B5EF4-FFF2-40B4-BE49-F238E27FC236}">
                <a16:creationId xmlns:a16="http://schemas.microsoft.com/office/drawing/2014/main" id="{E6FC8190-5F61-424F-97F9-5A4FF70C2E6D}"/>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10081118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B675727-45C6-4D40-A1C1-EE3223BF19F8}"/>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07 · TIME-SERIES FORECAST (E5)</a:t>
            </a:r>
            <a:endParaRPr sz="1200"/>
          </a:p>
        </p:txBody>
      </p:sp>
      <p:sp>
        <p:nvSpPr>
          <p:cNvPr id="3" name="Text 1">
            <a:extLst xmlns:a="http://schemas.openxmlformats.org/drawingml/2006/main">
              <a:ext uri="{FF2B5EF4-FFF2-40B4-BE49-F238E27FC236}">
                <a16:creationId xmlns:a16="http://schemas.microsoft.com/office/drawing/2014/main" id="{7613E905-00E0-427C-AFCA-AC3A97BF44D2}"/>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Plan demand: weekly diabetes forecasts by state</a:t>
            </a:r>
            <a:endParaRPr sz="3000"/>
          </a:p>
        </p:txBody>
      </p:sp>
      <p:pic>
        <p:nvPicPr>
          <p:cNvPr id="4" name="Captura real de la demo">
            <a:extLst xmlns:a="http://schemas.openxmlformats.org/drawingml/2006/main">
              <a:ext uri="{FF2B5EF4-FFF2-40B4-BE49-F238E27FC236}">
                <a16:creationId xmlns:a16="http://schemas.microsoft.com/office/drawing/2014/main" id="{9791C1D6-1D0E-4261-BC3F-109D1A7DA917}"/>
              </a:ext>
            </a:extLst>
          </p:cNvPr>
          <p:cNvPicPr>
            <a:picLocks xmlns:a="http://schemas.openxmlformats.org/drawingml/2006/main" noChangeAspect="1"/>
          </p:cNvPicPr>
          <p:nvPr/>
        </p:nvPicPr>
        <p:blipFill>
          <a:blip xmlns:r="http://schemas.openxmlformats.org/officeDocument/2006/relationships" xmlns:a="http://schemas.openxmlformats.org/drawingml/2006/main" r:embed="Re50bd47dc23f4fbe"/>
          <a:stretch xmlns:a="http://schemas.openxmlformats.org/drawingml/2006/main"/>
        </p:blipFill>
        <p:spPr>
          <a:xfrm xmlns:a="http://schemas.openxmlformats.org/drawingml/2006/main">
            <a:off x="694748" y="1691640"/>
            <a:ext cx="5633095" cy="41148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56218E3-8D87-4D95-B1BC-7374C4CB8593}"/>
              </a:ext>
            </a:extLst>
          </p:cNvPr>
          <p:cNvSpPr>
            <a:spLocks xmlns:a="http://schemas.openxmlformats.org/drawingml/2006/main" noGrp="1"/>
          </p:cNvSpPr>
          <p:nvPr/>
        </p:nvSpPr>
        <p:spPr>
          <a:xfrm xmlns:a="http://schemas.openxmlformats.org/drawingml/2006/main">
            <a:off x="548640" y="5852160"/>
            <a:ext cx="59253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6"/>
                </a:solidFill>
              </a:rPr>
              <a:t>Live dashboard · Type 2 · national · all sexes · antimarrulla-tamizaje.netlify.app/forecast</a:t>
            </a:r>
            <a:endParaRPr sz="1000"/>
          </a:p>
        </p:txBody>
      </p:sp>
      <p:sp>
        <p:nvSpPr>
          <p:cNvPr id="6" name="2,000 de 2,000">
            <a:extLst xmlns:a="http://schemas.openxmlformats.org/drawingml/2006/main">
              <a:ext uri="{FF2B5EF4-FFF2-40B4-BE49-F238E27FC236}">
                <a16:creationId xmlns:a16="http://schemas.microsoft.com/office/drawing/2014/main" id="{7CE73FB1-5AAE-44CE-9A90-D2568710A9C9}"/>
              </a:ext>
            </a:extLst>
          </p:cNvPr>
          <p:cNvSpPr>
            <a:spLocks xmlns:a="http://schemas.openxmlformats.org/drawingml/2006/main" noGrp="1"/>
          </p:cNvSpPr>
          <p:nvPr/>
        </p:nvSpPr>
        <p:spPr>
          <a:xfrm xmlns:a="http://schemas.openxmlformats.org/drawingml/2006/main">
            <a:off x="6720840" y="169164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7" name="2,000 de 2,000 círculo">
            <a:extLst xmlns:a="http://schemas.openxmlformats.org/drawingml/2006/main">
              <a:ext uri="{FF2B5EF4-FFF2-40B4-BE49-F238E27FC236}">
                <a16:creationId xmlns:a16="http://schemas.microsoft.com/office/drawing/2014/main" id="{4326DF7E-32FB-4955-B3B0-BCA4CF3D8F2A}"/>
              </a:ext>
            </a:extLst>
          </p:cNvPr>
          <p:cNvSpPr>
            <a:spLocks xmlns:a="http://schemas.openxmlformats.org/drawingml/2006/main" noGrp="1"/>
          </p:cNvSpPr>
          <p:nvPr/>
        </p:nvSpPr>
        <p:spPr>
          <a:xfrm xmlns:a="http://schemas.openxmlformats.org/drawingml/2006/main">
            <a:off x="6858000" y="1874520"/>
            <a:ext cx="512064" cy="512064"/>
          </a:xfrm>
          <a:prstGeom xmlns:a="http://schemas.openxmlformats.org/drawingml/2006/main" prst="ellipse">
            <a:avLst/>
          </a:prstGeom>
          <a:solidFill xmlns:a="http://schemas.openxmlformats.org/drawingml/2006/main">
            <a:schemeClr val="accent1"/>
          </a:solidFill>
        </p:spPr>
      </p:sp>
      <p:pic>
        <p:nvPicPr>
          <p:cNvPr id="8" name="2,000 de 2,000 ícono">
            <a:extLst xmlns:a="http://schemas.openxmlformats.org/drawingml/2006/main">
              <a:ext uri="{FF2B5EF4-FFF2-40B4-BE49-F238E27FC236}">
                <a16:creationId xmlns:a16="http://schemas.microsoft.com/office/drawing/2014/main" id="{83EE3D52-7428-4BA5-94D8-80E06A68DC54}"/>
              </a:ext>
            </a:extLst>
          </p:cNvPr>
          <p:cNvPicPr>
            <a:picLocks xmlns:a="http://schemas.openxmlformats.org/drawingml/2006/main" noChangeAspect="1"/>
          </p:cNvPicPr>
          <p:nvPr/>
        </p:nvPicPr>
        <p:blipFill>
          <a:blip xmlns:r="http://schemas.openxmlformats.org/officeDocument/2006/relationships" xmlns:a="http://schemas.openxmlformats.org/drawingml/2006/main" r:embed="R32ced3a6cefc4d7f"/>
          <a:stretch xmlns:a="http://schemas.openxmlformats.org/drawingml/2006/main">
            <a:fillRect l="0" t="0" r="0" b="0"/>
          </a:stretch>
        </p:blipFill>
        <p:spPr>
          <a:xfrm xmlns:a="http://schemas.openxmlformats.org/drawingml/2006/main">
            <a:off x="6970654" y="1987174"/>
            <a:ext cx="286756" cy="286756"/>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E3248989-0352-4093-9B04-DD8173E6B903}"/>
              </a:ext>
            </a:extLst>
          </p:cNvPr>
          <p:cNvSpPr>
            <a:spLocks xmlns:a="http://schemas.openxmlformats.org/drawingml/2006/main" noGrp="1"/>
          </p:cNvSpPr>
          <p:nvPr/>
        </p:nvSpPr>
        <p:spPr>
          <a:xfrm xmlns:a="http://schemas.openxmlformats.org/drawingml/2006/main">
            <a:off x="7498080" y="174650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222 weekly series</a:t>
            </a:r>
            <a:endParaRPr sz="1700"/>
          </a:p>
        </p:txBody>
      </p:sp>
      <p:sp>
        <p:nvSpPr>
          <p:cNvPr id="10" name="Text 6">
            <a:extLst xmlns:a="http://schemas.openxmlformats.org/drawingml/2006/main">
              <a:ext uri="{FF2B5EF4-FFF2-40B4-BE49-F238E27FC236}">
                <a16:creationId xmlns:a16="http://schemas.microsoft.com/office/drawing/2014/main" id="{261B7668-C5D4-44B4-ABCE-9D21CA0C599A}"/>
              </a:ext>
            </a:extLst>
          </p:cNvPr>
          <p:cNvSpPr>
            <a:spLocks xmlns:a="http://schemas.openxmlformats.org/drawingml/2006/main" noGrp="1"/>
          </p:cNvSpPr>
          <p:nvPr/>
        </p:nvSpPr>
        <p:spPr>
          <a:xfrm xmlns:a="http://schemas.openxmlformats.org/drawingml/2006/main">
            <a:off x="7498080" y="211226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T1/T2 × national, 4 regions and 32 states × men/women/all, reconciled top-down</a:t>
            </a:r>
            <a:endParaRPr sz="1100"/>
          </a:p>
        </p:txBody>
      </p:sp>
      <p:sp>
        <p:nvSpPr>
          <p:cNvPr id="11" name="SMAPE 13% national">
            <a:extLst xmlns:a="http://schemas.openxmlformats.org/drawingml/2006/main">
              <a:ext uri="{FF2B5EF4-FFF2-40B4-BE49-F238E27FC236}">
                <a16:creationId xmlns:a16="http://schemas.microsoft.com/office/drawing/2014/main" id="{37D825E5-7C1D-48C8-9B91-B337403F2C6D}"/>
              </a:ext>
            </a:extLst>
          </p:cNvPr>
          <p:cNvSpPr>
            <a:spLocks xmlns:a="http://schemas.openxmlformats.org/drawingml/2006/main" noGrp="1"/>
          </p:cNvSpPr>
          <p:nvPr/>
        </p:nvSpPr>
        <p:spPr>
          <a:xfrm xmlns:a="http://schemas.openxmlformats.org/drawingml/2006/main">
            <a:off x="6720840" y="269748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12" name="SMAPE 13% national círculo">
            <a:extLst xmlns:a="http://schemas.openxmlformats.org/drawingml/2006/main">
              <a:ext uri="{FF2B5EF4-FFF2-40B4-BE49-F238E27FC236}">
                <a16:creationId xmlns:a16="http://schemas.microsoft.com/office/drawing/2014/main" id="{E00F4279-DA0D-497A-9FDF-78FC0146727F}"/>
              </a:ext>
            </a:extLst>
          </p:cNvPr>
          <p:cNvSpPr>
            <a:spLocks xmlns:a="http://schemas.openxmlformats.org/drawingml/2006/main" noGrp="1"/>
          </p:cNvSpPr>
          <p:nvPr/>
        </p:nvSpPr>
        <p:spPr>
          <a:xfrm xmlns:a="http://schemas.openxmlformats.org/drawingml/2006/main">
            <a:off x="6858000" y="2880360"/>
            <a:ext cx="512064" cy="512064"/>
          </a:xfrm>
          <a:prstGeom xmlns:a="http://schemas.openxmlformats.org/drawingml/2006/main" prst="ellipse">
            <a:avLst/>
          </a:prstGeom>
          <a:solidFill xmlns:a="http://schemas.openxmlformats.org/drawingml/2006/main">
            <a:schemeClr val="accent1"/>
          </a:solidFill>
        </p:spPr>
      </p:sp>
      <p:pic>
        <p:nvPicPr>
          <p:cNvPr id="13" name="SMAPE 13% national ícono">
            <a:extLst xmlns:a="http://schemas.openxmlformats.org/drawingml/2006/main">
              <a:ext uri="{FF2B5EF4-FFF2-40B4-BE49-F238E27FC236}">
                <a16:creationId xmlns:a16="http://schemas.microsoft.com/office/drawing/2014/main" id="{80085199-5FD1-42CF-8586-4640A66E8539}"/>
              </a:ext>
            </a:extLst>
          </p:cNvPr>
          <p:cNvPicPr>
            <a:picLocks xmlns:a="http://schemas.openxmlformats.org/drawingml/2006/main" noChangeAspect="1"/>
          </p:cNvPicPr>
          <p:nvPr/>
        </p:nvPicPr>
        <p:blipFill>
          <a:blip xmlns:r="http://schemas.openxmlformats.org/officeDocument/2006/relationships" xmlns:a="http://schemas.openxmlformats.org/drawingml/2006/main" r:embed="R5f5d1304621848b8"/>
          <a:stretch xmlns:a="http://schemas.openxmlformats.org/drawingml/2006/main">
            <a:fillRect l="0" t="0" r="0" b="0"/>
          </a:stretch>
        </p:blipFill>
        <p:spPr>
          <a:xfrm xmlns:a="http://schemas.openxmlformats.org/drawingml/2006/main">
            <a:off x="6970654" y="2993014"/>
            <a:ext cx="286756" cy="2867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E57C77C6-985E-413D-A351-949649F46735}"/>
              </a:ext>
            </a:extLst>
          </p:cNvPr>
          <p:cNvSpPr>
            <a:spLocks xmlns:a="http://schemas.openxmlformats.org/drawingml/2006/main" noGrp="1"/>
          </p:cNvSpPr>
          <p:nvPr/>
        </p:nvSpPr>
        <p:spPr>
          <a:xfrm xmlns:a="http://schemas.openxmlformats.org/drawingml/2006/main">
            <a:off x="7498080" y="275234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SMAPE 13% national</a:t>
            </a:r>
            <a:endParaRPr sz="1700"/>
          </a:p>
        </p:txBody>
      </p:sp>
      <p:sp>
        <p:nvSpPr>
          <p:cNvPr id="15" name="Text 10">
            <a:extLst xmlns:a="http://schemas.openxmlformats.org/drawingml/2006/main">
              <a:ext uri="{FF2B5EF4-FFF2-40B4-BE49-F238E27FC236}">
                <a16:creationId xmlns:a16="http://schemas.microsoft.com/office/drawing/2014/main" id="{AAF6A046-2F22-4F2E-8802-37C78E6CDC4F}"/>
              </a:ext>
            </a:extLst>
          </p:cNvPr>
          <p:cNvSpPr>
            <a:spLocks xmlns:a="http://schemas.openxmlformats.org/drawingml/2006/main" noGrp="1"/>
          </p:cNvSpPr>
          <p:nvPr/>
        </p:nvSpPr>
        <p:spPr>
          <a:xfrm xmlns:a="http://schemas.openxmlformats.org/drawingml/2006/main">
            <a:off x="7498080" y="311810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nested out-of-sample test, weeks 12–63; regions 25%, states 60% (sparse type 1)</a:t>
            </a:r>
            <a:endParaRPr sz="1100"/>
          </a:p>
        </p:txBody>
      </p:sp>
      <p:sp>
        <p:nvSpPr>
          <p:cNvPr id="16" name="129 ms (p50)">
            <a:extLst xmlns:a="http://schemas.openxmlformats.org/drawingml/2006/main">
              <a:ext uri="{FF2B5EF4-FFF2-40B4-BE49-F238E27FC236}">
                <a16:creationId xmlns:a16="http://schemas.microsoft.com/office/drawing/2014/main" id="{2B2729FC-8028-4E60-AC24-AF472CC25151}"/>
              </a:ext>
            </a:extLst>
          </p:cNvPr>
          <p:cNvSpPr>
            <a:spLocks xmlns:a="http://schemas.openxmlformats.org/drawingml/2006/main" noGrp="1"/>
          </p:cNvSpPr>
          <p:nvPr/>
        </p:nvSpPr>
        <p:spPr>
          <a:xfrm xmlns:a="http://schemas.openxmlformats.org/drawingml/2006/main">
            <a:off x="6720840" y="370332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17" name="129 ms (p50) círculo">
            <a:extLst xmlns:a="http://schemas.openxmlformats.org/drawingml/2006/main">
              <a:ext uri="{FF2B5EF4-FFF2-40B4-BE49-F238E27FC236}">
                <a16:creationId xmlns:a16="http://schemas.microsoft.com/office/drawing/2014/main" id="{1EF0AFFD-6B6A-4E8C-B91D-53F832900A77}"/>
              </a:ext>
            </a:extLst>
          </p:cNvPr>
          <p:cNvSpPr>
            <a:spLocks xmlns:a="http://schemas.openxmlformats.org/drawingml/2006/main" noGrp="1"/>
          </p:cNvSpPr>
          <p:nvPr/>
        </p:nvSpPr>
        <p:spPr>
          <a:xfrm xmlns:a="http://schemas.openxmlformats.org/drawingml/2006/main">
            <a:off x="6858000" y="3886200"/>
            <a:ext cx="512064" cy="512064"/>
          </a:xfrm>
          <a:prstGeom xmlns:a="http://schemas.openxmlformats.org/drawingml/2006/main" prst="ellipse">
            <a:avLst/>
          </a:prstGeom>
          <a:solidFill xmlns:a="http://schemas.openxmlformats.org/drawingml/2006/main">
            <a:schemeClr val="accent1"/>
          </a:solidFill>
        </p:spPr>
      </p:sp>
      <p:pic>
        <p:nvPicPr>
          <p:cNvPr id="18" name="129 ms (p50) ícono">
            <a:extLst xmlns:a="http://schemas.openxmlformats.org/drawingml/2006/main">
              <a:ext uri="{FF2B5EF4-FFF2-40B4-BE49-F238E27FC236}">
                <a16:creationId xmlns:a16="http://schemas.microsoft.com/office/drawing/2014/main" id="{36FF8D49-4112-4026-A04C-128B1D92F464}"/>
              </a:ext>
            </a:extLst>
          </p:cNvPr>
          <p:cNvPicPr>
            <a:picLocks xmlns:a="http://schemas.openxmlformats.org/drawingml/2006/main" noChangeAspect="1"/>
          </p:cNvPicPr>
          <p:nvPr/>
        </p:nvPicPr>
        <p:blipFill>
          <a:blip xmlns:r="http://schemas.openxmlformats.org/officeDocument/2006/relationships" xmlns:a="http://schemas.openxmlformats.org/drawingml/2006/main" r:embed="R5ef65c5779194fe7"/>
          <a:stretch xmlns:a="http://schemas.openxmlformats.org/drawingml/2006/main">
            <a:fillRect l="0" t="0" r="0" b="0"/>
          </a:stretch>
        </p:blipFill>
        <p:spPr>
          <a:xfrm xmlns:a="http://schemas.openxmlformats.org/drawingml/2006/main">
            <a:off x="6970654" y="3998854"/>
            <a:ext cx="286756" cy="286756"/>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C417450E-D581-48B5-8767-2EA3E2E61C6E}"/>
              </a:ext>
            </a:extLst>
          </p:cNvPr>
          <p:cNvSpPr>
            <a:spLocks xmlns:a="http://schemas.openxmlformats.org/drawingml/2006/main" noGrp="1"/>
          </p:cNvSpPr>
          <p:nvPr/>
        </p:nvSpPr>
        <p:spPr>
          <a:xfrm xmlns:a="http://schemas.openxmlformats.org/drawingml/2006/main">
            <a:off x="7498080" y="375818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52 weeks ahead</a:t>
            </a:r>
            <a:endParaRPr sz="1700"/>
          </a:p>
        </p:txBody>
      </p:sp>
      <p:sp>
        <p:nvSpPr>
          <p:cNvPr id="20" name="Text 14">
            <a:extLst xmlns:a="http://schemas.openxmlformats.org/drawingml/2006/main">
              <a:ext uri="{FF2B5EF4-FFF2-40B4-BE49-F238E27FC236}">
                <a16:creationId xmlns:a16="http://schemas.microsoft.com/office/drawing/2014/main" id="{8FC20039-96AE-4834-A624-03E28BF05507}"/>
              </a:ext>
            </a:extLst>
          </p:cNvPr>
          <p:cNvSpPr>
            <a:spLocks xmlns:a="http://schemas.openxmlformats.org/drawingml/2006/main" noGrp="1"/>
          </p:cNvSpPr>
          <p:nvPr/>
        </p:nvSpPr>
        <p:spPr>
          <a:xfrm xmlns:a="http://schemas.openxmlformats.org/drawingml/2006/main">
            <a:off x="7498080" y="412394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Oct 19, 2026 – Oct 11, 2027 after an 11-week nowcast; ETS or seasonal naive per series</a:t>
            </a:r>
            <a:endParaRPr sz="1100"/>
          </a:p>
        </p:txBody>
      </p:sp>
      <p:sp>
        <p:nvSpPr>
          <p:cNvPr id="21" name="Budget = cases × cost">
            <a:extLst xmlns:a="http://schemas.openxmlformats.org/drawingml/2006/main">
              <a:ext uri="{FF2B5EF4-FFF2-40B4-BE49-F238E27FC236}">
                <a16:creationId xmlns:a16="http://schemas.microsoft.com/office/drawing/2014/main" id="{60C7EE51-4110-4BD6-AA06-1022932EF1C0}"/>
              </a:ext>
            </a:extLst>
          </p:cNvPr>
          <p:cNvSpPr>
            <a:spLocks xmlns:a="http://schemas.openxmlformats.org/drawingml/2006/main" noGrp="1"/>
          </p:cNvSpPr>
          <p:nvPr/>
        </p:nvSpPr>
        <p:spPr>
          <a:xfrm xmlns:a="http://schemas.openxmlformats.org/drawingml/2006/main">
            <a:off x="6720840" y="4709160"/>
            <a:ext cx="4919472" cy="877824"/>
          </a:xfrm>
          <a:prstGeom xmlns:a="http://schemas.openxmlformats.org/drawingml/2006/main" prst="roundRect">
            <a:avLst>
              <a:gd name="adj" fmla="val 10417"/>
            </a:avLst>
          </a:prstGeom>
          <a:solidFill xmlns:a="http://schemas.openxmlformats.org/drawingml/2006/main">
            <a:schemeClr val="accent1">
              <a:alpha val="15000"/>
            </a:schemeClr>
          </a:solidFill>
        </p:spPr>
      </p:sp>
      <p:sp>
        <p:nvSpPr>
          <p:cNvPr id="22" name="Budget = cases × cost círculo">
            <a:extLst xmlns:a="http://schemas.openxmlformats.org/drawingml/2006/main">
              <a:ext uri="{FF2B5EF4-FFF2-40B4-BE49-F238E27FC236}">
                <a16:creationId xmlns:a16="http://schemas.microsoft.com/office/drawing/2014/main" id="{41095B4A-AE0B-4A0C-B98C-4EBB205BBFA6}"/>
              </a:ext>
            </a:extLst>
          </p:cNvPr>
          <p:cNvSpPr>
            <a:spLocks xmlns:a="http://schemas.openxmlformats.org/drawingml/2006/main" noGrp="1"/>
          </p:cNvSpPr>
          <p:nvPr/>
        </p:nvSpPr>
        <p:spPr>
          <a:xfrm xmlns:a="http://schemas.openxmlformats.org/drawingml/2006/main">
            <a:off x="6858000" y="4892040"/>
            <a:ext cx="512064" cy="512064"/>
          </a:xfrm>
          <a:prstGeom xmlns:a="http://schemas.openxmlformats.org/drawingml/2006/main" prst="ellipse">
            <a:avLst/>
          </a:prstGeom>
          <a:solidFill xmlns:a="http://schemas.openxmlformats.org/drawingml/2006/main">
            <a:schemeClr val="accent1"/>
          </a:solidFill>
        </p:spPr>
      </p:sp>
      <p:pic>
        <p:nvPicPr>
          <p:cNvPr id="23" name="Budget = cases × cost ícono">
            <a:extLst xmlns:a="http://schemas.openxmlformats.org/drawingml/2006/main">
              <a:ext uri="{FF2B5EF4-FFF2-40B4-BE49-F238E27FC236}">
                <a16:creationId xmlns:a16="http://schemas.microsoft.com/office/drawing/2014/main" id="{7F3D9260-3149-442F-8770-3F62B522D0F1}"/>
              </a:ext>
            </a:extLst>
          </p:cNvPr>
          <p:cNvPicPr>
            <a:picLocks xmlns:a="http://schemas.openxmlformats.org/drawingml/2006/main" noChangeAspect="1"/>
          </p:cNvPicPr>
          <p:nvPr/>
        </p:nvPicPr>
        <p:blipFill>
          <a:blip xmlns:r="http://schemas.openxmlformats.org/officeDocument/2006/relationships" xmlns:a="http://schemas.openxmlformats.org/drawingml/2006/main" r:embed="R4baf8ec1ec68463f"/>
          <a:stretch xmlns:a="http://schemas.openxmlformats.org/drawingml/2006/main">
            <a:fillRect l="0" t="0" r="0" b="0"/>
          </a:stretch>
        </p:blipFill>
        <p:spPr>
          <a:xfrm xmlns:a="http://schemas.openxmlformats.org/drawingml/2006/main">
            <a:off x="6970654" y="5004694"/>
            <a:ext cx="286756" cy="286756"/>
          </a:xfrm>
          <a:prstGeom xmlns:a="http://schemas.openxmlformats.org/drawingml/2006/main" prst="rect">
            <a:avLst/>
          </a:prstGeom>
        </p:spPr>
      </p:pic>
      <p:sp>
        <p:nvSpPr>
          <p:cNvPr id="24" name="Text 17">
            <a:extLst xmlns:a="http://schemas.openxmlformats.org/drawingml/2006/main">
              <a:ext uri="{FF2B5EF4-FFF2-40B4-BE49-F238E27FC236}">
                <a16:creationId xmlns:a16="http://schemas.microsoft.com/office/drawing/2014/main" id="{1275C137-C6F7-4E94-AB80-197B491E98D2}"/>
              </a:ext>
            </a:extLst>
          </p:cNvPr>
          <p:cNvSpPr>
            <a:spLocks xmlns:a="http://schemas.openxmlformats.org/drawingml/2006/main" noGrp="1"/>
          </p:cNvSpPr>
          <p:nvPr/>
        </p:nvSpPr>
        <p:spPr>
          <a:xfrm xmlns:a="http://schemas.openxmlformats.org/drawingml/2006/main">
            <a:off x="7498080" y="4764024"/>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chemeClr val="bg1"/>
                </a:solidFill>
              </a:rPr>
              <a:t>Budget = cases × cost</a:t>
            </a:r>
            <a:endParaRPr sz="1700"/>
          </a:p>
        </p:txBody>
      </p:sp>
      <p:sp>
        <p:nvSpPr>
          <p:cNvPr id="25" name="Text 18">
            <a:extLst xmlns:a="http://schemas.openxmlformats.org/drawingml/2006/main">
              <a:ext uri="{FF2B5EF4-FFF2-40B4-BE49-F238E27FC236}">
                <a16:creationId xmlns:a16="http://schemas.microsoft.com/office/drawing/2014/main" id="{ABCABECA-0125-4198-A58A-221CB8CB3349}"/>
              </a:ext>
            </a:extLst>
          </p:cNvPr>
          <p:cNvSpPr>
            <a:spLocks xmlns:a="http://schemas.openxmlformats.org/drawingml/2006/main" noGrp="1"/>
          </p:cNvSpPr>
          <p:nvPr/>
        </p:nvSpPr>
        <p:spPr>
          <a:xfrm xmlns:a="http://schemas.openxmlformats.org/drawingml/2006/main">
            <a:off x="7498080" y="5129784"/>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bg2"/>
                </a:solidFill>
              </a:rPr>
              <a:t>shown only with a sourced unit cost; no cost is assumed</a:t>
            </a:r>
            <a:endParaRPr sz="1100"/>
          </a:p>
        </p:txBody>
      </p:sp>
      <p:sp>
        <p:nvSpPr>
          <p:cNvPr id="26" name="Text 19">
            <a:extLst xmlns:a="http://schemas.openxmlformats.org/drawingml/2006/main">
              <a:ext uri="{FF2B5EF4-FFF2-40B4-BE49-F238E27FC236}">
                <a16:creationId xmlns:a16="http://schemas.microsoft.com/office/drawing/2014/main" id="{18A1E4D6-A93C-46F3-BEA5-070896256DA1}"/>
              </a:ext>
            </a:extLst>
          </p:cNvPr>
          <p:cNvSpPr>
            <a:spLocks xmlns:a="http://schemas.openxmlformats.org/drawingml/2006/main" noGrp="1"/>
          </p:cNvSpPr>
          <p:nvPr/>
        </p:nvSpPr>
        <p:spPr>
          <a:xfrm xmlns:a="http://schemas.openxmlformats.org/drawingml/2006/main">
            <a:off x="6720840" y="5760720"/>
            <a:ext cx="491947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4"/>
                </a:solidFill>
              </a:rPr>
              <a:t>EXPLORATORY · SINAVE-notified cases, not all cases · nominal 80% bands cover ≈64% in practice · public aggregates, no patient data · not yet run on LinuxONE.</a:t>
            </a:r>
            <a:endParaRPr sz="1000"/>
          </a:p>
        </p:txBody>
      </p:sp>
      <p:sp>
        <p:nvSpPr>
          <p:cNvPr id="27" name="Slide Number Placeholder 0">
            <a:extLst xmlns:a="http://schemas.openxmlformats.org/drawingml/2006/main">
              <a:ext uri="{FF2B5EF4-FFF2-40B4-BE49-F238E27FC236}">
                <a16:creationId xmlns:a16="http://schemas.microsoft.com/office/drawing/2014/main" id="{36E123FC-56CD-4511-8432-2489215E3D9C}"/>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47016726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C4DE0A9-A01E-4E2F-8CCE-A01F49FF6800}"/>
              </a:ext>
            </a:extLst>
          </p:cNvPr>
          <p:cNvSpPr>
            <a:spLocks xmlns:a="http://schemas.openxmlformats.org/drawingml/2006/main" noGrp="1"/>
          </p:cNvSpPr>
          <p:nvPr>
            <p:ph type="body" idx="101" hasCustomPrompt="1"/>
          </p:nvPr>
        </p:nvSpPr>
        <p:spPr>
          <a:xfrm xmlns:a="http://schemas.openxmlformats.org/drawingml/2006/main">
            <a:off x="768096" y="411480"/>
            <a:ext cx="82296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chemeClr val="accent5"/>
                </a:solidFill>
              </a:rPr>
              <a:t>08 · ROADMAP</a:t>
            </a:r>
            <a:endParaRPr sz="1200"/>
          </a:p>
        </p:txBody>
      </p:sp>
      <p:sp>
        <p:nvSpPr>
          <p:cNvPr id="3" name="Text 1">
            <a:extLst xmlns:a="http://schemas.openxmlformats.org/drawingml/2006/main">
              <a:ext uri="{FF2B5EF4-FFF2-40B4-BE49-F238E27FC236}">
                <a16:creationId xmlns:a16="http://schemas.microsoft.com/office/drawing/2014/main" id="{B3910DF6-87A9-44A1-BAA5-F88DB36CD224}"/>
              </a:ext>
            </a:extLst>
          </p:cNvPr>
          <p:cNvSpPr>
            <a:spLocks xmlns:a="http://schemas.openxmlformats.org/drawingml/2006/main" noGrp="1"/>
          </p:cNvSpPr>
          <p:nvPr>
            <p:ph type="title" idx="102" hasCustomPrompt="1"/>
          </p:nvPr>
        </p:nvSpPr>
        <p:spPr>
          <a:xfrm xmlns:a="http://schemas.openxmlformats.org/drawingml/2006/main">
            <a:off x="548640" y="77724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bg1"/>
                </a:solidFill>
              </a:rPr>
              <a:t>From a verified demo to a hospital pilot</a:t>
            </a:r>
            <a:endParaRPr sz="3000"/>
          </a:p>
        </p:txBody>
      </p:sp>
      <p:sp>
        <p:nvSpPr>
          <p:cNvPr id="4" name="0">
            <a:extLst xmlns:a="http://schemas.openxmlformats.org/drawingml/2006/main">
              <a:ext uri="{FF2B5EF4-FFF2-40B4-BE49-F238E27FC236}">
                <a16:creationId xmlns:a16="http://schemas.microsoft.com/office/drawing/2014/main" id="{E7DB1422-41EA-46E9-B916-641630ADF8B8}"/>
              </a:ext>
            </a:extLst>
          </p:cNvPr>
          <p:cNvSpPr>
            <a:spLocks xmlns:a="http://schemas.openxmlformats.org/drawingml/2006/main" noGrp="1"/>
          </p:cNvSpPr>
          <p:nvPr/>
        </p:nvSpPr>
        <p:spPr>
          <a:xfrm xmlns:a="http://schemas.openxmlformats.org/drawingml/2006/main">
            <a:off x="548640"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5" name="Text 3">
            <a:extLst xmlns:a="http://schemas.openxmlformats.org/drawingml/2006/main">
              <a:ext uri="{FF2B5EF4-FFF2-40B4-BE49-F238E27FC236}">
                <a16:creationId xmlns:a16="http://schemas.microsoft.com/office/drawing/2014/main" id="{DDEA2EAD-C407-4010-A33F-443D6F496F2C}"/>
              </a:ext>
            </a:extLst>
          </p:cNvPr>
          <p:cNvSpPr>
            <a:spLocks xmlns:a="http://schemas.openxmlformats.org/drawingml/2006/main" noGrp="1"/>
          </p:cNvSpPr>
          <p:nvPr/>
        </p:nvSpPr>
        <p:spPr>
          <a:xfrm xmlns:a="http://schemas.openxmlformats.org/drawingml/2006/main">
            <a:off x="731520"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0</a:t>
            </a:r>
            <a:endParaRPr sz="3000"/>
          </a:p>
        </p:txBody>
      </p:sp>
      <p:sp>
        <p:nvSpPr>
          <p:cNvPr id="6" name="Text 4">
            <a:extLst xmlns:a="http://schemas.openxmlformats.org/drawingml/2006/main">
              <a:ext uri="{FF2B5EF4-FFF2-40B4-BE49-F238E27FC236}">
                <a16:creationId xmlns:a16="http://schemas.microsoft.com/office/drawing/2014/main" id="{6CD34BAF-1C57-4863-9F84-A3CD5EAE8526}"/>
              </a:ext>
            </a:extLst>
          </p:cNvPr>
          <p:cNvSpPr>
            <a:spLocks xmlns:a="http://schemas.openxmlformats.org/drawingml/2006/main" noGrp="1"/>
          </p:cNvSpPr>
          <p:nvPr/>
        </p:nvSpPr>
        <p:spPr>
          <a:xfrm xmlns:a="http://schemas.openxmlformats.org/drawingml/2006/main">
            <a:off x="2331720"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plaintext patient inputs reach the external risk service</a:t>
            </a:r>
            <a:endParaRPr sz="1100"/>
          </a:p>
        </p:txBody>
      </p:sp>
      <p:sp>
        <p:nvSpPr>
          <p:cNvPr id="7" name="21">
            <a:extLst xmlns:a="http://schemas.openxmlformats.org/drawingml/2006/main">
              <a:ext uri="{FF2B5EF4-FFF2-40B4-BE49-F238E27FC236}">
                <a16:creationId xmlns:a16="http://schemas.microsoft.com/office/drawing/2014/main" id="{9916D5D1-6F81-4737-930F-F52170FCF3AC}"/>
              </a:ext>
            </a:extLst>
          </p:cNvPr>
          <p:cNvSpPr>
            <a:spLocks xmlns:a="http://schemas.openxmlformats.org/drawingml/2006/main" noGrp="1"/>
          </p:cNvSpPr>
          <p:nvPr/>
        </p:nvSpPr>
        <p:spPr>
          <a:xfrm xmlns:a="http://schemas.openxmlformats.org/drawingml/2006/main">
            <a:off x="4334256"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8" name="Text 6">
            <a:extLst xmlns:a="http://schemas.openxmlformats.org/drawingml/2006/main">
              <a:ext uri="{FF2B5EF4-FFF2-40B4-BE49-F238E27FC236}">
                <a16:creationId xmlns:a16="http://schemas.microsoft.com/office/drawing/2014/main" id="{CE696A82-1D0E-4B07-BC70-ACF6F2471003}"/>
              </a:ext>
            </a:extLst>
          </p:cNvPr>
          <p:cNvSpPr>
            <a:spLocks xmlns:a="http://schemas.openxmlformats.org/drawingml/2006/main" noGrp="1"/>
          </p:cNvSpPr>
          <p:nvPr/>
        </p:nvSpPr>
        <p:spPr>
          <a:xfrm xmlns:a="http://schemas.openxmlformats.org/drawingml/2006/main">
            <a:off x="4517136"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4</a:t>
            </a:r>
            <a:endParaRPr sz="3000"/>
          </a:p>
        </p:txBody>
      </p:sp>
      <p:sp>
        <p:nvSpPr>
          <p:cNvPr id="9" name="Text 7">
            <a:extLst xmlns:a="http://schemas.openxmlformats.org/drawingml/2006/main">
              <a:ext uri="{FF2B5EF4-FFF2-40B4-BE49-F238E27FC236}">
                <a16:creationId xmlns:a16="http://schemas.microsoft.com/office/drawing/2014/main" id="{1207F869-1A8A-4165-BEB7-44092934CC06}"/>
              </a:ext>
            </a:extLst>
          </p:cNvPr>
          <p:cNvSpPr>
            <a:spLocks xmlns:a="http://schemas.openxmlformats.org/drawingml/2006/main" noGrp="1"/>
          </p:cNvSpPr>
          <p:nvPr/>
        </p:nvSpPr>
        <p:spPr>
          <a:xfrm xmlns:a="http://schemas.openxmlformats.org/drawingml/2006/main">
            <a:off x="6117336"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test profiles ready for LinuxONE: 20 to 16,000 patients</a:t>
            </a:r>
            <a:endParaRPr sz="1100"/>
          </a:p>
        </p:txBody>
      </p:sp>
      <p:sp>
        <p:nvSpPr>
          <p:cNvPr id="10" name="222">
            <a:extLst xmlns:a="http://schemas.openxmlformats.org/drawingml/2006/main">
              <a:ext uri="{FF2B5EF4-FFF2-40B4-BE49-F238E27FC236}">
                <a16:creationId xmlns:a16="http://schemas.microsoft.com/office/drawing/2014/main" id="{55EF02D7-8155-49C3-A3FA-97FB89D9A58C}"/>
              </a:ext>
            </a:extLst>
          </p:cNvPr>
          <p:cNvSpPr>
            <a:spLocks xmlns:a="http://schemas.openxmlformats.org/drawingml/2006/main" noGrp="1"/>
          </p:cNvSpPr>
          <p:nvPr/>
        </p:nvSpPr>
        <p:spPr>
          <a:xfrm xmlns:a="http://schemas.openxmlformats.org/drawingml/2006/main">
            <a:off x="8119872" y="1783080"/>
            <a:ext cx="3520440" cy="960120"/>
          </a:xfrm>
          <a:prstGeom xmlns:a="http://schemas.openxmlformats.org/drawingml/2006/main" prst="roundRect">
            <a:avLst>
              <a:gd name="adj" fmla="val 9524"/>
            </a:avLst>
          </a:prstGeom>
          <a:solidFill xmlns:a="http://schemas.openxmlformats.org/drawingml/2006/main">
            <a:schemeClr val="tx2"/>
          </a:solidFill>
        </p:spPr>
      </p:sp>
      <p:sp>
        <p:nvSpPr>
          <p:cNvPr id="11" name="Text 9">
            <a:extLst xmlns:a="http://schemas.openxmlformats.org/drawingml/2006/main">
              <a:ext uri="{FF2B5EF4-FFF2-40B4-BE49-F238E27FC236}">
                <a16:creationId xmlns:a16="http://schemas.microsoft.com/office/drawing/2014/main" id="{B394A62B-9F83-4191-8537-C51D027A16D3}"/>
              </a:ext>
            </a:extLst>
          </p:cNvPr>
          <p:cNvSpPr>
            <a:spLocks xmlns:a="http://schemas.openxmlformats.org/drawingml/2006/main" noGrp="1"/>
          </p:cNvSpPr>
          <p:nvPr/>
        </p:nvSpPr>
        <p:spPr>
          <a:xfrm xmlns:a="http://schemas.openxmlformats.org/drawingml/2006/main">
            <a:off x="8302752" y="1783080"/>
            <a:ext cx="160020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accent5"/>
                </a:solidFill>
              </a:rPr>
              <a:t>222</a:t>
            </a:r>
            <a:endParaRPr sz="3000"/>
          </a:p>
        </p:txBody>
      </p:sp>
      <p:sp>
        <p:nvSpPr>
          <p:cNvPr id="12" name="Text 10">
            <a:extLst xmlns:a="http://schemas.openxmlformats.org/drawingml/2006/main">
              <a:ext uri="{FF2B5EF4-FFF2-40B4-BE49-F238E27FC236}">
                <a16:creationId xmlns:a16="http://schemas.microsoft.com/office/drawing/2014/main" id="{EA0BF3AB-F17E-46FE-B05B-1404BD5A20DE}"/>
              </a:ext>
            </a:extLst>
          </p:cNvPr>
          <p:cNvSpPr>
            <a:spLocks xmlns:a="http://schemas.openxmlformats.org/drawingml/2006/main" noGrp="1"/>
          </p:cNvSpPr>
          <p:nvPr/>
        </p:nvSpPr>
        <p:spPr>
          <a:xfrm xmlns:a="http://schemas.openxmlformats.org/drawingml/2006/main">
            <a:off x="9902952" y="1828800"/>
            <a:ext cx="1600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bg2"/>
                </a:solidFill>
              </a:rPr>
              <a:t>weekly forecast series ready for capacity and budget planning</a:t>
            </a:r>
            <a:endParaRPr sz="1100"/>
          </a:p>
        </p:txBody>
      </p:sp>
      <p:sp>
        <p:nvSpPr>
          <p:cNvPr id="13" name="conector">
            <a:extLst xmlns:a="http://schemas.openxmlformats.org/drawingml/2006/main">
              <a:ext uri="{FF2B5EF4-FFF2-40B4-BE49-F238E27FC236}">
                <a16:creationId xmlns:a16="http://schemas.microsoft.com/office/drawing/2014/main" id="{FB0E6C64-14D6-4A41-A1ED-3E768F170DC5}"/>
              </a:ext>
            </a:extLst>
          </p:cNvPr>
          <p:cNvSpPr>
            <a:spLocks xmlns:a="http://schemas.openxmlformats.org/drawingml/2006/main" noGrp="1"/>
          </p:cNvSpPr>
          <p:nvPr/>
        </p:nvSpPr>
        <p:spPr>
          <a:xfrm xmlns:a="http://schemas.openxmlformats.org/drawingml/2006/main">
            <a:off x="777240" y="3493008"/>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14" name="paso 1">
            <a:extLst xmlns:a="http://schemas.openxmlformats.org/drawingml/2006/main">
              <a:ext uri="{FF2B5EF4-FFF2-40B4-BE49-F238E27FC236}">
                <a16:creationId xmlns:a16="http://schemas.microsoft.com/office/drawing/2014/main" id="{B20B6246-4475-4131-888A-3C1EE22FF08E}"/>
              </a:ext>
            </a:extLst>
          </p:cNvPr>
          <p:cNvSpPr>
            <a:spLocks xmlns:a="http://schemas.openxmlformats.org/drawingml/2006/main" noGrp="1"/>
          </p:cNvSpPr>
          <p:nvPr/>
        </p:nvSpPr>
        <p:spPr>
          <a:xfrm xmlns:a="http://schemas.openxmlformats.org/drawingml/2006/main">
            <a:off x="548640" y="3017520"/>
            <a:ext cx="457200" cy="457200"/>
          </a:xfrm>
          <a:prstGeom xmlns:a="http://schemas.openxmlformats.org/drawingml/2006/main" prst="ellipse">
            <a:avLst/>
          </a:prstGeom>
          <a:solidFill xmlns:a="http://schemas.openxmlformats.org/drawingml/2006/main">
            <a:schemeClr val="accent1"/>
          </a:solidFill>
        </p:spPr>
      </p:sp>
      <p:sp>
        <p:nvSpPr>
          <p:cNvPr id="15" name="Text 13">
            <a:extLst xmlns:a="http://schemas.openxmlformats.org/drawingml/2006/main">
              <a:ext uri="{FF2B5EF4-FFF2-40B4-BE49-F238E27FC236}">
                <a16:creationId xmlns:a16="http://schemas.microsoft.com/office/drawing/2014/main" id="{41CC5E54-AC20-4425-A6E7-86ABFCED5C05}"/>
              </a:ext>
            </a:extLst>
          </p:cNvPr>
          <p:cNvSpPr>
            <a:spLocks xmlns:a="http://schemas.openxmlformats.org/drawingml/2006/main" noGrp="1"/>
          </p:cNvSpPr>
          <p:nvPr/>
        </p:nvSpPr>
        <p:spPr>
          <a:xfrm xmlns:a="http://schemas.openxmlformats.org/drawingml/2006/main">
            <a:off x="548640" y="30175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1</a:t>
            </a:r>
            <a:endParaRPr sz="1600"/>
          </a:p>
        </p:txBody>
      </p:sp>
      <p:sp>
        <p:nvSpPr>
          <p:cNvPr id="16" name="Text 14">
            <a:extLst xmlns:a="http://schemas.openxmlformats.org/drawingml/2006/main">
              <a:ext uri="{FF2B5EF4-FFF2-40B4-BE49-F238E27FC236}">
                <a16:creationId xmlns:a16="http://schemas.microsoft.com/office/drawing/2014/main" id="{48A08C5C-56AA-4EBF-B2FD-0990EB3F52AE}"/>
              </a:ext>
            </a:extLst>
          </p:cNvPr>
          <p:cNvSpPr>
            <a:spLocks xmlns:a="http://schemas.openxmlformats.org/drawingml/2006/main" noGrp="1"/>
          </p:cNvSpPr>
          <p:nvPr/>
        </p:nvSpPr>
        <p:spPr>
          <a:xfrm xmlns:a="http://schemas.openxmlformats.org/drawingml/2006/main">
            <a:off x="1188720" y="2990088"/>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Oct 2026 · Datathon MVP</a:t>
            </a:r>
            <a:endParaRPr sz="1400"/>
          </a:p>
        </p:txBody>
      </p:sp>
      <p:sp>
        <p:nvSpPr>
          <p:cNvPr id="17" name="Text 15">
            <a:extLst xmlns:a="http://schemas.openxmlformats.org/drawingml/2006/main">
              <a:ext uri="{FF2B5EF4-FFF2-40B4-BE49-F238E27FC236}">
                <a16:creationId xmlns:a16="http://schemas.microsoft.com/office/drawing/2014/main" id="{343A8BF2-9A36-4F9E-A8C7-036378FBE170}"/>
              </a:ext>
            </a:extLst>
          </p:cNvPr>
          <p:cNvSpPr>
            <a:spLocks xmlns:a="http://schemas.openxmlformats.org/drawingml/2006/main" noGrp="1"/>
          </p:cNvSpPr>
          <p:nvPr/>
        </p:nvSpPr>
        <p:spPr>
          <a:xfrm xmlns:a="http://schemas.openxmlformats.org/drawingml/2006/main">
            <a:off x="1188720" y="3282696"/>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Encrypted screening MVP; LinuxONE runs recorded with logs and CI checks</a:t>
            </a:r>
            <a:endParaRPr sz="1200"/>
          </a:p>
        </p:txBody>
      </p:sp>
      <p:sp>
        <p:nvSpPr>
          <p:cNvPr id="18" name="conector">
            <a:extLst xmlns:a="http://schemas.openxmlformats.org/drawingml/2006/main">
              <a:ext uri="{FF2B5EF4-FFF2-40B4-BE49-F238E27FC236}">
                <a16:creationId xmlns:a16="http://schemas.microsoft.com/office/drawing/2014/main" id="{D1B83B55-12E1-48D8-8A22-CA1D5E5E0851}"/>
              </a:ext>
            </a:extLst>
          </p:cNvPr>
          <p:cNvSpPr>
            <a:spLocks xmlns:a="http://schemas.openxmlformats.org/drawingml/2006/main" noGrp="1"/>
          </p:cNvSpPr>
          <p:nvPr/>
        </p:nvSpPr>
        <p:spPr>
          <a:xfrm xmlns:a="http://schemas.openxmlformats.org/drawingml/2006/main">
            <a:off x="777240" y="4242816"/>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19" name="paso 2">
            <a:extLst xmlns:a="http://schemas.openxmlformats.org/drawingml/2006/main">
              <a:ext uri="{FF2B5EF4-FFF2-40B4-BE49-F238E27FC236}">
                <a16:creationId xmlns:a16="http://schemas.microsoft.com/office/drawing/2014/main" id="{E661DC74-84BD-491B-B090-592C5AA9D385}"/>
              </a:ext>
            </a:extLst>
          </p:cNvPr>
          <p:cNvSpPr>
            <a:spLocks xmlns:a="http://schemas.openxmlformats.org/drawingml/2006/main" noGrp="1"/>
          </p:cNvSpPr>
          <p:nvPr/>
        </p:nvSpPr>
        <p:spPr>
          <a:xfrm xmlns:a="http://schemas.openxmlformats.org/drawingml/2006/main">
            <a:off x="548640" y="3767328"/>
            <a:ext cx="457200" cy="457200"/>
          </a:xfrm>
          <a:prstGeom xmlns:a="http://schemas.openxmlformats.org/drawingml/2006/main" prst="ellipse">
            <a:avLst/>
          </a:prstGeom>
          <a:solidFill xmlns:a="http://schemas.openxmlformats.org/drawingml/2006/main">
            <a:schemeClr val="accent1"/>
          </a:solidFill>
        </p:spPr>
      </p:sp>
      <p:sp>
        <p:nvSpPr>
          <p:cNvPr id="20" name="Text 18">
            <a:extLst xmlns:a="http://schemas.openxmlformats.org/drawingml/2006/main">
              <a:ext uri="{FF2B5EF4-FFF2-40B4-BE49-F238E27FC236}">
                <a16:creationId xmlns:a16="http://schemas.microsoft.com/office/drawing/2014/main" id="{C42B77C1-DD0C-4985-BE7F-B88E08D78C9D}"/>
              </a:ext>
            </a:extLst>
          </p:cNvPr>
          <p:cNvSpPr>
            <a:spLocks xmlns:a="http://schemas.openxmlformats.org/drawingml/2006/main" noGrp="1"/>
          </p:cNvSpPr>
          <p:nvPr/>
        </p:nvSpPr>
        <p:spPr>
          <a:xfrm xmlns:a="http://schemas.openxmlformats.org/drawingml/2006/main">
            <a:off x="548640" y="376732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2</a:t>
            </a:r>
            <a:endParaRPr sz="1600"/>
          </a:p>
        </p:txBody>
      </p:sp>
      <p:sp>
        <p:nvSpPr>
          <p:cNvPr id="21" name="Text 19">
            <a:extLst xmlns:a="http://schemas.openxmlformats.org/drawingml/2006/main">
              <a:ext uri="{FF2B5EF4-FFF2-40B4-BE49-F238E27FC236}">
                <a16:creationId xmlns:a16="http://schemas.microsoft.com/office/drawing/2014/main" id="{5A8C9266-8697-4DC6-811F-2FAAE8B5993F}"/>
              </a:ext>
            </a:extLst>
          </p:cNvPr>
          <p:cNvSpPr>
            <a:spLocks xmlns:a="http://schemas.openxmlformats.org/drawingml/2006/main" noGrp="1"/>
          </p:cNvSpPr>
          <p:nvPr/>
        </p:nvSpPr>
        <p:spPr>
          <a:xfrm xmlns:a="http://schemas.openxmlformats.org/drawingml/2006/main">
            <a:off x="1188720" y="3739896"/>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Q1 2027 · Calibrate for Mexico</a:t>
            </a:r>
            <a:endParaRPr sz="1400"/>
          </a:p>
        </p:txBody>
      </p:sp>
      <p:sp>
        <p:nvSpPr>
          <p:cNvPr id="22" name="Text 20">
            <a:extLst xmlns:a="http://schemas.openxmlformats.org/drawingml/2006/main">
              <a:ext uri="{FF2B5EF4-FFF2-40B4-BE49-F238E27FC236}">
                <a16:creationId xmlns:a16="http://schemas.microsoft.com/office/drawing/2014/main" id="{A65400F7-27C0-48D5-9AD8-6E6ECB8451AD}"/>
              </a:ext>
            </a:extLst>
          </p:cNvPr>
          <p:cNvSpPr>
            <a:spLocks xmlns:a="http://schemas.openxmlformats.org/drawingml/2006/main" noGrp="1"/>
          </p:cNvSpPr>
          <p:nvPr/>
        </p:nvSpPr>
        <p:spPr>
          <a:xfrm xmlns:a="http://schemas.openxmlformats.org/drawingml/2006/main">
            <a:off x="1188720" y="4032504"/>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Recalibrate on Mexican data (ENSANUT) and benchmark s390x at scale</a:t>
            </a:r>
            <a:endParaRPr sz="1200"/>
          </a:p>
        </p:txBody>
      </p:sp>
      <p:sp>
        <p:nvSpPr>
          <p:cNvPr id="23" name="conector">
            <a:extLst xmlns:a="http://schemas.openxmlformats.org/drawingml/2006/main">
              <a:ext uri="{FF2B5EF4-FFF2-40B4-BE49-F238E27FC236}">
                <a16:creationId xmlns:a16="http://schemas.microsoft.com/office/drawing/2014/main" id="{88745128-50ED-4238-8ABF-DC68B8212344}"/>
              </a:ext>
            </a:extLst>
          </p:cNvPr>
          <p:cNvSpPr>
            <a:spLocks xmlns:a="http://schemas.openxmlformats.org/drawingml/2006/main" noGrp="1"/>
          </p:cNvSpPr>
          <p:nvPr/>
        </p:nvSpPr>
        <p:spPr>
          <a:xfrm xmlns:a="http://schemas.openxmlformats.org/drawingml/2006/main">
            <a:off x="777240" y="4992624"/>
            <a:ext cx="0" cy="274320"/>
          </a:xfrm>
          <a:prstGeom xmlns:a="http://schemas.openxmlformats.org/drawingml/2006/main" prst="line">
            <a:avLst/>
          </a:prstGeom>
          <a:noFill xmlns:a="http://schemas.openxmlformats.org/drawingml/2006/main"/>
          <a:ln xmlns:a="http://schemas.openxmlformats.org/drawingml/2006/main" w="19050">
            <a:solidFill>
              <a:schemeClr val="accent5"/>
            </a:solidFill>
            <a:prstDash val="dash"/>
          </a:ln>
        </p:spPr>
      </p:sp>
      <p:sp>
        <p:nvSpPr>
          <p:cNvPr id="24" name="paso 3">
            <a:extLst xmlns:a="http://schemas.openxmlformats.org/drawingml/2006/main">
              <a:ext uri="{FF2B5EF4-FFF2-40B4-BE49-F238E27FC236}">
                <a16:creationId xmlns:a16="http://schemas.microsoft.com/office/drawing/2014/main" id="{5AF7996F-81F4-41CB-9C00-2DBD9AF91D87}"/>
              </a:ext>
            </a:extLst>
          </p:cNvPr>
          <p:cNvSpPr>
            <a:spLocks xmlns:a="http://schemas.openxmlformats.org/drawingml/2006/main" noGrp="1"/>
          </p:cNvSpPr>
          <p:nvPr/>
        </p:nvSpPr>
        <p:spPr>
          <a:xfrm xmlns:a="http://schemas.openxmlformats.org/drawingml/2006/main">
            <a:off x="548640" y="4517136"/>
            <a:ext cx="457200" cy="457200"/>
          </a:xfrm>
          <a:prstGeom xmlns:a="http://schemas.openxmlformats.org/drawingml/2006/main" prst="ellipse">
            <a:avLst/>
          </a:prstGeom>
          <a:solidFill xmlns:a="http://schemas.openxmlformats.org/drawingml/2006/main">
            <a:schemeClr val="accent1"/>
          </a:solidFill>
        </p:spPr>
      </p:sp>
      <p:sp>
        <p:nvSpPr>
          <p:cNvPr id="25" name="Text 23">
            <a:extLst xmlns:a="http://schemas.openxmlformats.org/drawingml/2006/main">
              <a:ext uri="{FF2B5EF4-FFF2-40B4-BE49-F238E27FC236}">
                <a16:creationId xmlns:a16="http://schemas.microsoft.com/office/drawing/2014/main" id="{8EFC69D7-A5A6-41F6-A5A0-E3FB688FE902}"/>
              </a:ext>
            </a:extLst>
          </p:cNvPr>
          <p:cNvSpPr>
            <a:spLocks xmlns:a="http://schemas.openxmlformats.org/drawingml/2006/main" noGrp="1"/>
          </p:cNvSpPr>
          <p:nvPr/>
        </p:nvSpPr>
        <p:spPr>
          <a:xfrm xmlns:a="http://schemas.openxmlformats.org/drawingml/2006/main">
            <a:off x="548640" y="4517136"/>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3</a:t>
            </a:r>
            <a:endParaRPr sz="1600"/>
          </a:p>
        </p:txBody>
      </p:sp>
      <p:sp>
        <p:nvSpPr>
          <p:cNvPr id="26" name="Text 24">
            <a:extLst xmlns:a="http://schemas.openxmlformats.org/drawingml/2006/main">
              <a:ext uri="{FF2B5EF4-FFF2-40B4-BE49-F238E27FC236}">
                <a16:creationId xmlns:a16="http://schemas.microsoft.com/office/drawing/2014/main" id="{B276AEAC-162E-422A-9703-217C1CBAD153}"/>
              </a:ext>
            </a:extLst>
          </p:cNvPr>
          <p:cNvSpPr>
            <a:spLocks xmlns:a="http://schemas.openxmlformats.org/drawingml/2006/main" noGrp="1"/>
          </p:cNvSpPr>
          <p:nvPr/>
        </p:nvSpPr>
        <p:spPr>
          <a:xfrm xmlns:a="http://schemas.openxmlformats.org/drawingml/2006/main">
            <a:off x="1188720" y="4489704"/>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Q2 2027 · Hospital pilot</a:t>
            </a:r>
            <a:endParaRPr sz="1400"/>
          </a:p>
        </p:txBody>
      </p:sp>
      <p:sp>
        <p:nvSpPr>
          <p:cNvPr id="27" name="Text 25">
            <a:extLst xmlns:a="http://schemas.openxmlformats.org/drawingml/2006/main">
              <a:ext uri="{FF2B5EF4-FFF2-40B4-BE49-F238E27FC236}">
                <a16:creationId xmlns:a16="http://schemas.microsoft.com/office/drawing/2014/main" id="{BB2C4072-759B-4306-8B51-29C31CD34B0B}"/>
              </a:ext>
            </a:extLst>
          </p:cNvPr>
          <p:cNvSpPr>
            <a:spLocks xmlns:a="http://schemas.openxmlformats.org/drawingml/2006/main" noGrp="1"/>
          </p:cNvSpPr>
          <p:nvPr/>
        </p:nvSpPr>
        <p:spPr>
          <a:xfrm xmlns:a="http://schemas.openxmlformats.org/drawingml/2006/main">
            <a:off x="1188720" y="4782312"/>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Hospital container on site, risk service on LinuxONE; de-identified records</a:t>
            </a:r>
            <a:endParaRPr sz="1200"/>
          </a:p>
        </p:txBody>
      </p:sp>
      <p:sp>
        <p:nvSpPr>
          <p:cNvPr id="28" name="paso 4">
            <a:extLst xmlns:a="http://schemas.openxmlformats.org/drawingml/2006/main">
              <a:ext uri="{FF2B5EF4-FFF2-40B4-BE49-F238E27FC236}">
                <a16:creationId xmlns:a16="http://schemas.microsoft.com/office/drawing/2014/main" id="{4E22729E-6EC3-4972-8B8C-CC0996F9CCF1}"/>
              </a:ext>
            </a:extLst>
          </p:cNvPr>
          <p:cNvSpPr>
            <a:spLocks xmlns:a="http://schemas.openxmlformats.org/drawingml/2006/main" noGrp="1"/>
          </p:cNvSpPr>
          <p:nvPr/>
        </p:nvSpPr>
        <p:spPr>
          <a:xfrm xmlns:a="http://schemas.openxmlformats.org/drawingml/2006/main">
            <a:off x="548640" y="5266944"/>
            <a:ext cx="457200" cy="457200"/>
          </a:xfrm>
          <a:prstGeom xmlns:a="http://schemas.openxmlformats.org/drawingml/2006/main" prst="ellipse">
            <a:avLst/>
          </a:prstGeom>
          <a:solidFill xmlns:a="http://schemas.openxmlformats.org/drawingml/2006/main">
            <a:schemeClr val="accent1"/>
          </a:solidFill>
        </p:spPr>
      </p:sp>
      <p:sp>
        <p:nvSpPr>
          <p:cNvPr id="29" name="Text 27">
            <a:extLst xmlns:a="http://schemas.openxmlformats.org/drawingml/2006/main">
              <a:ext uri="{FF2B5EF4-FFF2-40B4-BE49-F238E27FC236}">
                <a16:creationId xmlns:a16="http://schemas.microsoft.com/office/drawing/2014/main" id="{67F8C2C1-D674-4FBA-BCF9-F6F8118DE65D}"/>
              </a:ext>
            </a:extLst>
          </p:cNvPr>
          <p:cNvSpPr>
            <a:spLocks xmlns:a="http://schemas.openxmlformats.org/drawingml/2006/main" noGrp="1"/>
          </p:cNvSpPr>
          <p:nvPr/>
        </p:nvSpPr>
        <p:spPr>
          <a:xfrm xmlns:a="http://schemas.openxmlformats.org/drawingml/2006/main">
            <a:off x="548640" y="5266944"/>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chemeClr val="bg1"/>
                </a:solidFill>
              </a:rPr>
              <a:t>4</a:t>
            </a:r>
            <a:endParaRPr sz="1600"/>
          </a:p>
        </p:txBody>
      </p:sp>
      <p:sp>
        <p:nvSpPr>
          <p:cNvPr id="30" name="Text 28">
            <a:extLst xmlns:a="http://schemas.openxmlformats.org/drawingml/2006/main">
              <a:ext uri="{FF2B5EF4-FFF2-40B4-BE49-F238E27FC236}">
                <a16:creationId xmlns:a16="http://schemas.microsoft.com/office/drawing/2014/main" id="{2BBB1881-04FB-4CA5-BA21-4C92316E4731}"/>
              </a:ext>
            </a:extLst>
          </p:cNvPr>
          <p:cNvSpPr>
            <a:spLocks xmlns:a="http://schemas.openxmlformats.org/drawingml/2006/main" noGrp="1"/>
          </p:cNvSpPr>
          <p:nvPr/>
        </p:nvSpPr>
        <p:spPr>
          <a:xfrm xmlns:a="http://schemas.openxmlformats.org/drawingml/2006/main">
            <a:off x="1188720" y="5239512"/>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bg1"/>
                </a:solidFill>
              </a:rPr>
              <a:t>Q4 2027 · Scale</a:t>
            </a:r>
            <a:endParaRPr sz="1400"/>
          </a:p>
        </p:txBody>
      </p:sp>
      <p:sp>
        <p:nvSpPr>
          <p:cNvPr id="31" name="Text 29">
            <a:extLst xmlns:a="http://schemas.openxmlformats.org/drawingml/2006/main">
              <a:ext uri="{FF2B5EF4-FFF2-40B4-BE49-F238E27FC236}">
                <a16:creationId xmlns:a16="http://schemas.microsoft.com/office/drawing/2014/main" id="{0AB77F81-8D4C-467D-8AA3-42FE77048006}"/>
              </a:ext>
            </a:extLst>
          </p:cNvPr>
          <p:cNvSpPr>
            <a:spLocks xmlns:a="http://schemas.openxmlformats.org/drawingml/2006/main" noGrp="1"/>
          </p:cNvSpPr>
          <p:nvPr/>
        </p:nvSpPr>
        <p:spPr>
          <a:xfrm xmlns:a="http://schemas.openxmlformats.org/drawingml/2006/main">
            <a:off x="1188720" y="5532120"/>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Non-linear models with CKKS, Granite explanations at the hospital, forecasts on LinuxONE</a:t>
            </a:r>
            <a:endParaRPr sz="1200"/>
          </a:p>
        </p:txBody>
      </p:sp>
      <p:sp>
        <p:nvSpPr>
          <p:cNvPr id="32" name="Text 30">
            <a:extLst xmlns:a="http://schemas.openxmlformats.org/drawingml/2006/main">
              <a:ext uri="{FF2B5EF4-FFF2-40B4-BE49-F238E27FC236}">
                <a16:creationId xmlns:a16="http://schemas.microsoft.com/office/drawing/2014/main" id="{7FEF0A0A-7ACA-4D2B-A43E-82C24CE44D1D}"/>
              </a:ext>
            </a:extLst>
          </p:cNvPr>
          <p:cNvSpPr>
            <a:spLocks xmlns:a="http://schemas.openxmlformats.org/drawingml/2006/main" noGrp="1"/>
          </p:cNvSpPr>
          <p:nvPr/>
        </p:nvSpPr>
        <p:spPr>
          <a:xfrm xmlns:a="http://schemas.openxmlformats.org/drawingml/2006/main">
            <a:off x="6263640" y="3017520"/>
            <a:ext cx="53766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00">
                <a:solidFill>
                  <a:schemeClr val="accent5"/>
                </a:solidFill>
              </a:rPr>
              <a:t>WHAT IT TAKES</a:t>
            </a:r>
            <a:endParaRPr sz="1100"/>
          </a:p>
        </p:txBody>
      </p:sp>
      <p:sp>
        <p:nvSpPr>
          <p:cNvPr id="33" name="Métricas">
            <a:extLst xmlns:a="http://schemas.openxmlformats.org/drawingml/2006/main">
              <a:ext uri="{FF2B5EF4-FFF2-40B4-BE49-F238E27FC236}">
                <a16:creationId xmlns:a16="http://schemas.microsoft.com/office/drawing/2014/main" id="{EC880691-5CEA-45FE-920D-8D3CC074F18D}"/>
              </a:ext>
            </a:extLst>
          </p:cNvPr>
          <p:cNvSpPr>
            <a:spLocks xmlns:a="http://schemas.openxmlformats.org/drawingml/2006/main" noGrp="1"/>
          </p:cNvSpPr>
          <p:nvPr/>
        </p:nvSpPr>
        <p:spPr>
          <a:xfrm xmlns:a="http://schemas.openxmlformats.org/drawingml/2006/main">
            <a:off x="6263640" y="3383280"/>
            <a:ext cx="5376672" cy="1078992"/>
          </a:xfrm>
          <a:prstGeom xmlns:a="http://schemas.openxmlformats.org/drawingml/2006/main" prst="roundRect">
            <a:avLst>
              <a:gd name="adj" fmla="val 8475"/>
            </a:avLst>
          </a:prstGeom>
          <a:solidFill xmlns:a="http://schemas.openxmlformats.org/drawingml/2006/main">
            <a:schemeClr val="accent2">
              <a:alpha val="15000"/>
            </a:schemeClr>
          </a:solidFill>
          <a:ln xmlns:a="http://schemas.openxmlformats.org/drawingml/2006/main" w="9525">
            <a:solidFill>
              <a:schemeClr val="accent2">
                <a:alpha val="70000"/>
              </a:schemeClr>
            </a:solidFill>
            <a:prstDash val="solid"/>
          </a:ln>
        </p:spPr>
      </p:sp>
      <p:sp>
        <p:nvSpPr>
          <p:cNvPr id="34" name="Métricas círculo">
            <a:extLst xmlns:a="http://schemas.openxmlformats.org/drawingml/2006/main">
              <a:ext uri="{FF2B5EF4-FFF2-40B4-BE49-F238E27FC236}">
                <a16:creationId xmlns:a16="http://schemas.microsoft.com/office/drawing/2014/main" id="{A3ABE300-192A-40E0-82FA-2BFC08D29B68}"/>
              </a:ext>
            </a:extLst>
          </p:cNvPr>
          <p:cNvSpPr>
            <a:spLocks xmlns:a="http://schemas.openxmlformats.org/drawingml/2006/main" noGrp="1"/>
          </p:cNvSpPr>
          <p:nvPr/>
        </p:nvSpPr>
        <p:spPr>
          <a:xfrm xmlns:a="http://schemas.openxmlformats.org/drawingml/2006/main">
            <a:off x="6419088" y="3657600"/>
            <a:ext cx="530352" cy="530352"/>
          </a:xfrm>
          <a:prstGeom xmlns:a="http://schemas.openxmlformats.org/drawingml/2006/main" prst="ellipse">
            <a:avLst/>
          </a:prstGeom>
          <a:solidFill xmlns:a="http://schemas.openxmlformats.org/drawingml/2006/main">
            <a:schemeClr val="accent2"/>
          </a:solidFill>
        </p:spPr>
      </p:sp>
      <p:pic>
        <p:nvPicPr>
          <p:cNvPr id="35" name="Métricas ícono">
            <a:extLst xmlns:a="http://schemas.openxmlformats.org/drawingml/2006/main">
              <a:ext uri="{FF2B5EF4-FFF2-40B4-BE49-F238E27FC236}">
                <a16:creationId xmlns:a16="http://schemas.microsoft.com/office/drawing/2014/main" id="{93A76CF4-6837-4974-9A8F-11030472E5D5}"/>
              </a:ext>
            </a:extLst>
          </p:cNvPr>
          <p:cNvPicPr>
            <a:picLocks xmlns:a="http://schemas.openxmlformats.org/drawingml/2006/main" noChangeAspect="1"/>
          </p:cNvPicPr>
          <p:nvPr/>
        </p:nvPicPr>
        <p:blipFill>
          <a:blip xmlns:r="http://schemas.openxmlformats.org/officeDocument/2006/relationships" xmlns:a="http://schemas.openxmlformats.org/drawingml/2006/main" r:embed="Rfc0de45e0c384224"/>
          <a:stretch xmlns:a="http://schemas.openxmlformats.org/drawingml/2006/main">
            <a:fillRect l="0" t="0" r="0" b="0"/>
          </a:stretch>
        </p:blipFill>
        <p:spPr>
          <a:xfrm xmlns:a="http://schemas.openxmlformats.org/drawingml/2006/main">
            <a:off x="6535765" y="3774277"/>
            <a:ext cx="296997" cy="296997"/>
          </a:xfrm>
          <a:prstGeom xmlns:a="http://schemas.openxmlformats.org/drawingml/2006/main" prst="rect">
            <a:avLst/>
          </a:prstGeom>
        </p:spPr>
      </p:pic>
      <p:sp>
        <p:nvSpPr>
          <p:cNvPr id="36" name="Text 33">
            <a:extLst xmlns:a="http://schemas.openxmlformats.org/drawingml/2006/main">
              <a:ext uri="{FF2B5EF4-FFF2-40B4-BE49-F238E27FC236}">
                <a16:creationId xmlns:a16="http://schemas.microsoft.com/office/drawing/2014/main" id="{D8184D06-E015-45DA-8D6C-65FA5A71592C}"/>
              </a:ext>
            </a:extLst>
          </p:cNvPr>
          <p:cNvSpPr>
            <a:spLocks xmlns:a="http://schemas.openxmlformats.org/drawingml/2006/main" noGrp="1"/>
          </p:cNvSpPr>
          <p:nvPr/>
        </p:nvSpPr>
        <p:spPr>
          <a:xfrm xmlns:a="http://schemas.openxmlformats.org/drawingml/2006/main">
            <a:off x="7114032" y="3493008"/>
            <a:ext cx="4389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Partners</a:t>
            </a:r>
            <a:endParaRPr sz="1500"/>
          </a:p>
        </p:txBody>
      </p:sp>
      <p:sp>
        <p:nvSpPr>
          <p:cNvPr id="37" name="Text 34">
            <a:extLst xmlns:a="http://schemas.openxmlformats.org/drawingml/2006/main">
              <a:ext uri="{FF2B5EF4-FFF2-40B4-BE49-F238E27FC236}">
                <a16:creationId xmlns:a16="http://schemas.microsoft.com/office/drawing/2014/main" id="{8CF8D52A-8C74-4D4F-B439-458EBCBF7362}"/>
              </a:ext>
            </a:extLst>
          </p:cNvPr>
          <p:cNvSpPr>
            <a:spLocks xmlns:a="http://schemas.openxmlformats.org/drawingml/2006/main" noGrp="1"/>
          </p:cNvSpPr>
          <p:nvPr/>
        </p:nvSpPr>
        <p:spPr>
          <a:xfrm xmlns:a="http://schemas.openxmlformats.org/drawingml/2006/main">
            <a:off x="7114032" y="3840480"/>
            <a:ext cx="43891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A public hospital or clinic network for the pilot, LinuxONE capacity and a sourced unit cost for budgets.</a:t>
            </a:r>
            <a:endParaRPr sz="1200"/>
          </a:p>
        </p:txBody>
      </p:sp>
      <p:sp>
        <p:nvSpPr>
          <p:cNvPr id="38" name="Límites">
            <a:extLst xmlns:a="http://schemas.openxmlformats.org/drawingml/2006/main">
              <a:ext uri="{FF2B5EF4-FFF2-40B4-BE49-F238E27FC236}">
                <a16:creationId xmlns:a16="http://schemas.microsoft.com/office/drawing/2014/main" id="{5C92B429-B5E6-48F6-9A8C-549EB31593BF}"/>
              </a:ext>
            </a:extLst>
          </p:cNvPr>
          <p:cNvSpPr>
            <a:spLocks xmlns:a="http://schemas.openxmlformats.org/drawingml/2006/main" noGrp="1"/>
          </p:cNvSpPr>
          <p:nvPr/>
        </p:nvSpPr>
        <p:spPr>
          <a:xfrm xmlns:a="http://schemas.openxmlformats.org/drawingml/2006/main">
            <a:off x="6263640" y="4590288"/>
            <a:ext cx="5376672" cy="1078992"/>
          </a:xfrm>
          <a:prstGeom xmlns:a="http://schemas.openxmlformats.org/drawingml/2006/main" prst="roundRect">
            <a:avLst>
              <a:gd name="adj" fmla="val 8475"/>
            </a:avLst>
          </a:prstGeom>
          <a:solidFill xmlns:a="http://schemas.openxmlformats.org/drawingml/2006/main">
            <a:schemeClr val="accent4">
              <a:alpha val="15000"/>
            </a:schemeClr>
          </a:solidFill>
          <a:ln xmlns:a="http://schemas.openxmlformats.org/drawingml/2006/main" w="9525">
            <a:solidFill>
              <a:schemeClr val="accent4">
                <a:alpha val="70000"/>
              </a:schemeClr>
            </a:solidFill>
            <a:prstDash val="solid"/>
          </a:ln>
        </p:spPr>
      </p:sp>
      <p:sp>
        <p:nvSpPr>
          <p:cNvPr id="39" name="Límites círculo">
            <a:extLst xmlns:a="http://schemas.openxmlformats.org/drawingml/2006/main">
              <a:ext uri="{FF2B5EF4-FFF2-40B4-BE49-F238E27FC236}">
                <a16:creationId xmlns:a16="http://schemas.microsoft.com/office/drawing/2014/main" id="{E4AA23A6-055A-4D05-9959-328F73D3878A}"/>
              </a:ext>
            </a:extLst>
          </p:cNvPr>
          <p:cNvSpPr>
            <a:spLocks xmlns:a="http://schemas.openxmlformats.org/drawingml/2006/main" noGrp="1"/>
          </p:cNvSpPr>
          <p:nvPr/>
        </p:nvSpPr>
        <p:spPr>
          <a:xfrm xmlns:a="http://schemas.openxmlformats.org/drawingml/2006/main">
            <a:off x="6419088" y="4864608"/>
            <a:ext cx="530352" cy="530352"/>
          </a:xfrm>
          <a:prstGeom xmlns:a="http://schemas.openxmlformats.org/drawingml/2006/main" prst="ellipse">
            <a:avLst/>
          </a:prstGeom>
          <a:solidFill xmlns:a="http://schemas.openxmlformats.org/drawingml/2006/main">
            <a:schemeClr val="accent4"/>
          </a:solidFill>
        </p:spPr>
      </p:sp>
      <p:pic>
        <p:nvPicPr>
          <p:cNvPr id="40" name="Límites ícono">
            <a:extLst xmlns:a="http://schemas.openxmlformats.org/drawingml/2006/main">
              <a:ext uri="{FF2B5EF4-FFF2-40B4-BE49-F238E27FC236}">
                <a16:creationId xmlns:a16="http://schemas.microsoft.com/office/drawing/2014/main" id="{095FC878-48BA-4748-B77E-322C211299C6}"/>
              </a:ext>
            </a:extLst>
          </p:cNvPr>
          <p:cNvPicPr>
            <a:picLocks xmlns:a="http://schemas.openxmlformats.org/drawingml/2006/main" noChangeAspect="1"/>
          </p:cNvPicPr>
          <p:nvPr/>
        </p:nvPicPr>
        <p:blipFill>
          <a:blip xmlns:r="http://schemas.openxmlformats.org/officeDocument/2006/relationships" xmlns:a="http://schemas.openxmlformats.org/drawingml/2006/main" r:embed="R8e1cb59c3188473c"/>
          <a:stretch xmlns:a="http://schemas.openxmlformats.org/drawingml/2006/main">
            <a:fillRect l="0" t="0" r="0" b="0"/>
          </a:stretch>
        </p:blipFill>
        <p:spPr>
          <a:xfrm xmlns:a="http://schemas.openxmlformats.org/drawingml/2006/main">
            <a:off x="6535765" y="4981285"/>
            <a:ext cx="296997" cy="296997"/>
          </a:xfrm>
          <a:prstGeom xmlns:a="http://schemas.openxmlformats.org/drawingml/2006/main" prst="rect">
            <a:avLst/>
          </a:prstGeom>
        </p:spPr>
      </p:pic>
      <p:sp>
        <p:nvSpPr>
          <p:cNvPr id="41" name="Text 37">
            <a:extLst xmlns:a="http://schemas.openxmlformats.org/drawingml/2006/main">
              <a:ext uri="{FF2B5EF4-FFF2-40B4-BE49-F238E27FC236}">
                <a16:creationId xmlns:a16="http://schemas.microsoft.com/office/drawing/2014/main" id="{16742B53-8B34-4477-8001-76AC7441D4F1}"/>
              </a:ext>
            </a:extLst>
          </p:cNvPr>
          <p:cNvSpPr>
            <a:spLocks xmlns:a="http://schemas.openxmlformats.org/drawingml/2006/main" noGrp="1"/>
          </p:cNvSpPr>
          <p:nvPr/>
        </p:nvSpPr>
        <p:spPr>
          <a:xfrm xmlns:a="http://schemas.openxmlformats.org/drawingml/2006/main">
            <a:off x="7114032" y="4700016"/>
            <a:ext cx="43891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bg1"/>
                </a:solidFill>
              </a:rPr>
              <a:t>Gates before clinical use</a:t>
            </a:r>
            <a:endParaRPr sz="1500"/>
          </a:p>
        </p:txBody>
      </p:sp>
      <p:sp>
        <p:nvSpPr>
          <p:cNvPr id="42" name="Text 38">
            <a:extLst xmlns:a="http://schemas.openxmlformats.org/drawingml/2006/main">
              <a:ext uri="{FF2B5EF4-FFF2-40B4-BE49-F238E27FC236}">
                <a16:creationId xmlns:a16="http://schemas.microsoft.com/office/drawing/2014/main" id="{18408005-2C13-4A63-A10B-F3B3AA0B3E39}"/>
              </a:ext>
            </a:extLst>
          </p:cNvPr>
          <p:cNvSpPr>
            <a:spLocks xmlns:a="http://schemas.openxmlformats.org/drawingml/2006/main" noGrp="1"/>
          </p:cNvSpPr>
          <p:nvPr/>
        </p:nvSpPr>
        <p:spPr>
          <a:xfrm xmlns:a="http://schemas.openxmlformats.org/drawingml/2006/main">
            <a:off x="7114032" y="5047488"/>
            <a:ext cx="438912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bg2"/>
                </a:solidFill>
              </a:rPr>
              <a:t>Clinical validation in Mexico, legal and privacy review, an independent security audit and a stronger host trust model.</a:t>
            </a:r>
            <a:endParaRPr sz="1200"/>
          </a:p>
        </p:txBody>
      </p:sp>
      <p:sp>
        <p:nvSpPr>
          <p:cNvPr id="43" name="Text 39">
            <a:extLst xmlns:a="http://schemas.openxmlformats.org/drawingml/2006/main">
              <a:ext uri="{FF2B5EF4-FFF2-40B4-BE49-F238E27FC236}">
                <a16:creationId xmlns:a16="http://schemas.microsoft.com/office/drawing/2014/main" id="{33CB5153-62BB-444E-9C8B-7D05308C2B51}"/>
              </a:ext>
            </a:extLst>
          </p:cNvPr>
          <p:cNvSpPr>
            <a:spLocks xmlns:a="http://schemas.openxmlformats.org/drawingml/2006/main" noGrp="1"/>
          </p:cNvSpPr>
          <p:nvPr/>
        </p:nvSpPr>
        <p:spPr>
          <a:xfrm xmlns:a="http://schemas.openxmlformats.org/drawingml/2006/main">
            <a:off x="548640" y="6089904"/>
            <a:ext cx="1109167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6"/>
                </a:solidFill>
              </a:rPr>
              <a:t>A plan, not a commitment: dates assume partner access and funding.</a:t>
            </a:r>
            <a:endParaRPr sz="1000"/>
          </a:p>
        </p:txBody>
      </p:sp>
      <p:sp>
        <p:nvSpPr>
          <p:cNvPr id="44" name="Slide Number Placeholder 0">
            <a:extLst xmlns:a="http://schemas.openxmlformats.org/drawingml/2006/main">
              <a:ext uri="{FF2B5EF4-FFF2-40B4-BE49-F238E27FC236}">
                <a16:creationId xmlns:a16="http://schemas.microsoft.com/office/drawing/2014/main" id="{B14CA5A1-588A-4FE4-B866-557619FFB856}"/>
              </a:ext>
            </a:extLst>
          </p:cNvPr>
          <p:cNvSpPr>
            <a:spLocks xmlns:a="http://schemas.openxmlformats.org/drawingml/2006/main" noGrp="1"/>
          </p:cNvSpPr>
          <p:nvPr>
            <p:ph type="sldNum" idx="4294967295"/>
          </p:nvPr>
        </p:nvSpPr>
        <p:spPr>
          <a:xfrm xmlns:a="http://schemas.openxmlformats.org/drawingml/2006/main">
            <a:off x="11183112" y="640080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900">
                <a:solidFill>
                  <a:schemeClr val="accent6"/>
                </a:solidFil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714427936"/>
      </p:ext>
    </p:extLst>
  </p:cSld>
</p:sld>
</file>

<file path=ppt/theme/theme1.xml><?xml version="1.0" encoding="utf-8"?>
<a:theme xmlns:a="http://schemas.openxmlformats.org/drawingml/2006/main" name="Antimarrulla Tamizaje">
  <a:themeElements>
    <a:clrScheme name="Antimarrulla Tamizaje">
      <a:dk1>
        <a:srgbClr val="0E0E13"/>
      </a:dk1>
      <a:lt1>
        <a:srgbClr val="FFFFFF"/>
      </a:lt1>
      <a:dk2>
        <a:srgbClr val="1A1A24"/>
      </a:dk2>
      <a:lt2>
        <a:srgbClr val="E0E0E0"/>
      </a:lt2>
      <a:accent1>
        <a:srgbClr val="0F62FE"/>
      </a:accent1>
      <a:accent2>
        <a:srgbClr val="24A148"/>
      </a:accent2>
      <a:accent3>
        <a:srgbClr val="FA4D56"/>
      </a:accent3>
      <a:accent4>
        <a:srgbClr val="F1C21B"/>
      </a:accent4>
      <a:accent5>
        <a:srgbClr val="78A9FF"/>
      </a:accent5>
      <a:accent6>
        <a:srgbClr val="8D8D8D"/>
      </a:accent6>
      <a:hlink>
        <a:srgbClr val="78A9FF"/>
      </a:hlink>
      <a:folHlink>
        <a:srgbClr val="A6C8FF"/>
      </a:folHlink>
    </a:clrScheme>
    <a:fontScheme name="Antimarrulla Tamizaj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ntimarrulla Tamizaj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2026-10-17T19:42:04.1390000Z</dcterms:created>
  <dcterms:modified xsi:type="dcterms:W3CDTF">2026-10-17T19:42:04.1390000Z</dcterms:modified>
</coreProperties>
</file>