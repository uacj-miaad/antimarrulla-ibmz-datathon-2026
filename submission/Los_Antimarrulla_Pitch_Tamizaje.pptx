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9cb336fb-08bc-168b-953a-8a0176050050}">
          <p14:sldIdLst>
            <p14:sldId id="256"/>
          </p14:sldIdLst>
        </p14:section>
        <p14:section name="Problema y solución" id="{b6938fb9-8e33-66e9-8e5d-fec9ab9adb74}">
          <p14:sldIdLst>
            <p14:sldId id="257"/>
            <p14:sldId id="258"/>
          </p14:sldIdLst>
        </p14:section>
        <p14:section name="Tecnología" id="{2bde8551-23af-d9fd-02ae-67e149905b0b}">
          <p14:sldIdLst>
            <p14:sldId id="259"/>
            <p14:sldId id="260"/>
          </p14:sldIdLst>
        </p14:section>
        <p14:section name="Demo y datos" id="{071dd8da-afd0-753d-3256-80c53e23b3e9}">
          <p14:sldIdLst>
            <p14:sldId id="261"/>
            <p14:sldId id="262"/>
          </p14:sldIdLst>
        </p14:section>
        <p14:section name="Impacto y cierre" id="{0693b817-cfa8-e0a4-4402-85181226d90c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Somos Los Antimarrulla, de la UACJ. Nuestro proyecto es Tamizaje a ciegas: una IA que calcula el riesgo de diabetes sobre datos cifrados en IBM LinuxONE. El servidor nunca ve a ningún paciente. Reto 2: AI Secured.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México, 18.3% de los adultos vive con diabetes y uno de cada tres no lo sabe. En 2024 murieron 112 mil personas por diabetes: la segunda causa de muerte. Los hospitales tienen los datos para detectarla antes, pero no pueden compartirlos: hacerlo es un riesgo legal y de privacidad; no hacerlo significa detectar tarde. ¿Y si la IA pudiera calcular el riesgo sin ver jamás los datos?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Así funciona: el hospital cifra los 21 indicadores del paciente y se queda con la llave. LinuxONE calcula el riesgo sobre los números cifrados, sin llave. El resultado regresa cifrado; solo el hospital lo abre, y Granite le explica el resultado al paciente en lenguaje claro. Es tamizaje: decide a quién hacerle una prueba de glucosa primero.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corazón del Reto 2. Usamos cifrado homomórfico Paillier: multiplicar cifrados suma los valores y elevar un cifrado a una potencia lo multiplica. Con eso, el servidor calcula el puntaje de una regresión logística sin descifrar nada. Además, TLS 1.3 en tránsito y AES-256-GCM acelerado por CPACF en reposo. El servicio de riesgo nunca ve datos en claro: la llave se queda con el hospital, y quien administre el entorno del hospital es parte de la frontera de confianza. ANTES DE PRESENTAR: capturar 'openssl speed -evp aes-256-gcm' en la VM como evidencia.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corre en LinuxONE, en dos contenedores Docker. El del hospital guarda la llave privada, cifra, descifra y usa Granite para explicar. El servicio de riesgo nunca tiene la llave: solo hace aritmética homomórfica, que son exponenciaciones con enteros enormes, justo el tipo de cómputo pesado y seguro para el que está hecho IBM Z. Mostrar aquí la instancia LinuxONE y los dos contenedores corriendo (requisito del video).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en pantalla dividida. A la izquierda, lo que ve el servidor: solo números cifrados. A la derecha, lo que ve el hospital: el riesgo, los factores principales y la explicación de Granite. Abajo, métricas medidas en vivo en LinuxONE: el AUC en claro contra el cifrado, la latencia por paciente, el tamaño del cifrado y los pacientes por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Entrenamos con datos públicos: 253,680 respuestas de la encuesta de salud de los CDC, con 21 indicadores. Los datos de pacientes reales solo llegan cifrados. Medimos AUC, AUC-PR, sensibilidad, especificidad, calibración y el error numérico entre claro y cifrado. Es una prueba técnica con datos de EE. UU.; la validamos con adultos mexicanos de ENSANUT.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impacto: tamizaje temprano para el tercio de personas que no sabe que tiene diabetes; en 2024, más de 11 mil hospitalizaciones por diabetes en la Secretaría de Salud incluyeron una amputación, confianza del paciente y cumplimiento con la ley de protección de datos, en un esquema que escala a otras enfermedades crónicas. La IA ve el riesgo; nadie ve al paciente. Somos Los Antimarrulla.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PORTADA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IDO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IERRE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83080"/>
            <a:ext cx="694944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71800"/>
            <a:ext cx="658368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768096" y="41148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Los Antimarrulla · Tamizaje a ciegas · IBM Z Datathon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768096" y="41148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Los Antimarrulla · Tamizaje a ciegas · IBM Z Datathon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hyperlink" Target="https://github.com/UACJ-MIAAD/antimarrulla-ibmz-datathon-2026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5"/>
                </a:solidFill>
              </a:rPr>
              <a:t>IBM Z DATATHON 2026  ·  RETO 2: AI SECURED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783080"/>
            <a:ext cx="694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Los Antimarrulla</a:t>
            </a:r>
            <a:endParaRPr lang="en-US" sz="6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297180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2"/>
                </a:solidFill>
              </a:rPr>
              <a:t>Tamizaje a ciegas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033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IA que detecta riesgo de diabetes sin ver a ningún paciente: el cálculo ocurre sobre datos cifrados en IBM LinuxONE</a:t>
            </a:r>
            <a:endParaRPr lang="en-US" sz="1600" dirty="0"/>
          </a:p>
        </p:txBody>
      </p:sp>
      <p:pic>
        <p:nvPicPr>
          <p:cNvPr id="6" name="Logo del equipo" descr="/private/tmp/claude-501/-Users-haowei-Documents-Antimarrulla/5372125f-ee1a-4aa0-8aef-43e32d332201/scratchpad/dx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4632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11680" y="50292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Javier Augusto Rebull Saucedo · Álvaro Hernández Jarquín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Carlos Enrique Gonzalez Moran · Yazmin Ivonne Flores Martinez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UACJ · Maestría en IA y Analítica de Datos (MIAAD)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68096" y="4114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01 · EL PROBLEMA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La diabetes avanza y sus datos siguen bajo llave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</a:rPr>
              <a:t>18.3%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8745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de los adultos en México vive con diabetes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986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</a:rPr>
              <a:t>1 de 3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89864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no sabe que la tiene: se detecta tarde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2277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</a:rPr>
              <a:t>112,577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392277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muertes en 2024: es la 2.ª causa de muerte del país</a:t>
            </a:r>
            <a:endParaRPr lang="en-US" sz="1400" dirty="0"/>
          </a:p>
        </p:txBody>
      </p:sp>
      <p:sp>
        <p:nvSpPr>
          <p:cNvPr id="10" name="Hospital"/>
          <p:cNvSpPr/>
          <p:nvPr/>
        </p:nvSpPr>
        <p:spPr>
          <a:xfrm>
            <a:off x="6629400" y="2743200"/>
            <a:ext cx="155448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9525">
            <a:solidFill>
              <a:schemeClr val="accent5">
                <a:alpha val="70000"/>
              </a:schemeClr>
            </a:solidFill>
            <a:prstDash val="solid"/>
          </a:ln>
        </p:spPr>
      </p:sp>
      <p:sp>
        <p:nvSpPr>
          <p:cNvPr id="11" name="Hospital círculo"/>
          <p:cNvSpPr/>
          <p:nvPr/>
        </p:nvSpPr>
        <p:spPr>
          <a:xfrm>
            <a:off x="6766560" y="2971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Hospital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7144" y="3072384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315200" y="27432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Hospital</a:t>
            </a:r>
            <a:endParaRPr lang="en-US" sz="1300" dirty="0"/>
          </a:p>
        </p:txBody>
      </p:sp>
      <p:sp>
        <p:nvSpPr>
          <p:cNvPr id="14" name="flecha"/>
          <p:cNvSpPr/>
          <p:nvPr/>
        </p:nvSpPr>
        <p:spPr>
          <a:xfrm>
            <a:off x="8229600" y="3200400"/>
            <a:ext cx="502920" cy="-82296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5" name="Compartir expedientes"/>
          <p:cNvSpPr/>
          <p:nvPr/>
        </p:nvSpPr>
        <p:spPr>
          <a:xfrm>
            <a:off x="8778240" y="1965960"/>
            <a:ext cx="2862072" cy="868680"/>
          </a:xfrm>
          <a:prstGeom prst="roundRect">
            <a:avLst>
              <a:gd name="adj" fmla="val 10526"/>
            </a:avLst>
          </a:prstGeom>
          <a:solidFill>
            <a:schemeClr val="accent3">
              <a:alpha val="15000"/>
            </a:schemeClr>
          </a:solidFill>
          <a:ln w="9525">
            <a:solidFill>
              <a:schemeClr val="accent3">
                <a:alpha val="70000"/>
              </a:schemeClr>
            </a:solidFill>
            <a:prstDash val="solid"/>
          </a:ln>
        </p:spPr>
      </p:sp>
      <p:sp>
        <p:nvSpPr>
          <p:cNvPr id="16" name="Compartir expedientes círculo"/>
          <p:cNvSpPr/>
          <p:nvPr/>
        </p:nvSpPr>
        <p:spPr>
          <a:xfrm>
            <a:off x="8915400" y="2167128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Compartir expedientes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5984" y="2267712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491472" y="20756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Compartir expedientes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9491472" y="239572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Riesgo legal y de privacidad</a:t>
            </a:r>
            <a:endParaRPr lang="en-US" sz="1100" dirty="0"/>
          </a:p>
        </p:txBody>
      </p:sp>
      <p:sp>
        <p:nvSpPr>
          <p:cNvPr id="20" name="flecha"/>
          <p:cNvSpPr/>
          <p:nvPr/>
        </p:nvSpPr>
        <p:spPr>
          <a:xfrm>
            <a:off x="8229600" y="3200400"/>
            <a:ext cx="502920" cy="100584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1" name="No compartir"/>
          <p:cNvSpPr/>
          <p:nvPr/>
        </p:nvSpPr>
        <p:spPr>
          <a:xfrm>
            <a:off x="8778240" y="3794760"/>
            <a:ext cx="2862072" cy="868680"/>
          </a:xfrm>
          <a:prstGeom prst="roundRect">
            <a:avLst>
              <a:gd name="adj" fmla="val 10526"/>
            </a:avLst>
          </a:prstGeom>
          <a:solidFill>
            <a:schemeClr val="accent4">
              <a:alpha val="15000"/>
            </a:schemeClr>
          </a:solidFill>
          <a:ln w="9525">
            <a:solidFill>
              <a:schemeClr val="accent4">
                <a:alpha val="70000"/>
              </a:schemeClr>
            </a:solidFill>
            <a:prstDash val="solid"/>
          </a:ln>
        </p:spPr>
      </p:sp>
      <p:sp>
        <p:nvSpPr>
          <p:cNvPr id="22" name="No compartir círculo"/>
          <p:cNvSpPr/>
          <p:nvPr/>
        </p:nvSpPr>
        <p:spPr>
          <a:xfrm>
            <a:off x="8915400" y="3995928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3" name="No compartir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984" y="4096512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9491472" y="39044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No compartir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9491472" y="422452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Sin IA: el riesgo se detecta tarde</a:t>
            </a:r>
            <a:endParaRPr lang="en-US" sz="1100" dirty="0"/>
          </a:p>
        </p:txBody>
      </p:sp>
      <p:sp>
        <p:nvSpPr>
          <p:cNvPr id="26" name="Pregunta"/>
          <p:cNvSpPr/>
          <p:nvPr/>
        </p:nvSpPr>
        <p:spPr>
          <a:xfrm>
            <a:off x="548640" y="5468112"/>
            <a:ext cx="11091672" cy="548640"/>
          </a:xfrm>
          <a:prstGeom prst="roundRect">
            <a:avLst>
              <a:gd name="adj" fmla="val 16667"/>
            </a:avLst>
          </a:prstGeom>
          <a:solidFill>
            <a:schemeClr val="accent1">
              <a:alpha val="28000"/>
            </a:schemeClr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731520" y="5468112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¿Y si la IA pudiera calcular el riesgo sin ver jamás los datos del paciente?</a:t>
            </a:r>
            <a:endParaRPr lang="en-US" sz="2000" dirty="0"/>
          </a:p>
        </p:txBody>
      </p:sp>
      <p:sp>
        <p:nvSpPr>
          <p:cNvPr id="28" name="Text 23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Fuentes: ENSANUT 2022 (Basto-Abreu et al., Salud Pública de México, 2023); defunciones registradas 2024 y egresos hospitalarios SSA 2024, microdatos DGIS/INEGI.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68096" y="4114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02 · LA SOLUCIÓN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El riesgo se calcula sobre datos que nadie puede leer</a:t>
            </a:r>
            <a:endParaRPr lang="en-US" sz="3000" dirty="0"/>
          </a:p>
        </p:txBody>
      </p:sp>
      <p:sp>
        <p:nvSpPr>
          <p:cNvPr id="4" name="1 · El hospital cifra"/>
          <p:cNvSpPr/>
          <p:nvPr/>
        </p:nvSpPr>
        <p:spPr>
          <a:xfrm>
            <a:off x="548640" y="1874520"/>
            <a:ext cx="242316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9525">
            <a:solidFill>
              <a:schemeClr val="accent5">
                <a:alpha val="75000"/>
              </a:schemeClr>
            </a:solidFill>
            <a:prstDash val="solid"/>
          </a:ln>
        </p:spPr>
      </p:sp>
      <p:sp>
        <p:nvSpPr>
          <p:cNvPr id="5" name="1 · El hospital cifra círculo"/>
          <p:cNvSpPr/>
          <p:nvPr/>
        </p:nvSpPr>
        <p:spPr>
          <a:xfrm>
            <a:off x="731520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1 · El hospital cifra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2168042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 · El hospital cifra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974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Los 21 indicadores se cifran; la llave nunca sale del hospital</a:t>
            </a:r>
            <a:endParaRPr lang="en-US" sz="1200" dirty="0"/>
          </a:p>
        </p:txBody>
      </p:sp>
      <p:sp>
        <p:nvSpPr>
          <p:cNvPr id="9" name="flecha"/>
          <p:cNvSpPr/>
          <p:nvPr/>
        </p:nvSpPr>
        <p:spPr>
          <a:xfrm>
            <a:off x="3026664" y="2674620"/>
            <a:ext cx="356616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2 · LinuxONE calcula"/>
          <p:cNvSpPr/>
          <p:nvPr/>
        </p:nvSpPr>
        <p:spPr>
          <a:xfrm>
            <a:off x="3438144" y="1874520"/>
            <a:ext cx="242316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9525">
            <a:solidFill>
              <a:schemeClr val="accent5">
                <a:alpha val="75000"/>
              </a:schemeClr>
            </a:solidFill>
            <a:prstDash val="solid"/>
          </a:ln>
        </p:spPr>
      </p:sp>
      <p:sp>
        <p:nvSpPr>
          <p:cNvPr id="11" name="2 · LinuxONE calcula círculo"/>
          <p:cNvSpPr/>
          <p:nvPr/>
        </p:nvSpPr>
        <p:spPr>
          <a:xfrm>
            <a:off x="3621024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2 · LinuxONE calcula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1666" y="2168042"/>
            <a:ext cx="281635" cy="28163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15384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 · LinuxONE calcula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621024" y="26974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El modelo opera sobre números cifrados, sin llave y sin ver al paciente</a:t>
            </a:r>
            <a:endParaRPr lang="en-US" sz="1200" dirty="0"/>
          </a:p>
        </p:txBody>
      </p:sp>
      <p:sp>
        <p:nvSpPr>
          <p:cNvPr id="15" name="flecha"/>
          <p:cNvSpPr/>
          <p:nvPr/>
        </p:nvSpPr>
        <p:spPr>
          <a:xfrm>
            <a:off x="5916168" y="2674620"/>
            <a:ext cx="356616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3 · Regresa cifrado"/>
          <p:cNvSpPr/>
          <p:nvPr/>
        </p:nvSpPr>
        <p:spPr>
          <a:xfrm>
            <a:off x="6327648" y="1874520"/>
            <a:ext cx="242316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9525">
            <a:solidFill>
              <a:schemeClr val="accent5">
                <a:alpha val="75000"/>
              </a:schemeClr>
            </a:solidFill>
            <a:prstDash val="solid"/>
          </a:ln>
        </p:spPr>
      </p:sp>
      <p:sp>
        <p:nvSpPr>
          <p:cNvPr id="17" name="3 · Regresa cifrado círculo"/>
          <p:cNvSpPr/>
          <p:nvPr/>
        </p:nvSpPr>
        <p:spPr>
          <a:xfrm>
            <a:off x="6510528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3 · Regresa cifrado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170" y="2168042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104888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 · Regresa cifrado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510528" y="26974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El resultado viaja cifrado: solo el hospital puede abrirlo</a:t>
            </a:r>
            <a:endParaRPr lang="en-US" sz="1200" dirty="0"/>
          </a:p>
        </p:txBody>
      </p:sp>
      <p:sp>
        <p:nvSpPr>
          <p:cNvPr id="21" name="flecha"/>
          <p:cNvSpPr/>
          <p:nvPr/>
        </p:nvSpPr>
        <p:spPr>
          <a:xfrm>
            <a:off x="8805672" y="2674620"/>
            <a:ext cx="356616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4 · Descifra y explica"/>
          <p:cNvSpPr/>
          <p:nvPr/>
        </p:nvSpPr>
        <p:spPr>
          <a:xfrm>
            <a:off x="9217152" y="1874520"/>
            <a:ext cx="242316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9525">
            <a:solidFill>
              <a:schemeClr val="accent2">
                <a:alpha val="75000"/>
              </a:schemeClr>
            </a:solidFill>
            <a:prstDash val="solid"/>
          </a:ln>
        </p:spPr>
      </p:sp>
      <p:sp>
        <p:nvSpPr>
          <p:cNvPr id="23" name="4 · Descifra y explica círculo"/>
          <p:cNvSpPr/>
          <p:nvPr/>
        </p:nvSpPr>
        <p:spPr>
          <a:xfrm>
            <a:off x="9400032" y="20574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4 · Descifra y explica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0674" y="2168042"/>
            <a:ext cx="281635" cy="28163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994392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 · Descifra y explica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9400032" y="26974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El hospital ve el riesgo y Granite lo explica en lenguaje claro</a:t>
            </a:r>
            <a:endParaRPr lang="en-US" sz="1200" dirty="0"/>
          </a:p>
        </p:txBody>
      </p:sp>
      <p:sp>
        <p:nvSpPr>
          <p:cNvPr id="27" name="Cero exposición"/>
          <p:cNvSpPr/>
          <p:nvPr/>
        </p:nvSpPr>
        <p:spPr>
          <a:xfrm>
            <a:off x="548640" y="3794760"/>
            <a:ext cx="3520440" cy="1097280"/>
          </a:xfrm>
          <a:prstGeom prst="roundRect">
            <a:avLst>
              <a:gd name="adj" fmla="val 8333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>
                <a:alpha val="50000"/>
              </a:schemeClr>
            </a:solidFill>
            <a:prstDash val="solid"/>
          </a:ln>
        </p:spPr>
      </p:sp>
      <p:sp>
        <p:nvSpPr>
          <p:cNvPr id="28" name="Cero exposición círculo"/>
          <p:cNvSpPr/>
          <p:nvPr/>
        </p:nvSpPr>
        <p:spPr>
          <a:xfrm>
            <a:off x="731520" y="40233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9" name="Cero exposición í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1" y="4144061"/>
            <a:ext cx="307238" cy="30723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463040" y="39044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Cero exposición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1463040" y="426110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El servidor nunca ve edad, IMC, presión ni ningún otro dato</a:t>
            </a:r>
            <a:endParaRPr lang="en-US" sz="1200" dirty="0"/>
          </a:p>
        </p:txBody>
      </p:sp>
      <p:sp>
        <p:nvSpPr>
          <p:cNvPr id="32" name="Misma precisión"/>
          <p:cNvSpPr/>
          <p:nvPr/>
        </p:nvSpPr>
        <p:spPr>
          <a:xfrm>
            <a:off x="4334256" y="3794760"/>
            <a:ext cx="3520440" cy="1097280"/>
          </a:xfrm>
          <a:prstGeom prst="roundRect">
            <a:avLst>
              <a:gd name="adj" fmla="val 8333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>
                <a:alpha val="50000"/>
              </a:schemeClr>
            </a:solidFill>
            <a:prstDash val="solid"/>
          </a:ln>
        </p:spPr>
      </p:sp>
      <p:sp>
        <p:nvSpPr>
          <p:cNvPr id="33" name="Misma precisión círculo"/>
          <p:cNvSpPr/>
          <p:nvPr/>
        </p:nvSpPr>
        <p:spPr>
          <a:xfrm>
            <a:off x="4517136" y="40233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4" name="Misma precisión í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7837" y="4144061"/>
            <a:ext cx="307238" cy="307238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5248656" y="39044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Misma precisión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5248656" y="426110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Meta: AUC cifrado = AUC en claro, medido en la demo</a:t>
            </a:r>
            <a:endParaRPr lang="en-US" sz="1200" dirty="0"/>
          </a:p>
        </p:txBody>
      </p:sp>
      <p:sp>
        <p:nvSpPr>
          <p:cNvPr id="37" name="Tamizaje, no diagnóstico"/>
          <p:cNvSpPr/>
          <p:nvPr/>
        </p:nvSpPr>
        <p:spPr>
          <a:xfrm>
            <a:off x="8119872" y="3794760"/>
            <a:ext cx="3520440" cy="1097280"/>
          </a:xfrm>
          <a:prstGeom prst="roundRect">
            <a:avLst>
              <a:gd name="adj" fmla="val 8333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>
                <a:alpha val="50000"/>
              </a:schemeClr>
            </a:solidFill>
            <a:prstDash val="solid"/>
          </a:ln>
        </p:spPr>
      </p:sp>
      <p:sp>
        <p:nvSpPr>
          <p:cNvPr id="38" name="Tamizaje, no diagnóstico círculo"/>
          <p:cNvSpPr/>
          <p:nvPr/>
        </p:nvSpPr>
        <p:spPr>
          <a:xfrm>
            <a:off x="8302752" y="40233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9" name="Tamizaje, no diagnóstico ícono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3453" y="4144061"/>
            <a:ext cx="307238" cy="30723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9034272" y="39044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Tamizaje, no diagnóstico</a:t>
            </a:r>
            <a:endParaRPr lang="en-US" sz="1500" dirty="0"/>
          </a:p>
        </p:txBody>
      </p:sp>
      <p:sp>
        <p:nvSpPr>
          <p:cNvPr id="41" name="Text 32"/>
          <p:cNvSpPr txBox="1"/>
          <p:nvPr/>
        </p:nvSpPr>
        <p:spPr>
          <a:xfrm>
            <a:off x="9034272" y="426110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Prioriza a quién hacerle una prueba de glucosa</a:t>
            </a:r>
            <a:endParaRPr lang="en-US" sz="1200" dirty="0"/>
          </a:p>
        </p:txBody>
      </p:sp>
      <p:sp>
        <p:nvSpPr>
          <p:cNvPr id="42" name="Text 33"/>
          <p:cNvSpPr txBox="1"/>
          <p:nvPr/>
        </p:nvSpPr>
        <p:spPr>
          <a:xfrm>
            <a:off x="548640" y="5349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La IA ve el riesgo. </a:t>
            </a:r>
            <a:pPr indent="0" marL="0">
              <a:buNone/>
            </a:pPr>
            <a:r>
              <a:rPr lang="en-US" sz="2600" b="1" dirty="0">
                <a:solidFill>
                  <a:schemeClr val="accent5"/>
                </a:solidFill>
              </a:rPr>
              <a:t>Nadie ve al paciente.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68096" y="4114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03 · CIFRADO HOMOMÓRFICO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Cómo se calcula un riesgo sin descifrar nada</a:t>
            </a:r>
            <a:endParaRPr lang="en-US" sz="3000" dirty="0"/>
          </a:p>
        </p:txBody>
      </p:sp>
      <p:sp>
        <p:nvSpPr>
          <p:cNvPr id="4" name="Matemática"/>
          <p:cNvSpPr/>
          <p:nvPr/>
        </p:nvSpPr>
        <p:spPr>
          <a:xfrm>
            <a:off x="548640" y="1783080"/>
            <a:ext cx="5989320" cy="2194560"/>
          </a:xfrm>
          <a:prstGeom prst="roundRect">
            <a:avLst>
              <a:gd name="adj" fmla="val 4167"/>
            </a:avLst>
          </a:prstGeom>
          <a:solidFill>
            <a:schemeClr val="tx2"/>
          </a:solidFill>
          <a:ln w="9525">
            <a:solidFill>
              <a:schemeClr val="accent5">
                <a:alpha val="7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5"/>
                </a:solidFill>
              </a:rPr>
              <a:t>LA PROPIEDAD QUE LO HACE POSIBLE (PAILLIER)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Enc(a) · Enc(b)  =  Enc(a + b)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7004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Enc(a) ^ k       =  Enc(k · a)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5409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∏ Enc(xᵢ) ^ wᵢ   =  Enc(w · x)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5643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El servidor combina los datos cifrados con los pesos del modelo y obtiene el puntaje cifrado. El hospital lo descifra y aplica la sigmoide.</a:t>
            </a:r>
            <a:endParaRPr lang="en-US" sz="1100" dirty="0"/>
          </a:p>
        </p:txBody>
      </p:sp>
      <p:sp>
        <p:nvSpPr>
          <p:cNvPr id="10" name="En tránsito"/>
          <p:cNvSpPr/>
          <p:nvPr/>
        </p:nvSpPr>
        <p:spPr>
          <a:xfrm>
            <a:off x="6812280" y="1783080"/>
            <a:ext cx="4828032" cy="658368"/>
          </a:xfrm>
          <a:prstGeom prst="roundRect">
            <a:avLst>
              <a:gd name="adj" fmla="val 13889"/>
            </a:avLst>
          </a:prstGeom>
          <a:solidFill>
            <a:schemeClr val="tx2"/>
          </a:solidFill>
          <a:ln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11" name="En tránsito círculo"/>
          <p:cNvSpPr/>
          <p:nvPr/>
        </p:nvSpPr>
        <p:spPr>
          <a:xfrm>
            <a:off x="6949440" y="190195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En tránsito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1977" y="1994489"/>
            <a:ext cx="235549" cy="235549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498080" y="183794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En tránsito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732520" y="1837944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TLS 1.3 entre el hospital y LinuxONE</a:t>
            </a:r>
            <a:endParaRPr lang="en-US" sz="1200" dirty="0"/>
          </a:p>
        </p:txBody>
      </p:sp>
      <p:sp>
        <p:nvSpPr>
          <p:cNvPr id="15" name="En reposo"/>
          <p:cNvSpPr/>
          <p:nvPr/>
        </p:nvSpPr>
        <p:spPr>
          <a:xfrm>
            <a:off x="6812280" y="2532888"/>
            <a:ext cx="4828032" cy="658368"/>
          </a:xfrm>
          <a:prstGeom prst="roundRect">
            <a:avLst>
              <a:gd name="adj" fmla="val 13889"/>
            </a:avLst>
          </a:prstGeom>
          <a:solidFill>
            <a:schemeClr val="tx2"/>
          </a:solidFill>
          <a:ln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16" name="En reposo círculo"/>
          <p:cNvSpPr/>
          <p:nvPr/>
        </p:nvSpPr>
        <p:spPr>
          <a:xfrm>
            <a:off x="6949440" y="26517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En reposo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977" y="2744297"/>
            <a:ext cx="235549" cy="235549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498080" y="25877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En reposo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8732520" y="258775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AES-256-GCM acelerado por hardware (CPACF de IBM Z)</a:t>
            </a:r>
            <a:endParaRPr lang="en-US" sz="1200" dirty="0"/>
          </a:p>
        </p:txBody>
      </p:sp>
      <p:sp>
        <p:nvSpPr>
          <p:cNvPr id="20" name="En uso"/>
          <p:cNvSpPr/>
          <p:nvPr/>
        </p:nvSpPr>
        <p:spPr>
          <a:xfrm>
            <a:off x="6812280" y="3282696"/>
            <a:ext cx="4828032" cy="658368"/>
          </a:xfrm>
          <a:prstGeom prst="roundRect">
            <a:avLst>
              <a:gd name="adj" fmla="val 13889"/>
            </a:avLst>
          </a:prstGeom>
          <a:solidFill>
            <a:schemeClr val="tx2"/>
          </a:solidFill>
          <a:ln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21" name="En uso círculo"/>
          <p:cNvSpPr/>
          <p:nvPr/>
        </p:nvSpPr>
        <p:spPr>
          <a:xfrm>
            <a:off x="6949440" y="340156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En uso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977" y="3494105"/>
            <a:ext cx="235549" cy="235549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498080" y="3337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En uso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8732520" y="33375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Paillier de 2048 bits: se calcula sin descifrar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411480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¿Quién ve qué?</a:t>
            </a:r>
            <a:endParaRPr lang="en-US" sz="1600" dirty="0"/>
          </a:p>
        </p:txBody>
      </p:sp>
      <p:graphicFrame>
        <p:nvGraphicFramePr>
          <p:cNvPr id="5" name="Quién ve qué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80560"/>
          <a:ext cx="11091672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749040"/>
                <a:gridCol w="3410712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Datos del paciente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 de riesgo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Hospital (tiene la llave privada)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claro: son sus pacientes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claro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Servicio de riesgo en LinuxONE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números cifrados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cifrado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Disco, logs y respaldos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Cifrado AES-256-GCM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Cifrado AES-256-GCM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Granite (entorno del hospital)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lo que el hospital le pase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 descifrado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68096" y="4114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04 · POR QUÉ IBM Z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Dos contenedores, una regla: la llave nunca cruza</a:t>
            </a:r>
            <a:endParaRPr lang="en-US" sz="3000" dirty="0"/>
          </a:p>
        </p:txBody>
      </p:sp>
      <p:sp>
        <p:nvSpPr>
          <p:cNvPr id="4" name="Clínicas"/>
          <p:cNvSpPr/>
          <p:nvPr/>
        </p:nvSpPr>
        <p:spPr>
          <a:xfrm>
            <a:off x="548640" y="2926080"/>
            <a:ext cx="132588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9525">
            <a:solidFill>
              <a:schemeClr val="accent6">
                <a:alpha val="60000"/>
              </a:schemeClr>
            </a:solidFill>
            <a:prstDash val="solid"/>
          </a:ln>
        </p:spPr>
      </p:sp>
      <p:sp>
        <p:nvSpPr>
          <p:cNvPr id="5" name="Clínicas círculo"/>
          <p:cNvSpPr/>
          <p:nvPr/>
        </p:nvSpPr>
        <p:spPr>
          <a:xfrm>
            <a:off x="987552" y="3035808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Clínicas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113" y="3132369"/>
            <a:ext cx="245791" cy="24579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5204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Clínicas</a:t>
            </a:r>
            <a:endParaRPr lang="en-US" sz="1200" dirty="0"/>
          </a:p>
        </p:txBody>
      </p:sp>
      <p:sp>
        <p:nvSpPr>
          <p:cNvPr id="8" name="flecha"/>
          <p:cNvSpPr/>
          <p:nvPr/>
        </p:nvSpPr>
        <p:spPr>
          <a:xfrm>
            <a:off x="1920240" y="3429000"/>
            <a:ext cx="36576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IBM LinuxONE"/>
          <p:cNvSpPr/>
          <p:nvPr/>
        </p:nvSpPr>
        <p:spPr>
          <a:xfrm>
            <a:off x="2331720" y="1783080"/>
            <a:ext cx="5806440" cy="3977640"/>
          </a:xfrm>
          <a:prstGeom prst="roundRect">
            <a:avLst>
              <a:gd name="adj" fmla="val 2299"/>
            </a:avLst>
          </a:prstGeom>
          <a:solidFill>
            <a:schemeClr val="accent1">
              <a:alpha val="10000"/>
            </a:schemeClr>
          </a:solidFill>
          <a:ln w="22225">
            <a:solidFill>
              <a:schemeClr val="accent1"/>
            </a:solidFill>
            <a:prstDash val="solid"/>
          </a:ln>
        </p:spPr>
      </p:sp>
      <p:sp>
        <p:nvSpPr>
          <p:cNvPr id="10" name="LinuxONE círculo"/>
          <p:cNvSpPr/>
          <p:nvPr/>
        </p:nvSpPr>
        <p:spPr>
          <a:xfrm>
            <a:off x="2496312" y="1920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LinuxONE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803" y="2004731"/>
            <a:ext cx="215067" cy="21506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71800" y="1920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IBM LinuxONE · s390x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223760" y="196596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Docker</a:t>
            </a:r>
            <a:endParaRPr lang="en-US" sz="1000" dirty="0"/>
          </a:p>
        </p:txBody>
      </p:sp>
      <p:sp>
        <p:nvSpPr>
          <p:cNvPr id="14" name="Contenedor del hospital"/>
          <p:cNvSpPr/>
          <p:nvPr/>
        </p:nvSpPr>
        <p:spPr>
          <a:xfrm>
            <a:off x="2514600" y="2468880"/>
            <a:ext cx="2468880" cy="3108960"/>
          </a:xfrm>
          <a:prstGeom prst="roundRect">
            <a:avLst>
              <a:gd name="adj" fmla="val 3704"/>
            </a:avLst>
          </a:prstGeom>
          <a:solidFill>
            <a:schemeClr val="tx2"/>
          </a:solidFill>
          <a:ln w="9525">
            <a:solidFill>
              <a:schemeClr val="accent2">
                <a:alpha val="70000"/>
              </a:schemeClr>
            </a:solidFill>
            <a:prstDash val="dash"/>
          </a:ln>
        </p:spPr>
      </p:sp>
      <p:sp>
        <p:nvSpPr>
          <p:cNvPr id="15" name="Text 11"/>
          <p:cNvSpPr txBox="1"/>
          <p:nvPr/>
        </p:nvSpPr>
        <p:spPr>
          <a:xfrm>
            <a:off x="2651760" y="2560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Contenedor del hospital</a:t>
            </a:r>
            <a:endParaRPr lang="en-US" sz="1300" dirty="0"/>
          </a:p>
        </p:txBody>
      </p:sp>
      <p:sp>
        <p:nvSpPr>
          <p:cNvPr id="16" name="Llave privada Paillier"/>
          <p:cNvSpPr/>
          <p:nvPr/>
        </p:nvSpPr>
        <p:spPr>
          <a:xfrm>
            <a:off x="2651760" y="2971800"/>
            <a:ext cx="2194560" cy="731520"/>
          </a:xfrm>
          <a:prstGeom prst="roundRect">
            <a:avLst>
              <a:gd name="adj" fmla="val 125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2770632" y="304495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Llave privada Paillier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770632" y="33649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nunca sale de aquí</a:t>
            </a:r>
            <a:endParaRPr lang="en-US" sz="1000" dirty="0"/>
          </a:p>
        </p:txBody>
      </p:sp>
      <p:sp>
        <p:nvSpPr>
          <p:cNvPr id="19" name="Cifrar y descifrar"/>
          <p:cNvSpPr/>
          <p:nvPr/>
        </p:nvSpPr>
        <p:spPr>
          <a:xfrm>
            <a:off x="2651760" y="3813048"/>
            <a:ext cx="2194560" cy="731520"/>
          </a:xfrm>
          <a:prstGeom prst="roundRect">
            <a:avLst>
              <a:gd name="adj" fmla="val 125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2770632" y="388620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Cifrar y descifrar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2770632" y="4206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python-paillier</a:t>
            </a:r>
            <a:endParaRPr lang="en-US" sz="1000" dirty="0"/>
          </a:p>
        </p:txBody>
      </p:sp>
      <p:sp>
        <p:nvSpPr>
          <p:cNvPr id="22" name="Granite · llama.cpp"/>
          <p:cNvSpPr/>
          <p:nvPr/>
        </p:nvSpPr>
        <p:spPr>
          <a:xfrm>
            <a:off x="2651760" y="4654296"/>
            <a:ext cx="2194560" cy="731520"/>
          </a:xfrm>
          <a:prstGeom prst="roundRect">
            <a:avLst>
              <a:gd name="adj" fmla="val 125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2770632" y="472744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Granite · llama.cpp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2770632" y="50474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explica al paciente</a:t>
            </a:r>
            <a:endParaRPr lang="en-US" sz="1000" dirty="0"/>
          </a:p>
        </p:txBody>
      </p:sp>
      <p:sp>
        <p:nvSpPr>
          <p:cNvPr id="25" name="Servicio de riesgo"/>
          <p:cNvSpPr/>
          <p:nvPr/>
        </p:nvSpPr>
        <p:spPr>
          <a:xfrm>
            <a:off x="5486400" y="2468880"/>
            <a:ext cx="2468880" cy="3108960"/>
          </a:xfrm>
          <a:prstGeom prst="roundRect">
            <a:avLst>
              <a:gd name="adj" fmla="val 3704"/>
            </a:avLst>
          </a:prstGeom>
          <a:solidFill>
            <a:schemeClr val="tx2"/>
          </a:solidFill>
          <a:ln w="9525">
            <a:solidFill>
              <a:schemeClr val="accent5">
                <a:alpha val="70000"/>
              </a:schemeClr>
            </a:solidFill>
            <a:prstDash val="dash"/>
          </a:ln>
        </p:spPr>
      </p:sp>
      <p:sp>
        <p:nvSpPr>
          <p:cNvPr id="26" name="Text 22"/>
          <p:cNvSpPr txBox="1"/>
          <p:nvPr/>
        </p:nvSpPr>
        <p:spPr>
          <a:xfrm>
            <a:off x="5623560" y="2560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Servicio de riesgo</a:t>
            </a:r>
            <a:endParaRPr lang="en-US" sz="1300" dirty="0"/>
          </a:p>
        </p:txBody>
      </p:sp>
      <p:sp>
        <p:nvSpPr>
          <p:cNvPr id="27" name="Modelo logístico"/>
          <p:cNvSpPr/>
          <p:nvPr/>
        </p:nvSpPr>
        <p:spPr>
          <a:xfrm>
            <a:off x="5623560" y="2971800"/>
            <a:ext cx="2194560" cy="731520"/>
          </a:xfrm>
          <a:prstGeom prst="roundRect">
            <a:avLst>
              <a:gd name="adj" fmla="val 125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5742432" y="304495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Modelo logístico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5742432" y="33649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pesos en punto fijo</a:t>
            </a:r>
            <a:endParaRPr lang="en-US" sz="1000" dirty="0"/>
          </a:p>
        </p:txBody>
      </p:sp>
      <p:sp>
        <p:nvSpPr>
          <p:cNvPr id="30" name="Aritmética homomórfica"/>
          <p:cNvSpPr/>
          <p:nvPr/>
        </p:nvSpPr>
        <p:spPr>
          <a:xfrm>
            <a:off x="5623560" y="3813048"/>
            <a:ext cx="2194560" cy="731520"/>
          </a:xfrm>
          <a:prstGeom prst="roundRect">
            <a:avLst>
              <a:gd name="adj" fmla="val 125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5742432" y="388620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Aritmética homomórfica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5742432" y="4206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enteros de 4096 bits</a:t>
            </a:r>
            <a:endParaRPr lang="en-US" sz="1000" dirty="0"/>
          </a:p>
        </p:txBody>
      </p:sp>
      <p:sp>
        <p:nvSpPr>
          <p:cNvPr id="33" name="Bóveda cifrada"/>
          <p:cNvSpPr/>
          <p:nvPr/>
        </p:nvSpPr>
        <p:spPr>
          <a:xfrm>
            <a:off x="5623560" y="4654296"/>
            <a:ext cx="2194560" cy="731520"/>
          </a:xfrm>
          <a:prstGeom prst="roundRect">
            <a:avLst>
              <a:gd name="adj" fmla="val 125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5742432" y="472744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Bóveda cifrada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5742432" y="50474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AES-256-GCM · CPACF</a:t>
            </a:r>
            <a:endParaRPr lang="en-US" sz="1000" dirty="0"/>
          </a:p>
        </p:txBody>
      </p:sp>
      <p:sp>
        <p:nvSpPr>
          <p:cNvPr id="36" name="flecha"/>
          <p:cNvSpPr/>
          <p:nvPr/>
        </p:nvSpPr>
        <p:spPr>
          <a:xfrm>
            <a:off x="5020056" y="3931920"/>
            <a:ext cx="429768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7" name="flecha regreso"/>
          <p:cNvSpPr/>
          <p:nvPr/>
        </p:nvSpPr>
        <p:spPr>
          <a:xfrm>
            <a:off x="5020056" y="4297680"/>
            <a:ext cx="429768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headEnd type="triangle"/>
          </a:ln>
        </p:spPr>
      </p:sp>
      <p:sp>
        <p:nvSpPr>
          <p:cNvPr id="38" name="Text 34"/>
          <p:cNvSpPr txBox="1"/>
          <p:nvPr/>
        </p:nvSpPr>
        <p:spPr>
          <a:xfrm>
            <a:off x="4791456" y="3566160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solo cifrado</a:t>
            </a:r>
            <a:endParaRPr lang="en-US" sz="900" dirty="0"/>
          </a:p>
        </p:txBody>
      </p:sp>
      <p:sp>
        <p:nvSpPr>
          <p:cNvPr id="39" name="Cómputo pesado, en serio círculo"/>
          <p:cNvSpPr/>
          <p:nvPr/>
        </p:nvSpPr>
        <p:spPr>
          <a:xfrm>
            <a:off x="8458200" y="1874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Cómputo pesado, en serio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8842" y="1985162"/>
            <a:ext cx="281635" cy="281635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9098280" y="182880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Cómputo pesado, en serio</a:t>
            </a:r>
            <a:endParaRPr lang="en-US" sz="1400" dirty="0"/>
          </a:p>
        </p:txBody>
      </p:sp>
      <p:sp>
        <p:nvSpPr>
          <p:cNvPr id="42" name="Text 37"/>
          <p:cNvSpPr txBox="1"/>
          <p:nvPr/>
        </p:nvSpPr>
        <p:spPr>
          <a:xfrm>
            <a:off x="9098280" y="2212848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Cada paciente implica exponenciaciones modulares con enteros enormes</a:t>
            </a:r>
            <a:endParaRPr lang="en-US" sz="1200" dirty="0"/>
          </a:p>
        </p:txBody>
      </p:sp>
      <p:sp>
        <p:nvSpPr>
          <p:cNvPr id="43" name="Seguridad de nivel bancario círculo"/>
          <p:cNvSpPr/>
          <p:nvPr/>
        </p:nvSpPr>
        <p:spPr>
          <a:xfrm>
            <a:off x="8458200" y="31546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4" name="Seguridad de nivel bancario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8842" y="3265322"/>
            <a:ext cx="281635" cy="281635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9098280" y="310896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Seguridad de nivel bancario</a:t>
            </a:r>
            <a:endParaRPr lang="en-US" sz="1400" dirty="0"/>
          </a:p>
        </p:txBody>
      </p:sp>
      <p:sp>
        <p:nvSpPr>
          <p:cNvPr id="46" name="Text 40"/>
          <p:cNvSpPr txBox="1"/>
          <p:nvPr/>
        </p:nvSpPr>
        <p:spPr>
          <a:xfrm>
            <a:off x="9098280" y="3493008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Cifrado por hardware y aislamiento entre cargas de trabajo</a:t>
            </a:r>
            <a:endParaRPr lang="en-US" sz="1200" dirty="0"/>
          </a:p>
        </p:txBody>
      </p:sp>
      <p:sp>
        <p:nvSpPr>
          <p:cNvPr id="47" name="Escala por lotes círculo"/>
          <p:cNvSpPr/>
          <p:nvPr/>
        </p:nvSpPr>
        <p:spPr>
          <a:xfrm>
            <a:off x="8458200" y="4434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8" name="Escala por lotes í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8842" y="4545482"/>
            <a:ext cx="281635" cy="281635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9098280" y="438912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Escala por lotes</a:t>
            </a:r>
            <a:endParaRPr lang="en-US" sz="1400" dirty="0"/>
          </a:p>
        </p:txBody>
      </p:sp>
      <p:sp>
        <p:nvSpPr>
          <p:cNvPr id="50" name="Text 43"/>
          <p:cNvSpPr txBox="1"/>
          <p:nvPr/>
        </p:nvSpPr>
        <p:spPr>
          <a:xfrm>
            <a:off x="9098280" y="4773168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Muchos pacientes en paralelo en una sola plataforma; medido en vivo</a:t>
            </a:r>
            <a:endParaRPr lang="en-US" sz="1200" dirty="0"/>
          </a:p>
        </p:txBody>
      </p:sp>
      <p:sp>
        <p:nvSpPr>
          <p:cNvPr id="51" name="Text 44"/>
          <p:cNvSpPr txBox="1"/>
          <p:nvPr/>
        </p:nvSpPr>
        <p:spPr>
          <a:xfrm>
            <a:off x="548640" y="58978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Stack: 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Python · scikit-learn · python-paillier · TenSEAL/OpenFHE (ruta CKKS) · Granite (llama.cpp) · OpenSSL · Docker · Jupyter Lab ML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68096" y="4114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05 · DEMO EN VIVO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Pantalla dividida: el servidor no ve nada, el hospital ve todo</a:t>
            </a:r>
            <a:endParaRPr lang="en-US" sz="3000" dirty="0"/>
          </a:p>
        </p:txBody>
      </p:sp>
      <p:sp>
        <p:nvSpPr>
          <p:cNvPr id="4" name="Vista servidor"/>
          <p:cNvSpPr/>
          <p:nvPr/>
        </p:nvSpPr>
        <p:spPr>
          <a:xfrm>
            <a:off x="548640" y="1783080"/>
            <a:ext cx="5440680" cy="3383280"/>
          </a:xfrm>
          <a:prstGeom prst="roundRect">
            <a:avLst>
              <a:gd name="adj" fmla="val 2703"/>
            </a:avLst>
          </a:prstGeom>
          <a:solidFill>
            <a:schemeClr val="tx1"/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sp>
        <p:nvSpPr>
          <p:cNvPr id="5" name="Servidor círculo"/>
          <p:cNvSpPr/>
          <p:nvPr/>
        </p:nvSpPr>
        <p:spPr>
          <a:xfrm>
            <a:off x="731520" y="193852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Servidor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011" y="2023019"/>
            <a:ext cx="215067" cy="21506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93852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LO QUE VE EL SERVIDOR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871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         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8f3a91c4e70b5d2a…b21d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8950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BMI          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c09e44a1f7d3826b…7e4a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918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HighBP       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5b7d02e9c1a4f863…09c3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69417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HighChol     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e1a6f3b8902dc475…d8f1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09651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PhysActivity 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37c9b0e45a1f6d28…a65e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49884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Enc(logit)   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a4d2e7091f3cb658…3f07</a:t>
            </a:r>
            <a:endParaRPr lang="en-US" sz="1400" dirty="0"/>
          </a:p>
        </p:txBody>
      </p:sp>
      <p:sp>
        <p:nvSpPr>
          <p:cNvPr id="14" name="Vista hospital"/>
          <p:cNvSpPr/>
          <p:nvPr/>
        </p:nvSpPr>
        <p:spPr>
          <a:xfrm>
            <a:off x="6199632" y="1783080"/>
            <a:ext cx="5440680" cy="3383280"/>
          </a:xfrm>
          <a:prstGeom prst="roundRect">
            <a:avLst>
              <a:gd name="adj" fmla="val 2703"/>
            </a:avLst>
          </a:prstGeom>
          <a:solidFill>
            <a:schemeClr val="tx2"/>
          </a:solidFill>
          <a:ln w="9525">
            <a:solidFill>
              <a:schemeClr val="accent2">
                <a:alpha val="70000"/>
              </a:schemeClr>
            </a:solidFill>
            <a:prstDash val="solid"/>
          </a:ln>
        </p:spPr>
      </p:sp>
      <p:sp>
        <p:nvSpPr>
          <p:cNvPr id="15" name="Hospital círculo"/>
          <p:cNvSpPr/>
          <p:nvPr/>
        </p:nvSpPr>
        <p:spPr>
          <a:xfrm>
            <a:off x="6382512" y="19385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Hospital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003" y="2023019"/>
            <a:ext cx="215067" cy="21506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885432" y="193852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LO QUE VE EL HOSPITAL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640080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Paciente 0427</a:t>
            </a:r>
            <a:endParaRPr lang="en-US" sz="1400" dirty="0"/>
          </a:p>
        </p:txBody>
      </p:sp>
      <p:sp>
        <p:nvSpPr>
          <p:cNvPr id="19" name="Riesgo"/>
          <p:cNvSpPr/>
          <p:nvPr/>
        </p:nvSpPr>
        <p:spPr>
          <a:xfrm>
            <a:off x="6400800" y="2834640"/>
            <a:ext cx="2194560" cy="960120"/>
          </a:xfrm>
          <a:prstGeom prst="roundRect">
            <a:avLst>
              <a:gd name="adj" fmla="val 9524"/>
            </a:avLst>
          </a:prstGeom>
          <a:solidFill>
            <a:schemeClr val="accent4">
              <a:alpha val="20000"/>
            </a:schemeClr>
          </a:solidFill>
          <a:ln w="9525">
            <a:solidFill>
              <a:schemeClr val="accent4">
                <a:alpha val="80000"/>
              </a:scheme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537960" y="286207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4"/>
                </a:solidFill>
              </a:rPr>
              <a:t>RIESGO</a:t>
            </a:r>
            <a:endParaRPr lang="en-US" sz="14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ALTO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8823960" y="28346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bg1"/>
                </a:solidFill>
              </a:rPr>
              <a:t>Factores principales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IMC elevado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Presión alta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Sin actividad física</a:t>
            </a:r>
            <a:endParaRPr lang="en-US" sz="1200" dirty="0"/>
          </a:p>
        </p:txBody>
      </p:sp>
      <p:sp>
        <p:nvSpPr>
          <p:cNvPr id="22" name="Granite círculo"/>
          <p:cNvSpPr/>
          <p:nvPr/>
        </p:nvSpPr>
        <p:spPr>
          <a:xfrm>
            <a:off x="6400800" y="40416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Granite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291" y="4126139"/>
            <a:ext cx="215067" cy="215067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903720" y="395020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«Tu riesgo es alto, sobre todo por el peso y la presión. Te recomendamos una prueba de glucosa esta semana.» · Granite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5212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Maqueta ilustrativa de la demo</a:t>
            </a:r>
            <a:endParaRPr lang="en-US" sz="1000" dirty="0"/>
          </a:p>
        </p:txBody>
      </p:sp>
      <p:sp>
        <p:nvSpPr>
          <p:cNvPr id="26" name="AUC claro vs. cifrado"/>
          <p:cNvSpPr/>
          <p:nvPr/>
        </p:nvSpPr>
        <p:spPr>
          <a:xfrm>
            <a:off x="548640" y="5486400"/>
            <a:ext cx="2642616" cy="658368"/>
          </a:xfrm>
          <a:prstGeom prst="roundRect">
            <a:avLst>
              <a:gd name="adj" fmla="val 13889"/>
            </a:avLst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27" name="AUC claro vs. cifrado círculo"/>
          <p:cNvSpPr/>
          <p:nvPr/>
        </p:nvSpPr>
        <p:spPr>
          <a:xfrm>
            <a:off x="685800" y="55869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AUC claro vs. cifrado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5687568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234440" y="554126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AUC claro vs. cifrado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1234440" y="584301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medido en vivo en LinuxONE</a:t>
            </a:r>
            <a:endParaRPr lang="en-US" sz="1000" dirty="0"/>
          </a:p>
        </p:txBody>
      </p:sp>
      <p:sp>
        <p:nvSpPr>
          <p:cNvPr id="31" name="Latencia por paciente"/>
          <p:cNvSpPr/>
          <p:nvPr/>
        </p:nvSpPr>
        <p:spPr>
          <a:xfrm>
            <a:off x="3364992" y="5486400"/>
            <a:ext cx="2642616" cy="658368"/>
          </a:xfrm>
          <a:prstGeom prst="roundRect">
            <a:avLst>
              <a:gd name="adj" fmla="val 13889"/>
            </a:avLst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2" name="Latencia por paciente círculo"/>
          <p:cNvSpPr/>
          <p:nvPr/>
        </p:nvSpPr>
        <p:spPr>
          <a:xfrm>
            <a:off x="3502152" y="55869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Latencia por paciente í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736" y="5687568"/>
            <a:ext cx="256032" cy="256032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4050792" y="554126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Latencia por paciente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4050792" y="584301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medido en vivo en LinuxONE</a:t>
            </a:r>
            <a:endParaRPr lang="en-US" sz="1000" dirty="0"/>
          </a:p>
        </p:txBody>
      </p:sp>
      <p:sp>
        <p:nvSpPr>
          <p:cNvPr id="36" name="Tamaño del cifrado"/>
          <p:cNvSpPr/>
          <p:nvPr/>
        </p:nvSpPr>
        <p:spPr>
          <a:xfrm>
            <a:off x="6181344" y="5486400"/>
            <a:ext cx="2642616" cy="658368"/>
          </a:xfrm>
          <a:prstGeom prst="roundRect">
            <a:avLst>
              <a:gd name="adj" fmla="val 13889"/>
            </a:avLst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7" name="Tamaño del cifrado círculo"/>
          <p:cNvSpPr/>
          <p:nvPr/>
        </p:nvSpPr>
        <p:spPr>
          <a:xfrm>
            <a:off x="6318504" y="55869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8" name="Tamaño del cifrado í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5687568"/>
            <a:ext cx="256032" cy="256032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6867144" y="554126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Tamaño del cifrado</a:t>
            </a:r>
            <a:endParaRPr lang="en-US" sz="1300" dirty="0"/>
          </a:p>
        </p:txBody>
      </p:sp>
      <p:sp>
        <p:nvSpPr>
          <p:cNvPr id="40" name="Text 32"/>
          <p:cNvSpPr txBox="1"/>
          <p:nvPr/>
        </p:nvSpPr>
        <p:spPr>
          <a:xfrm>
            <a:off x="6867144" y="584301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medido en vivo en LinuxONE</a:t>
            </a:r>
            <a:endParaRPr lang="en-US" sz="1000" dirty="0"/>
          </a:p>
        </p:txBody>
      </p:sp>
      <p:sp>
        <p:nvSpPr>
          <p:cNvPr id="41" name="Pacientes por minuto"/>
          <p:cNvSpPr/>
          <p:nvPr/>
        </p:nvSpPr>
        <p:spPr>
          <a:xfrm>
            <a:off x="8997696" y="5486400"/>
            <a:ext cx="2642616" cy="658368"/>
          </a:xfrm>
          <a:prstGeom prst="roundRect">
            <a:avLst>
              <a:gd name="adj" fmla="val 13889"/>
            </a:avLst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42" name="Pacientes por minuto círculo"/>
          <p:cNvSpPr/>
          <p:nvPr/>
        </p:nvSpPr>
        <p:spPr>
          <a:xfrm>
            <a:off x="9134856" y="55869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3" name="Pacientes por minuto ícono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5687568"/>
            <a:ext cx="256032" cy="256032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9683496" y="554126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Pacientes por minuto</a:t>
            </a:r>
            <a:endParaRPr lang="en-US" sz="1300" dirty="0"/>
          </a:p>
        </p:txBody>
      </p:sp>
      <p:sp>
        <p:nvSpPr>
          <p:cNvPr id="45" name="Text 36"/>
          <p:cNvSpPr txBox="1"/>
          <p:nvPr/>
        </p:nvSpPr>
        <p:spPr>
          <a:xfrm>
            <a:off x="9683496" y="584301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medido en vivo en LinuxONE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68096" y="4114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06 · DATOS, MODELO Y RIESGO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Datos públicos para entrenar, datos cifrados para atender</a:t>
            </a:r>
            <a:endParaRPr lang="en-US" sz="3000" dirty="0"/>
          </a:p>
        </p:txBody>
      </p:sp>
      <p:sp>
        <p:nvSpPr>
          <p:cNvPr id="4" name="253,680"/>
          <p:cNvSpPr/>
          <p:nvPr/>
        </p:nvSpPr>
        <p:spPr>
          <a:xfrm>
            <a:off x="548640" y="1783080"/>
            <a:ext cx="352044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253,680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8288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respuestas de la encuesta de salud CDC BRFSS 2015 (UCI, ID 891)</a:t>
            </a:r>
            <a:endParaRPr lang="en-US" sz="1100" dirty="0"/>
          </a:p>
        </p:txBody>
      </p:sp>
      <p:sp>
        <p:nvSpPr>
          <p:cNvPr id="7" name="21"/>
          <p:cNvSpPr/>
          <p:nvPr/>
        </p:nvSpPr>
        <p:spPr>
          <a:xfrm>
            <a:off x="4334256" y="1783080"/>
            <a:ext cx="352044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17136" y="178308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21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117336" y="18288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indicadores: IMC, presión, colesterol, actividad física, edad…</a:t>
            </a:r>
            <a:endParaRPr lang="en-US" sz="1100" dirty="0"/>
          </a:p>
        </p:txBody>
      </p:sp>
      <p:sp>
        <p:nvSpPr>
          <p:cNvPr id="10" name="13.9%"/>
          <p:cNvSpPr/>
          <p:nvPr/>
        </p:nvSpPr>
        <p:spPr>
          <a:xfrm>
            <a:off x="8119872" y="1783080"/>
            <a:ext cx="352044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02752" y="178308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13.9%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9902952" y="18288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casos con prediabetes o diabetes: hay que cuidar el desbalance</a:t>
            </a:r>
            <a:endParaRPr lang="en-US" sz="1100" dirty="0"/>
          </a:p>
        </p:txBody>
      </p:sp>
      <p:sp>
        <p:nvSpPr>
          <p:cNvPr id="13" name="conector"/>
          <p:cNvSpPr/>
          <p:nvPr/>
        </p:nvSpPr>
        <p:spPr>
          <a:xfrm>
            <a:off x="777240" y="3493008"/>
            <a:ext cx="0" cy="27432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14" name="paso 1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9900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Entrenar con datos públicos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28269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Regresión logística (y XGBoost en claro como referencia)</a:t>
            </a:r>
            <a:endParaRPr lang="en-US" sz="1200" dirty="0"/>
          </a:p>
        </p:txBody>
      </p:sp>
      <p:sp>
        <p:nvSpPr>
          <p:cNvPr id="18" name="conector"/>
          <p:cNvSpPr/>
          <p:nvPr/>
        </p:nvSpPr>
        <p:spPr>
          <a:xfrm>
            <a:off x="777240" y="4242816"/>
            <a:ext cx="0" cy="27432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19" name="paso 2"/>
          <p:cNvSpPr/>
          <p:nvPr/>
        </p:nvSpPr>
        <p:spPr>
          <a:xfrm>
            <a:off x="548640" y="37673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73989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Pesos a punto fijo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03250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Enteros que el esquema cifrado puede operar</a:t>
            </a:r>
            <a:endParaRPr lang="en-US" sz="1200" dirty="0"/>
          </a:p>
        </p:txBody>
      </p:sp>
      <p:sp>
        <p:nvSpPr>
          <p:cNvPr id="23" name="conector"/>
          <p:cNvSpPr/>
          <p:nvPr/>
        </p:nvSpPr>
        <p:spPr>
          <a:xfrm>
            <a:off x="777240" y="4992624"/>
            <a:ext cx="0" cy="27432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24" name="paso 3"/>
          <p:cNvSpPr/>
          <p:nvPr/>
        </p:nvSpPr>
        <p:spPr>
          <a:xfrm>
            <a:off x="548640" y="451713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4897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El paciente se cifra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478231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21 indicadores cifrados con la llave del hospital</a:t>
            </a:r>
            <a:endParaRPr lang="en-US" sz="1200" dirty="0"/>
          </a:p>
        </p:txBody>
      </p:sp>
      <p:sp>
        <p:nvSpPr>
          <p:cNvPr id="28" name="paso 4"/>
          <p:cNvSpPr/>
          <p:nvPr/>
        </p:nvSpPr>
        <p:spPr>
          <a:xfrm>
            <a:off x="548640" y="526694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5266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188720" y="52395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Puntaje cifrado → riesgo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55321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LinuxONE calcula w · x; el hospital descifra y aplica la sigmoide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263640" y="3017520"/>
            <a:ext cx="5376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5"/>
                </a:solidFill>
              </a:rPr>
              <a:t>CÓMO LO MEDIMOS · RESULTADOS EN VIVO EN LA DEMO</a:t>
            </a:r>
            <a:endParaRPr lang="en-US" sz="1100" dirty="0"/>
          </a:p>
        </p:txBody>
      </p:sp>
      <p:sp>
        <p:nvSpPr>
          <p:cNvPr id="33" name="Métricas"/>
          <p:cNvSpPr/>
          <p:nvPr/>
        </p:nvSpPr>
        <p:spPr>
          <a:xfrm>
            <a:off x="6263640" y="3383280"/>
            <a:ext cx="5376672" cy="1078992"/>
          </a:xfrm>
          <a:prstGeom prst="roundRect">
            <a:avLst>
              <a:gd name="adj" fmla="val 8475"/>
            </a:avLst>
          </a:prstGeom>
          <a:solidFill>
            <a:schemeClr val="accent2">
              <a:alpha val="15000"/>
            </a:schemeClr>
          </a:solidFill>
          <a:ln w="9525">
            <a:solidFill>
              <a:schemeClr val="accent2">
                <a:alpha val="70000"/>
              </a:schemeClr>
            </a:solidFill>
            <a:prstDash val="solid"/>
          </a:ln>
        </p:spPr>
      </p:sp>
      <p:sp>
        <p:nvSpPr>
          <p:cNvPr id="34" name="Métricas círculo"/>
          <p:cNvSpPr/>
          <p:nvPr/>
        </p:nvSpPr>
        <p:spPr>
          <a:xfrm>
            <a:off x="6419088" y="3657600"/>
            <a:ext cx="530352" cy="530352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5" name="Métricas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5765" y="3774277"/>
            <a:ext cx="296997" cy="296997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7114032" y="349300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Métricas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7114032" y="384048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AUC, AUC-PR, sensibilidad y especificidad, calibración, error numérico claro vs. cifrado y latencia en LinuxONE.</a:t>
            </a:r>
            <a:endParaRPr lang="en-US" sz="1200" dirty="0"/>
          </a:p>
        </p:txBody>
      </p:sp>
      <p:sp>
        <p:nvSpPr>
          <p:cNvPr id="38" name="Límites"/>
          <p:cNvSpPr/>
          <p:nvPr/>
        </p:nvSpPr>
        <p:spPr>
          <a:xfrm>
            <a:off x="6263640" y="4590288"/>
            <a:ext cx="5376672" cy="1078992"/>
          </a:xfrm>
          <a:prstGeom prst="roundRect">
            <a:avLst>
              <a:gd name="adj" fmla="val 8475"/>
            </a:avLst>
          </a:prstGeom>
          <a:solidFill>
            <a:schemeClr val="accent4">
              <a:alpha val="15000"/>
            </a:schemeClr>
          </a:solidFill>
          <a:ln w="9525">
            <a:solidFill>
              <a:schemeClr val="accent4">
                <a:alpha val="70000"/>
              </a:schemeClr>
            </a:solidFill>
            <a:prstDash val="solid"/>
          </a:ln>
        </p:spPr>
      </p:sp>
      <p:sp>
        <p:nvSpPr>
          <p:cNvPr id="39" name="Límites círculo"/>
          <p:cNvSpPr/>
          <p:nvPr/>
        </p:nvSpPr>
        <p:spPr>
          <a:xfrm>
            <a:off x="6419088" y="4864608"/>
            <a:ext cx="530352" cy="53035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0" name="Límites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765" y="4981285"/>
            <a:ext cx="296997" cy="296997"/>
          </a:xfrm>
          <a:prstGeom prst="rect">
            <a:avLst/>
          </a:prstGeom>
        </p:spPr>
      </p:pic>
      <p:sp>
        <p:nvSpPr>
          <p:cNvPr id="41" name="Text 37"/>
          <p:cNvSpPr txBox="1"/>
          <p:nvPr/>
        </p:nvSpPr>
        <p:spPr>
          <a:xfrm>
            <a:off x="7114032" y="470001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Límites</a:t>
            </a:r>
            <a:endParaRPr lang="en-US" sz="1500" dirty="0"/>
          </a:p>
        </p:txBody>
      </p:sp>
      <p:sp>
        <p:nvSpPr>
          <p:cNvPr id="42" name="Text 38"/>
          <p:cNvSpPr txBox="1"/>
          <p:nvPr/>
        </p:nvSpPr>
        <p:spPr>
          <a:xfrm>
            <a:off x="7114032" y="504748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Datos de EE. UU. y diagnóstico declarado: es una prueba técnica. La validamos con adultos mexicanos de ENSANUT.</a:t>
            </a:r>
            <a:endParaRPr lang="en-US" sz="1200" dirty="0"/>
          </a:p>
        </p:txBody>
      </p:sp>
      <p:sp>
        <p:nvSpPr>
          <p:cNvPr id="43" name="Text 39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Fuente: UCI Machine Learning Repository, CDC Diabetes Health Indicators (ID 891).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68096" y="4114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07 · IMPACTO · AI FOR GOOD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IA en hospitales públicos sin entregar un solo expediente</a:t>
            </a:r>
            <a:endParaRPr lang="en-US" sz="3000" dirty="0"/>
          </a:p>
        </p:txBody>
      </p:sp>
      <p:sp>
        <p:nvSpPr>
          <p:cNvPr id="4" name="Tamizaje temprano"/>
          <p:cNvSpPr/>
          <p:nvPr/>
        </p:nvSpPr>
        <p:spPr>
          <a:xfrm>
            <a:off x="548640" y="1874520"/>
            <a:ext cx="2642616" cy="21031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5" name="Tamizaje temprano círculo"/>
          <p:cNvSpPr/>
          <p:nvPr/>
        </p:nvSpPr>
        <p:spPr>
          <a:xfrm>
            <a:off x="777240" y="2103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Tamizaje temprano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964" y="2227844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7889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Tamizaje temprano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1546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1 de cada 3 personas con diabetes no lo sabe: detectarla antes salva años de vida</a:t>
            </a:r>
            <a:endParaRPr lang="en-US" sz="1200" dirty="0"/>
          </a:p>
        </p:txBody>
      </p:sp>
      <p:sp>
        <p:nvSpPr>
          <p:cNvPr id="9" name="Confianza del paciente"/>
          <p:cNvSpPr/>
          <p:nvPr/>
        </p:nvSpPr>
        <p:spPr>
          <a:xfrm>
            <a:off x="3364992" y="1874520"/>
            <a:ext cx="2642616" cy="21031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10" name="Confianza del paciente círculo"/>
          <p:cNvSpPr/>
          <p:nvPr/>
        </p:nvSpPr>
        <p:spPr>
          <a:xfrm>
            <a:off x="3593592" y="2103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onfianza del paciente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316" y="2227844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93592" y="27889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Confianza del paciente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593592" y="31546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Sus datos nunca salen del hospital sin cifrar</a:t>
            </a:r>
            <a:endParaRPr lang="en-US" sz="1200" dirty="0"/>
          </a:p>
        </p:txBody>
      </p:sp>
      <p:sp>
        <p:nvSpPr>
          <p:cNvPr id="14" name="Cumplimiento"/>
          <p:cNvSpPr/>
          <p:nvPr/>
        </p:nvSpPr>
        <p:spPr>
          <a:xfrm>
            <a:off x="6181344" y="1874520"/>
            <a:ext cx="2642616" cy="21031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15" name="Cumplimiento círculo"/>
          <p:cNvSpPr/>
          <p:nvPr/>
        </p:nvSpPr>
        <p:spPr>
          <a:xfrm>
            <a:off x="6409944" y="2103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Cumplimiento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668" y="2227844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9944" y="27889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Cumplimiento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409944" y="31546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Pensado para la ley mexicana de protección de datos personales</a:t>
            </a:r>
            <a:endParaRPr lang="en-US" sz="1200" dirty="0"/>
          </a:p>
        </p:txBody>
      </p:sp>
      <p:sp>
        <p:nvSpPr>
          <p:cNvPr id="19" name="Escalable"/>
          <p:cNvSpPr/>
          <p:nvPr/>
        </p:nvSpPr>
        <p:spPr>
          <a:xfrm>
            <a:off x="8997696" y="1874520"/>
            <a:ext cx="2642616" cy="2103120"/>
          </a:xfrm>
          <a:prstGeom prst="roundRect">
            <a:avLst>
              <a:gd name="adj" fmla="val 4348"/>
            </a:avLst>
          </a:prstGeom>
          <a:solidFill>
            <a:schemeClr val="tx2"/>
          </a:solidFill>
          <a:ln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20" name="Escalable círculo"/>
          <p:cNvSpPr/>
          <p:nvPr/>
        </p:nvSpPr>
        <p:spPr>
          <a:xfrm>
            <a:off x="9226296" y="2103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Escalable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1020" y="2227844"/>
            <a:ext cx="317480" cy="3174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26296" y="27889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Escalable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226296" y="31546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El mismo esquema sirve para hipertensión, enfermedad renal y más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42062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La IA ve el riesgo. </a:t>
            </a:r>
            <a:pPr indent="0" marL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Nadie ve al paciente.</a:t>
            </a:r>
            <a:endParaRPr lang="en-US" sz="3200" dirty="0"/>
          </a:p>
        </p:txBody>
      </p:sp>
      <p:pic>
        <p:nvPicPr>
          <p:cNvPr id="25" name="Logo del equipo" descr="/private/tmp/claude-501/-Users-haowei-Documents-Antimarrulla/5372125f-ee1a-4aa0-8aef-43e32d332201/scratchpad/dx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983480"/>
            <a:ext cx="1097280" cy="10972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828800" y="50292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Los Antimarrulla · UACJ · MIAAD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chemeClr val="bg2"/>
                </a:solidFill>
              </a:rPr>
              <a:t>Combatimos la flojera y la procrastinación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u="sng" dirty="0">
                <a:solidFill>
                  <a:schemeClr val="accent5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github.com/UACJ-MIAAD/antimarrulla-ibmz-datathon-2026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8503920" y="5029200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Gracias</a:t>
            </a:r>
            <a:endParaRPr lang="en-US" sz="4400" dirty="0"/>
          </a:p>
        </p:txBody>
      </p:sp>
      <p:sp>
        <p:nvSpPr>
          <p:cNvPr id="28" name="Text 21"/>
          <p:cNvSpPr txBox="1"/>
          <p:nvPr/>
        </p:nvSpPr>
        <p:spPr>
          <a:xfrm>
            <a:off x="7315200" y="5760720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Herramienta de tamizaje: no sustituye el diagnóstico médico.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timarrulla Tamizaje">
  <a:themeElements>
    <a:clrScheme name="Antimarrulla Tamizaje">
      <a:dk1>
        <a:srgbClr val="0E0E13"/>
      </a:dk1>
      <a:lt1>
        <a:srgbClr val="FFFFFF"/>
      </a:lt1>
      <a:dk2>
        <a:srgbClr val="1A1A24"/>
      </a:dk2>
      <a:lt2>
        <a:srgbClr val="E0E0E0"/>
      </a:lt2>
      <a:accent1>
        <a:srgbClr val="0F62FE"/>
      </a:accent1>
      <a:accent2>
        <a:srgbClr val="24A148"/>
      </a:accent2>
      <a:accent3>
        <a:srgbClr val="FA4D56"/>
      </a:accent3>
      <a:accent4>
        <a:srgbClr val="F1C21B"/>
      </a:accent4>
      <a:accent5>
        <a:srgbClr val="78A9FF"/>
      </a:accent5>
      <a:accent6>
        <a:srgbClr val="8D8D8D"/>
      </a:accent6>
      <a:hlink>
        <a:srgbClr val="78A9FF"/>
      </a:hlink>
      <a:folHlink>
        <a:srgbClr val="A6C8FF"/>
      </a:folHlink>
    </a:clrScheme>
    <a:fontScheme name="Antimarrulla Tamizaj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UACJ MIAAD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 Antimarrulla · Tamizaje a ciegas</dc:title>
  <dc:subject>PptxGenJS Presentation</dc:subject>
  <dc:creator>Los Antimarrulla</dc:creator>
  <cp:lastModifiedBy>Los Antimarrulla</cp:lastModifiedBy>
  <cp:revision>1</cp:revision>
  <dcterms:created xsi:type="dcterms:W3CDTF">2026-10-17T08:48:09Z</dcterms:created>
  <dcterms:modified xsi:type="dcterms:W3CDTF">2026-10-17T08:48:09Z</dcterms:modified>
</cp:coreProperties>
</file>