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FFDBC9-BA6C-4DAE-8BE7-92019794D4D1}">
  <a:tblStyle styleId="{CEFFDBC9-BA6C-4DAE-8BE7-92019794D4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bddef80efc6cf2f_1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bddef80efc6cf2f_1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bddef80efc6cf2f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bddef80efc6cf2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bddef80efc6cf2f_2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bddef80efc6cf2f_2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bddef80efc6cf2f_2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bddef80efc6cf2f_2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5bddef80efc6cf2f_2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5bddef80efc6cf2f_2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bddef80efc6cf2f_2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5bddef80efc6cf2f_2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bddef80efc6cf2f_2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5bddef80efc6cf2f_2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bddef80efc6cf2f_25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5bddef80efc6cf2f_25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bddef80efc6cf2f_25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5bddef80efc6cf2f_25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bddef80efc6cf2f_25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bddef80efc6cf2f_25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bddef80efc6cf2f_25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5bddef80efc6cf2f_25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bddef80efc6cf2f_30_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h5bddef80efc6cf2f_30_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Somos Los Antimarrulla, de la UACJ. Nuestro proyecto: Transferencias sin fronteras. Remesas instantáneas, sin comisión y cifradas de punta a punta, protegidas por tres capas de IA que corren en IBM LinuxONE. Reto 2: AI Secured.</a:t>
            </a:r>
            <a:endParaRPr/>
          </a:p>
        </p:txBody>
      </p:sp>
      <p:sp>
        <p:nvSpPr>
          <p:cNvPr id="143" name="Google Shape;143;h5bddef80efc6cf2f_30_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bddef80efc6cf2f_30_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h5bddef80efc6cf2f_30_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Mandar dinero a otro país cuesta en promedio 6.49% según el Banco Mundial; la meta de la ONU es 3%. México recibió 61.7 mil millones de dólares en remesas en 2025. Hoy hay que elegir: rápido, seguro o barato, solo dos. Y en esas grietas se cuelan el fraude y el lavado. ¿Y si fuera instantáneo, sin comisión, cifrado y a prueba de fraude?</a:t>
            </a:r>
            <a:endParaRPr/>
          </a:p>
        </p:txBody>
      </p:sp>
      <p:sp>
        <p:nvSpPr>
          <p:cNvPr id="157" name="Google Shape;157;h5bddef80efc6cf2f_30_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5bddef80efc6cf2f_30_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h5bddef80efc6cf2f_30_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Cada transferencia viaja cifrada y pasa por tres capas. Capa 1: screening contra listas OFAC con fuzzy matching; si hay coincidencia, se bloquea. Capa 2: un modelo XGBoost puntúa riesgo de fraude y lavado en milisegundos; si es sospechosa, se congela y un modelo Granite le explica al oficial de cumplimiento por qué. Capa 3: las limpias se liquidan al instante y sin comisión.</a:t>
            </a:r>
            <a:endParaRPr/>
          </a:p>
        </p:txBody>
      </p:sp>
      <p:sp>
        <p:nvSpPr>
          <p:cNvPr id="186" name="Google Shape;186;h5bddef80efc6cf2f_30_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5bddef80efc6cf2f_30_1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h5bddef80efc6cf2f_30_1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es el corazón del Reto 2. En tránsito: TLS 1.3. En reposo: AES-256-GCM, acelerado por el hardware criptográfico CPACF de IBM Z. En uso: los nombres y cuentas se convierten en tokens; el modelo de riesgo y el asistente generativo nunca ven a la persona. El único componente que toca el nombre es el screening OFAC, y lo hace en memoria, dentro de LinuxONE. Nada en claro en disco ni en logs. ANTES DE PRESENTAR: verificar en la VM con 'openssl speed -evp aes-256-gcm' y guardar la captura como evidencia.</a:t>
            </a:r>
            <a:endParaRPr/>
          </a:p>
        </p:txBody>
      </p:sp>
      <p:sp>
        <p:nvSpPr>
          <p:cNvPr id="241" name="Google Shape;241;h5bddef80efc6cf2f_30_1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5bddef80efc6cf2f_30_1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5bddef80efc6cf2f_30_1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corre en LinuxONE, en contenedores Docker: la API, el tokenizador, el screening, el modelo de riesgo, Granite y la bóveda cifrada. Más del 70% de las transacciones financieras del mundo ya corre en mainframes: llevamos la IA a donde están los datos, en lugar de copiarlos a otra nube. Mostrar aquí la instancia LinuxONE y el modelo corriendo (requisito del video).</a:t>
            </a:r>
            <a:endParaRPr/>
          </a:p>
        </p:txBody>
      </p:sp>
      <p:sp>
        <p:nvSpPr>
          <p:cNvPr id="269" name="Google Shape;269;h5bddef80efc6cf2f_30_1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5bddef80efc6cf2f_30_2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h5bddef80efc6cf2f_30_2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una red simulada entre México, Estados Unidos y Colombia. Primero una transferencia limpia: pasa las tres capas y se liquida en segundos. Luego una a nombre de alguien en la lista OFAC: se bloquea en pantalla. Por último, smurfing: seis envíos pequeños en noventa minutos; el modelo la congela y Granite redacta la explicación. Abajo, las métricas en vivo medidas en LinuxONE.</a:t>
            </a:r>
            <a:endParaRPr/>
          </a:p>
        </p:txBody>
      </p:sp>
      <p:sp>
        <p:nvSpPr>
          <p:cNvPr id="335" name="Google Shape;335;h5bddef80efc6cf2f_30_2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5bddef80efc6cf2f_30_2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h5bddef80efc6cf2f_30_2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Generamos transacciones sintéticas realistas entre países de las Américas, listas de sancionados simuladas con el formato público de la OFAC, e inyectamos patrones de fraude y lavado como smurfing y layering. La gráfica es un ejemplo ilustrativo: 8,400 dólares fraccionados en seis envíos. Medimos precisión, recall, F1, latencia y falsos positivos. Y como los datos son sintéticos, no exponemos a ningún cliente real.</a:t>
            </a:r>
            <a:endParaRPr/>
          </a:p>
        </p:txBody>
      </p:sp>
      <p:sp>
        <p:nvSpPr>
          <p:cNvPr id="382" name="Google Shape;382;h5bddef80efc6cf2f_30_2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5bddef80efc6cf2f_30_2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h5bddef80efc6cf2f_30_2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impacto: cada punto de comisión que eliminamos es dinero directo para una familia. Inclusión financiera para quienes la banca ignora, cumplimiento sin fricción y una arquitectura que escala a cualquier corredor del mundo. Transferencias sin fronteras; riesgo con fronteras. Somos Los Antimarrulla. Gracias.</a:t>
            </a:r>
            <a:endParaRPr/>
          </a:p>
        </p:txBody>
      </p:sp>
      <p:sp>
        <p:nvSpPr>
          <p:cNvPr id="424" name="Google Shape;424;h5bddef80efc6cf2f_30_2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80060" y="1337310"/>
            <a:ext cx="5212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80060" y="2228850"/>
            <a:ext cx="49377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411480" y="384048"/>
            <a:ext cx="89154" cy="891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5"/>
          <p:cNvSpPr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Los Antimarrulla · IBM Z Datathon 2026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411480" y="384048"/>
            <a:ext cx="89154" cy="891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6"/>
          <p:cNvSpPr/>
          <p:nvPr/>
        </p:nvSpPr>
        <p:spPr>
          <a:xfrm>
            <a:off x="411480" y="480060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Los Antimarrulla · IBM Z Datathon 2026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Relationship Id="rId6" Type="http://schemas.openxmlformats.org/officeDocument/2006/relationships/image" Target="../media/image4.png"/><Relationship Id="rId7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6.png"/><Relationship Id="rId10" Type="http://schemas.openxmlformats.org/officeDocument/2006/relationships/image" Target="../media/image39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Relationship Id="rId7" Type="http://schemas.openxmlformats.org/officeDocument/2006/relationships/image" Target="../media/image21.png"/><Relationship Id="rId8" Type="http://schemas.openxmlformats.org/officeDocument/2006/relationships/hyperlink" Target="https://github.com/UACJ-MIAAD/antimarrulla-ibmz-datathon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Propuesta - Theme 1: Real-Time AI for Critical Decisions</a:t>
            </a:r>
            <a:endParaRPr sz="2320"/>
          </a:p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SPEI Transfer Fraud Shield (Fraud Detection)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Instant transfers through SPEI are fast and irreversible, which makes them a prime target for scams like fake sellers on Marketplace and “your account was compromised, transfer your money to this safe account” calls. Build a scoring engine that flags a transfer in real time based on new beneficiary, unusual amount, time of day, and recently created destination accounts, and then shows the user a warning (“This account was created 2 days ago and received 40 transfers today”) before they confirm.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synthetic transaction stream, a simple model (Isolation Forest or rules plus XGBoost), and a mock banking app screen showing the intervention.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0"/>
              <a:t>Propuesta - Theme 1: Real-Time AI for Critical Decisions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3. ER Triage Assistant for Saturated Clinics (Healthcare Prioritisation)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IMSS and ISSSTE emergency rooms are often overloaded and triage depends on manual judgment under pressure. Build a dashboard that takes vitals and symptoms at check-in and ranks the queue using a triage scale like Manchester, re-prioritizing in real time when someone’s vitals worsen.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a simulated patient queue that reorders live, with an explanation for each priority level. Frame it as decision support for staff, not a replacement for clinicians.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0"/>
              <a:t>Propuesta - Theme 1: Real-Time AI for Critical Decisions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5. Auto Insurance Claim Fraud Detector (Insurance Risk)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Vehicle theft and staged accidents are common insurance fraud patterns in Mexico. Build a claim-intake system that flags suspicious claims: policy bought days before the incident, repeated workshops or adjusters, claim location inconsistent with history, or damage photos reused from the internet.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claim form, risk score with reasons, and an image check using reverse search or perceptual hashing on uploaded photos.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0"/>
              <a:t>Propuesta - Theme 1: Real-Time AI for Critical Decisions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85206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7. Border Crossing Delay Predictor (Supply Chain)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Wait times at crossings like Laredo, Piedras Negras, and Reynosa can disrupt just-in-time manufacturing. Build a predictor that estimates crossing delays and recommends which crossing and departure time to use for each shipment.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model trained on historical CBP wait-time data plus a recommendation dashboard for a logistics coordinator.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2" name="Google Shape;92;p21"/>
          <p:cNvSpPr txBox="1"/>
          <p:nvPr/>
        </p:nvSpPr>
        <p:spPr>
          <a:xfrm>
            <a:off x="420950" y="2427200"/>
            <a:ext cx="36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Hay datasets </a:t>
            </a:r>
            <a:r>
              <a:rPr lang="en" sz="1800">
                <a:solidFill>
                  <a:schemeClr val="dk2"/>
                </a:solidFill>
              </a:rPr>
              <a:t>históricos</a:t>
            </a:r>
            <a:r>
              <a:rPr lang="en" sz="1800">
                <a:solidFill>
                  <a:schemeClr val="dk2"/>
                </a:solidFill>
              </a:rPr>
              <a:t> de esto?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Theme 2: AI Secured – Innovation Without Exposure</a:t>
            </a:r>
            <a:endParaRPr sz="2320"/>
          </a:p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9. Personal Data Anonymizer for Mexican Documents (Sensitive Data Protection)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Companies handle tons of documents containing CURP, RFC, INE numbers, CLABE accounts, and addresses, and they’re bound by Mexico’s personal data protection law. Build a tool that detects and masks Mexican-specific identifiers in documents and spreadsheets, while still allowing aggregate analysis (for example, revenue by state without exposing who).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upload a PDF or CSV and get a redacted version plus a privacy report. Regex plus an NER model works well for CURP and RFC since they have predictable formats.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Theme 2: AI Secured – Innovation Without Exposure</a:t>
            </a:r>
            <a:endParaRPr sz="2320"/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10. Fake Invoice (CFDI) Detector (Cybersecurity / Fraud)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“Empresas fantasma” that sell fake invoices are a big tax fraud problem, and the SAT publishes a list of these companies (EFOS). Build a tool that analyzes a company’s received CFDI invoices and flags suppliers on the SAT list or with suspicious patterns like round amounts, newly registered RFCs, or vague concepts.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upload XML invoices, cross-check against the public list, and show a risk report.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Theme 2: AI Secured – Innovation Without Exposure</a:t>
            </a:r>
            <a:endParaRPr sz="2320"/>
          </a:p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14. Quantum-Readiness Scanner for Mexican Banks &amp; Fintechs (Quantum-Safe Security)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Banks and fintechs regulated under the Ley Fintech handle data that needs to stay confidential for years, which makes “harvest now, decrypt later” attacks a real concern. Build a scanner that inspects a domain’s TLS configuration, certificates, and code repositories to find quantum-vulnerable cryptography (RSA, ECC) and produces a prioritized migration report toward the NIST post-quantum standards like ML-KEM. </a:t>
            </a:r>
            <a:r>
              <a:rPr i="1" lang="en" sz="1100">
                <a:solidFill>
                  <a:schemeClr val="dk1"/>
                </a:solidFill>
              </a:rPr>
              <a:t>MVP:</a:t>
            </a:r>
            <a:r>
              <a:rPr lang="en" sz="1100">
                <a:solidFill>
                  <a:schemeClr val="dk1"/>
                </a:solidFill>
              </a:rPr>
              <a:t> enter a URL or upload a repo, get a cryptographic inventory and risk score. This is technically impressive and very few teams pick this track, which can help you stand out.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/>
        </p:nvSpPr>
        <p:spPr>
          <a:xfrm>
            <a:off x="480060" y="1028700"/>
            <a:ext cx="52120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IBM Z DATATHON 2026  ·  RETO 2: AI SECURED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9"/>
          <p:cNvSpPr txBox="1"/>
          <p:nvPr>
            <p:ph type="title"/>
          </p:nvPr>
        </p:nvSpPr>
        <p:spPr>
          <a:xfrm>
            <a:off x="480060" y="1337310"/>
            <a:ext cx="5212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b="1" lang="en" sz="4500">
                <a:solidFill>
                  <a:schemeClr val="lt1"/>
                </a:solidFill>
              </a:rPr>
              <a:t>Los Antimarrulla</a:t>
            </a:r>
            <a:endParaRPr sz="4500"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480060" y="2228850"/>
            <a:ext cx="49377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</a:pPr>
            <a:r>
              <a:rPr lang="en" sz="2300">
                <a:solidFill>
                  <a:schemeClr val="lt2"/>
                </a:solidFill>
              </a:rPr>
              <a:t>Transferencias sin fronteras</a:t>
            </a:r>
            <a:endParaRPr sz="2300"/>
          </a:p>
        </p:txBody>
      </p:sp>
      <p:sp>
        <p:nvSpPr>
          <p:cNvPr id="148" name="Google Shape;148;p29"/>
          <p:cNvSpPr txBox="1"/>
          <p:nvPr/>
        </p:nvSpPr>
        <p:spPr>
          <a:xfrm>
            <a:off x="480060" y="277749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Remesas instantáneas, sin comisión y cifradas de punta a punta, protegidas por IA sobre IBM LinuxONE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private/tmp/claude-501/-Users-haowei-Documents-Antimarrulla/5372125f-ee1a-4aa0-8aef-43e32d332201/scratchpad/deck/logo.png" id="149" name="Google Shape;1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3634740"/>
            <a:ext cx="891540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9"/>
          <p:cNvSpPr txBox="1"/>
          <p:nvPr/>
        </p:nvSpPr>
        <p:spPr>
          <a:xfrm>
            <a:off x="1508760" y="377190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Augusto Rebull Saucedo · Álvaro Hernández Jarquín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Enrique Gonzalez Moran · Yazmin Ivonne Flores Martinez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UACJ · Maestría en IA y Analítica de Datos (MIAAD)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6412230" y="1337310"/>
            <a:ext cx="960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EE. UU.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5911596" y="2811780"/>
            <a:ext cx="960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México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7735824" y="3957066"/>
            <a:ext cx="960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Colombia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01 · EL PROBLEMA</a:t>
            </a:r>
            <a:endParaRPr sz="900"/>
          </a:p>
        </p:txBody>
      </p:sp>
      <p:sp>
        <p:nvSpPr>
          <p:cNvPr id="160" name="Google Shape;160;p30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Enviar dinero entre países es caro, lento y opaco</a:t>
            </a:r>
            <a:endParaRPr sz="2300"/>
          </a:p>
        </p:txBody>
      </p:sp>
      <p:sp>
        <p:nvSpPr>
          <p:cNvPr id="161" name="Google Shape;161;p30"/>
          <p:cNvSpPr txBox="1"/>
          <p:nvPr/>
        </p:nvSpPr>
        <p:spPr>
          <a:xfrm>
            <a:off x="411480" y="1440180"/>
            <a:ext cx="21259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6.49%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2606040" y="1440180"/>
            <a:ext cx="19888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costo promedio global de enviar US$200 a otro país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411480" y="2208276"/>
            <a:ext cx="21259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61.7</a:t>
            </a:r>
            <a:r>
              <a:rPr b="1" i="0" lang="en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mil M USD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2606040" y="2208276"/>
            <a:ext cx="19888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 remesas recibió México en 2025: cada punto de comisión es dinero de una familia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411480" y="2976372"/>
            <a:ext cx="21259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0"/>
          <p:cNvSpPr txBox="1"/>
          <p:nvPr/>
        </p:nvSpPr>
        <p:spPr>
          <a:xfrm>
            <a:off x="2606040" y="2976372"/>
            <a:ext cx="19888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meta de la ONU para 2030 (ODS 10.c): hoy pagamos más del doble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5383530" y="1611630"/>
            <a:ext cx="2811780" cy="1817370"/>
          </a:xfrm>
          <a:prstGeom prst="triangle">
            <a:avLst>
              <a:gd fmla="val 50000" name="adj"/>
            </a:avLst>
          </a:prstGeom>
          <a:solidFill>
            <a:schemeClr val="accent1">
              <a:alpha val="12157"/>
            </a:schemeClr>
          </a:solidFill>
          <a:ln cap="flat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6501384" y="1323594"/>
            <a:ext cx="576072" cy="576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120" y="1450330"/>
            <a:ext cx="322601" cy="32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/>
          <p:nvPr/>
        </p:nvSpPr>
        <p:spPr>
          <a:xfrm>
            <a:off x="5095494" y="3140964"/>
            <a:ext cx="576072" cy="576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230" y="3267700"/>
            <a:ext cx="322600" cy="32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0"/>
          <p:cNvSpPr/>
          <p:nvPr/>
        </p:nvSpPr>
        <p:spPr>
          <a:xfrm>
            <a:off x="7907274" y="3140964"/>
            <a:ext cx="576072" cy="576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4010" y="3267700"/>
            <a:ext cx="322601" cy="32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7166610" y="1488186"/>
            <a:ext cx="10287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Rápido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4869180" y="3771900"/>
            <a:ext cx="10287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Seguro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7680960" y="3771900"/>
            <a:ext cx="10287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Barato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5829300" y="2571750"/>
            <a:ext cx="19202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Hoy eliges solo 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5829300" y="2859786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 el fraude se cuela por las grietas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/>
          <p:nvPr/>
        </p:nvSpPr>
        <p:spPr>
          <a:xfrm>
            <a:off x="411480" y="4101084"/>
            <a:ext cx="8318754" cy="411480"/>
          </a:xfrm>
          <a:prstGeom prst="roundRect">
            <a:avLst>
              <a:gd fmla="val 16667" name="adj"/>
            </a:avLst>
          </a:prstGeom>
          <a:solidFill>
            <a:schemeClr val="accent1">
              <a:alpha val="27843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/>
        </p:nvSpPr>
        <p:spPr>
          <a:xfrm>
            <a:off x="548640" y="4101084"/>
            <a:ext cx="80444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1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¿Y si enviar dinero fuera instantáneo, sin comisión, cifrado y a prueba de fraude?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411480" y="4567428"/>
            <a:ext cx="831875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Fuentes: Banco Mundial, Remittance Prices Worldwide (T1 2025); Banxico, remesas 2025; ONU, ODS 10.c.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0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02 · LA SOLUCIÓN</a:t>
            </a:r>
            <a:endParaRPr sz="900"/>
          </a:p>
        </p:txBody>
      </p:sp>
      <p:sp>
        <p:nvSpPr>
          <p:cNvPr id="189" name="Google Shape;189;p31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Tres capas de IA revisan cada envío en milisegundos</a:t>
            </a:r>
            <a:endParaRPr sz="2300"/>
          </a:p>
        </p:txBody>
      </p:sp>
      <p:sp>
        <p:nvSpPr>
          <p:cNvPr id="190" name="Google Shape;190;p31"/>
          <p:cNvSpPr/>
          <p:nvPr/>
        </p:nvSpPr>
        <p:spPr>
          <a:xfrm>
            <a:off x="411480" y="1440180"/>
            <a:ext cx="1817370" cy="102870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548640" y="1577340"/>
            <a:ext cx="342900" cy="342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78" y="165277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973836" y="157734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Transferencia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48640" y="2002536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MX ↔ EE. UU. ↔ CO, cifrada desde el origen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31"/>
          <p:cNvCxnSpPr/>
          <p:nvPr/>
        </p:nvCxnSpPr>
        <p:spPr>
          <a:xfrm>
            <a:off x="2269998" y="1954530"/>
            <a:ext cx="267462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31"/>
          <p:cNvSpPr/>
          <p:nvPr/>
        </p:nvSpPr>
        <p:spPr>
          <a:xfrm>
            <a:off x="411480" y="2914650"/>
            <a:ext cx="1817370" cy="994410"/>
          </a:xfrm>
          <a:prstGeom prst="roundRect">
            <a:avLst>
              <a:gd fmla="val 6897" name="adj"/>
            </a:avLst>
          </a:prstGeom>
          <a:solidFill>
            <a:schemeClr val="accent1">
              <a:alpha val="14902"/>
            </a:schemeClr>
          </a:solidFill>
          <a:ln cap="flat" cmpd="sng" w="9525">
            <a:solidFill>
              <a:schemeClr val="accen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548640" y="3051810"/>
            <a:ext cx="288036" cy="288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008" y="3115178"/>
            <a:ext cx="161300" cy="1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/>
        </p:nvSpPr>
        <p:spPr>
          <a:xfrm>
            <a:off x="925830" y="3051810"/>
            <a:ext cx="12001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Cifrada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548640" y="3408426"/>
            <a:ext cx="1543050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Nombres y cuentas cifrados; el modelo solo ve tokens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2578608" y="1440180"/>
            <a:ext cx="1817370" cy="102870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2715768" y="157734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1206" y="165277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/>
        </p:nvSpPr>
        <p:spPr>
          <a:xfrm>
            <a:off x="3140964" y="157734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 · Screening OFAC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2715768" y="2002536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Fuzzy matching del nombre contra listas de sancionados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31"/>
          <p:cNvCxnSpPr/>
          <p:nvPr/>
        </p:nvCxnSpPr>
        <p:spPr>
          <a:xfrm>
            <a:off x="4437126" y="1954530"/>
            <a:ext cx="267462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31"/>
          <p:cNvSpPr/>
          <p:nvPr/>
        </p:nvSpPr>
        <p:spPr>
          <a:xfrm>
            <a:off x="2578608" y="2914650"/>
            <a:ext cx="1817370" cy="994410"/>
          </a:xfrm>
          <a:prstGeom prst="roundRect">
            <a:avLst>
              <a:gd fmla="val 6897" name="adj"/>
            </a:avLst>
          </a:prstGeom>
          <a:solidFill>
            <a:schemeClr val="accent3">
              <a:alpha val="14902"/>
            </a:schemeClr>
          </a:solidFill>
          <a:ln cap="flat" cmpd="sng" w="9525">
            <a:solidFill>
              <a:schemeClr val="accent3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/>
          <p:nvPr/>
        </p:nvSpPr>
        <p:spPr>
          <a:xfrm>
            <a:off x="2715768" y="3051810"/>
            <a:ext cx="288036" cy="288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9136" y="3115178"/>
            <a:ext cx="161300" cy="1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/>
          <p:nvPr/>
        </p:nvSpPr>
        <p:spPr>
          <a:xfrm>
            <a:off x="3092958" y="3051810"/>
            <a:ext cx="12001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Bloqueada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2715768" y="3408426"/>
            <a:ext cx="1543050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Coincidencia en lista OFAC: bloqueo automático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31"/>
          <p:cNvCxnSpPr/>
          <p:nvPr/>
        </p:nvCxnSpPr>
        <p:spPr>
          <a:xfrm>
            <a:off x="3487293" y="2510028"/>
            <a:ext cx="0" cy="363474"/>
          </a:xfrm>
          <a:prstGeom prst="straightConnector1">
            <a:avLst/>
          </a:prstGeom>
          <a:noFill/>
          <a:ln cap="flat" cmpd="sng" w="2222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31"/>
          <p:cNvSpPr/>
          <p:nvPr/>
        </p:nvSpPr>
        <p:spPr>
          <a:xfrm>
            <a:off x="4745736" y="1440180"/>
            <a:ext cx="1817370" cy="102870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4882896" y="157734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8334" y="165277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/>
          <p:nvPr/>
        </p:nvSpPr>
        <p:spPr>
          <a:xfrm>
            <a:off x="5308092" y="157734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 · Riesgo fraude/AML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4882896" y="2002536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XGBoost puntúa cada operación en milisegundos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31"/>
          <p:cNvCxnSpPr/>
          <p:nvPr/>
        </p:nvCxnSpPr>
        <p:spPr>
          <a:xfrm>
            <a:off x="6604254" y="1954530"/>
            <a:ext cx="267462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31"/>
          <p:cNvSpPr/>
          <p:nvPr/>
        </p:nvSpPr>
        <p:spPr>
          <a:xfrm>
            <a:off x="4745736" y="2914650"/>
            <a:ext cx="1817370" cy="994410"/>
          </a:xfrm>
          <a:prstGeom prst="roundRect">
            <a:avLst>
              <a:gd fmla="val 6897" name="adj"/>
            </a:avLst>
          </a:prstGeom>
          <a:solidFill>
            <a:schemeClr val="accent4">
              <a:alpha val="14902"/>
            </a:schemeClr>
          </a:solidFill>
          <a:ln cap="flat" cmpd="sng" w="9525">
            <a:solidFill>
              <a:schemeClr val="accent4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1"/>
          <p:cNvSpPr/>
          <p:nvPr/>
        </p:nvSpPr>
        <p:spPr>
          <a:xfrm>
            <a:off x="4882896" y="3051810"/>
            <a:ext cx="288036" cy="288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46264" y="3115178"/>
            <a:ext cx="161300" cy="1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5260086" y="3051810"/>
            <a:ext cx="12001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Congelada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4882896" y="3408426"/>
            <a:ext cx="1543050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Patrón sospechoso: revisión humana y Granite explica el porqué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31"/>
          <p:cNvCxnSpPr/>
          <p:nvPr/>
        </p:nvCxnSpPr>
        <p:spPr>
          <a:xfrm>
            <a:off x="5654421" y="2510028"/>
            <a:ext cx="0" cy="363474"/>
          </a:xfrm>
          <a:prstGeom prst="straightConnector1">
            <a:avLst/>
          </a:prstGeom>
          <a:noFill/>
          <a:ln cap="flat" cmpd="sng" w="2222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31"/>
          <p:cNvSpPr/>
          <p:nvPr/>
        </p:nvSpPr>
        <p:spPr>
          <a:xfrm>
            <a:off x="6912864" y="1440180"/>
            <a:ext cx="1817370" cy="102870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7050024" y="157734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25462" y="165277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7475220" y="157734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· Liquidación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7050024" y="2002536"/>
            <a:ext cx="15430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transferencias limpias se liquidan al instante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6912864" y="2914650"/>
            <a:ext cx="1817370" cy="994410"/>
          </a:xfrm>
          <a:prstGeom prst="roundRect">
            <a:avLst>
              <a:gd fmla="val 6897" name="adj"/>
            </a:avLst>
          </a:prstGeom>
          <a:solidFill>
            <a:schemeClr val="accent2">
              <a:alpha val="14902"/>
            </a:schemeClr>
          </a:solidFill>
          <a:ln cap="flat" cmpd="sng" w="9525">
            <a:solidFill>
              <a:schemeClr val="accent2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7050024" y="3051810"/>
            <a:ext cx="288036" cy="288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13392" y="3115178"/>
            <a:ext cx="161300" cy="1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 txBox="1"/>
          <p:nvPr/>
        </p:nvSpPr>
        <p:spPr>
          <a:xfrm>
            <a:off x="7427214" y="3051810"/>
            <a:ext cx="12001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Liquidada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7050024" y="3408426"/>
            <a:ext cx="1543050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 segundos y con 0% de comisión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31"/>
          <p:cNvCxnSpPr/>
          <p:nvPr/>
        </p:nvCxnSpPr>
        <p:spPr>
          <a:xfrm>
            <a:off x="7821549" y="2510028"/>
            <a:ext cx="0" cy="363474"/>
          </a:xfrm>
          <a:prstGeom prst="straightConnector1">
            <a:avLst/>
          </a:prstGeom>
          <a:noFill/>
          <a:ln cap="flat" cmpd="sng" w="222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31"/>
          <p:cNvSpPr txBox="1"/>
          <p:nvPr/>
        </p:nvSpPr>
        <p:spPr>
          <a:xfrm>
            <a:off x="411480" y="4114800"/>
            <a:ext cx="83187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Rápido como una app. </a:t>
            </a:r>
            <a:r>
              <a:rPr b="1" i="0" lang="en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Seguro como un banco.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1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03 · CIFRADO DE PUNTA A PUNTA</a:t>
            </a:r>
            <a:endParaRPr sz="900"/>
          </a:p>
        </p:txBody>
      </p:sp>
      <p:sp>
        <p:nvSpPr>
          <p:cNvPr id="244" name="Google Shape;244;p32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Datos sensibles nunca expuestos, ni para nosotros</a:t>
            </a:r>
            <a:endParaRPr sz="2300"/>
          </a:p>
        </p:txBody>
      </p:sp>
      <p:sp>
        <p:nvSpPr>
          <p:cNvPr id="245" name="Google Shape;245;p32"/>
          <p:cNvSpPr/>
          <p:nvPr/>
        </p:nvSpPr>
        <p:spPr>
          <a:xfrm>
            <a:off x="411480" y="1371600"/>
            <a:ext cx="2640330" cy="925830"/>
          </a:xfrm>
          <a:prstGeom prst="roundRect">
            <a:avLst>
              <a:gd fmla="val 740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>
            <a:off x="562356" y="1577340"/>
            <a:ext cx="445770" cy="4457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25" y="1675409"/>
            <a:ext cx="249632" cy="24963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1131570" y="1495044"/>
            <a:ext cx="18173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tránsito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1131570" y="1755648"/>
            <a:ext cx="181737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TLS 1.3 entre cada app y LinuxONE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32"/>
          <p:cNvCxnSpPr/>
          <p:nvPr/>
        </p:nvCxnSpPr>
        <p:spPr>
          <a:xfrm>
            <a:off x="3072384" y="1800225"/>
            <a:ext cx="157734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32"/>
          <p:cNvSpPr/>
          <p:nvPr/>
        </p:nvSpPr>
        <p:spPr>
          <a:xfrm>
            <a:off x="3250692" y="1371600"/>
            <a:ext cx="2640330" cy="925830"/>
          </a:xfrm>
          <a:prstGeom prst="roundRect">
            <a:avLst>
              <a:gd fmla="val 740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3401568" y="1577340"/>
            <a:ext cx="445770" cy="4457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9637" y="1675409"/>
            <a:ext cx="249632" cy="24963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/>
        </p:nvSpPr>
        <p:spPr>
          <a:xfrm>
            <a:off x="3970782" y="1495044"/>
            <a:ext cx="18173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reposo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3970782" y="1755648"/>
            <a:ext cx="181737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AES-256-GCM acelerado por hardware (CPACF de IBM Z)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32"/>
          <p:cNvCxnSpPr/>
          <p:nvPr/>
        </p:nvCxnSpPr>
        <p:spPr>
          <a:xfrm>
            <a:off x="5911596" y="1800225"/>
            <a:ext cx="157734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32"/>
          <p:cNvSpPr/>
          <p:nvPr/>
        </p:nvSpPr>
        <p:spPr>
          <a:xfrm>
            <a:off x="6089904" y="1371600"/>
            <a:ext cx="2640330" cy="925830"/>
          </a:xfrm>
          <a:prstGeom prst="roundRect">
            <a:avLst>
              <a:gd fmla="val 7407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6240780" y="1577340"/>
            <a:ext cx="445770" cy="4457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849" y="1675409"/>
            <a:ext cx="249632" cy="24963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6809994" y="1495044"/>
            <a:ext cx="18173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uso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6809994" y="1755648"/>
            <a:ext cx="181737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Nombres y cuentas → tokens HMAC-SHA256; llaves fuera del código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411480" y="2434590"/>
            <a:ext cx="41148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¿Quién ve qué?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32"/>
          <p:cNvGraphicFramePr/>
          <p:nvPr/>
        </p:nvGraphicFramePr>
        <p:xfrm>
          <a:off x="41148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{CEFFDBC9-BA6C-4DAE-8BE7-92019794D4D1}</a:tableStyleId>
              </a:tblPr>
              <a:tblGrid>
                <a:gridCol w="2743200"/>
                <a:gridCol w="3017500"/>
                <a:gridCol w="2558025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y cuenta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Monto · país · hora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del usuario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claro: son sus propios datos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claro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Screening OFAC (LinuxONE)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Solo en memoria, nunca en disco ni logs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los necesita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de riesgo (XGBoost)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Solo tokens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Asistente Granite (IA generativa)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Solo tokens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Resumen de la alerta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Disco, logs y respaldos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Cifrado AES-256-GCM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Cifrado AES-256-GCM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82300" marL="82300" anchor="ctr">
                    <a:lnL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32"/>
          <p:cNvSpPr txBox="1"/>
          <p:nvPr/>
        </p:nvSpPr>
        <p:spPr>
          <a:xfrm>
            <a:off x="411480" y="4526280"/>
            <a:ext cx="831875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CPACF: aceleración criptográfica integrada en cada núcleo de IBM Z; OpenSSL la usa automáticamente en LinuxONE.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2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04 · POR QUÉ IBM Z</a:t>
            </a:r>
            <a:endParaRPr sz="900"/>
          </a:p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La IA va a donde están los datos, no al revés</a:t>
            </a:r>
            <a:endParaRPr sz="2300"/>
          </a:p>
        </p:txBody>
      </p:sp>
      <p:sp>
        <p:nvSpPr>
          <p:cNvPr id="273" name="Google Shape;273;p33"/>
          <p:cNvSpPr/>
          <p:nvPr/>
        </p:nvSpPr>
        <p:spPr>
          <a:xfrm>
            <a:off x="411480" y="1611630"/>
            <a:ext cx="1062990" cy="548640"/>
          </a:xfrm>
          <a:prstGeom prst="roundRect">
            <a:avLst>
              <a:gd fmla="val 125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493776" y="1748790"/>
            <a:ext cx="274320" cy="274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26" y="1809140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788670" y="1680210"/>
            <a:ext cx="6515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 México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33"/>
          <p:cNvCxnSpPr/>
          <p:nvPr/>
        </p:nvCxnSpPr>
        <p:spPr>
          <a:xfrm>
            <a:off x="1508760" y="1885950"/>
            <a:ext cx="226314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33"/>
          <p:cNvSpPr/>
          <p:nvPr/>
        </p:nvSpPr>
        <p:spPr>
          <a:xfrm>
            <a:off x="411480" y="2400300"/>
            <a:ext cx="1062990" cy="548640"/>
          </a:xfrm>
          <a:prstGeom prst="roundRect">
            <a:avLst>
              <a:gd fmla="val 125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493776" y="2537460"/>
            <a:ext cx="274320" cy="274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26" y="2597810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/>
        </p:nvSpPr>
        <p:spPr>
          <a:xfrm>
            <a:off x="788670" y="2468880"/>
            <a:ext cx="6515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 EE. UU.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33"/>
          <p:cNvCxnSpPr/>
          <p:nvPr/>
        </p:nvCxnSpPr>
        <p:spPr>
          <a:xfrm>
            <a:off x="1508760" y="2674620"/>
            <a:ext cx="226314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33"/>
          <p:cNvSpPr/>
          <p:nvPr/>
        </p:nvSpPr>
        <p:spPr>
          <a:xfrm>
            <a:off x="411480" y="3188970"/>
            <a:ext cx="1062990" cy="548640"/>
          </a:xfrm>
          <a:prstGeom prst="roundRect">
            <a:avLst>
              <a:gd fmla="val 125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"/>
          <p:cNvSpPr/>
          <p:nvPr/>
        </p:nvSpPr>
        <p:spPr>
          <a:xfrm>
            <a:off x="493776" y="3326130"/>
            <a:ext cx="274320" cy="274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126" y="3386480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788670" y="3257550"/>
            <a:ext cx="6515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 Colombia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33"/>
          <p:cNvCxnSpPr/>
          <p:nvPr/>
        </p:nvCxnSpPr>
        <p:spPr>
          <a:xfrm>
            <a:off x="1508760" y="3463290"/>
            <a:ext cx="226314" cy="0"/>
          </a:xfrm>
          <a:prstGeom prst="straightConnector1">
            <a:avLst/>
          </a:prstGeom>
          <a:noFill/>
          <a:ln cap="flat" cmpd="sng" w="222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33"/>
          <p:cNvSpPr/>
          <p:nvPr/>
        </p:nvSpPr>
        <p:spPr>
          <a:xfrm>
            <a:off x="1783080" y="1337310"/>
            <a:ext cx="2983230" cy="3017520"/>
          </a:xfrm>
          <a:prstGeom prst="roundRect">
            <a:avLst>
              <a:gd fmla="val 2299" name="adj"/>
            </a:avLst>
          </a:prstGeom>
          <a:solidFill>
            <a:schemeClr val="accent1">
              <a:alpha val="10196"/>
            </a:schemeClr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3"/>
          <p:cNvSpPr/>
          <p:nvPr/>
        </p:nvSpPr>
        <p:spPr>
          <a:xfrm>
            <a:off x="1906524" y="1440180"/>
            <a:ext cx="288036" cy="288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9892" y="1503548"/>
            <a:ext cx="161300" cy="1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3"/>
          <p:cNvSpPr txBox="1"/>
          <p:nvPr/>
        </p:nvSpPr>
        <p:spPr>
          <a:xfrm>
            <a:off x="2263140" y="1440180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IBM LinuxONE · s390x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4080510" y="1474470"/>
            <a:ext cx="5623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1920240" y="188595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 txBox="1"/>
          <p:nvPr/>
        </p:nvSpPr>
        <p:spPr>
          <a:xfrm>
            <a:off x="2016252" y="196824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 de transferencias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3"/>
          <p:cNvSpPr txBox="1"/>
          <p:nvPr/>
        </p:nvSpPr>
        <p:spPr>
          <a:xfrm>
            <a:off x="2016252" y="224256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contenedor · TLS 1.3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312414" y="188595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3408426" y="196824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Tokenizador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3408426" y="224256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HMAC-SHA256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1920240" y="267462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 txBox="1"/>
          <p:nvPr/>
        </p:nvSpPr>
        <p:spPr>
          <a:xfrm>
            <a:off x="2016252" y="275691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Screening OFAC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2016252" y="303123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fuzzy matching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3312414" y="267462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3408426" y="275691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de riesgo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3408426" y="303123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scikit-learn · XGBoost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1920240" y="346329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2016252" y="354558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Granite · llama.cpp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3"/>
          <p:cNvSpPr txBox="1"/>
          <p:nvPr/>
        </p:nvSpPr>
        <p:spPr>
          <a:xfrm>
            <a:off x="2016252" y="381990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explica cada alerta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3312414" y="3463290"/>
            <a:ext cx="1316736" cy="651510"/>
          </a:xfrm>
          <a:prstGeom prst="roundRect">
            <a:avLst>
              <a:gd fmla="val 10526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3"/>
          <p:cNvSpPr txBox="1"/>
          <p:nvPr/>
        </p:nvSpPr>
        <p:spPr>
          <a:xfrm>
            <a:off x="3408426" y="3545586"/>
            <a:ext cx="11384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Bóveda cifrada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3408426" y="3819906"/>
            <a:ext cx="11384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AES-256-GCM · CPACF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33"/>
          <p:cNvCxnSpPr/>
          <p:nvPr/>
        </p:nvCxnSpPr>
        <p:spPr>
          <a:xfrm>
            <a:off x="4800600" y="2194560"/>
            <a:ext cx="226314" cy="0"/>
          </a:xfrm>
          <a:prstGeom prst="straightConnector1">
            <a:avLst/>
          </a:prstGeom>
          <a:noFill/>
          <a:ln cap="flat" cmpd="sng" w="222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33"/>
          <p:cNvSpPr/>
          <p:nvPr/>
        </p:nvSpPr>
        <p:spPr>
          <a:xfrm>
            <a:off x="5109210" y="1885950"/>
            <a:ext cx="1062990" cy="617220"/>
          </a:xfrm>
          <a:prstGeom prst="roundRect">
            <a:avLst>
              <a:gd fmla="val 11111" name="adj"/>
            </a:avLst>
          </a:prstGeom>
          <a:solidFill>
            <a:schemeClr val="accent2">
              <a:alpha val="14902"/>
            </a:schemeClr>
          </a:solidFill>
          <a:ln cap="flat" cmpd="sng" w="9525">
            <a:solidFill>
              <a:schemeClr val="accent2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5191506" y="1885950"/>
            <a:ext cx="9258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Liquidación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33"/>
          <p:cNvCxnSpPr/>
          <p:nvPr/>
        </p:nvCxnSpPr>
        <p:spPr>
          <a:xfrm>
            <a:off x="4800600" y="3223260"/>
            <a:ext cx="226314" cy="0"/>
          </a:xfrm>
          <a:prstGeom prst="straightConnector1">
            <a:avLst/>
          </a:prstGeom>
          <a:noFill/>
          <a:ln cap="flat" cmpd="sng" w="2222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33"/>
          <p:cNvSpPr/>
          <p:nvPr/>
        </p:nvSpPr>
        <p:spPr>
          <a:xfrm>
            <a:off x="5109210" y="2914650"/>
            <a:ext cx="1062990" cy="617220"/>
          </a:xfrm>
          <a:prstGeom prst="roundRect">
            <a:avLst>
              <a:gd fmla="val 11111" name="adj"/>
            </a:avLst>
          </a:prstGeom>
          <a:solidFill>
            <a:schemeClr val="accent4">
              <a:alpha val="14902"/>
            </a:schemeClr>
          </a:solidFill>
          <a:ln cap="flat" cmpd="sng" w="9525">
            <a:solidFill>
              <a:schemeClr val="accent4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5191506" y="2914650"/>
            <a:ext cx="9258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Panel de cumplimiento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6446520" y="1405890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9502" y="1488872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3"/>
          <p:cNvSpPr txBox="1"/>
          <p:nvPr/>
        </p:nvSpPr>
        <p:spPr>
          <a:xfrm>
            <a:off x="6940296" y="1371600"/>
            <a:ext cx="17899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Donde ya vive el dinero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6940296" y="1659636"/>
            <a:ext cx="1789938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Más del 70% de las transacciones financieras del mundo corre en mainframes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6446520" y="2366010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502" y="2448992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6940296" y="2331720"/>
            <a:ext cx="17899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Seguridad de nivel bancario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6940296" y="2619756"/>
            <a:ext cx="1789938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Cifrado por hardware, aislamiento de cargas y alta disponibilidad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6446520" y="3326130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9502" y="3409112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6940296" y="3291840"/>
            <a:ext cx="17899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IA junto a los datos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6940296" y="3579876"/>
            <a:ext cx="1789938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Inferencia en la misma plataforma: los datos no se copian a otra nube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11480" y="4402836"/>
            <a:ext cx="831875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Stack:  </a:t>
            </a: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Python · scikit-learn · XGBoost · RapidFuzz · Granite (llama.cpp) · OpenSSL · Docker · Jupyter Lab ML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411480" y="460857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Fuente del 70%: IBM Z Datathon 2026 Participant Guidebook.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05 · DEMO EN VIVO</a:t>
            </a:r>
            <a:endParaRPr sz="900"/>
          </a:p>
        </p:txBody>
      </p:sp>
      <p:sp>
        <p:nvSpPr>
          <p:cNvPr id="338" name="Google Shape;338;p34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Tres transferencias, tres destinos, en segundos</a:t>
            </a:r>
            <a:endParaRPr sz="2300"/>
          </a:p>
        </p:txBody>
      </p:sp>
      <p:pic>
        <p:nvPicPr>
          <p:cNvPr descr="/private/tmp/claude-501/-Users-haowei-Documents-Antimarrulla/5372125f-ee1a-4aa0-8aef-43e32d332201/scratchpad/deck/demo_net.png" id="339" name="Google Shape;3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37310"/>
            <a:ext cx="370332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/>
          <p:nvPr/>
        </p:nvSpPr>
        <p:spPr>
          <a:xfrm>
            <a:off x="1371600" y="1680210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EE. UU.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514350" y="3394710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México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3017520" y="3463290"/>
            <a:ext cx="8915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Colombia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4389120" y="1371600"/>
            <a:ext cx="4341114" cy="720090"/>
          </a:xfrm>
          <a:prstGeom prst="roundRect">
            <a:avLst>
              <a:gd fmla="val 9524" name="adj"/>
            </a:avLst>
          </a:prstGeom>
          <a:solidFill>
            <a:schemeClr val="dk2"/>
          </a:solidFill>
          <a:ln cap="flat" cmpd="sng" w="9525">
            <a:solidFill>
              <a:schemeClr val="accent2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4526280" y="1536192"/>
            <a:ext cx="397764" cy="3977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3788" y="1623700"/>
            <a:ext cx="222748" cy="22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5074920" y="1467612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Transferencia limpia · MX → EE. UU.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5074920" y="1748790"/>
            <a:ext cx="3531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Pasa las 3 capas y se liquida en segundos, sin comisión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4389120" y="2208276"/>
            <a:ext cx="4341114" cy="720090"/>
          </a:xfrm>
          <a:prstGeom prst="roundRect">
            <a:avLst>
              <a:gd fmla="val 9524" name="adj"/>
            </a:avLst>
          </a:prstGeom>
          <a:solidFill>
            <a:schemeClr val="dk2"/>
          </a:solidFill>
          <a:ln cap="flat" cmpd="sng" w="9525">
            <a:solidFill>
              <a:schemeClr val="accent3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/>
          <p:nvPr/>
        </p:nvSpPr>
        <p:spPr>
          <a:xfrm>
            <a:off x="4526280" y="2372868"/>
            <a:ext cx="397764" cy="3977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3788" y="2460376"/>
            <a:ext cx="222748" cy="22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4"/>
          <p:cNvSpPr txBox="1"/>
          <p:nvPr/>
        </p:nvSpPr>
        <p:spPr>
          <a:xfrm>
            <a:off x="5074920" y="2304288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Nombre en lista OFAC · EE. UU. → 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5074920" y="2585466"/>
            <a:ext cx="3531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Bloqueo automático en pantalla, con la coincidencia resaltada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4389120" y="3044952"/>
            <a:ext cx="4341114" cy="720090"/>
          </a:xfrm>
          <a:prstGeom prst="roundRect">
            <a:avLst>
              <a:gd fmla="val 9524" name="adj"/>
            </a:avLst>
          </a:prstGeom>
          <a:solidFill>
            <a:schemeClr val="dk2"/>
          </a:solidFill>
          <a:ln cap="flat" cmpd="sng" w="9525">
            <a:solidFill>
              <a:schemeClr val="accent4">
                <a:alpha val="6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4526280" y="3209544"/>
            <a:ext cx="397764" cy="3977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3788" y="3297052"/>
            <a:ext cx="222748" cy="22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 txBox="1"/>
          <p:nvPr/>
        </p:nvSpPr>
        <p:spPr>
          <a:xfrm>
            <a:off x="5074920" y="3140964"/>
            <a:ext cx="353187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Smurfing · MX → 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5074920" y="3422142"/>
            <a:ext cx="3531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 envíos pequeños en 90 min: se congela y Granite lo explica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411480" y="3991356"/>
            <a:ext cx="1981962" cy="534924"/>
          </a:xfrm>
          <a:prstGeom prst="roundRect">
            <a:avLst>
              <a:gd fmla="val 12821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4"/>
          <p:cNvSpPr/>
          <p:nvPr/>
        </p:nvSpPr>
        <p:spPr>
          <a:xfrm>
            <a:off x="534924" y="4087368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362" y="416280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 txBox="1"/>
          <p:nvPr/>
        </p:nvSpPr>
        <p:spPr>
          <a:xfrm>
            <a:off x="973836" y="4046220"/>
            <a:ext cx="133731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Latencia p95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973836" y="4279392"/>
            <a:ext cx="13373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medido en vivo en LinuxONE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2523744" y="3991356"/>
            <a:ext cx="1981962" cy="534924"/>
          </a:xfrm>
          <a:prstGeom prst="roundRect">
            <a:avLst>
              <a:gd fmla="val 12821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2647188" y="4087368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22626" y="416280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3086100" y="4046220"/>
            <a:ext cx="133731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Tasa de detección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4"/>
          <p:cNvSpPr txBox="1"/>
          <p:nvPr/>
        </p:nvSpPr>
        <p:spPr>
          <a:xfrm>
            <a:off x="3086100" y="4279392"/>
            <a:ext cx="13373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medido en vivo en LinuxONE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4636008" y="3991356"/>
            <a:ext cx="1981962" cy="534924"/>
          </a:xfrm>
          <a:prstGeom prst="roundRect">
            <a:avLst>
              <a:gd fmla="val 12821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4759452" y="4087368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34890" y="416280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4"/>
          <p:cNvSpPr txBox="1"/>
          <p:nvPr/>
        </p:nvSpPr>
        <p:spPr>
          <a:xfrm>
            <a:off x="5198364" y="4046220"/>
            <a:ext cx="133731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Falsos positivos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5198364" y="4279392"/>
            <a:ext cx="13373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medido en vivo en LinuxONE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6748272" y="3991356"/>
            <a:ext cx="1981962" cy="534924"/>
          </a:xfrm>
          <a:prstGeom prst="roundRect">
            <a:avLst>
              <a:gd fmla="val 12821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6871716" y="4087368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47154" y="4162806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7310628" y="4046220"/>
            <a:ext cx="133731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Transferencias/s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7310628" y="4279392"/>
            <a:ext cx="13373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medido en vivo en LinuxONE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06 · DATOS Y MODELO</a:t>
            </a:r>
            <a:endParaRPr sz="900"/>
          </a:p>
        </p:txBody>
      </p:sp>
      <p:sp>
        <p:nvSpPr>
          <p:cNvPr id="385" name="Google Shape;385;p35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Datos 100% sintéticos, patrones reales de fraude</a:t>
            </a:r>
            <a:endParaRPr sz="2300"/>
          </a:p>
        </p:txBody>
      </p:sp>
      <p:cxnSp>
        <p:nvCxnSpPr>
          <p:cNvPr id="386" name="Google Shape;386;p35"/>
          <p:cNvCxnSpPr/>
          <p:nvPr/>
        </p:nvCxnSpPr>
        <p:spPr>
          <a:xfrm>
            <a:off x="600075" y="1783080"/>
            <a:ext cx="0" cy="294894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7" name="Google Shape;387;p35"/>
          <p:cNvSpPr/>
          <p:nvPr/>
        </p:nvSpPr>
        <p:spPr>
          <a:xfrm>
            <a:off x="411480" y="1371600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411480" y="137160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960120" y="1357884"/>
            <a:ext cx="34290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Generador de transacciones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5"/>
          <p:cNvSpPr txBox="1"/>
          <p:nvPr/>
        </p:nvSpPr>
        <p:spPr>
          <a:xfrm>
            <a:off x="960120" y="1632204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Monto, origen, destino, frecuencia y hora en corredores de las Américas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35"/>
          <p:cNvCxnSpPr/>
          <p:nvPr/>
        </p:nvCxnSpPr>
        <p:spPr>
          <a:xfrm>
            <a:off x="600075" y="2523744"/>
            <a:ext cx="0" cy="294894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2" name="Google Shape;392;p35"/>
          <p:cNvSpPr/>
          <p:nvPr/>
        </p:nvSpPr>
        <p:spPr>
          <a:xfrm>
            <a:off x="411480" y="2112264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411480" y="2112264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960120" y="2098548"/>
            <a:ext cx="34290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Listas de sancionados simuladas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5"/>
          <p:cNvSpPr txBox="1"/>
          <p:nvPr/>
        </p:nvSpPr>
        <p:spPr>
          <a:xfrm>
            <a:off x="960120" y="2372868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Mismo formato que la lista pública SDN de la OFAC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35"/>
          <p:cNvCxnSpPr/>
          <p:nvPr/>
        </p:nvCxnSpPr>
        <p:spPr>
          <a:xfrm>
            <a:off x="600075" y="3264408"/>
            <a:ext cx="0" cy="294894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7" name="Google Shape;397;p35"/>
          <p:cNvSpPr/>
          <p:nvPr/>
        </p:nvSpPr>
        <p:spPr>
          <a:xfrm>
            <a:off x="411480" y="2852928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411480" y="2852928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5"/>
          <p:cNvSpPr txBox="1"/>
          <p:nvPr/>
        </p:nvSpPr>
        <p:spPr>
          <a:xfrm>
            <a:off x="960120" y="2839212"/>
            <a:ext cx="34290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Patrones inyectados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960120" y="3113532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Smurfing, layering y actividad inusual, etiquetados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411480" y="3593592"/>
            <a:ext cx="377190" cy="3771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411480" y="3593592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5"/>
          <p:cNvSpPr txBox="1"/>
          <p:nvPr/>
        </p:nvSpPr>
        <p:spPr>
          <a:xfrm>
            <a:off x="960120" y="3579876"/>
            <a:ext cx="34290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5"/>
          <p:cNvSpPr txBox="1"/>
          <p:nvPr/>
        </p:nvSpPr>
        <p:spPr>
          <a:xfrm>
            <a:off x="960120" y="3854196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Fuzzy matching de nombres + XGBoost / Random Forest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4697730" y="1337310"/>
            <a:ext cx="4032504" cy="2434590"/>
          </a:xfrm>
          <a:prstGeom prst="roundRect">
            <a:avLst>
              <a:gd fmla="val 281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405890"/>
            <a:ext cx="3840480" cy="229743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5"/>
          <p:cNvSpPr/>
          <p:nvPr/>
        </p:nvSpPr>
        <p:spPr>
          <a:xfrm>
            <a:off x="4697730" y="3895344"/>
            <a:ext cx="730377" cy="274320"/>
          </a:xfrm>
          <a:prstGeom prst="roundRect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4697730" y="3895344"/>
            <a:ext cx="73037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Precisión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5496687" y="3895344"/>
            <a:ext cx="555498" cy="274320"/>
          </a:xfrm>
          <a:prstGeom prst="roundRect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5496687" y="3895344"/>
            <a:ext cx="5554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6120765" y="3895344"/>
            <a:ext cx="322326" cy="274320"/>
          </a:xfrm>
          <a:prstGeom prst="roundRect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6120765" y="3895344"/>
            <a:ext cx="32232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6511671" y="3895344"/>
            <a:ext cx="672084" cy="274320"/>
          </a:xfrm>
          <a:prstGeom prst="roundRect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6511671" y="3895344"/>
            <a:ext cx="6720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Latencia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7252335" y="3895344"/>
            <a:ext cx="1138428" cy="274320"/>
          </a:xfrm>
          <a:prstGeom prst="roundRect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accent6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 txBox="1"/>
          <p:nvPr/>
        </p:nvSpPr>
        <p:spPr>
          <a:xfrm>
            <a:off x="7252335" y="3895344"/>
            <a:ext cx="11384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Falsos positivos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4697730" y="425196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8080" y="4312310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 txBox="1"/>
          <p:nvPr/>
        </p:nvSpPr>
        <p:spPr>
          <a:xfrm>
            <a:off x="5061204" y="4251960"/>
            <a:ext cx="36690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Cero datos reales de clientes: privacidad desde el dataset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"/>
          <p:cNvSpPr txBox="1"/>
          <p:nvPr>
            <p:ph idx="1" type="body"/>
          </p:nvPr>
        </p:nvSpPr>
        <p:spPr>
          <a:xfrm>
            <a:off x="576072" y="308610"/>
            <a:ext cx="6172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None/>
            </a:pPr>
            <a:r>
              <a:rPr b="1" lang="en" sz="900">
                <a:solidFill>
                  <a:schemeClr val="accent5"/>
                </a:solidFill>
              </a:rPr>
              <a:t>07 · IMPACTO · AI FOR GOOD</a:t>
            </a:r>
            <a:endParaRPr sz="900"/>
          </a:p>
        </p:txBody>
      </p:sp>
      <p:sp>
        <p:nvSpPr>
          <p:cNvPr id="427" name="Google Shape;427;p36"/>
          <p:cNvSpPr txBox="1"/>
          <p:nvPr>
            <p:ph type="title"/>
          </p:nvPr>
        </p:nvSpPr>
        <p:spPr>
          <a:xfrm>
            <a:off x="411480" y="5829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</a:rPr>
              <a:t>Cada punto de comisión es dinero para una familia</a:t>
            </a:r>
            <a:endParaRPr sz="2300"/>
          </a:p>
        </p:txBody>
      </p:sp>
      <p:sp>
        <p:nvSpPr>
          <p:cNvPr id="428" name="Google Shape;428;p36"/>
          <p:cNvSpPr/>
          <p:nvPr/>
        </p:nvSpPr>
        <p:spPr>
          <a:xfrm>
            <a:off x="411480" y="1405890"/>
            <a:ext cx="1981962" cy="1577340"/>
          </a:xfrm>
          <a:prstGeom prst="roundRect">
            <a:avLst>
              <a:gd fmla="val 4348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"/>
          <p:cNvSpPr/>
          <p:nvPr/>
        </p:nvSpPr>
        <p:spPr>
          <a:xfrm>
            <a:off x="582930" y="157734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0" name="Google Shape;43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473" y="1670883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6"/>
          <p:cNvSpPr txBox="1"/>
          <p:nvPr/>
        </p:nvSpPr>
        <p:spPr>
          <a:xfrm>
            <a:off x="582930" y="2091690"/>
            <a:ext cx="16802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Familias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582930" y="2366010"/>
            <a:ext cx="16802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remesas son el sustento de millones de hogares en las Américas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2523744" y="1405890"/>
            <a:ext cx="1981962" cy="1577340"/>
          </a:xfrm>
          <a:prstGeom prst="roundRect">
            <a:avLst>
              <a:gd fmla="val 4348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"/>
          <p:cNvSpPr/>
          <p:nvPr/>
        </p:nvSpPr>
        <p:spPr>
          <a:xfrm>
            <a:off x="2695194" y="157734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737" y="1670883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6"/>
          <p:cNvSpPr txBox="1"/>
          <p:nvPr/>
        </p:nvSpPr>
        <p:spPr>
          <a:xfrm>
            <a:off x="2695194" y="2091690"/>
            <a:ext cx="16802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Inclusión financiera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6"/>
          <p:cNvSpPr txBox="1"/>
          <p:nvPr/>
        </p:nvSpPr>
        <p:spPr>
          <a:xfrm>
            <a:off x="2695194" y="2366010"/>
            <a:ext cx="16802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Servicio para quienes la banca tradicional ignora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4636008" y="1405890"/>
            <a:ext cx="1981962" cy="1577340"/>
          </a:xfrm>
          <a:prstGeom prst="roundRect">
            <a:avLst>
              <a:gd fmla="val 4348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4807458" y="157734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1001" y="1670883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6"/>
          <p:cNvSpPr txBox="1"/>
          <p:nvPr/>
        </p:nvSpPr>
        <p:spPr>
          <a:xfrm>
            <a:off x="4807458" y="2091690"/>
            <a:ext cx="16802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Cumplimiento ágil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807458" y="2366010"/>
            <a:ext cx="16802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 regulación deja de ser un impuesto a la velocidad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6"/>
          <p:cNvSpPr/>
          <p:nvPr/>
        </p:nvSpPr>
        <p:spPr>
          <a:xfrm>
            <a:off x="6748272" y="1405890"/>
            <a:ext cx="1981962" cy="1577340"/>
          </a:xfrm>
          <a:prstGeom prst="roundRect">
            <a:avLst>
              <a:gd fmla="val 4348" name="adj"/>
            </a:avLst>
          </a:prstGeom>
          <a:solidFill>
            <a:schemeClr val="dk2"/>
          </a:solidFill>
          <a:ln cap="flat" cmpd="sng" w="9525">
            <a:solidFill>
              <a:schemeClr val="accent5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>
            <a:off x="6919722" y="157734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3265" y="1670883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6"/>
          <p:cNvSpPr txBox="1"/>
          <p:nvPr/>
        </p:nvSpPr>
        <p:spPr>
          <a:xfrm>
            <a:off x="6919722" y="2091690"/>
            <a:ext cx="16802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Escalable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919722" y="2366010"/>
            <a:ext cx="16802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Del corredor MX–EE. UU. a cualquier corredor del mundo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411480" y="3154680"/>
            <a:ext cx="831875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Transferencias sin fronteras. </a:t>
            </a:r>
            <a:r>
              <a:rPr b="1" i="0" lang="en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Riesgo con fronteras.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private/tmp/claude-501/-Users-haowei-Documents-Antimarrulla/5372125f-ee1a-4aa0-8aef-43e32d332201/scratchpad/deck/logo.png" id="449" name="Google Shape;44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480" y="373761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6"/>
          <p:cNvSpPr txBox="1"/>
          <p:nvPr/>
        </p:nvSpPr>
        <p:spPr>
          <a:xfrm>
            <a:off x="1371600" y="3771900"/>
            <a:ext cx="4800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Antimarrulla · UACJ · MIAAD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Combatimos la flojera y la procrastinación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github.com/UACJ-MIAAD/antimarrulla-ibmz-datathon-2026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6377940" y="3840480"/>
            <a:ext cx="235229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 txBox="1"/>
          <p:nvPr>
            <p:ph idx="4294967295" type="sldNum"/>
          </p:nvPr>
        </p:nvSpPr>
        <p:spPr>
          <a:xfrm>
            <a:off x="8387334" y="480060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imarrulla IBM Dark">
  <a:themeElements>
    <a:clrScheme name="Antimarrulla IBM Dark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FA4D56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