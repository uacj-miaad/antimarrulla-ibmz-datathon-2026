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7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9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0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2.xml" ContentType="application/vnd.openxmlformats-officedocument.drawingml.chart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4a45c958d541fe" /><Relationship Type="http://schemas.openxmlformats.org/officeDocument/2006/relationships/extended-properties" Target="/docProps/app.xml" Id="R4a61c25525f94e56" /><Relationship Type="http://schemas.openxmlformats.org/officeDocument/2006/relationships/officeDocument" Target="/ppt/presentation.xml" Id="R0f75165c976742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cbe602e93b444c"/>
  </p:sldMasterIdLst>
  <p:notesMasterIdLst>
    <p:notesMasterId xmlns:r="http://schemas.openxmlformats.org/officeDocument/2006/relationships" r:id="R2a4bc030a55e4972"/>
  </p:notesMasterIdLst>
  <p:sldIdLst>
    <p:sldId xmlns:r="http://schemas.openxmlformats.org/officeDocument/2006/relationships" id="256" r:id="R8935b187b4924700"/>
    <p:sldId xmlns:r="http://schemas.openxmlformats.org/officeDocument/2006/relationships" id="257" r:id="R6429160b009e4db7"/>
    <p:sldId xmlns:r="http://schemas.openxmlformats.org/officeDocument/2006/relationships" id="258" r:id="Rf3be400658ea4de9"/>
    <p:sldId xmlns:r="http://schemas.openxmlformats.org/officeDocument/2006/relationships" id="259" r:id="Rd1826de040384030"/>
    <p:sldId xmlns:r="http://schemas.openxmlformats.org/officeDocument/2006/relationships" id="260" r:id="R373084fbaf414612"/>
    <p:sldId xmlns:r="http://schemas.openxmlformats.org/officeDocument/2006/relationships" id="261" r:id="R080922269df3430a"/>
    <p:sldId xmlns:r="http://schemas.openxmlformats.org/officeDocument/2006/relationships" id="262" r:id="R45a994ae11524432"/>
    <p:sldId xmlns:r="http://schemas.openxmlformats.org/officeDocument/2006/relationships" id="263" r:id="R3edf90e6d9994d07"/>
    <p:sldId xmlns:r="http://schemas.openxmlformats.org/officeDocument/2006/relationships" id="264" r:id="Rfa48068cf22c4683"/>
    <p:sldId xmlns:r="http://schemas.openxmlformats.org/officeDocument/2006/relationships" id="265" r:id="R962c577bedb84400"/>
    <p:sldId xmlns:r="http://schemas.openxmlformats.org/officeDocument/2006/relationships" id="266" r:id="R329df2b63d8942b8"/>
    <p:sldId xmlns:r="http://schemas.openxmlformats.org/officeDocument/2006/relationships" id="267" r:id="R4695b6f1ab6e4c05"/>
    <p:sldId xmlns:r="http://schemas.openxmlformats.org/officeDocument/2006/relationships" id="268" r:id="R55b7c406d7db4a60"/>
    <p:sldId xmlns:r="http://schemas.openxmlformats.org/officeDocument/2006/relationships" id="269" r:id="Rede306d21f8646c9"/>
    <p:sldId xmlns:r="http://schemas.openxmlformats.org/officeDocument/2006/relationships" id="270" r:id="R0d1cb70cfd1644ae"/>
    <p:sldId xmlns:r="http://schemas.openxmlformats.org/officeDocument/2006/relationships" id="271" r:id="R1bab7dff65a54fa2"/>
    <p:sldId xmlns:r="http://schemas.openxmlformats.org/officeDocument/2006/relationships" id="272" r:id="R2542679e24154c7a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68a0bf3c3e4998" /><Relationship Type="http://schemas.openxmlformats.org/officeDocument/2006/relationships/slideMaster" Target="/ppt/slideMasters/slideMaster1.xml" Id="Ra4cbe602e93b444c" /><Relationship Type="http://schemas.openxmlformats.org/officeDocument/2006/relationships/notesMaster" Target="/ppt/notesMasters/notesMaster1.xml" Id="R2a4bc030a55e4972" /><Relationship Type="http://schemas.openxmlformats.org/officeDocument/2006/relationships/presProps" Target="/ppt/presProps.xml" Id="R171eb4b7ac474501" /><Relationship Type="http://schemas.openxmlformats.org/officeDocument/2006/relationships/viewProps" Target="/ppt/viewProps.xml" Id="Re8cf4f3395ae42a2" /><Relationship Type="http://schemas.openxmlformats.org/officeDocument/2006/relationships/tableStyles" Target="/ppt/tableStyles.xml" Id="Rcfd69cb173a34968" /><Relationship Type="http://schemas.openxmlformats.org/officeDocument/2006/relationships/slide" Target="/ppt/slides/slide1.xml" Id="R8935b187b4924700" /><Relationship Type="http://schemas.openxmlformats.org/officeDocument/2006/relationships/slide" Target="/ppt/slides/slide2.xml" Id="R6429160b009e4db7" /><Relationship Type="http://schemas.openxmlformats.org/officeDocument/2006/relationships/slide" Target="/ppt/slides/slide3.xml" Id="Rf3be400658ea4de9" /><Relationship Type="http://schemas.openxmlformats.org/officeDocument/2006/relationships/slide" Target="/ppt/slides/slide4.xml" Id="Rd1826de040384030" /><Relationship Type="http://schemas.openxmlformats.org/officeDocument/2006/relationships/slide" Target="/ppt/slides/slide5.xml" Id="R373084fbaf414612" /><Relationship Type="http://schemas.openxmlformats.org/officeDocument/2006/relationships/slide" Target="/ppt/slides/slide6.xml" Id="R080922269df3430a" /><Relationship Type="http://schemas.openxmlformats.org/officeDocument/2006/relationships/slide" Target="/ppt/slides/slide7.xml" Id="R45a994ae11524432" /><Relationship Type="http://schemas.openxmlformats.org/officeDocument/2006/relationships/slide" Target="/ppt/slides/slide8.xml" Id="R3edf90e6d9994d07" /><Relationship Type="http://schemas.openxmlformats.org/officeDocument/2006/relationships/slide" Target="/ppt/slides/slide9.xml" Id="Rfa48068cf22c4683" /><Relationship Type="http://schemas.openxmlformats.org/officeDocument/2006/relationships/slide" Target="/ppt/slides/slide10.xml" Id="R962c577bedb84400" /><Relationship Type="http://schemas.openxmlformats.org/officeDocument/2006/relationships/slide" Target="/ppt/slides/slide11.xml" Id="R329df2b63d8942b8" /><Relationship Type="http://schemas.openxmlformats.org/officeDocument/2006/relationships/slide" Target="/ppt/slides/slide12.xml" Id="R4695b6f1ab6e4c05" /><Relationship Type="http://schemas.openxmlformats.org/officeDocument/2006/relationships/slide" Target="/ppt/slides/slide13.xml" Id="R55b7c406d7db4a60" /><Relationship Type="http://schemas.openxmlformats.org/officeDocument/2006/relationships/slide" Target="/ppt/slides/slide14.xml" Id="Rede306d21f8646c9" /><Relationship Type="http://schemas.openxmlformats.org/officeDocument/2006/relationships/slide" Target="/ppt/slides/slide15.xml" Id="R0d1cb70cfd1644ae" /><Relationship Type="http://schemas.openxmlformats.org/officeDocument/2006/relationships/slide" Target="/ppt/slides/slide16.xml" Id="R1bab7dff65a54fa2" /><Relationship Type="http://schemas.openxmlformats.org/officeDocument/2006/relationships/slide" Target="/ppt/slides/slide17.xml" Id="R2542679e24154c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4cf98cf21144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Antimarrulla Ideas">
  <a:themeElements>
    <a:clrScheme name="Antimarrulla Ideas">
      <a:dk1>
        <a:srgbClr val="0E0E13"/>
      </a:dk1>
      <a:lt1>
        <a:srgbClr val="FFFFFF"/>
      </a:lt1>
      <a:dk2>
        <a:srgbClr val="1A1A24"/>
      </a:dk2>
      <a:lt2>
        <a:srgbClr val="E0E0E0"/>
      </a:lt2>
      <a:accent1>
        <a:srgbClr val="0F62FE"/>
      </a:accent1>
      <a:accent2>
        <a:srgbClr val="24A148"/>
      </a:accent2>
      <a:accent3>
        <a:srgbClr val="A56EFF"/>
      </a:accent3>
      <a:accent4>
        <a:srgbClr val="F1C21B"/>
      </a:accent4>
      <a:accent5>
        <a:srgbClr val="78A9FF"/>
      </a:accent5>
      <a:accent6>
        <a:srgbClr val="8D8D8D"/>
      </a:accent6>
      <a:hlink>
        <a:srgbClr val="78A9FF"/>
      </a:hlink>
      <a:folHlink>
        <a:srgbClr val="A6C8FF"/>
      </a:folHlink>
    </a:clrScheme>
    <a:fontScheme name="Antimarrulla Ide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ntimarrulla Idea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0318aaf2404161" /><Relationship Type="http://schemas.openxmlformats.org/officeDocument/2006/relationships/notesMaster" Target="/ppt/notesMasters/notesMaster1.xml" Id="Rd8b9d9e2893f4a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1ab511148a407c" /><Relationship Type="http://schemas.openxmlformats.org/officeDocument/2006/relationships/notesMaster" Target="/ppt/notesMasters/notesMaster1.xml" Id="Rada69def70f642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09d9c162504252" /><Relationship Type="http://schemas.openxmlformats.org/officeDocument/2006/relationships/notesMaster" Target="/ppt/notesMasters/notesMaster1.xml" Id="R468c99e5555a4a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33b67863084672" /><Relationship Type="http://schemas.openxmlformats.org/officeDocument/2006/relationships/notesMaster" Target="/ppt/notesMasters/notesMaster1.xml" Id="R5ad7238ccabe49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3e960504ac4485" /><Relationship Type="http://schemas.openxmlformats.org/officeDocument/2006/relationships/notesMaster" Target="/ppt/notesMasters/notesMaster1.xml" Id="R32c4738becb84b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3513fdd1714514" /><Relationship Type="http://schemas.openxmlformats.org/officeDocument/2006/relationships/notesMaster" Target="/ppt/notesMasters/notesMaster1.xml" Id="Rc664d15158964e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9872b74759411b" /><Relationship Type="http://schemas.openxmlformats.org/officeDocument/2006/relationships/notesMaster" Target="/ppt/notesMasters/notesMaster1.xml" Id="R765ae934571c4e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137703a6e64abe" /><Relationship Type="http://schemas.openxmlformats.org/officeDocument/2006/relationships/notesMaster" Target="/ppt/notesMasters/notesMaster1.xml" Id="R4462e392605646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d618098abd4cfb" /><Relationship Type="http://schemas.openxmlformats.org/officeDocument/2006/relationships/notesMaster" Target="/ppt/notesMasters/notesMaster1.xml" Id="R90587f0e8e8448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a8012c165042ca" /><Relationship Type="http://schemas.openxmlformats.org/officeDocument/2006/relationships/notesMaster" Target="/ppt/notesMasters/notesMaster1.xml" Id="Rea5e0930d2024e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033f6dafdb4468" /><Relationship Type="http://schemas.openxmlformats.org/officeDocument/2006/relationships/notesMaster" Target="/ppt/notesMasters/notesMaster1.xml" Id="R1f8b0b61346344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659b91484e43fb" /><Relationship Type="http://schemas.openxmlformats.org/officeDocument/2006/relationships/notesMaster" Target="/ppt/notesMasters/notesMaster1.xml" Id="Rc45a915093394d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055a0820ef40d3" /><Relationship Type="http://schemas.openxmlformats.org/officeDocument/2006/relationships/notesMaster" Target="/ppt/notesMasters/notesMaster1.xml" Id="R5589dbfab8a340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5a5bb1ae3c41f7" /><Relationship Type="http://schemas.openxmlformats.org/officeDocument/2006/relationships/notesMaster" Target="/ppt/notesMasters/notesMaster1.xml" Id="R80602ee32e574d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3a5ff750ae47db" /><Relationship Type="http://schemas.openxmlformats.org/officeDocument/2006/relationships/notesMaster" Target="/ppt/notesMasters/notesMaster1.xml" Id="R0655dedbcd3d43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bd3c3c0c614a56" /><Relationship Type="http://schemas.openxmlformats.org/officeDocument/2006/relationships/notesMaster" Target="/ppt/notesMasters/notesMaster1.xml" Id="Rdff95aa10e0f44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8a071b299b4e3e" /><Relationship Type="http://schemas.openxmlformats.org/officeDocument/2006/relationships/notesMaster" Target="/ppt/notesMasters/notesMaster1.xml" Id="R723274c4d68749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idea-selection document. Eleven proposals were assessed by three AI-simulated blind judges using distinct profiles and the IBM Z Datathon 2026 rubric. These are not scores or endorsements from the actual event judges.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ranking by the average of three simulated judges. The top four are separated by 1.3 points, so feasibility and demonstration scope also affect the decision.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Green: strongest AI score or feasibility. Yellow: feasibility below 3 out of 5.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Horizontal axis: simulated 24-hour feasibility. Vertical axis: average score out of 40. The green quadrant combines higher potential with reasonable feasibility.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simulated profiles: IBM Z specialist, AI for Good lead and AI/security researcher. Each selected a different winner, but Transfers without borders appeared in every top three.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recommendation: narrow the remittance proposal, add the SPEI pre-confirmation warning and evaluate performance under the proposed privacy controls. This recommendation was later superseded by selection of the Paillier screening MVP; see docs/DECISION.md.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AI-simulated assessment: Transfers without borders. Average score 29.3 / 40. Strength: Proposed IBM Z scope: multiple models, Granite and AES-GCM with CPACF. Limitation: Broad scope risks three incomplete layers. These are planning estimates, not scores from actual event judges or implementation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AI-simulated assessment: Screening on encrypted inputs. Average score 29.0 / 40. Strength: Verifiable accuracy comparison: encrypted vs. plaintext AUC. Limitation: TenSEAL/SEAL compilation on s390x could block delivery. These are planning estimates, not scores from actual event judges or implementation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AI-simulated assessment: Federated fraud detection for remittances. Average score 28.3 / 40. Strength: Clear visual demo: bank recall over training rounds. Limitation: FedAvg fraud detection is a familiar hackathon approach. These are planning estimates, not scores from actual event judges or implementation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AI-simulated assessment: SPEI fraud shield. Average score 28.0 / 40. Strength: Clear victim and a warning scene suitable for the video. Limitation: Familiar fraud scoring; the intervention supplies the novelty. These are planning estimates, not scores from actual event judges or implementation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AI-simulated assessment: Post-quantum scanner for banking. Average score 27.3 / 40. Strength: Distinctive fit with IBM Z quantum-safe security. Limitation: Mostly deterministic scanning; the LLM only writes the report. These are planning estimates, not scores from actual event judges or implementation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AI-simulated assessment: Private assistant for vulnerable people. Average score 26.7 / 40. Strength: Strong intended human benefit and a clear two-view demo. Limitation: End-to-end encryption leaves the AI execution location unresolved. These are planning estimates, not scores from actual event judges or implementation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AI-simulated assessment: Emergency triage for overcrowded clinics. Average score 24.3 / 40. Strength: High-stakes problem with an intuitive demo. Limitation: Manchester is rule-based; the idea is familiar. These are planning estimates, not scores from actual event judges or implementation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AI-simulated assessment: Mexican-document identifier redaction. Average score 22.3 / 40. Strength: Feasible and locally relevant: CURP, RFC and CLABE. Limitation: Similar to Presidio plus regex; limited AI novelty. These are planning estimates, not scores from actual event judges or implementation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AI-simulated assessment: False-invoice detector (CFDI). Average score 22.0 / 40. Strength: Official SAT EFOS source and clear local relevance. Limitation: Mainly list matching, with limited AI and no labeled data. These are planning estimates, not scores from actual event judges or implementation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AI-simulated assessment: Auto-insurance claim fraud. Average score 21.3 / 40. Strength: Concrete and demonstrable reused-photo detection. Limitation: Benefits insurers; weaker AI for Good fit and no public labels. These are planning estimates, not scores from actual event judges or implementation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AI-simulated assessment: Border-crossing delay predictor. Average score 18.3 / 40. Strength: Relevant to nearshoring and border manufacturing. Limitation: Unconfirmed data and limited IBM Z/security use. These are planning estimates, not scores from actual event judges or implementation results.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6393517dc44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5b28df275479b" /><Relationship Type="http://schemas.openxmlformats.org/officeDocument/2006/relationships/image" Target="/ppt/media/image.png" Id="R7e8f5ddb24b94d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662188c9340a3" /><Relationship Type="http://schemas.openxmlformats.org/officeDocument/2006/relationships/image" Target="/ppt/media/image2.png" Id="R983cdbfca7174b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5361789394998" /><Relationship Type="http://schemas.openxmlformats.org/officeDocument/2006/relationships/image" Target="/ppt/media/image3.png" Id="R5af60bc06c02441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PORTADA">
    <p:bg>
      <p:bgPr>
        <a:blipFill xmlns:a="http://schemas.openxmlformats.org/drawingml/2006/main" rotWithShape="1">
          <a:blip xmlns:r="http://schemas.openxmlformats.org/officeDocument/2006/relationships" r:embed="R7e8f5ddb24b94d6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DD6E9B7-DE25-488B-9338-E7B6A49B0F48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1783080"/>
            <a:ext cx="71323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48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48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CONTENIDO">
    <p:bg>
      <p:bgPr>
        <a:blipFill xmlns:a="http://schemas.openxmlformats.org/drawingml/2006/main" rotWithShape="1">
          <a:blip xmlns:r="http://schemas.openxmlformats.org/officeDocument/2006/relationships" r:embed="R983cdbfca7174bf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6243D1-DB91-41A1-AC21-8E3F0F71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42176E-C113-42DA-ABA9-E1BD3045D73B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buNone/>
              <a:defRPr sz="1200" b="1" kern="0" spc="200">
                <a:solidFill>
                  <a:schemeClr val="accent5"/>
                </a:solidFill>
              </a:defRPr>
            </a:lvl1pPr>
          </a:lstStyle>
          <a:p xmlns:a="http://schemas.openxmlformats.org/drawingml/2006/main">
            <a:pPr marL="0" indent="0">
              <a:buNone/>
            </a:pP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5F13EC7-C20C-4D00-A085-D38F2DC58A0A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30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30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689EDE2C-1BDD-4379-B9D4-BC9A9A8B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chemeClr val="accent6"/>
                </a:solidFill>
              </a:rPr>
              <a:t>Los Antimarrulla · Historical project ideas · IBM Z Datathon 2026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1BC5554-10C0-47AC-9F66-F50FECC0217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1003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CIERRE">
    <p:bg>
      <p:bgPr>
        <a:blipFill xmlns:a="http://schemas.openxmlformats.org/drawingml/2006/main" rotWithShape="1">
          <a:blip xmlns:r="http://schemas.openxmlformats.org/officeDocument/2006/relationships" r:embed="R5af60bc06c02441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A4E1ACD-F567-4C7F-8DA6-6C1645C1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"/>
            <a:ext cx="11887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BE2B316-893C-43D2-BE24-FD738E3C6B86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buNone/>
              <a:defRPr sz="1200" b="1" kern="0" spc="200">
                <a:solidFill>
                  <a:schemeClr val="accent5"/>
                </a:solidFill>
              </a:defRPr>
            </a:lvl1pPr>
          </a:lstStyle>
          <a:p xmlns:a="http://schemas.openxmlformats.org/drawingml/2006/main">
            <a:pPr marL="0" indent="0">
              <a:buNone/>
            </a:pP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7FC7254-33B3-42CD-807F-FD9CDD691B92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30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30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90B27319-F18A-499E-9CD3-87C9BEE3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chemeClr val="accent6"/>
                </a:solidFill>
              </a:rPr>
              <a:t>Los Antimarrulla · Historical project ideas · IBM Z Datathon 2026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8342C2B-07E0-4FA7-9332-552BD5C1237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1004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cea586417f4104" /><Relationship Type="http://schemas.openxmlformats.org/officeDocument/2006/relationships/slideLayout" Target="/ppt/slideLayouts/slideLayout1.xml" Id="R161e5e323fbf4a0b" /><Relationship Type="http://schemas.openxmlformats.org/officeDocument/2006/relationships/slideLayout" Target="/ppt/slideLayouts/slideLayout2.xml" Id="Ra6b30baa6de54bfb" /><Relationship Type="http://schemas.openxmlformats.org/officeDocument/2006/relationships/slideLayout" Target="/ppt/slideLayouts/slideLayout3.xml" Id="R668b7cbfabb6471b" /><Relationship Type="http://schemas.openxmlformats.org/officeDocument/2006/relationships/slideLayout" Target="/ppt/slideLayouts/slideLayout4.xml" Id="Rc2f7e4de4e9948f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B9A4998-CD8A-4D70-ACAE-4E612260EA1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1e5e323fbf4a0b"/>
    <p:sldLayoutId xmlns:r="http://schemas.openxmlformats.org/officeDocument/2006/relationships" id="2147483650" r:id="Ra6b30baa6de54bfb"/>
    <p:sldLayoutId xmlns:r="http://schemas.openxmlformats.org/officeDocument/2006/relationships" id="2147483651" r:id="R668b7cbfabb6471b"/>
    <p:sldLayoutId xmlns:r="http://schemas.openxmlformats.org/officeDocument/2006/relationships" id="2147483652" r:id="Rc2f7e4de4e9948f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Antimarrulla Ideas">
  <a:themeElements>
    <a:clrScheme name="Antimarrulla Ideas">
      <a:dk1>
        <a:srgbClr val="0E0E13"/>
      </a:dk1>
      <a:lt1>
        <a:srgbClr val="FFFFFF"/>
      </a:lt1>
      <a:dk2>
        <a:srgbClr val="1A1A24"/>
      </a:dk2>
      <a:lt2>
        <a:srgbClr val="E0E0E0"/>
      </a:lt2>
      <a:accent1>
        <a:srgbClr val="0F62FE"/>
      </a:accent1>
      <a:accent2>
        <a:srgbClr val="24A148"/>
      </a:accent2>
      <a:accent3>
        <a:srgbClr val="A56EFF"/>
      </a:accent3>
      <a:accent4>
        <a:srgbClr val="F1C21B"/>
      </a:accent4>
      <a:accent5>
        <a:srgbClr val="78A9FF"/>
      </a:accent5>
      <a:accent6>
        <a:srgbClr val="8D8D8D"/>
      </a:accent6>
      <a:hlink>
        <a:srgbClr val="78A9FF"/>
      </a:hlink>
      <a:folHlink>
        <a:srgbClr val="A6C8FF"/>
      </a:folHlink>
    </a:clrScheme>
    <a:fontScheme name="Antimarrulla Ide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ntimarrulla Idea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a4af7e8cae44e3" /><Relationship Type="http://schemas.openxmlformats.org/officeDocument/2006/relationships/image" Target="/ppt/media/image4.png" Id="Rca53b5e312ac4c57" /><Relationship Type="http://schemas.openxmlformats.org/officeDocument/2006/relationships/notesSlide" Target="/ppt/notesSlides/notesSlide1.xml" Id="R29d626d2ea124e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0e04a2bc1954bea" /><Relationship Type="http://schemas.openxmlformats.org/officeDocument/2006/relationships/chart" Target="/ppt/slides/charts/chart1.xml" Id="R308feba861c441d2" /><Relationship Type="http://schemas.openxmlformats.org/officeDocument/2006/relationships/notesSlide" Target="/ppt/notesSlides/notesSlide2.xml" Id="R2bf06e547d1545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28dbb752dc4d35" /><Relationship Type="http://schemas.openxmlformats.org/officeDocument/2006/relationships/notesSlide" Target="/ppt/notesSlides/notesSlide3.xml" Id="Ra1e41761e9a945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ab967cf4c94ee6" /><Relationship Type="http://schemas.openxmlformats.org/officeDocument/2006/relationships/image" Target="/ppt/media/image5.png" Id="Rc0851f8395b24343" /><Relationship Type="http://schemas.openxmlformats.org/officeDocument/2006/relationships/image" Target="/ppt/media/image6.png" Id="R69b8ab4b0a37419a" /><Relationship Type="http://schemas.openxmlformats.org/officeDocument/2006/relationships/image" Target="/ppt/media/image7.png" Id="Re6472f6321a24878" /><Relationship Type="http://schemas.openxmlformats.org/officeDocument/2006/relationships/notesSlide" Target="/ppt/notesSlides/notesSlide4.xml" Id="Rc590d93fadff41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48e96e4b5984121" /><Relationship Type="http://schemas.openxmlformats.org/officeDocument/2006/relationships/image" Target="/ppt/media/image8.png" Id="Re96752f3772841aa" /><Relationship Type="http://schemas.openxmlformats.org/officeDocument/2006/relationships/image" Target="/ppt/media/image9.png" Id="R796302107c9b4ff3" /><Relationship Type="http://schemas.openxmlformats.org/officeDocument/2006/relationships/image" Target="/ppt/media/image10.png" Id="R327481661a8d4b29" /><Relationship Type="http://schemas.openxmlformats.org/officeDocument/2006/relationships/notesSlide" Target="/ppt/notesSlides/notesSlide5.xml" Id="Rb94b9e26b5b542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b02e920a1d4e61" /><Relationship Type="http://schemas.openxmlformats.org/officeDocument/2006/relationships/image" Target="/ppt/media/image11.png" Id="R2f5b1b10c49447e3" /><Relationship Type="http://schemas.openxmlformats.org/officeDocument/2006/relationships/image" Target="/ppt/media/image12.png" Id="R061e9506ddc44aba" /><Relationship Type="http://schemas.openxmlformats.org/officeDocument/2006/relationships/image" Target="/ppt/media/image13.png" Id="R642d25fcea5e4e9d" /><Relationship Type="http://schemas.openxmlformats.org/officeDocument/2006/relationships/image" Target="/ppt/media/image14.png" Id="Rc3183e5a467e435c" /><Relationship Type="http://schemas.openxmlformats.org/officeDocument/2006/relationships/image" Target="/ppt/media/image15.png" Id="Ra2d6cec4cd9f4a89" /><Relationship Type="http://schemas.openxmlformats.org/officeDocument/2006/relationships/notesSlide" Target="/ppt/notesSlides/notesSlide6.xml" Id="R5f6956c8cc5843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bb797e826ee4460" /><Relationship Type="http://schemas.openxmlformats.org/officeDocument/2006/relationships/image" Target="/ppt/media/image16.png" Id="R514ac430dd894ddc" /><Relationship Type="http://schemas.openxmlformats.org/officeDocument/2006/relationships/image" Target="/ppt/media/image17.png" Id="Rfb6ad2d256b444e1" /><Relationship Type="http://schemas.openxmlformats.org/officeDocument/2006/relationships/image" Target="/ppt/media/image18.png" Id="Rf3767966ceb2482b" /><Relationship Type="http://schemas.openxmlformats.org/officeDocument/2006/relationships/chart" Target="/ppt/slides/charts/chart2.xml" Id="Rb0af3e369b7d4811" /><Relationship Type="http://schemas.openxmlformats.org/officeDocument/2006/relationships/notesSlide" Target="/ppt/notesSlides/notesSlide7.xml" Id="Ra792e41ab7f54c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de6c2177d44a00" /><Relationship Type="http://schemas.openxmlformats.org/officeDocument/2006/relationships/image" Target="/ppt/media/image19.png" Id="R42fb52d498754581" /><Relationship Type="http://schemas.openxmlformats.org/officeDocument/2006/relationships/image" Target="/ppt/media/image20.png" Id="Rd06a5886436b4861" /><Relationship Type="http://schemas.openxmlformats.org/officeDocument/2006/relationships/image" Target="/ppt/media/image21.png" Id="Rff86fb68d5d34976" /><Relationship Type="http://schemas.openxmlformats.org/officeDocument/2006/relationships/chart" Target="/ppt/slides/charts/chart3.xml" Id="R8becb332984c4bcd" /><Relationship Type="http://schemas.openxmlformats.org/officeDocument/2006/relationships/notesSlide" Target="/ppt/notesSlides/notesSlide8.xml" Id="Rc24ef027916448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7527913dac4df4" /><Relationship Type="http://schemas.openxmlformats.org/officeDocument/2006/relationships/image" Target="/ppt/media/image22.png" Id="Rfb8c13a355d746a1" /><Relationship Type="http://schemas.openxmlformats.org/officeDocument/2006/relationships/image" Target="/ppt/media/image23.png" Id="R1ce54972e25a4daf" /><Relationship Type="http://schemas.openxmlformats.org/officeDocument/2006/relationships/image" Target="/ppt/media/image24.png" Id="R09d8d3d541084487" /><Relationship Type="http://schemas.openxmlformats.org/officeDocument/2006/relationships/chart" Target="/ppt/slides/charts/chart4.xml" Id="R78da6453c7f74d48" /><Relationship Type="http://schemas.openxmlformats.org/officeDocument/2006/relationships/notesSlide" Target="/ppt/notesSlides/notesSlide9.xml" Id="R05ed4c300cbe49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e92a1c1af840c1" /><Relationship Type="http://schemas.openxmlformats.org/officeDocument/2006/relationships/image" Target="/ppt/media/image25.png" Id="R308cdb35165d46b8" /><Relationship Type="http://schemas.openxmlformats.org/officeDocument/2006/relationships/image" Target="/ppt/media/image26.png" Id="R8f8373bebec34324" /><Relationship Type="http://schemas.openxmlformats.org/officeDocument/2006/relationships/image" Target="/ppt/media/image27.png" Id="R882bf3a78e0c487a" /><Relationship Type="http://schemas.openxmlformats.org/officeDocument/2006/relationships/chart" Target="/ppt/slides/charts/chart5.xml" Id="Rdb83d31aa6944718" /><Relationship Type="http://schemas.openxmlformats.org/officeDocument/2006/relationships/notesSlide" Target="/ppt/notesSlides/notesSlide10.xml" Id="R3d994a07857d44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950bae473a4f50" /><Relationship Type="http://schemas.openxmlformats.org/officeDocument/2006/relationships/image" Target="/ppt/media/image28.png" Id="R331bb7b538404486" /><Relationship Type="http://schemas.openxmlformats.org/officeDocument/2006/relationships/image" Target="/ppt/media/image29.png" Id="R116a8da0d4944320" /><Relationship Type="http://schemas.openxmlformats.org/officeDocument/2006/relationships/image" Target="/ppt/media/image30.png" Id="R7fa71f64314f4d40" /><Relationship Type="http://schemas.openxmlformats.org/officeDocument/2006/relationships/chart" Target="/ppt/slides/charts/chart6.xml" Id="R13503927c7ba4dd8" /><Relationship Type="http://schemas.openxmlformats.org/officeDocument/2006/relationships/notesSlide" Target="/ppt/notesSlides/notesSlide11.xml" Id="Rd1e2f2c7679944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5c02b888584ece" /><Relationship Type="http://schemas.openxmlformats.org/officeDocument/2006/relationships/image" Target="/ppt/media/image31.png" Id="R6acbc16b3b7f44f0" /><Relationship Type="http://schemas.openxmlformats.org/officeDocument/2006/relationships/image" Target="/ppt/media/image32.png" Id="R768a9326913347ff" /><Relationship Type="http://schemas.openxmlformats.org/officeDocument/2006/relationships/image" Target="/ppt/media/image33.png" Id="Rcb120cca095a4989" /><Relationship Type="http://schemas.openxmlformats.org/officeDocument/2006/relationships/chart" Target="/ppt/slides/charts/chart7.xml" Id="R99f2ac5825b24f76" /><Relationship Type="http://schemas.openxmlformats.org/officeDocument/2006/relationships/notesSlide" Target="/ppt/notesSlides/notesSlide12.xml" Id="Re993e86789e644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674907926c4a2a" /><Relationship Type="http://schemas.openxmlformats.org/officeDocument/2006/relationships/image" Target="/ppt/media/image34.png" Id="Reef118c82d2e4a6b" /><Relationship Type="http://schemas.openxmlformats.org/officeDocument/2006/relationships/image" Target="/ppt/media/image35.png" Id="R1aafd0ce635d43a3" /><Relationship Type="http://schemas.openxmlformats.org/officeDocument/2006/relationships/image" Target="/ppt/media/image36.png" Id="R44c8877c780a452f" /><Relationship Type="http://schemas.openxmlformats.org/officeDocument/2006/relationships/chart" Target="/ppt/slides/charts/chart8.xml" Id="R4af11c9ece534de0" /><Relationship Type="http://schemas.openxmlformats.org/officeDocument/2006/relationships/notesSlide" Target="/ppt/notesSlides/notesSlide13.xml" Id="R6def528da6a743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94f3a8963f541f7" /><Relationship Type="http://schemas.openxmlformats.org/officeDocument/2006/relationships/image" Target="/ppt/media/image37.png" Id="R143d3491215b41a6" /><Relationship Type="http://schemas.openxmlformats.org/officeDocument/2006/relationships/image" Target="/ppt/media/image38.png" Id="Re01fed9f19434208" /><Relationship Type="http://schemas.openxmlformats.org/officeDocument/2006/relationships/image" Target="/ppt/media/image39.png" Id="Rd67420c9461a4b0f" /><Relationship Type="http://schemas.openxmlformats.org/officeDocument/2006/relationships/chart" Target="/ppt/slides/charts/chart9.xml" Id="R06d9670f2c0340a7" /><Relationship Type="http://schemas.openxmlformats.org/officeDocument/2006/relationships/notesSlide" Target="/ppt/notesSlides/notesSlide14.xml" Id="Rb73f9e9e059248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b0d29166a194589" /><Relationship Type="http://schemas.openxmlformats.org/officeDocument/2006/relationships/image" Target="/ppt/media/image40.png" Id="R7aa708cdea894236" /><Relationship Type="http://schemas.openxmlformats.org/officeDocument/2006/relationships/image" Target="/ppt/media/image41.png" Id="Rc132a5362435496e" /><Relationship Type="http://schemas.openxmlformats.org/officeDocument/2006/relationships/image" Target="/ppt/media/image42.png" Id="Rfc9dcdc3d8c44f75" /><Relationship Type="http://schemas.openxmlformats.org/officeDocument/2006/relationships/chart" Target="/ppt/slides/charts/chart10.xml" Id="R82190e81119b4224" /><Relationship Type="http://schemas.openxmlformats.org/officeDocument/2006/relationships/notesSlide" Target="/ppt/notesSlides/notesSlide15.xml" Id="Re2f0d56252d24b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eb57a646604e88" /><Relationship Type="http://schemas.openxmlformats.org/officeDocument/2006/relationships/image" Target="/ppt/media/image43.png" Id="Raf351fe38eea4918" /><Relationship Type="http://schemas.openxmlformats.org/officeDocument/2006/relationships/image" Target="/ppt/media/image44.png" Id="Rbe197dc36a82420d" /><Relationship Type="http://schemas.openxmlformats.org/officeDocument/2006/relationships/image" Target="/ppt/media/image45.png" Id="R1c54d0f112524baa" /><Relationship Type="http://schemas.openxmlformats.org/officeDocument/2006/relationships/chart" Target="/ppt/slides/charts/chart11.xml" Id="R4466dde8f9354b2d" /><Relationship Type="http://schemas.openxmlformats.org/officeDocument/2006/relationships/notesSlide" Target="/ppt/notesSlides/notesSlide16.xml" Id="R5dcee0dfacc848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917bfa05084318" /><Relationship Type="http://schemas.openxmlformats.org/officeDocument/2006/relationships/image" Target="/ppt/media/image46.png" Id="Rd653b271bd864457" /><Relationship Type="http://schemas.openxmlformats.org/officeDocument/2006/relationships/image" Target="/ppt/media/image47.png" Id="R9e0786bb0bec4128" /><Relationship Type="http://schemas.openxmlformats.org/officeDocument/2006/relationships/image" Target="/ppt/media/image48.png" Id="R235e2795ddd94e3e" /><Relationship Type="http://schemas.openxmlformats.org/officeDocument/2006/relationships/chart" Target="/ppt/slides/charts/chart12.xml" Id="Ra9a4221df9144fe3" /><Relationship Type="http://schemas.openxmlformats.org/officeDocument/2006/relationships/notesSlide" Target="/ppt/notesSlides/notesSlide17.xml" Id="R4edd3f7f10d74ed0" /></Relationships>
</file>

<file path=ppt/slides/charts/_rels/chart1.xml.rels><?xml version='1.0' encoding='utf-8'?>
<ns0:Relationships xmlns:ns0="http://schemas.openxmlformats.org/package/2006/relationships"><ns0:Relationship Id="rId1" Type="http://schemas.openxmlformats.org/officeDocument/2006/relationships/package" Target="../../embeddings/Microsoft_Excel_Worksheet1.xlsx" /></ns0:Relationships>
</file>

<file path=ppt/slides/charts/_rels/chart2.xml.rels><?xml version='1.0' encoding='utf-8'?>
<ns0:Relationships xmlns:ns0="http://schemas.openxmlformats.org/package/2006/relationships"><ns0:Relationship Id="rId1" Type="http://schemas.openxmlformats.org/officeDocument/2006/relationships/package" Target="../../embeddings/Microsoft_Excel_Worksheet2.xlsx" /></ns0:Relationships>
</file>

<file path=ppt/slides/charts/_rels/chart3.xml.rels><?xml version='1.0' encoding='utf-8'?>
<ns0:Relationships xmlns:ns0="http://schemas.openxmlformats.org/package/2006/relationships"><ns0:Relationship Id="rId1" Type="http://schemas.openxmlformats.org/officeDocument/2006/relationships/package" Target="../../embeddings/Microsoft_Excel_Worksheet3.xlsx" /></ns0:Relationships>
</file>

<file path=ppt/slides/charts/_rels/chart4.xml.rels><?xml version='1.0' encoding='utf-8'?>
<ns0:Relationships xmlns:ns0="http://schemas.openxmlformats.org/package/2006/relationships"><ns0:Relationship Id="rId1" Type="http://schemas.openxmlformats.org/officeDocument/2006/relationships/package" Target="../../embeddings/Microsoft_Excel_Worksheet4.xlsx" /></ns0:Relationships>
</file>

<file path=ppt/slides/charts/_rels/chart5.xml.rels><?xml version='1.0' encoding='utf-8'?>
<ns0:Relationships xmlns:ns0="http://schemas.openxmlformats.org/package/2006/relationships"><ns0:Relationship Id="rId1" Type="http://schemas.openxmlformats.org/officeDocument/2006/relationships/package" Target="../../embeddings/Microsoft_Excel_Worksheet5.xlsx" /></ns0:Relationships>
</file>

<file path=ppt/slides/charts/_rels/chart6.xml.rels><?xml version='1.0' encoding='utf-8'?>
<ns0:Relationships xmlns:ns0="http://schemas.openxmlformats.org/package/2006/relationships"><ns0:Relationship Id="rId1" Type="http://schemas.openxmlformats.org/officeDocument/2006/relationships/package" Target="../../embeddings/Microsoft_Excel_Worksheet6.xlsx" /></ns0:Relationships>
</file>

<file path=ppt/slides/charts/_rels/chart7.xml.rels><?xml version='1.0' encoding='utf-8'?>
<ns0:Relationships xmlns:ns0="http://schemas.openxmlformats.org/package/2006/relationships"><ns0:Relationship Id="rId1" Type="http://schemas.openxmlformats.org/officeDocument/2006/relationships/package" Target="../../embeddings/Microsoft_Excel_Worksheet7.xlsx" /></ns0:Relationships>
</file>

<file path=ppt/slides/charts/_rels/chart8.xml.rels><?xml version='1.0' encoding='utf-8'?>
<ns0:Relationships xmlns:ns0="http://schemas.openxmlformats.org/package/2006/relationships"><ns0:Relationship Id="rId1" Type="http://schemas.openxmlformats.org/officeDocument/2006/relationships/package" Target="../../embeddings/Microsoft_Excel_Worksheet8.xlsx" /></ns0:Relationships>
</file>

<file path=ppt/slides/charts/_rels/chart9.xml.rels><?xml version='1.0' encoding='utf-8'?>
<ns0:Relationships xmlns:ns0="http://schemas.openxmlformats.org/package/2006/relationships"><ns0:Relationship Id="rId1" Type="http://schemas.openxmlformats.org/officeDocument/2006/relationships/package" Target="../../embeddings/Microsoft_Excel_Worksheet9.xlsx" /></ns0:Relationships>
</file>

<file path=ppt/slides/charts/_rels/chart10.xml.rels><?xml version='1.0' encoding='utf-8'?>
<ns0:Relationships xmlns:ns0="http://schemas.openxmlformats.org/package/2006/relationships"><ns0:Relationship Id="rId1" Type="http://schemas.openxmlformats.org/officeDocument/2006/relationships/package" Target="../../embeddings/Microsoft_Excel_Worksheet10.xlsx" /></ns0:Relationships>
</file>

<file path=ppt/slides/charts/_rels/chart11.xml.rels><?xml version='1.0' encoding='utf-8'?>
<ns0:Relationships xmlns:ns0="http://schemas.openxmlformats.org/package/2006/relationships"><ns0:Relationship Id="rId1" Type="http://schemas.openxmlformats.org/officeDocument/2006/relationships/package" Target="../../embeddings/Microsoft_Excel_Worksheet11.xlsx" /></ns0:Relationships>
</file>

<file path=ppt/slides/charts/_rels/chart12.xml.rels><?xml version='1.0' encoding='utf-8'?>
<ns0:Relationships xmlns:ns0="http://schemas.openxmlformats.org/package/2006/relationships"><ns0:Relationship Id="rId1" Type="http://schemas.openxmlformats.org/officeDocument/2006/relationships/package" Target="../../embeddings/Microsoft_Excel_Worksheet12.xlsx" /></ns0: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title>
      <c:tx>
        <c:rich>
          <a:bodyPr/>
          <a:lstStyle/>
          <a:p>
            <a:r>
              <a:rPr sz="1300" b="0" i="0" u="none" strike="noStrike">
                <a:solidFill>
                  <a:srgbClr val="FFFFFF"/>
                </a:solidFill>
                <a:latin typeface="+mn-lt"/>
                <a:ea typeface="+mn-lt"/>
                <a:cs typeface="+mn-lt"/>
              </a:rPr>
              <a:t>Average of 3 simulated judges (max. 40)</a:t>
            </a:r>
          </a:p>
        </c:rich>
      </c:tx>
      <c:overlay val="0"/>
      <c:txPr>
        <a:bodyPr anchorCtr="1"/>
        <a:lstStyle/>
        <a:p>
          <a:pPr>
            <a:defRPr sz="1300" b="0" i="0" u="none" strike="noStrike">
              <a:solidFill>
                <a:srgbClr val="FFFFFF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Real-Time AI for Critical Decisions</c:v>
                </c:pt>
              </c:strCache>
            </c:strRef>
          </c:tx>
          <c:spPr>
            <a:solidFill>
              <a:srgbClr val="F1C21B"/>
            </a:solidFill>
          </c:spPr>
          <c:invertIfNegative val="0"/>
          <c:dLbls>
            <c:numFmt formatCode="0.0;;;" sourceLinked="0"/>
            <c:txPr>
              <a:bodyPr anchorCtr="1"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1. Remittances + OFAC/AML</c:v>
                </c:pt>
                <c:pt idx="1">
                  <c:v>2. Encrypted diabetes</c:v>
                </c:pt>
                <c:pt idx="2">
                  <c:v>3. Federated fraud detection</c:v>
                </c:pt>
                <c:pt idx="3">
                  <c:v>4. SPEI shield</c:v>
                </c:pt>
                <c:pt idx="4">
                  <c:v>5. Post-quantum scanner</c:v>
                </c:pt>
                <c:pt idx="5">
                  <c:v>6. Private assistant</c:v>
                </c:pt>
                <c:pt idx="6">
                  <c:v>7. Emergency triage</c:v>
                </c:pt>
                <c:pt idx="7">
                  <c:v>8. Mexican ID redaction</c:v>
                </c:pt>
                <c:pt idx="8">
                  <c:v>9. False CFDI invoices</c:v>
                </c:pt>
                <c:pt idx="9">
                  <c:v>10. Insurance fraud</c:v>
                </c:pt>
                <c:pt idx="10">
                  <c:v>11. Border delays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29.3</c:v>
                </c:pt>
                <c:pt idx="1">
                  <c:v>0</c:v>
                </c:pt>
                <c:pt idx="2">
                  <c:v>0</c:v>
                </c:pt>
                <c:pt idx="3">
                  <c:v>28</c:v>
                </c:pt>
                <c:pt idx="4">
                  <c:v>0</c:v>
                </c:pt>
                <c:pt idx="5">
                  <c:v>0</c:v>
                </c:pt>
                <c:pt idx="6">
                  <c:v>24.3</c:v>
                </c:pt>
                <c:pt idx="7">
                  <c:v>0</c:v>
                </c:pt>
                <c:pt idx="8">
                  <c:v>0</c:v>
                </c:pt>
                <c:pt idx="9">
                  <c:v>21.3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Secured: Innovation Without Exposure</c:v>
                </c:pt>
              </c:strCache>
            </c:strRef>
          </c:tx>
          <c:spPr>
            <a:solidFill>
              <a:srgbClr val="0F62FE"/>
            </a:solidFill>
          </c:spPr>
          <c:invertIfNegative val="0"/>
          <c:dLbls>
            <c:numFmt formatCode="0.0;;;" sourceLinked="0"/>
            <c:txPr>
              <a:bodyPr anchorCtr="1"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1. Remittances + OFAC/AML</c:v>
                </c:pt>
                <c:pt idx="1">
                  <c:v>2. Encrypted diabetes</c:v>
                </c:pt>
                <c:pt idx="2">
                  <c:v>3. Federated fraud detection</c:v>
                </c:pt>
                <c:pt idx="3">
                  <c:v>4. SPEI shield</c:v>
                </c:pt>
                <c:pt idx="4">
                  <c:v>5. Post-quantum scanner</c:v>
                </c:pt>
                <c:pt idx="5">
                  <c:v>6. Private assistant</c:v>
                </c:pt>
                <c:pt idx="6">
                  <c:v>7. Emergency triage</c:v>
                </c:pt>
                <c:pt idx="7">
                  <c:v>8. Mexican ID redaction</c:v>
                </c:pt>
                <c:pt idx="8">
                  <c:v>9. False CFDI invoices</c:v>
                </c:pt>
                <c:pt idx="9">
                  <c:v>10. Insurance fraud</c:v>
                </c:pt>
                <c:pt idx="10">
                  <c:v>11. Border delays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29</c:v>
                </c:pt>
                <c:pt idx="2">
                  <c:v>28.3</c:v>
                </c:pt>
                <c:pt idx="3">
                  <c:v>0</c:v>
                </c:pt>
                <c:pt idx="4">
                  <c:v>27.3</c:v>
                </c:pt>
                <c:pt idx="5">
                  <c:v>26.7</c:v>
                </c:pt>
                <c:pt idx="6">
                  <c:v>0</c:v>
                </c:pt>
                <c:pt idx="7">
                  <c:v>22.3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Wildcard: Beyond the Obvious</c:v>
                </c:pt>
              </c:strCache>
            </c:strRef>
          </c:tx>
          <c:spPr>
            <a:solidFill>
              <a:srgbClr val="A56EFF"/>
            </a:solidFill>
          </c:spPr>
          <c:invertIfNegative val="0"/>
          <c:dLbls>
            <c:numFmt formatCode="0.0;;;" sourceLinked="0"/>
            <c:txPr>
              <a:bodyPr anchorCtr="1"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1. Remittances + OFAC/AML</c:v>
                </c:pt>
                <c:pt idx="1">
                  <c:v>2. Encrypted diabetes</c:v>
                </c:pt>
                <c:pt idx="2">
                  <c:v>3. Federated fraud detection</c:v>
                </c:pt>
                <c:pt idx="3">
                  <c:v>4. SPEI shield</c:v>
                </c:pt>
                <c:pt idx="4">
                  <c:v>5. Post-quantum scanner</c:v>
                </c:pt>
                <c:pt idx="5">
                  <c:v>6. Private assistant</c:v>
                </c:pt>
                <c:pt idx="6">
                  <c:v>7. Emergency triage</c:v>
                </c:pt>
                <c:pt idx="7">
                  <c:v>8. Mexican ID redaction</c:v>
                </c:pt>
                <c:pt idx="8">
                  <c:v>9. False CFDI invoices</c:v>
                </c:pt>
                <c:pt idx="9">
                  <c:v>10. Insurance fraud</c:v>
                </c:pt>
                <c:pt idx="10">
                  <c:v>11. Border delays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22</c:v>
                </c:pt>
                <c:pt idx="9">
                  <c:v>0</c:v>
                </c:pt>
                <c:pt idx="10">
                  <c:v>18.3</c:v>
                </c:pt>
              </c:numCache>
            </c:numRef>
          </c:val>
        </c:ser>
        <c:dLbls>
          <c:numFmt formatCode="0.0;;;" sourceLinked="0"/>
          <c:txPr>
            <a:bodyPr anchorCtr="1"/>
            <a:lstStyle/>
            <a:p>
              <a:pPr>
                <a:defRPr sz="1100" b="1" i="0" u="none" strike="noStrike">
                  <a:solidFill>
                    <a:srgbClr val="FFFFFF"/>
                  </a:solidFill>
                  <a:latin typeface="+mn-lt"/>
                  <a:ea typeface="+mn-lt"/>
                  <a:cs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>
            <a:noFill/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E0E0E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F1C21B"/>
            </a:solidFill>
          </c:spPr>
          <c:invertIfNegative val="0"/>
          <c:dLbls>
            <c:numFmt formatCode="0.0" sourceLinked="0"/>
            <c:txPr>
              <a:bodyPr anchorCtr="1"/>
              <a:lstStyle/>
              <a:p>
                <a:pPr>
                  <a:defRPr sz="1100" b="0" i="0" u="none" strike="noStrike">
                    <a:solidFill>
                      <a:srgbClr val="E0E0E0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Value / theme</c:v>
                </c:pt>
                <c:pt idx="1">
                  <c:v>Novelty</c:v>
                </c:pt>
                <c:pt idx="2">
                  <c:v>LinuxONE design</c:v>
                </c:pt>
                <c:pt idx="3">
                  <c:v>Execution / pitch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</c:v>
                </c:pt>
                <c:pt idx="1">
                  <c:v>5.7</c:v>
                </c:pt>
                <c:pt idx="2">
                  <c:v>8.3</c:v>
                </c:pt>
                <c:pt idx="3">
                  <c:v>7</c:v>
                </c:pt>
              </c:numCache>
            </c:numRef>
          </c:val>
        </c:ser>
        <c:dLbls>
          <c:numFmt formatCode="0.0" sourceLinked="0"/>
          <c:txPr>
            <a:bodyPr anchorCtr="1"/>
            <a:lstStyle/>
            <a:p>
              <a:pPr>
                <a:defRPr sz="1100" b="0" i="0" u="none" strike="noStrike">
                  <a:solidFill>
                    <a:srgbClr val="E0E0E0"/>
                  </a:solidFill>
                  <a:latin typeface="+mn-lt"/>
                  <a:ea typeface="+mn-lt"/>
                  <a:cs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>
            <a:noFill/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0F62FE"/>
            </a:solidFill>
          </c:spPr>
          <c:invertIfNegative val="0"/>
          <c:dLbls>
            <c:numFmt formatCode="0.0" sourceLinked="0"/>
            <c:txPr>
              <a:bodyPr anchorCtr="1"/>
              <a:lstStyle/>
              <a:p>
                <a:pPr>
                  <a:defRPr sz="1100" b="0" i="0" u="none" strike="noStrike">
                    <a:solidFill>
                      <a:srgbClr val="E0E0E0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Value / theme</c:v>
                </c:pt>
                <c:pt idx="1">
                  <c:v>Novelty</c:v>
                </c:pt>
                <c:pt idx="2">
                  <c:v>LinuxONE design</c:v>
                </c:pt>
                <c:pt idx="3">
                  <c:v>Execution / pitch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7.3</c:v>
                </c:pt>
                <c:pt idx="1">
                  <c:v>8</c:v>
                </c:pt>
                <c:pt idx="2">
                  <c:v>7.3</c:v>
                </c:pt>
                <c:pt idx="3">
                  <c:v>6.3</c:v>
                </c:pt>
              </c:numCache>
            </c:numRef>
          </c:val>
        </c:ser>
        <c:dLbls>
          <c:numFmt formatCode="0.0" sourceLinked="0"/>
          <c:txPr>
            <a:bodyPr anchorCtr="1"/>
            <a:lstStyle/>
            <a:p>
              <a:pPr>
                <a:defRPr sz="1100" b="0" i="0" u="none" strike="noStrike">
                  <a:solidFill>
                    <a:srgbClr val="E0E0E0"/>
                  </a:solidFill>
                  <a:latin typeface="+mn-lt"/>
                  <a:ea typeface="+mn-lt"/>
                  <a:cs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>
            <a:noFill/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0F62FE"/>
            </a:solidFill>
          </c:spPr>
          <c:invertIfNegative val="0"/>
          <c:dLbls>
            <c:numFmt formatCode="0.0" sourceLinked="0"/>
            <c:txPr>
              <a:bodyPr anchorCtr="1"/>
              <a:lstStyle/>
              <a:p>
                <a:pPr>
                  <a:defRPr sz="1100" b="0" i="0" u="none" strike="noStrike">
                    <a:solidFill>
                      <a:srgbClr val="E0E0E0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Value / theme</c:v>
                </c:pt>
                <c:pt idx="1">
                  <c:v>Novelty</c:v>
                </c:pt>
                <c:pt idx="2">
                  <c:v>LinuxONE design</c:v>
                </c:pt>
                <c:pt idx="3">
                  <c:v>Execution / pitch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7.3</c:v>
                </c:pt>
                <c:pt idx="1">
                  <c:v>5.7</c:v>
                </c:pt>
                <c:pt idx="2">
                  <c:v>7.3</c:v>
                </c:pt>
                <c:pt idx="3">
                  <c:v>8</c:v>
                </c:pt>
              </c:numCache>
            </c:numRef>
          </c:val>
        </c:ser>
        <c:dLbls>
          <c:numFmt formatCode="0.0" sourceLinked="0"/>
          <c:txPr>
            <a:bodyPr anchorCtr="1"/>
            <a:lstStyle/>
            <a:p>
              <a:pPr>
                <a:defRPr sz="1100" b="0" i="0" u="none" strike="noStrike">
                  <a:solidFill>
                    <a:srgbClr val="E0E0E0"/>
                  </a:solidFill>
                  <a:latin typeface="+mn-lt"/>
                  <a:ea typeface="+mn-lt"/>
                  <a:cs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>
            <a:noFill/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F1C21B"/>
            </a:solidFill>
          </c:spPr>
          <c:invertIfNegative val="0"/>
          <c:dLbls>
            <c:numFmt formatCode="0.0" sourceLinked="0"/>
            <c:txPr>
              <a:bodyPr anchorCtr="1"/>
              <a:lstStyle/>
              <a:p>
                <a:pPr>
                  <a:defRPr sz="1100" b="0" i="0" u="none" strike="noStrike">
                    <a:solidFill>
                      <a:srgbClr val="E0E0E0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Value / theme</c:v>
                </c:pt>
                <c:pt idx="1">
                  <c:v>Novelty</c:v>
                </c:pt>
                <c:pt idx="2">
                  <c:v>LinuxONE design</c:v>
                </c:pt>
                <c:pt idx="3">
                  <c:v>Execution / pitch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5.3</c:v>
                </c:pt>
                <c:pt idx="2">
                  <c:v>6.7</c:v>
                </c:pt>
                <c:pt idx="3">
                  <c:v>8</c:v>
                </c:pt>
              </c:numCache>
            </c:numRef>
          </c:val>
        </c:ser>
        <c:dLbls>
          <c:numFmt formatCode="0.0" sourceLinked="0"/>
          <c:txPr>
            <a:bodyPr anchorCtr="1"/>
            <a:lstStyle/>
            <a:p>
              <a:pPr>
                <a:defRPr sz="1100" b="0" i="0" u="none" strike="noStrike">
                  <a:solidFill>
                    <a:srgbClr val="E0E0E0"/>
                  </a:solidFill>
                  <a:latin typeface="+mn-lt"/>
                  <a:ea typeface="+mn-lt"/>
                  <a:cs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>
            <a:noFill/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0F62FE"/>
            </a:solidFill>
          </c:spPr>
          <c:invertIfNegative val="0"/>
          <c:dLbls>
            <c:numFmt formatCode="0.0" sourceLinked="0"/>
            <c:txPr>
              <a:bodyPr anchorCtr="1"/>
              <a:lstStyle/>
              <a:p>
                <a:pPr>
                  <a:defRPr sz="1100" b="0" i="0" u="none" strike="noStrike">
                    <a:solidFill>
                      <a:srgbClr val="E0E0E0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Value / theme</c:v>
                </c:pt>
                <c:pt idx="1">
                  <c:v>Novelty</c:v>
                </c:pt>
                <c:pt idx="2">
                  <c:v>LinuxONE design</c:v>
                </c:pt>
                <c:pt idx="3">
                  <c:v>Execution / pitch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6.7</c:v>
                </c:pt>
                <c:pt idx="1">
                  <c:v>7.7</c:v>
                </c:pt>
                <c:pt idx="2">
                  <c:v>6.7</c:v>
                </c:pt>
                <c:pt idx="3">
                  <c:v>6.3</c:v>
                </c:pt>
              </c:numCache>
            </c:numRef>
          </c:val>
        </c:ser>
        <c:dLbls>
          <c:numFmt formatCode="0.0" sourceLinked="0"/>
          <c:txPr>
            <a:bodyPr anchorCtr="1"/>
            <a:lstStyle/>
            <a:p>
              <a:pPr>
                <a:defRPr sz="1100" b="0" i="0" u="none" strike="noStrike">
                  <a:solidFill>
                    <a:srgbClr val="E0E0E0"/>
                  </a:solidFill>
                  <a:latin typeface="+mn-lt"/>
                  <a:ea typeface="+mn-lt"/>
                  <a:cs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>
            <a:noFill/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0F62FE"/>
            </a:solidFill>
          </c:spPr>
          <c:invertIfNegative val="0"/>
          <c:dLbls>
            <c:numFmt formatCode="0.0" sourceLinked="0"/>
            <c:txPr>
              <a:bodyPr anchorCtr="1"/>
              <a:lstStyle/>
              <a:p>
                <a:pPr>
                  <a:defRPr sz="1100" b="0" i="0" u="none" strike="noStrike">
                    <a:solidFill>
                      <a:srgbClr val="E0E0E0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Value / theme</c:v>
                </c:pt>
                <c:pt idx="1">
                  <c:v>Novelty</c:v>
                </c:pt>
                <c:pt idx="2">
                  <c:v>LinuxONE design</c:v>
                </c:pt>
                <c:pt idx="3">
                  <c:v>Execution / pitch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8.7</c:v>
                </c:pt>
                <c:pt idx="1">
                  <c:v>6.3</c:v>
                </c:pt>
                <c:pt idx="2">
                  <c:v>5</c:v>
                </c:pt>
                <c:pt idx="3">
                  <c:v>6.7</c:v>
                </c:pt>
              </c:numCache>
            </c:numRef>
          </c:val>
        </c:ser>
        <c:dLbls>
          <c:numFmt formatCode="0.0" sourceLinked="0"/>
          <c:txPr>
            <a:bodyPr anchorCtr="1"/>
            <a:lstStyle/>
            <a:p>
              <a:pPr>
                <a:defRPr sz="1100" b="0" i="0" u="none" strike="noStrike">
                  <a:solidFill>
                    <a:srgbClr val="E0E0E0"/>
                  </a:solidFill>
                  <a:latin typeface="+mn-lt"/>
                  <a:ea typeface="+mn-lt"/>
                  <a:cs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>
            <a:noFill/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F1C21B"/>
            </a:solidFill>
          </c:spPr>
          <c:invertIfNegative val="0"/>
          <c:dLbls>
            <c:numFmt formatCode="0.0" sourceLinked="0"/>
            <c:txPr>
              <a:bodyPr anchorCtr="1"/>
              <a:lstStyle/>
              <a:p>
                <a:pPr>
                  <a:defRPr sz="1100" b="0" i="0" u="none" strike="noStrike">
                    <a:solidFill>
                      <a:srgbClr val="E0E0E0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Value / theme</c:v>
                </c:pt>
                <c:pt idx="1">
                  <c:v>Novelty</c:v>
                </c:pt>
                <c:pt idx="2">
                  <c:v>LinuxONE design</c:v>
                </c:pt>
                <c:pt idx="3">
                  <c:v>Execution / pitch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7.7</c:v>
                </c:pt>
                <c:pt idx="1">
                  <c:v>4</c:v>
                </c:pt>
                <c:pt idx="2">
                  <c:v>5.3</c:v>
                </c:pt>
                <c:pt idx="3">
                  <c:v>7.3</c:v>
                </c:pt>
              </c:numCache>
            </c:numRef>
          </c:val>
        </c:ser>
        <c:dLbls>
          <c:numFmt formatCode="0.0" sourceLinked="0"/>
          <c:txPr>
            <a:bodyPr anchorCtr="1"/>
            <a:lstStyle/>
            <a:p>
              <a:pPr>
                <a:defRPr sz="1100" b="0" i="0" u="none" strike="noStrike">
                  <a:solidFill>
                    <a:srgbClr val="E0E0E0"/>
                  </a:solidFill>
                  <a:latin typeface="+mn-lt"/>
                  <a:ea typeface="+mn-lt"/>
                  <a:cs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>
            <a:noFill/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0F62FE"/>
            </a:solidFill>
          </c:spPr>
          <c:invertIfNegative val="0"/>
          <c:dLbls>
            <c:numFmt formatCode="0.0" sourceLinked="0"/>
            <c:txPr>
              <a:bodyPr anchorCtr="1"/>
              <a:lstStyle/>
              <a:p>
                <a:pPr>
                  <a:defRPr sz="1100" b="0" i="0" u="none" strike="noStrike">
                    <a:solidFill>
                      <a:srgbClr val="E0E0E0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Value / theme</c:v>
                </c:pt>
                <c:pt idx="1">
                  <c:v>Novelty</c:v>
                </c:pt>
                <c:pt idx="2">
                  <c:v>LinuxONE design</c:v>
                </c:pt>
                <c:pt idx="3">
                  <c:v>Execution / pitch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6.7</c:v>
                </c:pt>
                <c:pt idx="1">
                  <c:v>4</c:v>
                </c:pt>
                <c:pt idx="2">
                  <c:v>5</c:v>
                </c:pt>
                <c:pt idx="3">
                  <c:v>6.7</c:v>
                </c:pt>
              </c:numCache>
            </c:numRef>
          </c:val>
        </c:ser>
        <c:dLbls>
          <c:numFmt formatCode="0.0" sourceLinked="0"/>
          <c:txPr>
            <a:bodyPr anchorCtr="1"/>
            <a:lstStyle/>
            <a:p>
              <a:pPr>
                <a:defRPr sz="1100" b="0" i="0" u="none" strike="noStrike">
                  <a:solidFill>
                    <a:srgbClr val="E0E0E0"/>
                  </a:solidFill>
                  <a:latin typeface="+mn-lt"/>
                  <a:ea typeface="+mn-lt"/>
                  <a:cs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>
            <a:noFill/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A56EFF"/>
            </a:solidFill>
          </c:spPr>
          <c:invertIfNegative val="0"/>
          <c:dLbls>
            <c:numFmt formatCode="0.0" sourceLinked="0"/>
            <c:txPr>
              <a:bodyPr anchorCtr="1"/>
              <a:lstStyle/>
              <a:p>
                <a:pPr>
                  <a:defRPr sz="1100" b="0" i="0" u="none" strike="noStrike">
                    <a:solidFill>
                      <a:srgbClr val="E0E0E0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Value / theme</c:v>
                </c:pt>
                <c:pt idx="1">
                  <c:v>Novelty</c:v>
                </c:pt>
                <c:pt idx="2">
                  <c:v>LinuxONE design</c:v>
                </c:pt>
                <c:pt idx="3">
                  <c:v>Execution / pitch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6.3</c:v>
                </c:pt>
                <c:pt idx="1">
                  <c:v>5.7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</c:ser>
        <c:dLbls>
          <c:numFmt formatCode="0.0" sourceLinked="0"/>
          <c:txPr>
            <a:bodyPr anchorCtr="1"/>
            <a:lstStyle/>
            <a:p>
              <a:pPr>
                <a:defRPr sz="1100" b="0" i="0" u="none" strike="noStrike">
                  <a:solidFill>
                    <a:srgbClr val="E0E0E0"/>
                  </a:solidFill>
                  <a:latin typeface="+mn-lt"/>
                  <a:ea typeface="+mn-lt"/>
                  <a:cs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>
            <a:noFill/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F1C21B"/>
            </a:solidFill>
          </c:spPr>
          <c:invertIfNegative val="0"/>
          <c:dLbls>
            <c:numFmt formatCode="0.0" sourceLinked="0"/>
            <c:txPr>
              <a:bodyPr anchorCtr="1"/>
              <a:lstStyle/>
              <a:p>
                <a:pPr>
                  <a:defRPr sz="1100" b="0" i="0" u="none" strike="noStrike">
                    <a:solidFill>
                      <a:srgbClr val="E0E0E0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Value / theme</c:v>
                </c:pt>
                <c:pt idx="1">
                  <c:v>Novelty</c:v>
                </c:pt>
                <c:pt idx="2">
                  <c:v>LinuxONE design</c:v>
                </c:pt>
                <c:pt idx="3">
                  <c:v>Execution / pitch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5.3</c:v>
                </c:pt>
                <c:pt idx="1">
                  <c:v>4.7</c:v>
                </c:pt>
                <c:pt idx="2">
                  <c:v>5</c:v>
                </c:pt>
                <c:pt idx="3">
                  <c:v>6.3</c:v>
                </c:pt>
              </c:numCache>
            </c:numRef>
          </c:val>
        </c:ser>
        <c:dLbls>
          <c:numFmt formatCode="0.0" sourceLinked="0"/>
          <c:txPr>
            <a:bodyPr anchorCtr="1"/>
            <a:lstStyle/>
            <a:p>
              <a:pPr>
                <a:defRPr sz="1100" b="0" i="0" u="none" strike="noStrike">
                  <a:solidFill>
                    <a:srgbClr val="E0E0E0"/>
                  </a:solidFill>
                  <a:latin typeface="+mn-lt"/>
                  <a:ea typeface="+mn-lt"/>
                  <a:cs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>
            <a:noFill/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roundedCorners val="1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A56EFF"/>
            </a:solidFill>
          </c:spPr>
          <c:invertIfNegative val="0"/>
          <c:dLbls>
            <c:numFmt formatCode="0.0" sourceLinked="0"/>
            <c:txPr>
              <a:bodyPr anchorCtr="1"/>
              <a:lstStyle/>
              <a:p>
                <a:pPr>
                  <a:defRPr sz="1100" b="0" i="0" u="none" strike="noStrike">
                    <a:solidFill>
                      <a:srgbClr val="E0E0E0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Value / theme</c:v>
                </c:pt>
                <c:pt idx="1">
                  <c:v>Novelty</c:v>
                </c:pt>
                <c:pt idx="2">
                  <c:v>LinuxONE design</c:v>
                </c:pt>
                <c:pt idx="3">
                  <c:v>Execution / pitch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5.3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dLbls>
          <c:numFmt formatCode="0.0" sourceLinked="0"/>
          <c:txPr>
            <a:bodyPr anchorCtr="1"/>
            <a:lstStyle/>
            <a:p>
              <a:pPr>
                <a:defRPr sz="1100" b="0" i="0" u="none" strike="noStrike">
                  <a:solidFill>
                    <a:srgbClr val="E0E0E0"/>
                  </a:solidFill>
                  <a:latin typeface="+mn-lt"/>
                  <a:ea typeface="+mn-lt"/>
                  <a:cs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>
            <a:noFill/>
            <a:prstDash val="solid"/>
          </a:ln>
        </c:spPr>
        <c:txPr>
          <a:bodyPr anchorCtr="1"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  <a:ea typeface="+mn-lt"/>
                <a:cs typeface="+mn-lt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</c:chart>
  <c:spPr>
    <a:noFill/>
    <a:ln>
      <a:noFill/>
    </a:ln>
  </c:spPr>
  <c:externalData r:id="rId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425E670-83A5-492E-BB57-DCF7DA22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6949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300">
                <a:solidFill>
                  <a:schemeClr val="accent5"/>
                </a:solidFill>
              </a:rPr>
              <a:t>IBM Z DATATHON 2026  ·  LOS ANTIMARRULLA</a:t>
            </a:r>
            <a:endParaRPr sz="14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A37A427-C7BF-41DA-A6B8-EAF615D63D16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1783080"/>
            <a:ext cx="71323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chemeClr val="bg1"/>
                </a:solidFill>
              </a:rPr>
              <a:t>11 ideas, 3 simulated judges, 1 decision</a:t>
            </a:r>
            <a:endParaRPr sz="4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5F00FF-E57D-44EA-A490-C7F54707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bg2"/>
                </a:solidFill>
              </a:rPr>
              <a:t>Historical proposal ranking against the official rubric: theme fit, potential and feasibility</a:t>
            </a:r>
            <a:endParaRPr sz="1800"/>
          </a:p>
        </p:txBody>
      </p:sp>
      <p:pic>
        <p:nvPicPr>
          <p:cNvPr id="5" name="Logo del equipo">
            <a:extLst xmlns:a="http://schemas.openxmlformats.org/drawingml/2006/main">
              <a:ext uri="{FF2B5EF4-FFF2-40B4-BE49-F238E27FC236}">
                <a16:creationId xmlns:a16="http://schemas.microsoft.com/office/drawing/2014/main" id="{726B7403-30EC-4F32-ADFB-124F63D784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3b5e312ac4c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846320"/>
            <a:ext cx="1188720" cy="118872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E75F1B1-765D-4630-B9E6-A8AB6D38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5029200"/>
            <a:ext cx="5669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chemeClr val="bg1"/>
                </a:solidFill>
              </a:rPr>
              <a:t>Javier Augusto Rebull Saucedo · Álvaro Hernández Jarquín</a:t>
            </a:r>
            <a:endParaRPr sz="12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chemeClr val="bg1"/>
                </a:solidFill>
              </a:rPr>
              <a:t>Carlos Enrique Gonzalez Moran · Yazmin Ivonne Flores Martinez</a:t>
            </a:r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00">
                <a:solidFill>
                  <a:schemeClr val="bg1"/>
                </a:solidFill>
              </a:rPr>
              <a:t>UACJ · Master’s in AI and Data Analytics (MIAAD)</a:t>
            </a:r>
          </a:p>
        </p:txBody>
      </p:sp>
    </p:spTree>
    <p:extLst>
      <p:ext uri="{BB962C8B-B14F-4D97-AF65-F5344CB8AC3E}">
        <p14:creationId xmlns:p14="http://schemas.microsoft.com/office/powerpoint/2010/main" val="2003524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ED8A7375-F8E9-49D8-BF2A-D177661C8DDF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01 · OVERALL RANKING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3224ED-8F82-4B98-9F5F-7B9803D39FC6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Remittances leads; the top four span 1.3 points</a:t>
            </a:r>
            <a:endParaRPr sz="3000"/>
          </a:p>
        </p:txBody>
      </p:sp>
      <p:sp>
        <p:nvSpPr>
          <p:cNvPr id="4" name="Fondo gráfica">
            <a:extLst xmlns:a="http://schemas.openxmlformats.org/drawingml/2006/main">
              <a:ext uri="{FF2B5EF4-FFF2-40B4-BE49-F238E27FC236}">
                <a16:creationId xmlns:a16="http://schemas.microsoft.com/office/drawing/2014/main" id="{AD7E3EB5-055F-402F-A15D-BD77BE1D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7360920" cy="43434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chemeClr val="tx2"/>
          </a:solidFill>
        </p:spPr>
      </p:sp>
      <p:graphicFrame>
        <p:nvGraphicFramePr>
          <p:cNvPr id="5" name="Ranking general">
            <a:extLst xmlns:a="http://schemas.openxmlformats.org/drawingml/2006/main">
              <a:ext uri="{FF2B5EF4-FFF2-40B4-BE49-F238E27FC236}">
                <a16:creationId xmlns:a16="http://schemas.microsoft.com/office/drawing/2014/main" id="{29A1A04F-3572-4296-BCC0-B5FCFDE09084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7132320" cy="41605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8feba861c441d2"/>
          </a:graphicData>
        </a:graphic>
      </p:graphicFrame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99CCD34-B79C-49A2-B150-871C5E09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83080"/>
            <a:ext cx="341071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bg1"/>
                </a:solidFill>
              </a:rPr>
              <a:t>Theme assigned by simulated judges</a:t>
            </a:r>
            <a:endParaRPr sz="1300"/>
          </a:p>
        </p:txBody>
      </p:sp>
      <p:sp>
        <p:nvSpPr>
          <p:cNvPr id="7" name="leyenda T1">
            <a:extLst xmlns:a="http://schemas.openxmlformats.org/drawingml/2006/main">
              <a:ext uri="{FF2B5EF4-FFF2-40B4-BE49-F238E27FC236}">
                <a16:creationId xmlns:a16="http://schemas.microsoft.com/office/drawing/2014/main" id="{EB7EE043-E9FB-42DF-A7BB-7E998BEE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42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003745F-C2C0-410F-A77A-CADEF3C1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240280"/>
            <a:ext cx="30449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bg1"/>
                </a:solidFill>
              </a:rPr>
              <a:t>T1  </a:t>
            </a:r>
            <a:r>
              <a:rPr sz="1200">
                <a:solidFill>
                  <a:schemeClr val="bg2"/>
                </a:solidFill>
              </a:rPr>
              <a:t>Real-Time AI for Critical Decisions</a:t>
            </a:r>
            <a:endParaRPr sz="1200"/>
          </a:p>
        </p:txBody>
      </p:sp>
      <p:sp>
        <p:nvSpPr>
          <p:cNvPr id="9" name="leyenda T2">
            <a:extLst xmlns:a="http://schemas.openxmlformats.org/drawingml/2006/main">
              <a:ext uri="{FF2B5EF4-FFF2-40B4-BE49-F238E27FC236}">
                <a16:creationId xmlns:a16="http://schemas.microsoft.com/office/drawing/2014/main" id="{492EB13E-9A2F-48B9-9A75-A53146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14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16942CE-0C3C-47C2-A577-0C7794C0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697480"/>
            <a:ext cx="30449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bg1"/>
                </a:solidFill>
              </a:rPr>
              <a:t>T2  </a:t>
            </a:r>
            <a:r>
              <a:rPr sz="1200">
                <a:solidFill>
                  <a:schemeClr val="bg2"/>
                </a:solidFill>
              </a:rPr>
              <a:t>AI Secured: Innovation Without Exposure</a:t>
            </a:r>
            <a:endParaRPr sz="1200"/>
          </a:p>
        </p:txBody>
      </p:sp>
      <p:sp>
        <p:nvSpPr>
          <p:cNvPr id="11" name="leyenda T3">
            <a:extLst xmlns:a="http://schemas.openxmlformats.org/drawingml/2006/main">
              <a:ext uri="{FF2B5EF4-FFF2-40B4-BE49-F238E27FC236}">
                <a16:creationId xmlns:a16="http://schemas.microsoft.com/office/drawing/2014/main" id="{03BAEFE4-8672-4599-8A96-00A91E51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86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25B847B-1522-4780-BA79-A795A4E4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154680"/>
            <a:ext cx="30449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bg1"/>
                </a:solidFill>
              </a:rPr>
              <a:t>T3  </a:t>
            </a:r>
            <a:r>
              <a:rPr sz="1200">
                <a:solidFill>
                  <a:schemeClr val="bg2"/>
                </a:solidFill>
              </a:rPr>
              <a:t>Wildcard: Beyond the Obvious</a:t>
            </a:r>
            <a:endParaRPr sz="1200"/>
          </a:p>
        </p:txBody>
      </p:sp>
      <p:sp>
        <p:nvSpPr>
          <p:cNvPr id="13" name="Lectura">
            <a:extLst xmlns:a="http://schemas.openxmlformats.org/drawingml/2006/main">
              <a:ext uri="{FF2B5EF4-FFF2-40B4-BE49-F238E27FC236}">
                <a16:creationId xmlns:a16="http://schemas.microsoft.com/office/drawing/2014/main" id="{0DD8E651-7418-4798-88DD-FA5DF138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03320"/>
            <a:ext cx="3410712" cy="237744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 w="9525">
            <a:solidFill>
              <a:schemeClr val="accent5">
                <a:alpha val="60000"/>
              </a:schemeClr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BB3F0FB-4054-4244-9A9E-711CE063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840480"/>
            <a:ext cx="304495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accent5"/>
                </a:solidFill>
              </a:rPr>
              <a:t>At a glance</a:t>
            </a:r>
            <a:endParaRPr sz="14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E247444-3FDD-47A1-8C54-97F060FC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206240"/>
            <a:ext cx="3090672" cy="1783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chemeClr val="bg1"/>
                </a:solidFill>
              </a:rPr>
              <a:t>Remittances is the only unanimous top-three idea.</a:t>
            </a:r>
            <a:endParaRPr sz="12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chemeClr val="bg1"/>
                </a:solidFill>
              </a:rPr>
              <a:t>Encrypted diabetes has the highest AI score but the lowest feasibility in the top five.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200">
                <a:solidFill>
                  <a:schemeClr val="bg1"/>
                </a:solidFill>
              </a:rPr>
              <a:t>No Wildcard idea reaches the top five.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E3384D4-8BCE-4963-9038-FEEB87C6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44768"/>
            <a:ext cx="110916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AI-simulated blind judges · official 40-point rubric. Ideas were anonymized, reordered and described at comparable length.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DC6D981-C506-46EC-8BAC-007C1BD3044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371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4B925CAF-3FF4-48B0-95A1-287E8129EEDA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02 · SCORES BY CRITERION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502F0C7-8B93-47E8-8B18-8C1F6EADCBCC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Proposal scores under the official rubric</a:t>
            </a:r>
            <a:endParaRPr sz="3000"/>
          </a:p>
        </p:txBody>
      </p:sp>
      <p:graphicFrame>
        <p:nvGraphicFramePr>
          <p:cNvPr id="4" name="Tabla de ranking">
            <a:extLst xmlns:a="http://schemas.openxmlformats.org/drawingml/2006/main">
              <a:ext uri="{FF2B5EF4-FFF2-40B4-BE49-F238E27FC236}">
                <a16:creationId xmlns:a16="http://schemas.microsoft.com/office/drawing/2014/main" id="{C3FD27DA-0A13-4F82-B51F-0B9610A4BC75}"/>
              </a:ext>
            </a:extLst>
          </p:cNvPr>
          <p:cNvGraphicFramePr/>
          <p:nvPr/>
        </p:nvGraphicFramePr>
        <p:xfrm>
          <a:off xmlns:a="http://schemas.openxmlformats.org/drawingml/2006/main" x="548640" y="1691640"/>
          <a:ext xmlns:a="http://schemas.openxmlformats.org/drawingml/2006/main" cx="11091672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"/>
                <a:gridCol w="3337560"/>
                <a:gridCol w="822960"/>
                <a:gridCol w="640080"/>
                <a:gridCol w="640080"/>
                <a:gridCol w="640080"/>
                <a:gridCol w="640080"/>
                <a:gridCol w="960120"/>
                <a:gridCol w="822960"/>
                <a:gridCol w="960120"/>
                <a:gridCol w="1216152"/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</a:rPr>
                        <a:t>Idea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</a:rPr>
                        <a:t>Theme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</a:rPr>
                        <a:t>C3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</a:rPr>
                        <a:t>C4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</a:rPr>
                        <a:t>Total /40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</a:rPr>
                        <a:t>AI /20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</a:rPr>
                        <a:t>Feas. /5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</a:rPr>
                        <a:t>J1 · J2 · J3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Transfers without borders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4"/>
                          </a:solidFill>
                          <a:latin typeface="Arial"/>
                          <a:ea typeface="Arial"/>
                          <a:cs typeface="Arial"/>
                        </a:rPr>
                        <a:t>T1 · T2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8.3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5.7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8.3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7.0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</a:rPr>
                        <a:t>29.3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</a:rPr>
                        <a:t>13.7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3.0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31 · 29 · 28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Screening on encrypted inputs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T2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7.3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8.0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7.3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6.3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29.0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</a:rPr>
                        <a:t>15.0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4"/>
                          </a:solidFill>
                          <a:latin typeface="Arial"/>
                          <a:ea typeface="Arial"/>
                          <a:cs typeface="Arial"/>
                        </a:rPr>
                        <a:t>2.7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29 · 29 · 29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Federated fraud detection for remittances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T2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7.3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5.7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7.3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8.0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28.3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</a:rPr>
                        <a:t>13.0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4.0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31 · 27 · 27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SPEI fraud shield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4"/>
                          </a:solidFill>
                          <a:latin typeface="Arial"/>
                          <a:ea typeface="Arial"/>
                          <a:cs typeface="Arial"/>
                        </a:rPr>
                        <a:t>T1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8.0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5.3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6.7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8.0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28.0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12.0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</a:rPr>
                        <a:t>4.7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29 · 30 · 25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Post-quantum scanner for banking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T2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6.7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7.7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6.7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6.3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27.3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10.7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3.7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28 · 27 · 27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Private assistant for vulnerable people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T2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8.7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6.3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5.0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6.7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26.7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10.0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4.0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27 · 28 · 25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Emergency triage for overcrowded clinics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4"/>
                          </a:solidFill>
                          <a:latin typeface="Arial"/>
                          <a:ea typeface="Arial"/>
                          <a:cs typeface="Arial"/>
                        </a:rPr>
                        <a:t>T1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7.7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4.0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5.3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7.3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24.3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8.7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4.0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25 · 27 · 21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Mexican-document identifier redaction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T2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6.7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4.0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5.0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6.7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22.3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8.7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</a:rPr>
                        <a:t>4.7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24 · 23 · 20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False-invoice detector (CFDI)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3"/>
                          </a:solidFill>
                          <a:latin typeface="Arial"/>
                          <a:ea typeface="Arial"/>
                          <a:cs typeface="Arial"/>
                        </a:rPr>
                        <a:t>T3 · T1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6.3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5.7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4.0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6.0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22.0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8.0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3.7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20 · 22 · 24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Auto-insurance claim fraud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4"/>
                          </a:solidFill>
                          <a:latin typeface="Arial"/>
                          <a:ea typeface="Arial"/>
                          <a:cs typeface="Arial"/>
                        </a:rPr>
                        <a:t>T1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5.3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4.7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5.0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6.3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21.3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9.0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3.7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22 · 20 · 22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Border-crossing delay predictor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3"/>
                          </a:solidFill>
                          <a:latin typeface="Arial"/>
                          <a:ea typeface="Arial"/>
                          <a:cs typeface="Arial"/>
                        </a:rPr>
                        <a:t>T3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5.0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5.3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4.0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4.0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18.3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8.0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chemeClr val="accent4"/>
                          </a:solidFill>
                          <a:latin typeface="Arial"/>
                          <a:ea typeface="Arial"/>
                          <a:cs typeface="Arial"/>
                        </a:rPr>
                        <a:t>2.0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17 · 18 · 20</a:t>
                      </a: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0" marB="0" anchor="ctr">
                    <a:lnL w="9525" cmpd="sng">
                      <a:solidFill>
                        <a:srgbClr val="2E2E3A"/>
                      </a:solidFill>
                      <a:prstDash val="solid"/>
                    </a:lnL>
                    <a:lnR w="9525" cmpd="sng">
                      <a:solidFill>
                        <a:srgbClr val="2E2E3A"/>
                      </a:solidFill>
                      <a:prstDash val="solid"/>
                    </a:lnR>
                    <a:lnT w="9525" cmpd="sng">
                      <a:solidFill>
                        <a:srgbClr val="2E2E3A"/>
                      </a:solidFill>
                      <a:prstDash val="solid"/>
                    </a:lnT>
                    <a:lnB w="9525" cmpd="sng">
                      <a:solidFill>
                        <a:srgbClr val="2E2E3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DA48E06-566A-46A9-8B87-84D0E273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79008"/>
            <a:ext cx="110916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C1 Community value/theme · C2 Novelty · C3 Technical design/LinuxONE · C4 Execution/pitch · AI = AI Innovation Excellence · Feas. = 24-hour feasibility · J1 IBM Z, J2 AI for Good, J3 AI innovation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814F48C-B08D-437D-8C02-4037B3431B5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75403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96E4822A-CB5C-45DA-8A4F-20E0F5ED0E7D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03 · POTENTIAL VS. FEASIBILITY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7F33474-C2D5-47B7-AA6A-A89916FD3F27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Remittances and SPEI balance potential and feasibility</a:t>
            </a:r>
            <a:endParaRPr sz="3000"/>
          </a:p>
        </p:txBody>
      </p:sp>
      <p:sp>
        <p:nvSpPr>
          <p:cNvPr id="4" name="Cuadrante ganador">
            <a:extLst xmlns:a="http://schemas.openxmlformats.org/drawingml/2006/main">
              <a:ext uri="{FF2B5EF4-FFF2-40B4-BE49-F238E27FC236}">
                <a16:creationId xmlns:a16="http://schemas.microsoft.com/office/drawing/2014/main" id="{58D50B4F-E36A-4D15-BE39-8D1A0FCC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283" y="1828800"/>
            <a:ext cx="3043238" cy="1295400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chemeClr val="accent2">
              <a:alpha val="12000"/>
            </a:schemeClr>
          </a:solidFill>
        </p:spPr>
      </p:sp>
      <p:sp>
        <p:nvSpPr>
          <p:cNvPr id="5" name="Cuadrante riesgo">
            <a:extLst xmlns:a="http://schemas.openxmlformats.org/drawingml/2006/main">
              <a:ext uri="{FF2B5EF4-FFF2-40B4-BE49-F238E27FC236}">
                <a16:creationId xmlns:a16="http://schemas.microsoft.com/office/drawing/2014/main" id="{27335A7A-C467-47C5-9A07-45EC9300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28800"/>
            <a:ext cx="3449002" cy="1295400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chemeClr val="accent4">
              <a:alpha val="8000"/>
            </a:schemeClr>
          </a:solidFill>
        </p:spPr>
      </p:sp>
      <p:sp>
        <p:nvSpPr>
          <p:cNvPr id="6" name="Cuadrante bajo">
            <a:extLst xmlns:a="http://schemas.openxmlformats.org/drawingml/2006/main">
              <a:ext uri="{FF2B5EF4-FFF2-40B4-BE49-F238E27FC236}">
                <a16:creationId xmlns:a16="http://schemas.microsoft.com/office/drawing/2014/main" id="{B2035B17-93F1-45C4-8488-3AF935DE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124200"/>
            <a:ext cx="6492240" cy="2590800"/>
          </a:xfrm>
          <a:prstGeom xmlns:a="http://schemas.openxmlformats.org/drawingml/2006/main" prst="roundRect">
            <a:avLst>
              <a:gd name="adj" fmla="val 1412"/>
            </a:avLst>
          </a:prstGeom>
          <a:solidFill xmlns:a="http://schemas.openxmlformats.org/drawingml/2006/main">
            <a:schemeClr val="tx2">
              <a:alpha val="60000"/>
            </a:schemeClr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54D028F-5F2E-4579-BEE7-A16396B8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74520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 spc="100">
                <a:solidFill>
                  <a:schemeClr val="accent2"/>
                </a:solidFill>
              </a:rPr>
              <a:t>LEADING OPTION</a:t>
            </a:r>
            <a:endParaRPr sz="1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1CE0370-032F-477B-93F0-E788207E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874520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chemeClr val="accent4"/>
                </a:solidFill>
              </a:rPr>
              <a:t>HIGH RISK / HIGH REWARD</a:t>
            </a:r>
            <a:endParaRPr sz="1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1CC6A77-DB5B-4FEC-93A8-41C7B12A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394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 spc="100">
                <a:solidFill>
                  <a:schemeClr val="accent6"/>
                </a:solidFill>
              </a:rPr>
              <a:t>LOWER POTENTIAL</a:t>
            </a:r>
            <a:endParaRPr sz="1000"/>
          </a:p>
        </p:txBody>
      </p:sp>
      <p:sp>
        <p:nvSpPr>
          <p:cNvPr id="10" name="eje x">
            <a:extLst xmlns:a="http://schemas.openxmlformats.org/drawingml/2006/main">
              <a:ext uri="{FF2B5EF4-FFF2-40B4-BE49-F238E27FC236}">
                <a16:creationId xmlns:a16="http://schemas.microsoft.com/office/drawing/2014/main" id="{7110C708-5073-4BD6-BE38-B0804A23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715000"/>
            <a:ext cx="6492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  <a:prstDash val="solid"/>
          </a:ln>
        </p:spPr>
      </p:sp>
      <p:sp>
        <p:nvSpPr>
          <p:cNvPr id="11" name="eje y">
            <a:extLst xmlns:a="http://schemas.openxmlformats.org/drawingml/2006/main">
              <a:ext uri="{FF2B5EF4-FFF2-40B4-BE49-F238E27FC236}">
                <a16:creationId xmlns:a16="http://schemas.microsoft.com/office/drawing/2014/main" id="{61ABAFE3-C467-4A13-A9D5-1BFE643B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2880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chemeClr val="accent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76BBEA5-B310-4028-BD89-A5BC781D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6044184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chemeClr val="bg2"/>
                </a:solidFill>
              </a:rPr>
              <a:t>24-hour feasibility →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3CD6EB-2EFC-4325-AEDA-11B26F89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6192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Score /40 ↑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4A60841-910D-45D4-A48E-DBB3064D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1740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chemeClr val="accent6"/>
                </a:solidFill>
              </a:rPr>
              <a:t>18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018F03B-87CD-445B-BFFB-A421B517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5939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chemeClr val="accent6"/>
                </a:solidFill>
              </a:rPr>
              <a:t>22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9B5AB5C-3331-44CE-BA17-DDFE9239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144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chemeClr val="accent6"/>
                </a:solidFill>
              </a:rPr>
              <a:t>26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FE1C031-B674-4C20-84C8-9C0C9DAF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6300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chemeClr val="accent6"/>
                </a:solidFill>
              </a:rPr>
              <a:t>30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E1B19B9-2F23-4853-96C0-525B5020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" y="5788152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chemeClr val="accent6"/>
                </a:solidFill>
              </a:rPr>
              <a:t>2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9CCE21-BB41-4D28-BD3C-A2821313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990" y="5788152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chemeClr val="accent6"/>
                </a:solidFill>
              </a:rPr>
              <a:t>3</a:t>
            </a:r>
            <a:endParaRPr sz="1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8EEBC07-9F33-4685-93FC-E0C55EDE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815" y="5788152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chemeClr val="accent6"/>
                </a:solidFill>
              </a:rPr>
              <a:t>4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05037B3-0A80-4B01-8520-19F304EA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788152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chemeClr val="accent6"/>
                </a:solidFill>
              </a:rPr>
              <a:t>5</a:t>
            </a:r>
            <a:endParaRPr sz="1000"/>
          </a:p>
        </p:txBody>
      </p:sp>
      <p:sp>
        <p:nvSpPr>
          <p:cNvPr id="22" name="Remesas + OFAC/AML">
            <a:extLst xmlns:a="http://schemas.openxmlformats.org/drawingml/2006/main">
              <a:ext uri="{FF2B5EF4-FFF2-40B4-BE49-F238E27FC236}">
                <a16:creationId xmlns:a16="http://schemas.microsoft.com/office/drawing/2014/main" id="{C7F07AA0-3EBF-4BDC-B1BD-40118F88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990" y="19913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25400">
            <a:solidFill>
              <a:schemeClr val="bg1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40252D4-DD98-40F7-A748-3F49B59F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27936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chemeClr val="bg1"/>
                </a:solidFill>
              </a:rPr>
              <a:t>Remittances + OFAC/AML</a:t>
            </a:r>
            <a:endParaRPr sz="1100"/>
          </a:p>
        </p:txBody>
      </p:sp>
      <p:sp>
        <p:nvSpPr>
          <p:cNvPr id="24" name="Diabetes cifrada">
            <a:extLst xmlns:a="http://schemas.openxmlformats.org/drawingml/2006/main">
              <a:ext uri="{FF2B5EF4-FFF2-40B4-BE49-F238E27FC236}">
                <a16:creationId xmlns:a16="http://schemas.microsoft.com/office/drawing/2014/main" id="{0BB8E893-64EC-4F5E-8C14-89F12302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207" y="21325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C562C0D-D4D8-450C-9A11-7530969B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3" y="2114296"/>
            <a:ext cx="17099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chemeClr val="bg1"/>
                </a:solidFill>
              </a:rPr>
              <a:t>Encrypted diabetes</a:t>
            </a:r>
            <a:endParaRPr sz="1100"/>
          </a:p>
        </p:txBody>
      </p:sp>
      <p:sp>
        <p:nvSpPr>
          <p:cNvPr id="26" name="Antifraude federado">
            <a:extLst xmlns:a="http://schemas.openxmlformats.org/drawingml/2006/main">
              <a:ext uri="{FF2B5EF4-FFF2-40B4-BE49-F238E27FC236}">
                <a16:creationId xmlns:a16="http://schemas.microsoft.com/office/drawing/2014/main" id="{D873E43E-8960-491C-867A-968FF214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679" y="233409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4EF2310-97A6-4A5A-B0EF-D1675574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60355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chemeClr val="bg1"/>
                </a:solidFill>
              </a:rPr>
              <a:t>Federated fraud detection</a:t>
            </a:r>
            <a:endParaRPr sz="1100"/>
          </a:p>
        </p:txBody>
      </p:sp>
      <p:sp>
        <p:nvSpPr>
          <p:cNvPr id="28" name="Escudo SPEI">
            <a:extLst xmlns:a="http://schemas.openxmlformats.org/drawingml/2006/main">
              <a:ext uri="{FF2B5EF4-FFF2-40B4-BE49-F238E27FC236}">
                <a16:creationId xmlns:a16="http://schemas.microsoft.com/office/drawing/2014/main" id="{188700D6-BB00-431D-9DCD-10A22910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2857" y="242045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4C228D1-6F06-48E8-9020-BB10AD0D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353" y="2731347"/>
            <a:ext cx="1463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chemeClr val="bg1"/>
                </a:solidFill>
              </a:rPr>
              <a:t>SPEI shield</a:t>
            </a:r>
            <a:endParaRPr sz="1100"/>
          </a:p>
        </p:txBody>
      </p:sp>
      <p:sp>
        <p:nvSpPr>
          <p:cNvPr id="30" name="Escáner post-cuántico">
            <a:extLst xmlns:a="http://schemas.openxmlformats.org/drawingml/2006/main">
              <a:ext uri="{FF2B5EF4-FFF2-40B4-BE49-F238E27FC236}">
                <a16:creationId xmlns:a16="http://schemas.microsoft.com/office/drawing/2014/main" id="{FAEFB588-2A69-4D0A-95DD-AE177AD5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32" y="262195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EC56AFD-4734-41D7-B65B-26A606A5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008" y="2749973"/>
            <a:ext cx="138988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chemeClr val="bg1"/>
                </a:solidFill>
              </a:rPr>
              <a:t>Post-quantum scanner</a:t>
            </a:r>
            <a:endParaRPr sz="1100"/>
          </a:p>
        </p:txBody>
      </p:sp>
      <p:sp>
        <p:nvSpPr>
          <p:cNvPr id="32" name="Asistente privado">
            <a:extLst xmlns:a="http://schemas.openxmlformats.org/drawingml/2006/main">
              <a:ext uri="{FF2B5EF4-FFF2-40B4-BE49-F238E27FC236}">
                <a16:creationId xmlns:a16="http://schemas.microsoft.com/office/drawing/2014/main" id="{D9FD33FD-B8FA-47A7-8F45-69DB0DED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679" y="279467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8438F1D-8C2B-4E86-B639-2F2DEA14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977557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chemeClr val="bg1"/>
                </a:solidFill>
              </a:rPr>
              <a:t>Private assistant</a:t>
            </a:r>
            <a:endParaRPr sz="1100"/>
          </a:p>
        </p:txBody>
      </p:sp>
      <p:sp>
        <p:nvSpPr>
          <p:cNvPr id="34" name="Triage urgencias">
            <a:extLst xmlns:a="http://schemas.openxmlformats.org/drawingml/2006/main">
              <a:ext uri="{FF2B5EF4-FFF2-40B4-BE49-F238E27FC236}">
                <a16:creationId xmlns:a16="http://schemas.microsoft.com/office/drawing/2014/main" id="{5AD97B88-59B8-4D2B-9EA5-DE88E125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679" y="348555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AE3B79B-250E-4BF6-ADF9-A2684CA4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467269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chemeClr val="bg1"/>
                </a:solidFill>
              </a:rPr>
              <a:t>Emergency triage</a:t>
            </a:r>
            <a:endParaRPr sz="1100"/>
          </a:p>
        </p:txBody>
      </p:sp>
      <p:sp>
        <p:nvSpPr>
          <p:cNvPr id="36" name="Anonimizador MX">
            <a:extLst xmlns:a="http://schemas.openxmlformats.org/drawingml/2006/main">
              <a:ext uri="{FF2B5EF4-FFF2-40B4-BE49-F238E27FC236}">
                <a16:creationId xmlns:a16="http://schemas.microsoft.com/office/drawing/2014/main" id="{C605B3D7-2E11-4698-A761-3BDA8665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2857" y="406129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B77092C-A857-4973-962D-B537DC8D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273" y="4043003"/>
            <a:ext cx="1298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chemeClr val="bg1"/>
                </a:solidFill>
              </a:rPr>
              <a:t>Mexican ID redaction</a:t>
            </a:r>
            <a:endParaRPr sz="1100"/>
          </a:p>
        </p:txBody>
      </p:sp>
      <p:sp>
        <p:nvSpPr>
          <p:cNvPr id="38" name="Facturas falsas CFDI">
            <a:extLst xmlns:a="http://schemas.openxmlformats.org/drawingml/2006/main">
              <a:ext uri="{FF2B5EF4-FFF2-40B4-BE49-F238E27FC236}">
                <a16:creationId xmlns:a16="http://schemas.microsoft.com/office/drawing/2014/main" id="{5491E4F6-09D3-4E09-A770-EDF650BB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32" y="414765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4A57C1DC-C0F1-4FA5-94D6-EA0E162A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848" y="4001347"/>
            <a:ext cx="15270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chemeClr val="bg1"/>
                </a:solidFill>
              </a:rPr>
              <a:t>False CFDI invoices</a:t>
            </a:r>
            <a:endParaRPr sz="1100"/>
          </a:p>
        </p:txBody>
      </p:sp>
      <p:sp>
        <p:nvSpPr>
          <p:cNvPr id="40" name="Fraude en seguros">
            <a:extLst xmlns:a="http://schemas.openxmlformats.org/drawingml/2006/main">
              <a:ext uri="{FF2B5EF4-FFF2-40B4-BE49-F238E27FC236}">
                <a16:creationId xmlns:a16="http://schemas.microsoft.com/office/drawing/2014/main" id="{365B3F5D-400C-4957-BDDD-104B7E73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32" y="434915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B36302F-8A26-4942-9FB3-C84D6A9F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168" y="4495461"/>
            <a:ext cx="12527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chemeClr val="bg1"/>
                </a:solidFill>
              </a:rPr>
              <a:t>Insurance fraud</a:t>
            </a:r>
            <a:endParaRPr sz="1100"/>
          </a:p>
        </p:txBody>
      </p:sp>
      <p:sp>
        <p:nvSpPr>
          <p:cNvPr id="42" name="Cruces fronterizos">
            <a:extLst xmlns:a="http://schemas.openxmlformats.org/drawingml/2006/main">
              <a:ext uri="{FF2B5EF4-FFF2-40B4-BE49-F238E27FC236}">
                <a16:creationId xmlns:a16="http://schemas.microsoft.com/office/drawing/2014/main" id="{6340444E-3D03-4269-A365-8C27F034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029" y="521275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C29AC430-0118-4F05-8759-BD0CD249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194469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chemeClr val="bg1"/>
                </a:solidFill>
              </a:rPr>
              <a:t>Border delays</a:t>
            </a:r>
            <a:endParaRPr sz="1100"/>
          </a:p>
        </p:txBody>
      </p:sp>
      <p:sp>
        <p:nvSpPr>
          <p:cNvPr id="44" name="Remesas">
            <a:extLst xmlns:a="http://schemas.openxmlformats.org/drawingml/2006/main">
              <a:ext uri="{FF2B5EF4-FFF2-40B4-BE49-F238E27FC236}">
                <a16:creationId xmlns:a16="http://schemas.microsoft.com/office/drawing/2014/main" id="{0D692A44-B0B2-4901-BB89-10F02D02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828800"/>
            <a:ext cx="3547872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45" name="Remesas círculo">
            <a:extLst xmlns:a="http://schemas.openxmlformats.org/drawingml/2006/main">
              <a:ext uri="{FF2B5EF4-FFF2-40B4-BE49-F238E27FC236}">
                <a16:creationId xmlns:a16="http://schemas.microsoft.com/office/drawing/2014/main" id="{F35685D8-6A69-4512-99FC-93D711EB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20116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pic>
        <p:nvPicPr>
          <p:cNvPr id="46" name="Remesas ícono">
            <a:extLst xmlns:a="http://schemas.openxmlformats.org/drawingml/2006/main">
              <a:ext uri="{FF2B5EF4-FFF2-40B4-BE49-F238E27FC236}">
                <a16:creationId xmlns:a16="http://schemas.microsoft.com/office/drawing/2014/main" id="{557AB572-8ED7-4EF9-B227-7B96762E05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51f8395b243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7616" y="211226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B8E55180-C5DF-47D8-B726-BE90FAB9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2651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bg1"/>
                </a:solidFill>
              </a:rPr>
              <a:t>Remittances</a:t>
            </a:r>
            <a:endParaRPr sz="1400"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B6D63890-D49D-46F1-9BEA-427F0AE7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331720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Highest average and unanimous top three. Scope reduction is critical.</a:t>
            </a:r>
            <a:endParaRPr sz="1100"/>
          </a:p>
        </p:txBody>
      </p:sp>
      <p:sp>
        <p:nvSpPr>
          <p:cNvPr id="49" name="SPEI">
            <a:extLst xmlns:a="http://schemas.openxmlformats.org/drawingml/2006/main">
              <a:ext uri="{FF2B5EF4-FFF2-40B4-BE49-F238E27FC236}">
                <a16:creationId xmlns:a16="http://schemas.microsoft.com/office/drawing/2014/main" id="{EA52C403-771C-49AE-89BB-1CFD7DF1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154680"/>
            <a:ext cx="3547872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50" name="SPEI círculo">
            <a:extLst xmlns:a="http://schemas.openxmlformats.org/drawingml/2006/main">
              <a:ext uri="{FF2B5EF4-FFF2-40B4-BE49-F238E27FC236}">
                <a16:creationId xmlns:a16="http://schemas.microsoft.com/office/drawing/2014/main" id="{52B5A081-B3DE-4B99-986A-9B0B4FD1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3337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pic>
        <p:nvPicPr>
          <p:cNvPr id="51" name="SPEI ícono">
            <a:extLst xmlns:a="http://schemas.openxmlformats.org/drawingml/2006/main">
              <a:ext uri="{FF2B5EF4-FFF2-40B4-BE49-F238E27FC236}">
                <a16:creationId xmlns:a16="http://schemas.microsoft.com/office/drawing/2014/main" id="{E95C5FC8-C172-4C44-9906-76F3615181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8ab4b0a3741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7616" y="343814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B20EBA8C-BB11-4B7C-A236-A6D11A5C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319272"/>
            <a:ext cx="2651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bg1"/>
                </a:solidFill>
              </a:rPr>
              <a:t>SPEI</a:t>
            </a:r>
            <a:endParaRPr sz="1400"/>
          </a:p>
        </p:txBody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4FD57E33-34DD-4767-9FC2-1A220106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657600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Most feasible of the top four; a natural fallback with a clear demo.</a:t>
            </a:r>
            <a:endParaRPr sz="1100"/>
          </a:p>
        </p:txBody>
      </p:sp>
      <p:sp>
        <p:nvSpPr>
          <p:cNvPr id="54" name="Diabetes cifrada">
            <a:extLst xmlns:a="http://schemas.openxmlformats.org/drawingml/2006/main">
              <a:ext uri="{FF2B5EF4-FFF2-40B4-BE49-F238E27FC236}">
                <a16:creationId xmlns:a16="http://schemas.microsoft.com/office/drawing/2014/main" id="{A741B322-2FA6-4189-B882-F2024CE8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480560"/>
            <a:ext cx="3547872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55" name="Diabetes cifrada círculo">
            <a:extLst xmlns:a="http://schemas.openxmlformats.org/drawingml/2006/main">
              <a:ext uri="{FF2B5EF4-FFF2-40B4-BE49-F238E27FC236}">
                <a16:creationId xmlns:a16="http://schemas.microsoft.com/office/drawing/2014/main" id="{DF7B2AA3-E5FE-4323-8191-050D9915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46634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pic>
        <p:nvPicPr>
          <p:cNvPr id="56" name="Diabetes cifrada ícono">
            <a:extLst xmlns:a="http://schemas.openxmlformats.org/drawingml/2006/main">
              <a:ext uri="{FF2B5EF4-FFF2-40B4-BE49-F238E27FC236}">
                <a16:creationId xmlns:a16="http://schemas.microsoft.com/office/drawing/2014/main" id="{961DF09E-1D5D-4D59-9C4D-F1516FAB6B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72f6321a248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7616" y="476402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57" name="Text 52">
            <a:extLst xmlns:a="http://schemas.openxmlformats.org/drawingml/2006/main">
              <a:ext uri="{FF2B5EF4-FFF2-40B4-BE49-F238E27FC236}">
                <a16:creationId xmlns:a16="http://schemas.microsoft.com/office/drawing/2014/main" id="{EAFD4EB8-A111-4B9D-9E73-7BB88F2A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645152"/>
            <a:ext cx="2651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bg1"/>
                </a:solidFill>
              </a:rPr>
              <a:t>Encrypted diabetes</a:t>
            </a:r>
            <a:endParaRPr sz="1400"/>
          </a:p>
        </p:txBody>
      </p:sp>
      <p:sp>
        <p:nvSpPr>
          <p:cNvPr id="58" name="Text 53">
            <a:extLst xmlns:a="http://schemas.openxmlformats.org/drawingml/2006/main">
              <a:ext uri="{FF2B5EF4-FFF2-40B4-BE49-F238E27FC236}">
                <a16:creationId xmlns:a16="http://schemas.microsoft.com/office/drawing/2014/main" id="{D3B92422-6C27-42DA-BD3F-EFED88DA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983480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Highest AI score; homomorphic encryption on s390x could consume the schedule.</a:t>
            </a:r>
            <a:endParaRPr sz="1100"/>
          </a:p>
        </p:txBody>
      </p:sp>
      <p:sp>
        <p:nvSpPr>
          <p:cNvPr id="5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D870942-30DC-4D86-87D2-6E26CD4BD0F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5482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B56745C7-B01C-4CD5-9E8C-87383EB7EB99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04 · THE THREE SIMULATED JUDGES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4BDE6E4-EB93-4D09-930A-4A0F2AEFFDEA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Each simulated judge chose a different winner</a:t>
            </a:r>
            <a:endParaRPr sz="3000"/>
          </a:p>
        </p:txBody>
      </p:sp>
      <p:sp>
        <p:nvSpPr>
          <p:cNvPr id="4" name="Juez 1 · Experto IBM Z / LinuxONE">
            <a:extLst xmlns:a="http://schemas.openxmlformats.org/drawingml/2006/main">
              <a:ext uri="{FF2B5EF4-FFF2-40B4-BE49-F238E27FC236}">
                <a16:creationId xmlns:a16="http://schemas.microsoft.com/office/drawing/2014/main" id="{99756A13-0253-41B1-8956-75231E15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3520440" cy="43434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5" name="Juez 1 · Experto IBM Z / LinuxONE círculo">
            <a:extLst xmlns:a="http://schemas.openxmlformats.org/drawingml/2006/main">
              <a:ext uri="{FF2B5EF4-FFF2-40B4-BE49-F238E27FC236}">
                <a16:creationId xmlns:a16="http://schemas.microsoft.com/office/drawing/2014/main" id="{04A2D73B-7BDE-41A5-A8C0-92BD0B8D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pic>
        <p:nvPicPr>
          <p:cNvPr id="6" name="Juez 1 · Experto IBM Z / LinuxONE ícono">
            <a:extLst xmlns:a="http://schemas.openxmlformats.org/drawingml/2006/main">
              <a:ext uri="{FF2B5EF4-FFF2-40B4-BE49-F238E27FC236}">
                <a16:creationId xmlns:a16="http://schemas.microsoft.com/office/drawing/2014/main" id="{2BAF7E77-0CFD-470C-B88E-C64FDE2E4E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752f3772841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941" y="2086661"/>
            <a:ext cx="307238" cy="307238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FC4DF26-DDE9-4019-926E-0F80A769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965960"/>
            <a:ext cx="2423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bg1"/>
                </a:solidFill>
              </a:rPr>
              <a:t>Judge 1 · IBM Z / LinuxONE specialist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4FBE376-374D-468A-81B9-67E4B737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chemeClr val="accent5"/>
                </a:solidFill>
              </a:rPr>
              <a:t>PREFERRED IDEA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AC518B-7BB0-4203-A866-F5CCF522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44368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bg1"/>
                </a:solidFill>
              </a:rPr>
              <a:t>Transfers without borders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bg1"/>
                </a:solidFill>
              </a:rPr>
              <a:t>31 / 40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930B349-7F24-4124-8BBC-CB4E67C9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49040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chemeClr val="accent5"/>
                </a:solidFill>
              </a:rPr>
              <a:t>TOP 3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4E0EBEF-0FE4-4859-91E7-B836D4B7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bg1"/>
                </a:solidFill>
              </a:rPr>
              <a:t>1. Transfers without borders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87A6646-3E6B-417E-8F17-42F2F9CB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23360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chemeClr val="bg2"/>
                </a:solidFill>
              </a:rPr>
              <a:t>31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0AD72DA-B2B4-4384-884F-22AE1E4D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15968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bg2"/>
                </a:solidFill>
              </a:rPr>
              <a:t>2. Federated fraud detection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DB4DA80-A056-4E97-9CA7-2669EAE0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15968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chemeClr val="bg2"/>
                </a:solidFill>
              </a:rPr>
              <a:t>31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2D7BC92-6922-4F6E-879E-5549890A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08576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bg2"/>
                </a:solidFill>
              </a:rPr>
              <a:t>3. SPEI shield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0E107F8-CFF8-4672-A35E-730F1048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08576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chemeClr val="bg2"/>
                </a:solidFill>
              </a:rPr>
              <a:t>29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846A7CE-E922-4095-B8A8-0889EBF5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83480"/>
            <a:ext cx="3063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chemeClr val="bg2"/>
                </a:solidFill>
              </a:rPr>
              <a:t>“Best proposed IBM Z production workload: real-time scoring, predictive AI, Granite and CPACF encryption.”</a:t>
            </a:r>
            <a:endParaRPr sz="1100"/>
          </a:p>
        </p:txBody>
      </p:sp>
      <p:sp>
        <p:nvSpPr>
          <p:cNvPr id="18" name="Juez 2 · Líder AI for Good">
            <a:extLst xmlns:a="http://schemas.openxmlformats.org/drawingml/2006/main">
              <a:ext uri="{FF2B5EF4-FFF2-40B4-BE49-F238E27FC236}">
                <a16:creationId xmlns:a16="http://schemas.microsoft.com/office/drawing/2014/main" id="{F6E0A3CC-9979-4D90-B6C0-D4E9B847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1737360"/>
            <a:ext cx="3520440" cy="43434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19" name="Juez 2 · Líder AI for Good círculo">
            <a:extLst xmlns:a="http://schemas.openxmlformats.org/drawingml/2006/main">
              <a:ext uri="{FF2B5EF4-FFF2-40B4-BE49-F238E27FC236}">
                <a16:creationId xmlns:a16="http://schemas.microsoft.com/office/drawing/2014/main" id="{C4DA2750-0D04-4AA7-92D5-83D87FA1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196596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pic>
        <p:nvPicPr>
          <p:cNvPr id="20" name="Juez 2 · Líder AI for Good ícono">
            <a:extLst xmlns:a="http://schemas.openxmlformats.org/drawingml/2006/main">
              <a:ext uri="{FF2B5EF4-FFF2-40B4-BE49-F238E27FC236}">
                <a16:creationId xmlns:a16="http://schemas.microsoft.com/office/drawing/2014/main" id="{80DF5958-86AA-46E8-8170-DFE4121D26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302107c9b4f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3557" y="2086661"/>
            <a:ext cx="307238" cy="30723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AEF9D94-3175-424E-BD52-755C9FC1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965960"/>
            <a:ext cx="2423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bg1"/>
                </a:solidFill>
              </a:rPr>
              <a:t>Judge 2 · AI for Good lead</a:t>
            </a:r>
            <a:endParaRPr sz="14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03C0FD68-65A2-4CEE-BFBB-DE472834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697480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chemeClr val="accent5"/>
                </a:solidFill>
              </a:rPr>
              <a:t>PREFERRED IDEA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7FC83B8-53A8-4311-9B6B-612565FB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944368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bg1"/>
                </a:solidFill>
              </a:rPr>
              <a:t>SPEI fraud shield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bg1"/>
                </a:solidFill>
              </a:rPr>
              <a:t>30 / 40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EFAC6B-9C1E-4CE7-9B41-433380B0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749040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chemeClr val="accent5"/>
                </a:solidFill>
              </a:rPr>
              <a:t>TOP 3</a:t>
            </a:r>
            <a:endParaRPr sz="10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9080E78-D51A-4BA0-B790-85427174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023360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bg2"/>
                </a:solidFill>
              </a:rPr>
              <a:t>1. SPEI shield</a:t>
            </a:r>
            <a:endParaRPr sz="12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04059A4-DABF-4153-B3AE-B8AF93E8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4023360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chemeClr val="bg2"/>
                </a:solidFill>
              </a:rPr>
              <a:t>30</a:t>
            </a:r>
            <a:endParaRPr sz="12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CECBB3CF-E61B-4435-B394-90AE6328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315968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bg2"/>
                </a:solidFill>
              </a:rPr>
              <a:t>2. Encrypted screening</a:t>
            </a:r>
            <a:endParaRPr sz="12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0E83832E-5C94-44E7-8060-787A0A3A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4315968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chemeClr val="bg2"/>
                </a:solidFill>
              </a:rPr>
              <a:t>29</a:t>
            </a:r>
            <a:endParaRPr sz="12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81417A2C-F598-4FD5-BD0F-ADC81A96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608576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bg1"/>
                </a:solidFill>
              </a:rPr>
              <a:t>3. Transfers without borders</a:t>
            </a:r>
            <a:endParaRPr sz="12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AED5229B-0B20-4DBA-9035-7E32E666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4608576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chemeClr val="bg2"/>
                </a:solidFill>
              </a:rPr>
              <a:t>29</a:t>
            </a:r>
            <a:endParaRPr sz="12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C8B3F1B7-35C1-48B5-B8E7-7F050537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983480"/>
            <a:ext cx="3063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chemeClr val="bg2"/>
                </a:solidFill>
              </a:rPr>
              <a:t>“A widespread problem with identifiable victims and a clear three-minute demo feasible within 24 hours.”</a:t>
            </a:r>
            <a:endParaRPr sz="1100"/>
          </a:p>
        </p:txBody>
      </p:sp>
      <p:sp>
        <p:nvSpPr>
          <p:cNvPr id="32" name="Juez 3 · Investigador IA y seguridad">
            <a:extLst xmlns:a="http://schemas.openxmlformats.org/drawingml/2006/main">
              <a:ext uri="{FF2B5EF4-FFF2-40B4-BE49-F238E27FC236}">
                <a16:creationId xmlns:a16="http://schemas.microsoft.com/office/drawing/2014/main" id="{0BEFE09D-73DB-45E7-90BE-3B6E121E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737360"/>
            <a:ext cx="3520440" cy="43434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33" name="Juez 3 · Investigador IA y seguridad círculo">
            <a:extLst xmlns:a="http://schemas.openxmlformats.org/drawingml/2006/main">
              <a:ext uri="{FF2B5EF4-FFF2-40B4-BE49-F238E27FC236}">
                <a16:creationId xmlns:a16="http://schemas.microsoft.com/office/drawing/2014/main" id="{0E14AB99-B1BD-4DB5-8C2F-2B2E4E51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196596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pic>
        <p:nvPicPr>
          <p:cNvPr id="34" name="Juez 3 · Investigador IA y seguridad ícono">
            <a:extLst xmlns:a="http://schemas.openxmlformats.org/drawingml/2006/main">
              <a:ext uri="{FF2B5EF4-FFF2-40B4-BE49-F238E27FC236}">
                <a16:creationId xmlns:a16="http://schemas.microsoft.com/office/drawing/2014/main" id="{F0865839-9AF5-4719-862E-98CAC417EA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481661a8d4b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69173" y="2086661"/>
            <a:ext cx="307238" cy="307238"/>
          </a:xfrm>
          <a:prstGeom xmlns:a="http://schemas.openxmlformats.org/drawingml/2006/main" prst="rect">
            <a:avLst/>
          </a:prstGeom>
        </p:spPr>
      </p:pic>
      <p:sp>
        <p:nvSpPr>
          <p:cNvPr id="35" name="Text 30">
            <a:extLst xmlns:a="http://schemas.openxmlformats.org/drawingml/2006/main">
              <a:ext uri="{FF2B5EF4-FFF2-40B4-BE49-F238E27FC236}">
                <a16:creationId xmlns:a16="http://schemas.microsoft.com/office/drawing/2014/main" id="{54861CD7-3C30-4B24-8E8F-C1E08D96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1965960"/>
            <a:ext cx="2423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bg1"/>
                </a:solidFill>
              </a:rPr>
              <a:t>Judge 3 · AI and security researcher</a:t>
            </a:r>
            <a:endParaRPr sz="1400"/>
          </a:p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1E15EA0C-E693-4A2F-8D86-1BF7FCE7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697480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chemeClr val="accent5"/>
                </a:solidFill>
              </a:rPr>
              <a:t>PREFERRED IDEA</a:t>
            </a:r>
            <a:endParaRPr sz="1000"/>
          </a:p>
        </p:txBody>
      </p:sp>
      <p:sp>
        <p:nvSpPr>
          <p:cNvPr id="37" name="Text 32">
            <a:extLst xmlns:a="http://schemas.openxmlformats.org/drawingml/2006/main">
              <a:ext uri="{FF2B5EF4-FFF2-40B4-BE49-F238E27FC236}">
                <a16:creationId xmlns:a16="http://schemas.microsoft.com/office/drawing/2014/main" id="{1FFBA69E-64BE-4CAA-887E-E5DA1914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44368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bg1"/>
                </a:solidFill>
              </a:rPr>
              <a:t>Encrypted screening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bg1"/>
                </a:solidFill>
              </a:rPr>
              <a:t>29 / 40</a:t>
            </a:r>
          </a:p>
        </p:txBody>
      </p:sp>
      <p:sp>
        <p:nvSpPr>
          <p:cNvPr id="38" name="Text 33">
            <a:extLst xmlns:a="http://schemas.openxmlformats.org/drawingml/2006/main">
              <a:ext uri="{FF2B5EF4-FFF2-40B4-BE49-F238E27FC236}">
                <a16:creationId xmlns:a16="http://schemas.microsoft.com/office/drawing/2014/main" id="{361D19DC-E8EB-4AD6-9960-33C2FD6C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49040"/>
            <a:ext cx="3063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chemeClr val="accent5"/>
                </a:solidFill>
              </a:rPr>
              <a:t>TOP 3</a:t>
            </a:r>
            <a:endParaRPr sz="1000"/>
          </a:p>
        </p:txBody>
      </p:sp>
      <p:sp>
        <p:nvSpPr>
          <p:cNvPr id="39" name="Text 34">
            <a:extLst xmlns:a="http://schemas.openxmlformats.org/drawingml/2006/main">
              <a:ext uri="{FF2B5EF4-FFF2-40B4-BE49-F238E27FC236}">
                <a16:creationId xmlns:a16="http://schemas.microsoft.com/office/drawing/2014/main" id="{5E580135-F976-4A28-9F7F-8A346AEE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4023360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bg2"/>
                </a:solidFill>
              </a:rPr>
              <a:t>1. Encrypted screening</a:t>
            </a:r>
            <a:endParaRPr sz="1200"/>
          </a:p>
        </p:txBody>
      </p:sp>
      <p:sp>
        <p:nvSpPr>
          <p:cNvPr id="40" name="Text 35">
            <a:extLst xmlns:a="http://schemas.openxmlformats.org/drawingml/2006/main">
              <a:ext uri="{FF2B5EF4-FFF2-40B4-BE49-F238E27FC236}">
                <a16:creationId xmlns:a16="http://schemas.microsoft.com/office/drawing/2014/main" id="{30ADDD90-4F95-4969-B9A7-83526398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232" y="4023360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chemeClr val="bg2"/>
                </a:solidFill>
              </a:rPr>
              <a:t>29</a:t>
            </a:r>
            <a:endParaRPr sz="1200"/>
          </a:p>
        </p:txBody>
      </p:sp>
      <p:sp>
        <p:nvSpPr>
          <p:cNvPr id="41" name="Text 36">
            <a:extLst xmlns:a="http://schemas.openxmlformats.org/drawingml/2006/main">
              <a:ext uri="{FF2B5EF4-FFF2-40B4-BE49-F238E27FC236}">
                <a16:creationId xmlns:a16="http://schemas.microsoft.com/office/drawing/2014/main" id="{F2897821-39BF-47A3-9940-E63515BF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4315968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bg1"/>
                </a:solidFill>
              </a:rPr>
              <a:t>2. Transfers without borders</a:t>
            </a:r>
            <a:endParaRPr sz="1200"/>
          </a:p>
        </p:txBody>
      </p:sp>
      <p:sp>
        <p:nvSpPr>
          <p:cNvPr id="42" name="Text 37">
            <a:extLst xmlns:a="http://schemas.openxmlformats.org/drawingml/2006/main">
              <a:ext uri="{FF2B5EF4-FFF2-40B4-BE49-F238E27FC236}">
                <a16:creationId xmlns:a16="http://schemas.microsoft.com/office/drawing/2014/main" id="{0CBBBB20-41C1-48ED-85FB-B46CDAA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232" y="4315968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chemeClr val="bg2"/>
                </a:solidFill>
              </a:rPr>
              <a:t>28</a:t>
            </a:r>
            <a:endParaRPr sz="1200"/>
          </a:p>
        </p:txBody>
      </p:sp>
      <p:sp>
        <p:nvSpPr>
          <p:cNvPr id="43" name="Text 38">
            <a:extLst xmlns:a="http://schemas.openxmlformats.org/drawingml/2006/main">
              <a:ext uri="{FF2B5EF4-FFF2-40B4-BE49-F238E27FC236}">
                <a16:creationId xmlns:a16="http://schemas.microsoft.com/office/drawing/2014/main" id="{0C607D05-D22C-4EB4-9B24-C36E0017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4608576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bg2"/>
                </a:solidFill>
              </a:rPr>
              <a:t>3. Federated fraud detection</a:t>
            </a:r>
            <a:endParaRPr sz="1200"/>
          </a:p>
        </p:txBody>
      </p:sp>
      <p:sp>
        <p:nvSpPr>
          <p:cNvPr id="44" name="Text 39">
            <a:extLst xmlns:a="http://schemas.openxmlformats.org/drawingml/2006/main">
              <a:ext uri="{FF2B5EF4-FFF2-40B4-BE49-F238E27FC236}">
                <a16:creationId xmlns:a16="http://schemas.microsoft.com/office/drawing/2014/main" id="{81FCFCE2-E531-4749-92A1-67382923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232" y="4608576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chemeClr val="bg2"/>
                </a:solidFill>
              </a:rPr>
              <a:t>27</a:t>
            </a:r>
            <a:endParaRPr sz="1200"/>
          </a:p>
        </p:txBody>
      </p:sp>
      <p:sp>
        <p:nvSpPr>
          <p:cNvPr id="45" name="Text 40">
            <a:extLst xmlns:a="http://schemas.openxmlformats.org/drawingml/2006/main">
              <a:ext uri="{FF2B5EF4-FFF2-40B4-BE49-F238E27FC236}">
                <a16:creationId xmlns:a16="http://schemas.microsoft.com/office/drawing/2014/main" id="{4335C008-7078-4077-BAD5-0744764B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4983480"/>
            <a:ext cx="3063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chemeClr val="bg2"/>
                </a:solidFill>
              </a:rPr>
              <a:t>“A proposal to evaluate AI without readable inputs using a verifiable encrypted-versus-plaintext AUC comparison.”</a:t>
            </a:r>
            <a:endParaRPr sz="1100"/>
          </a:p>
        </p:txBody>
      </p:sp>
      <p:sp>
        <p:nvSpPr>
          <p:cNvPr id="46" name="Text 41">
            <a:extLst xmlns:a="http://schemas.openxmlformats.org/drawingml/2006/main">
              <a:ext uri="{FF2B5EF4-FFF2-40B4-BE49-F238E27FC236}">
                <a16:creationId xmlns:a16="http://schemas.microsoft.com/office/drawing/2014/main" id="{E0A38FDA-0344-43A4-A701-43B8CD68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44768"/>
            <a:ext cx="110916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AI-simulated blind judges · official 40-point rubric. Quoted comments summarize simulated reasoning, not event endorsements.</a:t>
            </a:r>
            <a:endParaRPr sz="1000"/>
          </a:p>
        </p:txBody>
      </p:sp>
      <p:sp>
        <p:nvSpPr>
          <p:cNvPr id="4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9678245-6053-4584-9725-9CF6573DA67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63781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E02BF509-231E-4B57-9B19-A583D0F9630F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05 · HISTORICAL RECOMMENDATION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6EB07DD-EA82-483D-A1EF-7B797A1D910C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Original recommendation: reduce the remittance scope</a:t>
            </a:r>
            <a:endParaRPr sz="3000"/>
          </a:p>
        </p:txBody>
      </p:sp>
      <p:sp>
        <p:nvSpPr>
          <p:cNvPr id="4" name="Ganadora">
            <a:extLst xmlns:a="http://schemas.openxmlformats.org/drawingml/2006/main">
              <a:ext uri="{FF2B5EF4-FFF2-40B4-BE49-F238E27FC236}">
                <a16:creationId xmlns:a16="http://schemas.microsoft.com/office/drawing/2014/main" id="{E8CD4098-05F6-4803-AFB5-A6C725EB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4206240" cy="43434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chemeClr val="accent1">
              <a:alpha val="22000"/>
            </a:schemeClr>
          </a:solidFill>
          <a:ln xmlns:a="http://schemas.openxmlformats.org/drawingml/2006/main" w="9525">
            <a:solidFill>
              <a:schemeClr val="accent5">
                <a:alpha val="70000"/>
              </a:schemeClr>
            </a:solidFill>
            <a:prstDash val="solid"/>
          </a:ln>
        </p:spPr>
      </p:sp>
      <p:sp>
        <p:nvSpPr>
          <p:cNvPr id="5" name="Trofeo círculo">
            <a:extLst xmlns:a="http://schemas.openxmlformats.org/drawingml/2006/main">
              <a:ext uri="{FF2B5EF4-FFF2-40B4-BE49-F238E27FC236}">
                <a16:creationId xmlns:a16="http://schemas.microsoft.com/office/drawing/2014/main" id="{D4CD59B0-7BE4-4BA5-BD16-24FC777D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pic>
        <p:nvPicPr>
          <p:cNvPr id="6" name="Trofeo ícono">
            <a:extLst xmlns:a="http://schemas.openxmlformats.org/drawingml/2006/main">
              <a:ext uri="{FF2B5EF4-FFF2-40B4-BE49-F238E27FC236}">
                <a16:creationId xmlns:a16="http://schemas.microsoft.com/office/drawing/2014/main" id="{88F00507-D169-49A4-B4CC-F2F68A1BD8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b1b10c494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116" y="2116836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942C2E7-CF7B-46C4-B13E-0BCE20FA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3749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chemeClr val="bg1"/>
                </a:solidFill>
              </a:rPr>
              <a:t>Transfers without borders</a:t>
            </a:r>
            <a:endParaRPr sz="2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883B9F6-4F00-4DF0-8669-7A70A657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66160"/>
            <a:ext cx="3749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chemeClr val="accent5"/>
                </a:solidFill>
              </a:rPr>
              <a:t>29.3</a:t>
            </a:r>
            <a:r>
              <a:rPr sz="1800">
                <a:solidFill>
                  <a:schemeClr val="bg2"/>
                </a:solidFill>
              </a:rPr>
              <a:t> / 40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7C149CC-02B7-4AC7-AD85-372C4727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37490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chemeClr val="bg1"/>
                </a:solidFill>
              </a:rPr>
              <a:t>#1 average across the three simulated judges</a:t>
            </a:r>
            <a:endParaRPr sz="1300"/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chemeClr val="bg1"/>
                </a:solidFill>
              </a:rPr>
              <a:t>Only unanimous top-three proposal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300">
                <a:solidFill>
                  <a:schemeClr val="bg1"/>
                </a:solidFill>
              </a:rPr>
              <a:t>Highest C1 and C3 scores (8.3 each)</a:t>
            </a:r>
          </a:p>
        </p:txBody>
      </p:sp>
      <p:sp>
        <p:nvSpPr>
          <p:cNvPr id="10" name="Recortar alcance">
            <a:extLst xmlns:a="http://schemas.openxmlformats.org/drawingml/2006/main">
              <a:ext uri="{FF2B5EF4-FFF2-40B4-BE49-F238E27FC236}">
                <a16:creationId xmlns:a16="http://schemas.microsoft.com/office/drawing/2014/main" id="{749C0155-5B54-4AD0-9999-7494AD44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7360"/>
            <a:ext cx="6611112" cy="877824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6">
                <a:alpha val="50000"/>
              </a:schemeClr>
            </a:solidFill>
            <a:prstDash val="solid"/>
          </a:ln>
        </p:spPr>
      </p:sp>
      <p:sp>
        <p:nvSpPr>
          <p:cNvPr id="11" name="Recortar alcance círculo">
            <a:extLst xmlns:a="http://schemas.openxmlformats.org/drawingml/2006/main">
              <a:ext uri="{FF2B5EF4-FFF2-40B4-BE49-F238E27FC236}">
                <a16:creationId xmlns:a16="http://schemas.microsoft.com/office/drawing/2014/main" id="{DAC81B81-8AB1-4AEB-A282-E0DDFC79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92024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pic>
        <p:nvPicPr>
          <p:cNvPr id="12" name="Recortar alcance ícono">
            <a:extLst xmlns:a="http://schemas.openxmlformats.org/drawingml/2006/main">
              <a:ext uri="{FF2B5EF4-FFF2-40B4-BE49-F238E27FC236}">
                <a16:creationId xmlns:a16="http://schemas.microsoft.com/office/drawing/2014/main" id="{AD3B4369-537B-424A-A2F3-89618AD88D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e9506ddc44a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4734" y="2032894"/>
            <a:ext cx="286756" cy="2867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A037883-DBEB-46EF-8665-DDF26218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847088"/>
            <a:ext cx="5577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bg1"/>
                </a:solidFill>
              </a:rPr>
              <a:t>Reduce scope</a:t>
            </a:r>
            <a:endParaRPr sz="14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98E20DE-3126-49A4-9B8E-2CE7421A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167128"/>
            <a:ext cx="5577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bg2"/>
                </a:solidFill>
              </a:rPr>
              <a:t>Three complete scenarios beat three incomplete layers. Target an end-to-end demo by hour 18.</a:t>
            </a:r>
            <a:endParaRPr sz="1200"/>
          </a:p>
        </p:txBody>
      </p:sp>
      <p:sp>
        <p:nvSpPr>
          <p:cNvPr id="15" name="Robar la mejor escena de SPEI">
            <a:extLst xmlns:a="http://schemas.openxmlformats.org/drawingml/2006/main">
              <a:ext uri="{FF2B5EF4-FFF2-40B4-BE49-F238E27FC236}">
                <a16:creationId xmlns:a16="http://schemas.microsoft.com/office/drawing/2014/main" id="{E3D9124B-392C-49DB-96EB-D90C6C85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24912"/>
            <a:ext cx="6611112" cy="877824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6">
                <a:alpha val="50000"/>
              </a:schemeClr>
            </a:solidFill>
            <a:prstDash val="solid"/>
          </a:ln>
        </p:spPr>
      </p:sp>
      <p:sp>
        <p:nvSpPr>
          <p:cNvPr id="16" name="Robar la mejor escena de SPEI círculo">
            <a:extLst xmlns:a="http://schemas.openxmlformats.org/drawingml/2006/main">
              <a:ext uri="{FF2B5EF4-FFF2-40B4-BE49-F238E27FC236}">
                <a16:creationId xmlns:a16="http://schemas.microsoft.com/office/drawing/2014/main" id="{355C8B0B-4083-4DC9-8269-BDE4A6C4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907792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pic>
        <p:nvPicPr>
          <p:cNvPr id="17" name="Robar la mejor escena de SPEI ícono">
            <a:extLst xmlns:a="http://schemas.openxmlformats.org/drawingml/2006/main">
              <a:ext uri="{FF2B5EF4-FFF2-40B4-BE49-F238E27FC236}">
                <a16:creationId xmlns:a16="http://schemas.microsoft.com/office/drawing/2014/main" id="{BC3577D5-F212-4BE8-A5B0-7843A8FB66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d25fcea5e4e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4734" y="3020446"/>
            <a:ext cx="286756" cy="286756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07D9FD61-1BF5-45D1-95FC-D4EFBB81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834640"/>
            <a:ext cx="5577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bg1"/>
                </a:solidFill>
              </a:rPr>
              <a:t>Borrow SPEI’s warning scene</a:t>
            </a:r>
            <a:endParaRPr sz="14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60C1C9F9-E093-4E5F-A6EF-021597F7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54680"/>
            <a:ext cx="5577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bg2"/>
                </a:solidFill>
              </a:rPr>
              <a:t>Warn before confirmation: “This beneficiary may match the OFAC list.”</a:t>
            </a:r>
            <a:endParaRPr sz="1200"/>
          </a:p>
        </p:txBody>
      </p:sp>
      <p:sp>
        <p:nvSpPr>
          <p:cNvPr id="20" name="Robar la métrica de Diabetes">
            <a:extLst xmlns:a="http://schemas.openxmlformats.org/drawingml/2006/main">
              <a:ext uri="{FF2B5EF4-FFF2-40B4-BE49-F238E27FC236}">
                <a16:creationId xmlns:a16="http://schemas.microsoft.com/office/drawing/2014/main" id="{220EE994-3F94-43C8-B0A8-6AE5BE99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12464"/>
            <a:ext cx="6611112" cy="877824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6">
                <a:alpha val="50000"/>
              </a:schemeClr>
            </a:solidFill>
            <a:prstDash val="solid"/>
          </a:ln>
        </p:spPr>
      </p:sp>
      <p:sp>
        <p:nvSpPr>
          <p:cNvPr id="21" name="Robar la métrica de Diabetes círculo">
            <a:extLst xmlns:a="http://schemas.openxmlformats.org/drawingml/2006/main">
              <a:ext uri="{FF2B5EF4-FFF2-40B4-BE49-F238E27FC236}">
                <a16:creationId xmlns:a16="http://schemas.microsoft.com/office/drawing/2014/main" id="{2D3C0E35-AE58-4FBE-A87B-C99C37BC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pic>
        <p:nvPicPr>
          <p:cNvPr id="22" name="Robar la métrica de Diabetes ícono">
            <a:extLst xmlns:a="http://schemas.openxmlformats.org/drawingml/2006/main">
              <a:ext uri="{FF2B5EF4-FFF2-40B4-BE49-F238E27FC236}">
                <a16:creationId xmlns:a16="http://schemas.microsoft.com/office/drawing/2014/main" id="{BB6C73E2-FC22-4F50-A54F-E2BAF6F19E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83e5a467e43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4734" y="4007998"/>
            <a:ext cx="286756" cy="286756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89EDE541-3185-4125-A25C-0BBD654C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822192"/>
            <a:ext cx="5577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bg1"/>
                </a:solidFill>
              </a:rPr>
              <a:t>Borrow the privacy comparison</a:t>
            </a:r>
            <a:endParaRPr sz="14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F119BD5E-2915-48EB-A47A-30E445DD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142232"/>
            <a:ext cx="5577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bg2"/>
                </a:solidFill>
              </a:rPr>
              <a:t>Compare model performance on tokenized and plaintext inputs; this alone does not prove privacy.</a:t>
            </a:r>
            <a:endParaRPr sz="1200"/>
          </a:p>
        </p:txBody>
      </p:sp>
      <p:sp>
        <p:nvSpPr>
          <p:cNvPr id="25" name="Decidir el tema en la hora 1">
            <a:extLst xmlns:a="http://schemas.openxmlformats.org/drawingml/2006/main">
              <a:ext uri="{FF2B5EF4-FFF2-40B4-BE49-F238E27FC236}">
                <a16:creationId xmlns:a16="http://schemas.microsoft.com/office/drawing/2014/main" id="{43F7B2D6-AA5A-4A6C-9583-A0025685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00016"/>
            <a:ext cx="6611112" cy="877824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6">
                <a:alpha val="50000"/>
              </a:schemeClr>
            </a:solidFill>
            <a:prstDash val="solid"/>
          </a:ln>
        </p:spPr>
      </p:sp>
      <p:sp>
        <p:nvSpPr>
          <p:cNvPr id="26" name="Decidir el tema en la hora 1 círculo">
            <a:extLst xmlns:a="http://schemas.openxmlformats.org/drawingml/2006/main">
              <a:ext uri="{FF2B5EF4-FFF2-40B4-BE49-F238E27FC236}">
                <a16:creationId xmlns:a16="http://schemas.microsoft.com/office/drawing/2014/main" id="{322284D4-0ACE-4588-8DE2-8984EFF2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8828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</p:spPr>
      </p:sp>
      <p:pic>
        <p:nvPicPr>
          <p:cNvPr id="27" name="Decidir el tema en la hora 1 ícono">
            <a:extLst xmlns:a="http://schemas.openxmlformats.org/drawingml/2006/main">
              <a:ext uri="{FF2B5EF4-FFF2-40B4-BE49-F238E27FC236}">
                <a16:creationId xmlns:a16="http://schemas.microsoft.com/office/drawing/2014/main" id="{9248BA89-DA88-40FF-93A2-C439C3C759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6cec4cd9f4a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4734" y="4995550"/>
            <a:ext cx="286756" cy="286756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D7E3F329-C824-46AB-A31F-B936A6BC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809744"/>
            <a:ext cx="55778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bg1"/>
                </a:solidFill>
              </a:rPr>
              <a:t>Choose the theme in hour 1</a:t>
            </a:r>
            <a:endParaRPr sz="140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7EBE325-519C-4740-8241-135AA273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129784"/>
            <a:ext cx="5577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bg2"/>
                </a:solidFill>
              </a:rPr>
              <a:t>Two judges assigned T1. For T2, encryption and tokenization must be central.</a:t>
            </a:r>
            <a:endParaRPr sz="12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0B4067CB-4EF6-4FFE-B016-5B183E56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44768"/>
            <a:ext cx="110916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chemeClr val="accent4"/>
                </a:solidFill>
              </a:rPr>
              <a:t>Original fallback: SPEI fraud shield (28.0 / 40; feasibility 4.7 / 5) if the VM stack is unavailable by hour 2.</a:t>
            </a:r>
            <a:endParaRPr sz="11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916E838-E092-4729-8BF3-7C61B8B6BA9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26572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11246B46-5C1F-4E54-A144-3E1B86978318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IDEA 01 OF 11  ·  RANKING #1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44383B-9980-4792-A44B-1DF0CE32F85D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Transfers without borders</a:t>
            </a:r>
            <a:endParaRPr sz="3000"/>
          </a:p>
        </p:txBody>
      </p:sp>
      <p:sp>
        <p:nvSpPr>
          <p:cNvPr id="4" name="tema T1 · T2">
            <a:extLst xmlns:a="http://schemas.openxmlformats.org/drawingml/2006/main">
              <a:ext uri="{FF2B5EF4-FFF2-40B4-BE49-F238E27FC236}">
                <a16:creationId xmlns:a16="http://schemas.microsoft.com/office/drawing/2014/main" id="{5B997E8A-2082-4949-A553-5EAD05B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81838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>
              <a:alpha val="30000"/>
            </a:schemeClr>
          </a:solidFill>
          <a:ln xmlns:a="http://schemas.openxmlformats.org/drawingml/2006/main" w="9525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EB92A3F-164C-4DAE-8FE3-1FD18831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8183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chemeClr val="bg1"/>
                </a:solidFill>
              </a:rPr>
              <a:t>T1 · T2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4898F80-83C5-4ECF-93CB-D8A2FD96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56" y="1691640"/>
            <a:ext cx="45582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Two of three judges: T1. T2 is possible if encryption is central.</a:t>
            </a:r>
            <a:endParaRPr sz="1100"/>
          </a:p>
        </p:txBody>
      </p:sp>
      <p:sp>
        <p:nvSpPr>
          <p:cNvPr id="7" name="Problema círculo">
            <a:extLst xmlns:a="http://schemas.openxmlformats.org/drawingml/2006/main">
              <a:ext uri="{FF2B5EF4-FFF2-40B4-BE49-F238E27FC236}">
                <a16:creationId xmlns:a16="http://schemas.microsoft.com/office/drawing/2014/main" id="{18288A72-90F2-4A2F-9AD6-89212A74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8" name="Problema ícono">
            <a:extLst xmlns:a="http://schemas.openxmlformats.org/drawingml/2006/main">
              <a:ext uri="{FF2B5EF4-FFF2-40B4-BE49-F238E27FC236}">
                <a16:creationId xmlns:a16="http://schemas.microsoft.com/office/drawing/2014/main" id="{74CA686F-8DF0-475F-B652-6B5C054021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ac430dd894d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2336841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3A5B8AA-76B9-4292-BC97-7DE8A9BB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Problem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4258BD7-4568-47D0-AE81-76823EA8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7752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Cross-border transfers cost an illustrative 6.49% on average in the original proposal, take time and face fraud/AML risks.</a:t>
            </a:r>
            <a:endParaRPr sz="1300"/>
          </a:p>
        </p:txBody>
      </p:sp>
      <p:sp>
        <p:nvSpPr>
          <p:cNvPr id="11" name="Solución círculo">
            <a:extLst xmlns:a="http://schemas.openxmlformats.org/drawingml/2006/main">
              <a:ext uri="{FF2B5EF4-FFF2-40B4-BE49-F238E27FC236}">
                <a16:creationId xmlns:a16="http://schemas.microsoft.com/office/drawing/2014/main" id="{86150B8A-0072-4C06-B857-851F381F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387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2" name="Solución ícono">
            <a:extLst xmlns:a="http://schemas.openxmlformats.org/drawingml/2006/main">
              <a:ext uri="{FF2B5EF4-FFF2-40B4-BE49-F238E27FC236}">
                <a16:creationId xmlns:a16="http://schemas.microsoft.com/office/drawing/2014/main" id="{B1F3D386-2DE4-4025-AF81-EE60470290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ad2d256b444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3635289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6DDA5BB-258E-4F72-A92D-0B180F8E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872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Solution</a:t>
            </a:r>
            <a:endParaRPr sz="13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7AD6A5C-1B4B-4EE1-984F-4C29B1CE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Proposed OFAC fuzzy matching, XGBoost fraud/AML scoring with Granite explanations, and simulated instant settlement. PII encrypted and tokenized.</a:t>
            </a:r>
            <a:endParaRPr sz="1300"/>
          </a:p>
        </p:txBody>
      </p:sp>
      <p:sp>
        <p:nvSpPr>
          <p:cNvPr id="15" name="MVP en 24 h círculo">
            <a:extLst xmlns:a="http://schemas.openxmlformats.org/drawingml/2006/main">
              <a:ext uri="{FF2B5EF4-FFF2-40B4-BE49-F238E27FC236}">
                <a16:creationId xmlns:a16="http://schemas.microsoft.com/office/drawing/2014/main" id="{D127EDF0-A017-4D18-98B3-5310DDA6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371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6" name="MVP en 24 h ícono">
            <a:extLst xmlns:a="http://schemas.openxmlformats.org/drawingml/2006/main">
              <a:ext uri="{FF2B5EF4-FFF2-40B4-BE49-F238E27FC236}">
                <a16:creationId xmlns:a16="http://schemas.microsoft.com/office/drawing/2014/main" id="{9FAA0B2A-B5BC-4BED-84AD-48B0D6BB25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67966ceb248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49337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DCC6DE51-4E0A-43FF-8DC9-369BB3FF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7176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24-hour MVP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5E66434C-0F1C-49BD-B028-94563B10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4648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Simulated Mexico–U.S.–Colombia network with synthetic smurfing/layering patterns, three scenarios and planned LinuxONE metrics.</a:t>
            </a:r>
            <a:endParaRPr sz="1300"/>
          </a:p>
        </p:txBody>
      </p:sp>
      <p:sp>
        <p:nvSpPr>
          <p:cNvPr id="19" name="Puntaje">
            <a:extLst xmlns:a="http://schemas.openxmlformats.org/drawingml/2006/main">
              <a:ext uri="{FF2B5EF4-FFF2-40B4-BE49-F238E27FC236}">
                <a16:creationId xmlns:a16="http://schemas.microsoft.com/office/drawing/2014/main" id="{607EB33D-8221-4081-B23A-D0C902BE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056632" cy="443484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4">
                <a:alpha val="60000"/>
              </a:schemeClr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BD3A5BB-E687-45D7-A5C5-3E09D540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3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29.3</a:t>
            </a:r>
            <a:r>
              <a:rPr sz="1600">
                <a:solidFill>
                  <a:schemeClr val="bg2"/>
                </a:solidFill>
              </a:rPr>
              <a:t> / 40</a:t>
            </a:r>
            <a:endParaRPr sz="14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DF72152C-6A3F-437F-B8B9-473721F0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2176272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chemeClr val="accent4"/>
                </a:solidFill>
              </a:rPr>
              <a:t>#1 of 11</a:t>
            </a:r>
            <a:endParaRPr sz="1600"/>
          </a:p>
        </p:txBody>
      </p:sp>
      <p:graphicFrame>
        <p:nvGraphicFramePr>
          <p:cNvPr id="22" name="Criterios Remesas + OFAC/AML">
            <a:extLst xmlns:a="http://schemas.openxmlformats.org/drawingml/2006/main">
              <a:ext uri="{FF2B5EF4-FFF2-40B4-BE49-F238E27FC236}">
                <a16:creationId xmlns:a16="http://schemas.microsoft.com/office/drawing/2014/main" id="{58176AC7-96FC-46AB-AED6-891D5CBC8426}"/>
              </a:ext>
            </a:extLst>
          </p:cNvPr>
          <p:cNvGraphicFramePr/>
          <p:nvPr/>
        </p:nvGraphicFramePr>
        <p:xfrm>
          <a:off xmlns:a="http://schemas.openxmlformats.org/drawingml/2006/main" x="6720840" y="2514600"/>
          <a:ext xmlns:a="http://schemas.openxmlformats.org/drawingml/2006/main" cx="4782312" cy="17373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af3e369b7d4811"/>
          </a:graphicData>
        </a:graphic>
      </p:graphicFrame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79FDAA0D-AED1-4E85-9127-6B03240D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13.7 / 20</a:t>
            </a:r>
            <a:endParaRPr sz="15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9140DBC1-41D2-4D32-9C01-96B4AEE4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AI Innovation</a:t>
            </a:r>
            <a:endParaRPr sz="10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513CCE07-CC16-4D9C-8B99-644485F5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3.0 / 5</a:t>
            </a:r>
            <a:endParaRPr sz="15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27544E14-0C1F-4771-BE60-B5BE1C9C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24-hour feasibility</a:t>
            </a:r>
            <a:endParaRPr sz="10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274DC530-9E0A-48C1-9579-38A54201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31 · 29 · 28</a:t>
            </a:r>
            <a:endParaRPr sz="1500"/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D2715D1B-51FB-415F-AC68-48EF628F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Judges 1 · 2 · 3</a:t>
            </a:r>
            <a:endParaRPr sz="10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45BF8D86-30C5-48CC-A2DE-10F57E01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2"/>
                </a:solidFill>
              </a:rPr>
              <a:t>+ Proposed IBM Z scope: multiple models, Granite and AES-GCM with CPACF</a:t>
            </a:r>
            <a:endParaRPr sz="12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598DB0C8-026A-43DE-B210-7A0F76F2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4"/>
                </a:solidFill>
              </a:rPr>
              <a:t>− Broad scope risks three incomplete layers</a:t>
            </a:r>
            <a:endParaRPr sz="1200"/>
          </a:p>
        </p:txBody>
      </p:sp>
      <p:sp>
        <p:nvSpPr>
          <p:cNvPr id="31" name="Ganadora de juez">
            <a:extLst xmlns:a="http://schemas.openxmlformats.org/drawingml/2006/main">
              <a:ext uri="{FF2B5EF4-FFF2-40B4-BE49-F238E27FC236}">
                <a16:creationId xmlns:a16="http://schemas.microsoft.com/office/drawing/2014/main" id="{9F570A3E-E368-4081-B980-9042B269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1828800"/>
            <a:ext cx="2057400" cy="2926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2">
              <a:alpha val="40000"/>
            </a:schemeClr>
          </a:solidFill>
          <a:ln xmlns:a="http://schemas.openxmlformats.org/drawingml/2006/main" w="9525">
            <a:solidFill>
              <a:schemeClr val="accent2"/>
            </a:solidFill>
            <a:prstDash val="solid"/>
          </a:ln>
        </p:spPr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A94B4A1E-9A76-4337-B9CE-51AA9F44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1828800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chemeClr val="bg1"/>
                </a:solidFill>
              </a:rPr>
              <a:t>Preferred · IBM Z judge</a:t>
            </a:r>
            <a:endParaRPr sz="1000"/>
          </a:p>
        </p:txBody>
      </p:sp>
      <p:sp>
        <p:nvSpPr>
          <p:cNvPr id="3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E94505E-0901-4BED-8E11-2E7CBF59395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93249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9131CF6B-A077-496B-A381-4553D5B228D7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IDEA 02 OF 11  ·  RANKING #2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72CA682-A74D-427A-AFA9-F8EAE736C754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Screening on encrypted inputs</a:t>
            </a:r>
            <a:endParaRPr sz="3000"/>
          </a:p>
        </p:txBody>
      </p:sp>
      <p:sp>
        <p:nvSpPr>
          <p:cNvPr id="4" name="tema T2">
            <a:extLst xmlns:a="http://schemas.openxmlformats.org/drawingml/2006/main">
              <a:ext uri="{FF2B5EF4-FFF2-40B4-BE49-F238E27FC236}">
                <a16:creationId xmlns:a16="http://schemas.microsoft.com/office/drawing/2014/main" id="{0C50097E-D94A-4F83-B252-834053EE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 w="9525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13E179E-3E7C-4C65-B9F2-B218130E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chemeClr val="bg1"/>
                </a:solidFill>
              </a:rPr>
              <a:t>T2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003CAE-C2D0-4B68-AD5F-4D27756D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1691640"/>
            <a:ext cx="49469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AI Secured: Innovation Without Exposure</a:t>
            </a:r>
            <a:endParaRPr sz="1100"/>
          </a:p>
        </p:txBody>
      </p:sp>
      <p:sp>
        <p:nvSpPr>
          <p:cNvPr id="7" name="Problema círculo">
            <a:extLst xmlns:a="http://schemas.openxmlformats.org/drawingml/2006/main">
              <a:ext uri="{FF2B5EF4-FFF2-40B4-BE49-F238E27FC236}">
                <a16:creationId xmlns:a16="http://schemas.microsoft.com/office/drawing/2014/main" id="{826EDE50-7975-493D-866D-71A655C1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8" name="Problema ícono">
            <a:extLst xmlns:a="http://schemas.openxmlformats.org/drawingml/2006/main">
              <a:ext uri="{FF2B5EF4-FFF2-40B4-BE49-F238E27FC236}">
                <a16:creationId xmlns:a16="http://schemas.microsoft.com/office/drawing/2014/main" id="{B8F9B2A9-4379-4185-8C6F-5B46F47993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b52d4987545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2336841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EAAEEC-2DB4-4F95-9ACE-FB57A744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Problem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8BBE352-AD40-4C37-8245-5F1A8154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7752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Clinical data is difficult to share for model training; diabetes is a leading cause of death in Mexico.</a:t>
            </a:r>
            <a:endParaRPr sz="1300"/>
          </a:p>
        </p:txBody>
      </p:sp>
      <p:sp>
        <p:nvSpPr>
          <p:cNvPr id="11" name="Solución círculo">
            <a:extLst xmlns:a="http://schemas.openxmlformats.org/drawingml/2006/main">
              <a:ext uri="{FF2B5EF4-FFF2-40B4-BE49-F238E27FC236}">
                <a16:creationId xmlns:a16="http://schemas.microsoft.com/office/drawing/2014/main" id="{5FA93693-CD7A-4680-8446-1CCC0E9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387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2" name="Solución ícono">
            <a:extLst xmlns:a="http://schemas.openxmlformats.org/drawingml/2006/main">
              <a:ext uri="{FF2B5EF4-FFF2-40B4-BE49-F238E27FC236}">
                <a16:creationId xmlns:a16="http://schemas.microsoft.com/office/drawing/2014/main" id="{03884974-AB10-44A2-BE06-87DB215FC3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a5886436b48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3635289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0FD2A0F-911D-4A52-ABA5-2FCF8E66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872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Solution</a:t>
            </a:r>
            <a:endParaRPr sz="13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137634F-0766-4C8E-B86C-B6A3AED8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Proposed diabetes-risk prediction with homomorphic encryption or a protected environment. The selected MVP later used Paillier.</a:t>
            </a:r>
            <a:endParaRPr sz="1300"/>
          </a:p>
        </p:txBody>
      </p:sp>
      <p:sp>
        <p:nvSpPr>
          <p:cNvPr id="15" name="MVP en 24 h círculo">
            <a:extLst xmlns:a="http://schemas.openxmlformats.org/drawingml/2006/main">
              <a:ext uri="{FF2B5EF4-FFF2-40B4-BE49-F238E27FC236}">
                <a16:creationId xmlns:a16="http://schemas.microsoft.com/office/drawing/2014/main" id="{AB565EA3-5C33-4725-931F-56B1C355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371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6" name="MVP en 24 h ícono">
            <a:extLst xmlns:a="http://schemas.openxmlformats.org/drawingml/2006/main">
              <a:ext uri="{FF2B5EF4-FFF2-40B4-BE49-F238E27FC236}">
                <a16:creationId xmlns:a16="http://schemas.microsoft.com/office/drawing/2014/main" id="{78B99E02-3069-41C7-9426-F790ADA793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6fb68d5d349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49337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E4678718-BB39-42E6-BC34-4A066540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7176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24-hour MVP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D745E979-090B-4EF0-9285-F078E031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4648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Split screen: ciphertexts at the service, predictions at the hospital; compare encrypted and plaintext AUC. CDC Diabetes Health Indicators.</a:t>
            </a:r>
            <a:endParaRPr sz="1300"/>
          </a:p>
        </p:txBody>
      </p:sp>
      <p:sp>
        <p:nvSpPr>
          <p:cNvPr id="19" name="Puntaje">
            <a:extLst xmlns:a="http://schemas.openxmlformats.org/drawingml/2006/main">
              <a:ext uri="{FF2B5EF4-FFF2-40B4-BE49-F238E27FC236}">
                <a16:creationId xmlns:a16="http://schemas.microsoft.com/office/drawing/2014/main" id="{65F078E2-B516-4749-9EB1-4F06A180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056632" cy="443484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FCA44291-A56F-44BA-8ECC-EE9B3711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3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29.0</a:t>
            </a:r>
            <a:r>
              <a:rPr sz="1600">
                <a:solidFill>
                  <a:schemeClr val="bg2"/>
                </a:solidFill>
              </a:rPr>
              <a:t> / 40</a:t>
            </a:r>
            <a:endParaRPr sz="14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D0964C89-1C13-4A32-9547-50167460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2176272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chemeClr val="accent1"/>
                </a:solidFill>
              </a:rPr>
              <a:t>#2 of 11</a:t>
            </a:r>
            <a:endParaRPr sz="1600"/>
          </a:p>
        </p:txBody>
      </p:sp>
      <p:graphicFrame>
        <p:nvGraphicFramePr>
          <p:cNvPr id="22" name="Criterios Diabetes cifrada">
            <a:extLst xmlns:a="http://schemas.openxmlformats.org/drawingml/2006/main">
              <a:ext uri="{FF2B5EF4-FFF2-40B4-BE49-F238E27FC236}">
                <a16:creationId xmlns:a16="http://schemas.microsoft.com/office/drawing/2014/main" id="{E5C30500-D1B1-4C87-8453-D04BD68245F0}"/>
              </a:ext>
            </a:extLst>
          </p:cNvPr>
          <p:cNvGraphicFramePr/>
          <p:nvPr/>
        </p:nvGraphicFramePr>
        <p:xfrm>
          <a:off xmlns:a="http://schemas.openxmlformats.org/drawingml/2006/main" x="6720840" y="2514600"/>
          <a:ext xmlns:a="http://schemas.openxmlformats.org/drawingml/2006/main" cx="4782312" cy="17373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ecb332984c4bcd"/>
          </a:graphicData>
        </a:graphic>
      </p:graphicFrame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12CAFBD9-EB24-4D9E-9E0A-40A3FBB7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15.0 / 20</a:t>
            </a:r>
            <a:endParaRPr sz="15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8AC94E9F-2EED-43C2-ABA7-44934230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AI Innovation</a:t>
            </a:r>
            <a:endParaRPr sz="10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A3309027-70C6-45AD-A2F4-A2D046A3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2.7 / 5</a:t>
            </a:r>
            <a:endParaRPr sz="15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3CE47EA0-9560-49BE-BF56-6F432083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24-hour feasibility</a:t>
            </a:r>
            <a:endParaRPr sz="10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AE229C8-1E9D-44BC-8CF1-7B33B6F5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29 · 29 · 29</a:t>
            </a:r>
            <a:endParaRPr sz="1500"/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84941CED-ECED-4536-BE00-9247623B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Judges 1 · 2 · 3</a:t>
            </a:r>
            <a:endParaRPr sz="10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0BFB8103-1C9F-4434-9DA7-0C68DB07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2"/>
                </a:solidFill>
              </a:rPr>
              <a:t>+ Verifiable accuracy comparison: encrypted vs. plaintext AUC</a:t>
            </a:r>
            <a:endParaRPr sz="12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997F501A-D5BB-40DE-8722-9D350266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4"/>
                </a:solidFill>
              </a:rPr>
              <a:t>− TenSEAL/SEAL compilation on s390x could block delivery</a:t>
            </a:r>
            <a:endParaRPr sz="1200"/>
          </a:p>
        </p:txBody>
      </p:sp>
      <p:sp>
        <p:nvSpPr>
          <p:cNvPr id="31" name="Ganadora de juez">
            <a:extLst xmlns:a="http://schemas.openxmlformats.org/drawingml/2006/main">
              <a:ext uri="{FF2B5EF4-FFF2-40B4-BE49-F238E27FC236}">
                <a16:creationId xmlns:a16="http://schemas.microsoft.com/office/drawing/2014/main" id="{629430D1-52D5-4E64-A387-F20F6456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1828800"/>
            <a:ext cx="2057400" cy="2926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2">
              <a:alpha val="40000"/>
            </a:schemeClr>
          </a:solidFill>
          <a:ln xmlns:a="http://schemas.openxmlformats.org/drawingml/2006/main" w="9525">
            <a:solidFill>
              <a:schemeClr val="accent2"/>
            </a:solidFill>
            <a:prstDash val="solid"/>
          </a:ln>
        </p:spPr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46CA78F4-9227-404D-BC01-53850BE9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1828800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chemeClr val="bg1"/>
                </a:solidFill>
              </a:rPr>
              <a:t>Preferred · AI innovation judge</a:t>
            </a:r>
            <a:endParaRPr sz="1000"/>
          </a:p>
        </p:txBody>
      </p:sp>
      <p:sp>
        <p:nvSpPr>
          <p:cNvPr id="3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81A3F36-608E-4FCD-8C72-27C68C3C4F6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9986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E33EF7EC-AB27-49DF-A275-7E4E152CC868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IDEA 03 OF 11  ·  RANKING #3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28AD2E-8175-4F00-8D3D-50B975956936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Federated fraud detection for remittances</a:t>
            </a:r>
            <a:endParaRPr sz="3000"/>
          </a:p>
        </p:txBody>
      </p:sp>
      <p:sp>
        <p:nvSpPr>
          <p:cNvPr id="4" name="tema T2">
            <a:extLst xmlns:a="http://schemas.openxmlformats.org/drawingml/2006/main">
              <a:ext uri="{FF2B5EF4-FFF2-40B4-BE49-F238E27FC236}">
                <a16:creationId xmlns:a16="http://schemas.microsoft.com/office/drawing/2014/main" id="{8648EFE8-DD9D-4E24-BC5B-0ED6F2FB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 w="9525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37C1E2F-7E66-431E-9F76-3D3F79EB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chemeClr val="bg1"/>
                </a:solidFill>
              </a:rPr>
              <a:t>T2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FE5DB0-3485-4A2B-8EDC-A974200F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1691640"/>
            <a:ext cx="49469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AI Secured: Innovation Without Exposure</a:t>
            </a:r>
            <a:endParaRPr sz="1100"/>
          </a:p>
        </p:txBody>
      </p:sp>
      <p:sp>
        <p:nvSpPr>
          <p:cNvPr id="7" name="Problema círculo">
            <a:extLst xmlns:a="http://schemas.openxmlformats.org/drawingml/2006/main">
              <a:ext uri="{FF2B5EF4-FFF2-40B4-BE49-F238E27FC236}">
                <a16:creationId xmlns:a16="http://schemas.microsoft.com/office/drawing/2014/main" id="{EF34FF94-C722-4064-93E2-7FC14DC7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8" name="Problema ícono">
            <a:extLst xmlns:a="http://schemas.openxmlformats.org/drawingml/2006/main">
              <a:ext uri="{FF2B5EF4-FFF2-40B4-BE49-F238E27FC236}">
                <a16:creationId xmlns:a16="http://schemas.microsoft.com/office/drawing/2014/main" id="{1431DB21-0145-4289-A2C1-011E0A7B38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c13a355d746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2336841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37A86F-B818-43F4-B39F-9E4DDB61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Problem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60549D7-2322-4ED8-A254-19B15DD1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7752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Each bank observes only part of the fraud and cannot freely share transactions.</a:t>
            </a:r>
            <a:endParaRPr sz="1300"/>
          </a:p>
        </p:txBody>
      </p:sp>
      <p:sp>
        <p:nvSpPr>
          <p:cNvPr id="11" name="Solución círculo">
            <a:extLst xmlns:a="http://schemas.openxmlformats.org/drawingml/2006/main">
              <a:ext uri="{FF2B5EF4-FFF2-40B4-BE49-F238E27FC236}">
                <a16:creationId xmlns:a16="http://schemas.microsoft.com/office/drawing/2014/main" id="{FB6E595D-78AA-4437-A3E0-58E5003F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387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2" name="Solución ícono">
            <a:extLst xmlns:a="http://schemas.openxmlformats.org/drawingml/2006/main">
              <a:ext uri="{FF2B5EF4-FFF2-40B4-BE49-F238E27FC236}">
                <a16:creationId xmlns:a16="http://schemas.microsoft.com/office/drawing/2014/main" id="{80DBF2F9-4C85-4CDF-906C-FC4E5B069A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54972e25a4d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3635289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1535D2F-027F-4E63-8CEF-96328E4F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872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Solution</a:t>
            </a:r>
            <a:endParaRPr sz="13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5C16E54-A4E7-43D8-87A0-402545E0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Three simulated banks train with FedAvg, sharing weights rather than transactions; optional differential privacy.</a:t>
            </a:r>
            <a:endParaRPr sz="1300"/>
          </a:p>
        </p:txBody>
      </p:sp>
      <p:sp>
        <p:nvSpPr>
          <p:cNvPr id="15" name="MVP en 24 h círculo">
            <a:extLst xmlns:a="http://schemas.openxmlformats.org/drawingml/2006/main">
              <a:ext uri="{FF2B5EF4-FFF2-40B4-BE49-F238E27FC236}">
                <a16:creationId xmlns:a16="http://schemas.microsoft.com/office/drawing/2014/main" id="{B949A133-6369-46D7-AFCB-B6A0EE89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371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6" name="MVP en 24 h ícono">
            <a:extLst xmlns:a="http://schemas.openxmlformats.org/drawingml/2006/main">
              <a:ext uri="{FF2B5EF4-FFF2-40B4-BE49-F238E27FC236}">
                <a16:creationId xmlns:a16="http://schemas.microsoft.com/office/drawing/2014/main" id="{8A6A41A8-0F1F-41F1-8639-6284373275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8d3d5410844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49337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23A23810-BC43-43A4-AA59-5890F593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7176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24-hour MVP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3C7DB919-6B74-4253-B966-27D9CD2E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4648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Three panels show per-bank recall over rounds; an aggregator receives weight vectors. Proposed data: PaySim.</a:t>
            </a:r>
            <a:endParaRPr sz="1300"/>
          </a:p>
        </p:txBody>
      </p:sp>
      <p:sp>
        <p:nvSpPr>
          <p:cNvPr id="19" name="Puntaje">
            <a:extLst xmlns:a="http://schemas.openxmlformats.org/drawingml/2006/main">
              <a:ext uri="{FF2B5EF4-FFF2-40B4-BE49-F238E27FC236}">
                <a16:creationId xmlns:a16="http://schemas.microsoft.com/office/drawing/2014/main" id="{A056B191-7825-492F-B8FF-FC8120E4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056632" cy="443484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631A0283-BFDF-4FE6-8EE7-7520A566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3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28.3</a:t>
            </a:r>
            <a:r>
              <a:rPr sz="1600">
                <a:solidFill>
                  <a:schemeClr val="bg2"/>
                </a:solidFill>
              </a:rPr>
              <a:t> / 40</a:t>
            </a:r>
            <a:endParaRPr sz="14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AB5481C-75A8-4118-B71C-9DAF1896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192024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chemeClr val="accent1"/>
                </a:solidFill>
              </a:rPr>
              <a:t>#3 of 11</a:t>
            </a:r>
            <a:endParaRPr sz="1600"/>
          </a:p>
        </p:txBody>
      </p:sp>
      <p:graphicFrame>
        <p:nvGraphicFramePr>
          <p:cNvPr id="22" name="Criterios Antifraude federado">
            <a:extLst xmlns:a="http://schemas.openxmlformats.org/drawingml/2006/main">
              <a:ext uri="{FF2B5EF4-FFF2-40B4-BE49-F238E27FC236}">
                <a16:creationId xmlns:a16="http://schemas.microsoft.com/office/drawing/2014/main" id="{FF2319BF-3F88-4E14-80CF-76669FBABC99}"/>
              </a:ext>
            </a:extLst>
          </p:cNvPr>
          <p:cNvGraphicFramePr/>
          <p:nvPr/>
        </p:nvGraphicFramePr>
        <p:xfrm>
          <a:off xmlns:a="http://schemas.openxmlformats.org/drawingml/2006/main" x="6720840" y="2514600"/>
          <a:ext xmlns:a="http://schemas.openxmlformats.org/drawingml/2006/main" cx="4782312" cy="17373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da6453c7f74d48"/>
          </a:graphicData>
        </a:graphic>
      </p:graphicFrame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A7EC32A2-83D9-4E7F-B29B-FEDA1F13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13.0 / 20</a:t>
            </a:r>
            <a:endParaRPr sz="15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A0FE7A6E-22D0-430E-B30A-7B9A19FD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AI Innovation</a:t>
            </a:r>
            <a:endParaRPr sz="10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9F535EBD-514C-49B0-94AD-B667F2F7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4.0 / 5</a:t>
            </a:r>
            <a:endParaRPr sz="15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DDCDB521-E04E-4129-B55D-D6CC023F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24-hour feasibility</a:t>
            </a:r>
            <a:endParaRPr sz="10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D879E837-2789-47AB-B00D-2E32242D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31 · 27 · 27</a:t>
            </a:r>
            <a:endParaRPr sz="1500"/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64476CEF-8F37-42C7-AEFB-DA0638D8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Judges 1 · 2 · 3</a:t>
            </a:r>
            <a:endParaRPr sz="10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27297192-9505-43AF-8774-07508818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2"/>
                </a:solidFill>
              </a:rPr>
              <a:t>+ Clear visual demo: bank recall over training rounds</a:t>
            </a:r>
            <a:endParaRPr sz="12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D5A7DB83-6C14-4802-9AB5-024237A2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4"/>
                </a:solidFill>
              </a:rPr>
              <a:t>− FedAvg fraud detection is a familiar hackathon approach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344727A-E3DF-4DA4-B3CA-E13C987AB10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51013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0ADF191C-DDB4-4631-A3CE-A1037180C667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IDEA 04 OF 11  ·  RANKING #4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78FD303-3B57-41F8-ACB7-2F3580F94CB8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SPEI fraud shield</a:t>
            </a:r>
            <a:endParaRPr sz="3000"/>
          </a:p>
        </p:txBody>
      </p:sp>
      <p:sp>
        <p:nvSpPr>
          <p:cNvPr id="4" name="tema T1">
            <a:extLst xmlns:a="http://schemas.openxmlformats.org/drawingml/2006/main">
              <a:ext uri="{FF2B5EF4-FFF2-40B4-BE49-F238E27FC236}">
                <a16:creationId xmlns:a16="http://schemas.microsoft.com/office/drawing/2014/main" id="{368DA7F8-351C-465C-8210-CFD6B2F6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>
              <a:alpha val="30000"/>
            </a:schemeClr>
          </a:solidFill>
          <a:ln xmlns:a="http://schemas.openxmlformats.org/drawingml/2006/main" w="9525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618533-11F1-498F-850C-C2537837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chemeClr val="bg1"/>
                </a:solidFill>
              </a:rPr>
              <a:t>T1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F8F8A48-9700-4D03-BF39-EAEE84A0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1691640"/>
            <a:ext cx="49469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Real-Time AI for Critical Decisions</a:t>
            </a:r>
            <a:endParaRPr sz="1100"/>
          </a:p>
        </p:txBody>
      </p:sp>
      <p:sp>
        <p:nvSpPr>
          <p:cNvPr id="7" name="Problema círculo">
            <a:extLst xmlns:a="http://schemas.openxmlformats.org/drawingml/2006/main">
              <a:ext uri="{FF2B5EF4-FFF2-40B4-BE49-F238E27FC236}">
                <a16:creationId xmlns:a16="http://schemas.microsoft.com/office/drawing/2014/main" id="{4A627EA5-5B80-498F-BEE5-6D0DC31C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8" name="Problema ícono">
            <a:extLst xmlns:a="http://schemas.openxmlformats.org/drawingml/2006/main">
              <a:ext uri="{FF2B5EF4-FFF2-40B4-BE49-F238E27FC236}">
                <a16:creationId xmlns:a16="http://schemas.microsoft.com/office/drawing/2014/main" id="{470D4194-5EB9-49BB-8C2B-286F93D51F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cdb35165d46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2336841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09C5E81-937F-4CB6-881B-FBCA7E46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Problem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6F99974-645D-400D-9FAB-ACA6DB99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7752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Instant SPEI transfers are targeted by fake sellers and account-compromise scams.</a:t>
            </a:r>
            <a:endParaRPr sz="1300"/>
          </a:p>
        </p:txBody>
      </p:sp>
      <p:sp>
        <p:nvSpPr>
          <p:cNvPr id="11" name="Solución círculo">
            <a:extLst xmlns:a="http://schemas.openxmlformats.org/drawingml/2006/main">
              <a:ext uri="{FF2B5EF4-FFF2-40B4-BE49-F238E27FC236}">
                <a16:creationId xmlns:a16="http://schemas.microsoft.com/office/drawing/2014/main" id="{1C310BB8-CCFB-4265-84B0-81AD3AD8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387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2" name="Solución ícono">
            <a:extLst xmlns:a="http://schemas.openxmlformats.org/drawingml/2006/main">
              <a:ext uri="{FF2B5EF4-FFF2-40B4-BE49-F238E27FC236}">
                <a16:creationId xmlns:a16="http://schemas.microsoft.com/office/drawing/2014/main" id="{11FB149F-EC43-48CB-87A2-C0CDB512DF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373bebec34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3635289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3A39E15-DBF0-4C5A-896A-AF57D704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872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Solution</a:t>
            </a:r>
            <a:endParaRPr sz="13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2026C9D-F46E-4813-8E21-2592A4B5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Real-time scoring of new beneficiaries, unusual amounts, timing and destination-account age; warn before confirmation.</a:t>
            </a:r>
            <a:endParaRPr sz="1300"/>
          </a:p>
        </p:txBody>
      </p:sp>
      <p:sp>
        <p:nvSpPr>
          <p:cNvPr id="15" name="MVP en 24 h círculo">
            <a:extLst xmlns:a="http://schemas.openxmlformats.org/drawingml/2006/main">
              <a:ext uri="{FF2B5EF4-FFF2-40B4-BE49-F238E27FC236}">
                <a16:creationId xmlns:a16="http://schemas.microsoft.com/office/drawing/2014/main" id="{E1723E4F-C3E8-4B27-AB63-B4954F46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371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6" name="MVP en 24 h ícono">
            <a:extLst xmlns:a="http://schemas.openxmlformats.org/drawingml/2006/main">
              <a:ext uri="{FF2B5EF4-FFF2-40B4-BE49-F238E27FC236}">
                <a16:creationId xmlns:a16="http://schemas.microsoft.com/office/drawing/2014/main" id="{A6A86259-43A4-4C70-A441-D8072CB008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bf3a78e0c48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49337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C9676738-ACC5-4C68-A505-9887C924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7176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24-hour MVP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84D3CB9C-7D19-4EAD-B287-78B8BEE3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4648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Synthetic transaction stream, Isolation Forest + XGBoost and a mock banking warning screen.</a:t>
            </a:r>
            <a:endParaRPr sz="1300"/>
          </a:p>
        </p:txBody>
      </p:sp>
      <p:sp>
        <p:nvSpPr>
          <p:cNvPr id="19" name="Puntaje">
            <a:extLst xmlns:a="http://schemas.openxmlformats.org/drawingml/2006/main">
              <a:ext uri="{FF2B5EF4-FFF2-40B4-BE49-F238E27FC236}">
                <a16:creationId xmlns:a16="http://schemas.microsoft.com/office/drawing/2014/main" id="{158940EA-1E2F-4247-A098-B0DC8C88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056632" cy="443484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4">
                <a:alpha val="60000"/>
              </a:schemeClr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659A72A6-A033-4254-8EA7-9D348BB5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3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28.0</a:t>
            </a:r>
            <a:r>
              <a:rPr sz="1600">
                <a:solidFill>
                  <a:schemeClr val="bg2"/>
                </a:solidFill>
              </a:rPr>
              <a:t> / 40</a:t>
            </a:r>
            <a:endParaRPr sz="14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8013BF5A-C73D-4197-9029-0CFC95B8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2176272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chemeClr val="accent4"/>
                </a:solidFill>
              </a:rPr>
              <a:t>#4 of 11</a:t>
            </a:r>
            <a:endParaRPr sz="1600"/>
          </a:p>
        </p:txBody>
      </p:sp>
      <p:graphicFrame>
        <p:nvGraphicFramePr>
          <p:cNvPr id="22" name="Criterios Escudo SPEI">
            <a:extLst xmlns:a="http://schemas.openxmlformats.org/drawingml/2006/main">
              <a:ext uri="{FF2B5EF4-FFF2-40B4-BE49-F238E27FC236}">
                <a16:creationId xmlns:a16="http://schemas.microsoft.com/office/drawing/2014/main" id="{1F0C9E2B-9D85-4DD2-8797-6C44A4493491}"/>
              </a:ext>
            </a:extLst>
          </p:cNvPr>
          <p:cNvGraphicFramePr/>
          <p:nvPr/>
        </p:nvGraphicFramePr>
        <p:xfrm>
          <a:off xmlns:a="http://schemas.openxmlformats.org/drawingml/2006/main" x="6720840" y="2514600"/>
          <a:ext xmlns:a="http://schemas.openxmlformats.org/drawingml/2006/main" cx="4782312" cy="17373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83d31aa6944718"/>
          </a:graphicData>
        </a:graphic>
      </p:graphicFrame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A9600535-13AE-47FB-90F9-F4CFEFED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12.0 / 20</a:t>
            </a:r>
            <a:endParaRPr sz="15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81C313E7-CE7C-4ACF-88FF-94C9B6DA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AI Innovation</a:t>
            </a:r>
            <a:endParaRPr sz="10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FEB643DC-4F73-42BC-BE7D-8269ABF3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4.7 / 5</a:t>
            </a:r>
            <a:endParaRPr sz="15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919EA11D-759F-4DCD-A2C7-D1DC03A4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24-hour feasibility</a:t>
            </a:r>
            <a:endParaRPr sz="10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AEB1CAED-B60A-4BFA-9818-154CD55D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29 · 30 · 25</a:t>
            </a:r>
            <a:endParaRPr sz="1500"/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3D9AFB2-9CAD-4D90-AEF4-B320D3B4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Judges 1 · 2 · 3</a:t>
            </a:r>
            <a:endParaRPr sz="10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71112B1E-DC37-4CF4-A3E6-5A2BC0A0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2"/>
                </a:solidFill>
              </a:rPr>
              <a:t>+ Clear victim and a warning scene suitable for the video</a:t>
            </a:r>
            <a:endParaRPr sz="12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22B0B1E2-088A-4238-BDF4-F64538DC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4"/>
                </a:solidFill>
              </a:rPr>
              <a:t>− Familiar fraud scoring; the intervention supplies the novelty</a:t>
            </a:r>
            <a:endParaRPr sz="1200"/>
          </a:p>
        </p:txBody>
      </p:sp>
      <p:sp>
        <p:nvSpPr>
          <p:cNvPr id="31" name="Ganadora de juez">
            <a:extLst xmlns:a="http://schemas.openxmlformats.org/drawingml/2006/main">
              <a:ext uri="{FF2B5EF4-FFF2-40B4-BE49-F238E27FC236}">
                <a16:creationId xmlns:a16="http://schemas.microsoft.com/office/drawing/2014/main" id="{CF6C3324-F999-4877-9967-C8EBC6EA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1828800"/>
            <a:ext cx="2057400" cy="2926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2">
              <a:alpha val="40000"/>
            </a:schemeClr>
          </a:solidFill>
          <a:ln xmlns:a="http://schemas.openxmlformats.org/drawingml/2006/main" w="9525">
            <a:solidFill>
              <a:schemeClr val="accent2"/>
            </a:solidFill>
            <a:prstDash val="solid"/>
          </a:ln>
        </p:spPr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FC4A6DCC-C199-497C-AA2F-37B836AF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1828800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chemeClr val="bg1"/>
                </a:solidFill>
              </a:rPr>
              <a:t>Preferred · AI for Good judge</a:t>
            </a:r>
            <a:endParaRPr sz="1000"/>
          </a:p>
        </p:txBody>
      </p:sp>
      <p:sp>
        <p:nvSpPr>
          <p:cNvPr id="3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3A109F4-E7CE-4ABA-8E51-12048E56D34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0992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90CF7C4E-079C-4E6F-BA31-7F9AFB033F28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IDEA 05 OF 11  ·  RANKING #5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480E8F-85A7-445D-9A52-1EC6124F156A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Post-quantum scanner for banking</a:t>
            </a:r>
            <a:endParaRPr sz="3000"/>
          </a:p>
        </p:txBody>
      </p:sp>
      <p:sp>
        <p:nvSpPr>
          <p:cNvPr id="4" name="tema T2">
            <a:extLst xmlns:a="http://schemas.openxmlformats.org/drawingml/2006/main">
              <a:ext uri="{FF2B5EF4-FFF2-40B4-BE49-F238E27FC236}">
                <a16:creationId xmlns:a16="http://schemas.microsoft.com/office/drawing/2014/main" id="{61EDBD61-6862-4A8A-8ECF-53CA1CF3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 w="9525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F822B4-434F-4608-8EE4-679363ED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chemeClr val="bg1"/>
                </a:solidFill>
              </a:rPr>
              <a:t>T2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39912ED-1D05-4D62-BD15-25FC2259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1691640"/>
            <a:ext cx="49469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AI Secured: Innovation Without Exposure</a:t>
            </a:r>
            <a:endParaRPr sz="1100"/>
          </a:p>
        </p:txBody>
      </p:sp>
      <p:sp>
        <p:nvSpPr>
          <p:cNvPr id="7" name="Problema círculo">
            <a:extLst xmlns:a="http://schemas.openxmlformats.org/drawingml/2006/main">
              <a:ext uri="{FF2B5EF4-FFF2-40B4-BE49-F238E27FC236}">
                <a16:creationId xmlns:a16="http://schemas.microsoft.com/office/drawing/2014/main" id="{A01C0882-4C8A-4741-A345-F14729EC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8" name="Problema ícono">
            <a:extLst xmlns:a="http://schemas.openxmlformats.org/drawingml/2006/main">
              <a:ext uri="{FF2B5EF4-FFF2-40B4-BE49-F238E27FC236}">
                <a16:creationId xmlns:a16="http://schemas.microsoft.com/office/drawing/2014/main" id="{7AEBD219-49AA-4921-9A3C-0A972C43D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bb7b538404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2336841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1EC4ED9-8DD0-4F8C-91C7-D0BFBEC4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Problem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80B9D9F-5505-4399-A153-A150647D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7752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“Harvest now, decrypt later” attacks threaten banking data requiring long confidentiality.</a:t>
            </a:r>
            <a:endParaRPr sz="1300"/>
          </a:p>
        </p:txBody>
      </p:sp>
      <p:sp>
        <p:nvSpPr>
          <p:cNvPr id="11" name="Solución círculo">
            <a:extLst xmlns:a="http://schemas.openxmlformats.org/drawingml/2006/main">
              <a:ext uri="{FF2B5EF4-FFF2-40B4-BE49-F238E27FC236}">
                <a16:creationId xmlns:a16="http://schemas.microsoft.com/office/drawing/2014/main" id="{80D3D487-0126-4C8D-BE64-E7BEAE85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387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2" name="Solución ícono">
            <a:extLst xmlns:a="http://schemas.openxmlformats.org/drawingml/2006/main">
              <a:ext uri="{FF2B5EF4-FFF2-40B4-BE49-F238E27FC236}">
                <a16:creationId xmlns:a16="http://schemas.microsoft.com/office/drawing/2014/main" id="{65F91A5D-B7C9-4C6D-B5C9-DA3259ED45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a8da0d49443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3635289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38498FC-2421-43A2-ADF7-ACA74E5E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872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Solution</a:t>
            </a:r>
            <a:endParaRPr sz="13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8DC288E-883B-479F-BC8D-33958015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Inspect TLS, certificates and code for RSA/ECC; prioritize migration to NIST ML-KEM and ML-DSA.</a:t>
            </a:r>
            <a:endParaRPr sz="1300"/>
          </a:p>
        </p:txBody>
      </p:sp>
      <p:sp>
        <p:nvSpPr>
          <p:cNvPr id="15" name="MVP en 24 h círculo">
            <a:extLst xmlns:a="http://schemas.openxmlformats.org/drawingml/2006/main">
              <a:ext uri="{FF2B5EF4-FFF2-40B4-BE49-F238E27FC236}">
                <a16:creationId xmlns:a16="http://schemas.microsoft.com/office/drawing/2014/main" id="{0C5A7558-DFDB-43DD-9D1B-5B0C16D2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371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6" name="MVP en 24 h ícono">
            <a:extLst xmlns:a="http://schemas.openxmlformats.org/drawingml/2006/main">
              <a:ext uri="{FF2B5EF4-FFF2-40B4-BE49-F238E27FC236}">
                <a16:creationId xmlns:a16="http://schemas.microsoft.com/office/drawing/2014/main" id="{086B9993-E1D8-4356-9FA1-A3DF063A4B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71f64314f4d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49337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FD48DE0D-D35B-4037-87BE-DFEB9C57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7176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24-hour MVP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6A2FC61C-76CD-47F3-92D8-F0E7F853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4648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Enter a domain or repository; produce a cryptographic inventory, risk score and English migration plan assisted by an LLM.</a:t>
            </a:r>
            <a:endParaRPr sz="1300"/>
          </a:p>
        </p:txBody>
      </p:sp>
      <p:sp>
        <p:nvSpPr>
          <p:cNvPr id="19" name="Puntaje">
            <a:extLst xmlns:a="http://schemas.openxmlformats.org/drawingml/2006/main">
              <a:ext uri="{FF2B5EF4-FFF2-40B4-BE49-F238E27FC236}">
                <a16:creationId xmlns:a16="http://schemas.microsoft.com/office/drawing/2014/main" id="{3276C407-2C29-4178-BA1C-4DCF50F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056632" cy="443484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8FF89022-6455-4488-989E-F337C4AC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3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27.3</a:t>
            </a:r>
            <a:r>
              <a:rPr sz="1600">
                <a:solidFill>
                  <a:schemeClr val="bg2"/>
                </a:solidFill>
              </a:rPr>
              <a:t> / 40</a:t>
            </a:r>
            <a:endParaRPr sz="14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1896050A-F89F-43A4-A213-8698AE6F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192024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chemeClr val="accent1"/>
                </a:solidFill>
              </a:rPr>
              <a:t>#5 of 11</a:t>
            </a:r>
            <a:endParaRPr sz="1600"/>
          </a:p>
        </p:txBody>
      </p:sp>
      <p:graphicFrame>
        <p:nvGraphicFramePr>
          <p:cNvPr id="22" name="Criterios Escáner post-cuántico">
            <a:extLst xmlns:a="http://schemas.openxmlformats.org/drawingml/2006/main">
              <a:ext uri="{FF2B5EF4-FFF2-40B4-BE49-F238E27FC236}">
                <a16:creationId xmlns:a16="http://schemas.microsoft.com/office/drawing/2014/main" id="{4CE74DF6-ACAF-4976-A84A-8EA4525C5E44}"/>
              </a:ext>
            </a:extLst>
          </p:cNvPr>
          <p:cNvGraphicFramePr/>
          <p:nvPr/>
        </p:nvGraphicFramePr>
        <p:xfrm>
          <a:off xmlns:a="http://schemas.openxmlformats.org/drawingml/2006/main" x="6720840" y="2514600"/>
          <a:ext xmlns:a="http://schemas.openxmlformats.org/drawingml/2006/main" cx="4782312" cy="17373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503927c7ba4dd8"/>
          </a:graphicData>
        </a:graphic>
      </p:graphicFrame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50BFEDB-8966-4CD0-8839-9BD135B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10.7 / 20</a:t>
            </a:r>
            <a:endParaRPr sz="15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CCADC343-CC97-4573-9B84-83850BD0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AI Innovation</a:t>
            </a:r>
            <a:endParaRPr sz="10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8E6AE209-FDC7-4A48-8A02-44FF1A68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3.7 / 5</a:t>
            </a:r>
            <a:endParaRPr sz="15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71D3C10D-2EB1-4A6F-8F14-7F0508AC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24-hour feasibility</a:t>
            </a:r>
            <a:endParaRPr sz="10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7EC9CCF8-9F01-4CFF-BE47-AF20E221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28 · 27 · 27</a:t>
            </a:r>
            <a:endParaRPr sz="1500"/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D1745A91-75C8-4060-B606-97E29309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Judges 1 · 2 · 3</a:t>
            </a:r>
            <a:endParaRPr sz="10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139C863-42CE-4332-9188-A8DDFF43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2"/>
                </a:solidFill>
              </a:rPr>
              <a:t>+ Distinctive fit with IBM Z quantum-safe security</a:t>
            </a:r>
            <a:endParaRPr sz="12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029052EB-E569-42B4-A11C-20504B2E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4"/>
                </a:solidFill>
              </a:rPr>
              <a:t>− Mostly deterministic scanning; the LLM only writes the report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149D23A-EB9F-443C-98E0-D486D6DE03E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15129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F92B855F-852A-4085-915E-041F2252D91B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IDEA 06 OF 11  ·  RANKING #6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E82D167-C98C-413C-8474-5AF895613221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Private assistant for vulnerable people</a:t>
            </a:r>
            <a:endParaRPr sz="3000"/>
          </a:p>
        </p:txBody>
      </p:sp>
      <p:sp>
        <p:nvSpPr>
          <p:cNvPr id="4" name="tema T2">
            <a:extLst xmlns:a="http://schemas.openxmlformats.org/drawingml/2006/main">
              <a:ext uri="{FF2B5EF4-FFF2-40B4-BE49-F238E27FC236}">
                <a16:creationId xmlns:a16="http://schemas.microsoft.com/office/drawing/2014/main" id="{FD0C325D-AE7D-4CD6-B47E-61891C39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 w="9525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9608DB-2409-4CCB-A5F6-6867550E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chemeClr val="bg1"/>
                </a:solidFill>
              </a:rPr>
              <a:t>T2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78EDA8-7D63-4BCD-80FA-3A862322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1691640"/>
            <a:ext cx="49469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AI Secured: Innovation Without Exposure</a:t>
            </a:r>
            <a:endParaRPr sz="1100"/>
          </a:p>
        </p:txBody>
      </p:sp>
      <p:sp>
        <p:nvSpPr>
          <p:cNvPr id="7" name="Problema círculo">
            <a:extLst xmlns:a="http://schemas.openxmlformats.org/drawingml/2006/main">
              <a:ext uri="{FF2B5EF4-FFF2-40B4-BE49-F238E27FC236}">
                <a16:creationId xmlns:a16="http://schemas.microsoft.com/office/drawing/2014/main" id="{F64852CE-9C60-4C3C-9EC4-98DBF0B0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8" name="Problema ícono">
            <a:extLst xmlns:a="http://schemas.openxmlformats.org/drawingml/2006/main">
              <a:ext uri="{FF2B5EF4-FFF2-40B4-BE49-F238E27FC236}">
                <a16:creationId xmlns:a16="http://schemas.microsoft.com/office/drawing/2014/main" id="{63220663-4864-467B-8989-4FE5C9E852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bc16b3b7f44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2336841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52548E7-556E-4D0F-9459-EC100331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Problem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9CB356D-B032-4F20-B192-AACDB822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7752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People facing violence, migration barriers or mental-health concerns may avoid support because they fear being recorded.</a:t>
            </a:r>
            <a:endParaRPr sz="1300"/>
          </a:p>
        </p:txBody>
      </p:sp>
      <p:sp>
        <p:nvSpPr>
          <p:cNvPr id="11" name="Solución círculo">
            <a:extLst xmlns:a="http://schemas.openxmlformats.org/drawingml/2006/main">
              <a:ext uri="{FF2B5EF4-FFF2-40B4-BE49-F238E27FC236}">
                <a16:creationId xmlns:a16="http://schemas.microsoft.com/office/drawing/2014/main" id="{EF2F1CD4-8D5D-4533-BC03-6CE20CE3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387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2" name="Solución ícono">
            <a:extLst xmlns:a="http://schemas.openxmlformats.org/drawingml/2006/main">
              <a:ext uri="{FF2B5EF4-FFF2-40B4-BE49-F238E27FC236}">
                <a16:creationId xmlns:a16="http://schemas.microsoft.com/office/drawing/2014/main" id="{C0510F5B-24FB-4231-A9B4-7512700CB8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a9326913347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3635289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842B5F5-C869-42A0-8D45-7B1FF5C6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872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Solution</a:t>
            </a:r>
            <a:endParaRPr sz="13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084EE28-5C4E-438B-9334-1A3BE2ED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Proposed guidance chatbot with encrypted transport, no plaintext logs and referrals to verified official channels.</a:t>
            </a:r>
            <a:endParaRPr sz="1300"/>
          </a:p>
        </p:txBody>
      </p:sp>
      <p:sp>
        <p:nvSpPr>
          <p:cNvPr id="15" name="MVP en 24 h círculo">
            <a:extLst xmlns:a="http://schemas.openxmlformats.org/drawingml/2006/main">
              <a:ext uri="{FF2B5EF4-FFF2-40B4-BE49-F238E27FC236}">
                <a16:creationId xmlns:a16="http://schemas.microsoft.com/office/drawing/2014/main" id="{AA6AD230-7A40-4B39-BF45-55E96B2D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371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6" name="MVP en 24 h ícono">
            <a:extLst xmlns:a="http://schemas.openxmlformats.org/drawingml/2006/main">
              <a:ext uri="{FF2B5EF4-FFF2-40B4-BE49-F238E27FC236}">
                <a16:creationId xmlns:a16="http://schemas.microsoft.com/office/drawing/2014/main" id="{9D0D8D0A-DE44-4E1E-A2CE-2685D7F7D2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20cca095a49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49337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216859DB-A355-4381-B511-E73A3593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7176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24-hour MVP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3A5CA555-EA6A-41E8-A764-DD3CED3B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4648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Intent classification and retrieval from a curated knowledge base; compare user and administrator views.</a:t>
            </a:r>
            <a:endParaRPr sz="1300"/>
          </a:p>
        </p:txBody>
      </p:sp>
      <p:sp>
        <p:nvSpPr>
          <p:cNvPr id="19" name="Puntaje">
            <a:extLst xmlns:a="http://schemas.openxmlformats.org/drawingml/2006/main">
              <a:ext uri="{FF2B5EF4-FFF2-40B4-BE49-F238E27FC236}">
                <a16:creationId xmlns:a16="http://schemas.microsoft.com/office/drawing/2014/main" id="{5BAEAF09-FA17-4A9C-BC47-D1917D60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056632" cy="443484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F4A5D658-F375-4932-8A23-3385048A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3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26.7</a:t>
            </a:r>
            <a:r>
              <a:rPr sz="1600">
                <a:solidFill>
                  <a:schemeClr val="bg2"/>
                </a:solidFill>
              </a:rPr>
              <a:t> / 40</a:t>
            </a:r>
            <a:endParaRPr sz="14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CF01CA97-85B6-4971-8131-3060B2E3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192024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chemeClr val="accent1"/>
                </a:solidFill>
              </a:rPr>
              <a:t>#6 of 11</a:t>
            </a:r>
            <a:endParaRPr sz="1600"/>
          </a:p>
        </p:txBody>
      </p:sp>
      <p:graphicFrame>
        <p:nvGraphicFramePr>
          <p:cNvPr id="22" name="Criterios Asistente privado">
            <a:extLst xmlns:a="http://schemas.openxmlformats.org/drawingml/2006/main">
              <a:ext uri="{FF2B5EF4-FFF2-40B4-BE49-F238E27FC236}">
                <a16:creationId xmlns:a16="http://schemas.microsoft.com/office/drawing/2014/main" id="{3361133E-AF95-484F-9967-7210054B88A2}"/>
              </a:ext>
            </a:extLst>
          </p:cNvPr>
          <p:cNvGraphicFramePr/>
          <p:nvPr/>
        </p:nvGraphicFramePr>
        <p:xfrm>
          <a:off xmlns:a="http://schemas.openxmlformats.org/drawingml/2006/main" x="6720840" y="2514600"/>
          <a:ext xmlns:a="http://schemas.openxmlformats.org/drawingml/2006/main" cx="4782312" cy="17373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f2ac5825b24f76"/>
          </a:graphicData>
        </a:graphic>
      </p:graphicFrame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D8B0C08B-0A8C-4278-BA80-310F5897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10.0 / 20</a:t>
            </a:r>
            <a:endParaRPr sz="15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4712657F-338F-4B9C-995B-6B35852B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AI Innovation</a:t>
            </a:r>
            <a:endParaRPr sz="10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C11BF90F-4E36-4985-BA0E-D2ED8981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4.0 / 5</a:t>
            </a:r>
            <a:endParaRPr sz="15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F6D5B986-8941-433C-8FB5-0D812450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24-hour feasibility</a:t>
            </a:r>
            <a:endParaRPr sz="10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E6DCDC30-3626-4702-A603-F569560B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27 · 28 · 25</a:t>
            </a:r>
            <a:endParaRPr sz="1500"/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5ADB0-9446-468C-893C-AF4F3828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Judges 1 · 2 · 3</a:t>
            </a:r>
            <a:endParaRPr sz="10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6DCEC3-AEF7-42E2-8D9F-90CFCE3C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2"/>
                </a:solidFill>
              </a:rPr>
              <a:t>+ Strong intended human benefit and a clear two-view demo</a:t>
            </a:r>
            <a:endParaRPr sz="12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9ECE1C3E-718A-4268-BD73-E873737C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4"/>
                </a:solidFill>
              </a:rPr>
              <a:t>− End-to-end encryption leaves the AI execution location unresolved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D7FB35D-4A6B-4717-A9A0-D82440B3490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20611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76F5224B-F959-48D9-AEA0-EC4BD958198C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IDEA 07 OF 11  ·  RANKING #7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016C54-2AA7-4F81-88DE-28CA154359E8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Emergency triage for overcrowded clinics</a:t>
            </a:r>
            <a:endParaRPr sz="3000"/>
          </a:p>
        </p:txBody>
      </p:sp>
      <p:sp>
        <p:nvSpPr>
          <p:cNvPr id="4" name="tema T1">
            <a:extLst xmlns:a="http://schemas.openxmlformats.org/drawingml/2006/main">
              <a:ext uri="{FF2B5EF4-FFF2-40B4-BE49-F238E27FC236}">
                <a16:creationId xmlns:a16="http://schemas.microsoft.com/office/drawing/2014/main" id="{FD13FE55-6782-424C-A13A-905F3F32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>
              <a:alpha val="30000"/>
            </a:schemeClr>
          </a:solidFill>
          <a:ln xmlns:a="http://schemas.openxmlformats.org/drawingml/2006/main" w="9525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8E86AB-0D5D-4452-8549-E4142547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chemeClr val="bg1"/>
                </a:solidFill>
              </a:rPr>
              <a:t>T1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7837A52-D12D-48C2-9B93-5D61CE7E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1691640"/>
            <a:ext cx="49469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Real-Time AI for Critical Decisions</a:t>
            </a:r>
            <a:endParaRPr sz="1100"/>
          </a:p>
        </p:txBody>
      </p:sp>
      <p:sp>
        <p:nvSpPr>
          <p:cNvPr id="7" name="Problema círculo">
            <a:extLst xmlns:a="http://schemas.openxmlformats.org/drawingml/2006/main">
              <a:ext uri="{FF2B5EF4-FFF2-40B4-BE49-F238E27FC236}">
                <a16:creationId xmlns:a16="http://schemas.microsoft.com/office/drawing/2014/main" id="{24886890-C225-4B75-A101-F5CD9E4C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8" name="Problema ícono">
            <a:extLst xmlns:a="http://schemas.openxmlformats.org/drawingml/2006/main">
              <a:ext uri="{FF2B5EF4-FFF2-40B4-BE49-F238E27FC236}">
                <a16:creationId xmlns:a16="http://schemas.microsoft.com/office/drawing/2014/main" id="{532F0625-00B7-4075-B13D-B7C557C1F0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118c82d2e4a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2336841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23FF19-17B0-49AB-9E93-D4FDF5BD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Problem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89EACB-69A3-4253-96A9-3A94FF47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7752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IMSS/ISSSTE emergency departments face crowding; manual triage takes place under pressure.</a:t>
            </a:r>
            <a:endParaRPr sz="1300"/>
          </a:p>
        </p:txBody>
      </p:sp>
      <p:sp>
        <p:nvSpPr>
          <p:cNvPr id="11" name="Solución círculo">
            <a:extLst xmlns:a="http://schemas.openxmlformats.org/drawingml/2006/main">
              <a:ext uri="{FF2B5EF4-FFF2-40B4-BE49-F238E27FC236}">
                <a16:creationId xmlns:a16="http://schemas.microsoft.com/office/drawing/2014/main" id="{5A8E1128-CB4B-40EA-A7E8-22971981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387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2" name="Solución ícono">
            <a:extLst xmlns:a="http://schemas.openxmlformats.org/drawingml/2006/main">
              <a:ext uri="{FF2B5EF4-FFF2-40B4-BE49-F238E27FC236}">
                <a16:creationId xmlns:a16="http://schemas.microsoft.com/office/drawing/2014/main" id="{042F20D9-5DCA-4C03-9F2C-81DC33D73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fd0ce635d43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3635289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A58E0C9-B8CD-4E0B-BC62-1F24FB4C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872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Solution</a:t>
            </a:r>
            <a:endParaRPr sz="13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A33CC7-B59F-4238-A714-4BFD51AD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A dashboard prioritizes a queue using a Manchester-style scale and updates it when vital signs worsen.</a:t>
            </a:r>
            <a:endParaRPr sz="1300"/>
          </a:p>
        </p:txBody>
      </p:sp>
      <p:sp>
        <p:nvSpPr>
          <p:cNvPr id="15" name="MVP en 24 h círculo">
            <a:extLst xmlns:a="http://schemas.openxmlformats.org/drawingml/2006/main">
              <a:ext uri="{FF2B5EF4-FFF2-40B4-BE49-F238E27FC236}">
                <a16:creationId xmlns:a16="http://schemas.microsoft.com/office/drawing/2014/main" id="{84BFB1A2-E149-44A7-8ED5-C740F462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371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6" name="MVP en 24 h ícono">
            <a:extLst xmlns:a="http://schemas.openxmlformats.org/drawingml/2006/main">
              <a:ext uri="{FF2B5EF4-FFF2-40B4-BE49-F238E27FC236}">
                <a16:creationId xmlns:a16="http://schemas.microsoft.com/office/drawing/2014/main" id="{A27BF3A1-29BC-40BD-9E95-3C240C93E4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8877c780a45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49337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2193696E-055F-48F1-AC05-FFEE8283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7176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24-hour MVP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3DA3BE1C-0FAA-45AC-8B78-5D89136F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4648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Simulated queue with explanations per priority; clinician decision support requiring clinical review.</a:t>
            </a:r>
            <a:endParaRPr sz="1300"/>
          </a:p>
        </p:txBody>
      </p:sp>
      <p:sp>
        <p:nvSpPr>
          <p:cNvPr id="19" name="Puntaje">
            <a:extLst xmlns:a="http://schemas.openxmlformats.org/drawingml/2006/main">
              <a:ext uri="{FF2B5EF4-FFF2-40B4-BE49-F238E27FC236}">
                <a16:creationId xmlns:a16="http://schemas.microsoft.com/office/drawing/2014/main" id="{A1AC0F47-0764-4AA6-8BB6-DBF663FC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056632" cy="443484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4">
                <a:alpha val="60000"/>
              </a:schemeClr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E82F6D1A-E507-43FD-9761-891ABAA6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3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24.3</a:t>
            </a:r>
            <a:r>
              <a:rPr sz="1600">
                <a:solidFill>
                  <a:schemeClr val="bg2"/>
                </a:solidFill>
              </a:rPr>
              <a:t> / 40</a:t>
            </a:r>
            <a:endParaRPr sz="14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B4980B4B-8F10-4F9B-8FF3-1496FD43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192024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chemeClr val="accent4"/>
                </a:solidFill>
              </a:rPr>
              <a:t>#7 of 11</a:t>
            </a:r>
            <a:endParaRPr sz="1600"/>
          </a:p>
        </p:txBody>
      </p:sp>
      <p:graphicFrame>
        <p:nvGraphicFramePr>
          <p:cNvPr id="22" name="Criterios Triage urgencias">
            <a:extLst xmlns:a="http://schemas.openxmlformats.org/drawingml/2006/main">
              <a:ext uri="{FF2B5EF4-FFF2-40B4-BE49-F238E27FC236}">
                <a16:creationId xmlns:a16="http://schemas.microsoft.com/office/drawing/2014/main" id="{40FB1B5F-7582-4830-8237-52E6168CF35C}"/>
              </a:ext>
            </a:extLst>
          </p:cNvPr>
          <p:cNvGraphicFramePr/>
          <p:nvPr/>
        </p:nvGraphicFramePr>
        <p:xfrm>
          <a:off xmlns:a="http://schemas.openxmlformats.org/drawingml/2006/main" x="6720840" y="2514600"/>
          <a:ext xmlns:a="http://schemas.openxmlformats.org/drawingml/2006/main" cx="4782312" cy="17373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f11c9ece534de0"/>
          </a:graphicData>
        </a:graphic>
      </p:graphicFrame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B9332AD8-4CDC-472B-BC4D-48C114C9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8.7 / 20</a:t>
            </a:r>
            <a:endParaRPr sz="15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0590D50F-A441-4A42-B2C4-E2C43D59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AI Innovation</a:t>
            </a:r>
            <a:endParaRPr sz="10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E3D6CBA8-7653-4C1F-B120-4FE66034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4.0 / 5</a:t>
            </a:r>
            <a:endParaRPr sz="15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8E2FCD77-17C9-4CF6-9A11-4A42853A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24-hour feasibility</a:t>
            </a:r>
            <a:endParaRPr sz="10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2EB32547-4E39-43BB-A0EC-C8D16D2A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25 · 27 · 21</a:t>
            </a:r>
            <a:endParaRPr sz="1500"/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D097E5F7-C457-4676-9311-D568E6F5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Judges 1 · 2 · 3</a:t>
            </a:r>
            <a:endParaRPr sz="10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8CEB329E-5F9F-473E-A3C6-491C85DD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2"/>
                </a:solidFill>
              </a:rPr>
              <a:t>+ High-stakes problem with an intuitive demo</a:t>
            </a:r>
            <a:endParaRPr sz="12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125DC528-38ED-46C4-9B2E-FF477387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4"/>
                </a:solidFill>
              </a:rPr>
              <a:t>− Manchester is rule-based; the idea is familiar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F5A3091-58A0-4806-8CB2-DD0E753C2E0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797953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5A716B4B-4901-452B-9D55-5058B39EC8B2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IDEA 08 OF 11  ·  RANKING #8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3940FEC-8914-4833-98D3-2B156112981C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Mexican-document identifier redaction</a:t>
            </a:r>
            <a:endParaRPr sz="3000"/>
          </a:p>
        </p:txBody>
      </p:sp>
      <p:sp>
        <p:nvSpPr>
          <p:cNvPr id="4" name="tema T2">
            <a:extLst xmlns:a="http://schemas.openxmlformats.org/drawingml/2006/main">
              <a:ext uri="{FF2B5EF4-FFF2-40B4-BE49-F238E27FC236}">
                <a16:creationId xmlns:a16="http://schemas.microsoft.com/office/drawing/2014/main" id="{C9780A45-252B-48AC-80C1-2CE8C399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 w="9525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5937DED-F3AD-4127-8143-225743D3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chemeClr val="bg1"/>
                </a:solidFill>
              </a:rPr>
              <a:t>T2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1EFFDE9-782A-40E7-8107-1EDE063D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1691640"/>
            <a:ext cx="49469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AI Secured: Innovation Without Exposure</a:t>
            </a:r>
            <a:endParaRPr sz="1100"/>
          </a:p>
        </p:txBody>
      </p:sp>
      <p:sp>
        <p:nvSpPr>
          <p:cNvPr id="7" name="Problema círculo">
            <a:extLst xmlns:a="http://schemas.openxmlformats.org/drawingml/2006/main">
              <a:ext uri="{FF2B5EF4-FFF2-40B4-BE49-F238E27FC236}">
                <a16:creationId xmlns:a16="http://schemas.microsoft.com/office/drawing/2014/main" id="{09466A9E-849F-467D-8AB4-422D0256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8" name="Problema ícono">
            <a:extLst xmlns:a="http://schemas.openxmlformats.org/drawingml/2006/main">
              <a:ext uri="{FF2B5EF4-FFF2-40B4-BE49-F238E27FC236}">
                <a16:creationId xmlns:a16="http://schemas.microsoft.com/office/drawing/2014/main" id="{4D3280F9-68EE-4873-A18C-2C367B375C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d3491215b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2336841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BADAE33-1247-462A-97B7-E4BA4070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Problem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BE7E89D-E45C-48F5-A8E6-1850903B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7752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Organizations handle CURP, RFC, INE, CLABE and addresses subject to personal-data safeguards.</a:t>
            </a:r>
            <a:endParaRPr sz="1300"/>
          </a:p>
        </p:txBody>
      </p:sp>
      <p:sp>
        <p:nvSpPr>
          <p:cNvPr id="11" name="Solución círculo">
            <a:extLst xmlns:a="http://schemas.openxmlformats.org/drawingml/2006/main">
              <a:ext uri="{FF2B5EF4-FFF2-40B4-BE49-F238E27FC236}">
                <a16:creationId xmlns:a16="http://schemas.microsoft.com/office/drawing/2014/main" id="{94E9E46F-6286-4090-AC46-00BABACB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387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2" name="Solución ícono">
            <a:extLst xmlns:a="http://schemas.openxmlformats.org/drawingml/2006/main">
              <a:ext uri="{FF2B5EF4-FFF2-40B4-BE49-F238E27FC236}">
                <a16:creationId xmlns:a16="http://schemas.microsoft.com/office/drawing/2014/main" id="{CD633712-FA23-4A57-8325-226F80F861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fed9f194342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3635289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C98BEB8-1812-4FB5-93BD-FB75765C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872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Solution</a:t>
            </a:r>
            <a:endParaRPr sz="13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6B6B0E3-B686-4B8E-8CBB-DC2201FE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Detect and mask Mexican identifiers in documents and spreadsheets while permitting aggregate analysis.</a:t>
            </a:r>
            <a:endParaRPr sz="1300"/>
          </a:p>
        </p:txBody>
      </p:sp>
      <p:sp>
        <p:nvSpPr>
          <p:cNvPr id="15" name="MVP en 24 h círculo">
            <a:extLst xmlns:a="http://schemas.openxmlformats.org/drawingml/2006/main">
              <a:ext uri="{FF2B5EF4-FFF2-40B4-BE49-F238E27FC236}">
                <a16:creationId xmlns:a16="http://schemas.microsoft.com/office/drawing/2014/main" id="{418CF949-6CA0-4260-A3E7-8317F3B2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371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6" name="MVP en 24 h ícono">
            <a:extLst xmlns:a="http://schemas.openxmlformats.org/drawingml/2006/main">
              <a:ext uri="{FF2B5EF4-FFF2-40B4-BE49-F238E27FC236}">
                <a16:creationId xmlns:a16="http://schemas.microsoft.com/office/drawing/2014/main" id="{D4DAEE03-12F3-47C7-8050-6BA9D81374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420c9461a4b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49337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80EA6292-0A47-4662-9CBA-218502AC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7176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24-hour MVP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7B025183-A39A-4F0C-BCD7-B2CF8836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4648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Upload a PDF/CSV; receive a redacted copy and privacy report using regex + NER.</a:t>
            </a:r>
            <a:endParaRPr sz="1300"/>
          </a:p>
        </p:txBody>
      </p:sp>
      <p:sp>
        <p:nvSpPr>
          <p:cNvPr id="19" name="Puntaje">
            <a:extLst xmlns:a="http://schemas.openxmlformats.org/drawingml/2006/main">
              <a:ext uri="{FF2B5EF4-FFF2-40B4-BE49-F238E27FC236}">
                <a16:creationId xmlns:a16="http://schemas.microsoft.com/office/drawing/2014/main" id="{338D6E49-290A-4A07-87F5-3476AD90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056632" cy="443484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94BF4814-ED10-4FC8-A03A-5B5846EA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3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22.3</a:t>
            </a:r>
            <a:r>
              <a:rPr sz="1600">
                <a:solidFill>
                  <a:schemeClr val="bg2"/>
                </a:solidFill>
              </a:rPr>
              <a:t> / 40</a:t>
            </a:r>
            <a:endParaRPr sz="14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DB05F96-EA98-4522-9B46-60D912DC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192024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chemeClr val="accent1"/>
                </a:solidFill>
              </a:rPr>
              <a:t>#8 of 11</a:t>
            </a:r>
            <a:endParaRPr sz="1600"/>
          </a:p>
        </p:txBody>
      </p:sp>
      <p:graphicFrame>
        <p:nvGraphicFramePr>
          <p:cNvPr id="22" name="Criterios Anonimizador MX">
            <a:extLst xmlns:a="http://schemas.openxmlformats.org/drawingml/2006/main">
              <a:ext uri="{FF2B5EF4-FFF2-40B4-BE49-F238E27FC236}">
                <a16:creationId xmlns:a16="http://schemas.microsoft.com/office/drawing/2014/main" id="{F21AFB7C-79BF-4386-B88C-DBAE6FA83652}"/>
              </a:ext>
            </a:extLst>
          </p:cNvPr>
          <p:cNvGraphicFramePr/>
          <p:nvPr/>
        </p:nvGraphicFramePr>
        <p:xfrm>
          <a:off xmlns:a="http://schemas.openxmlformats.org/drawingml/2006/main" x="6720840" y="2514600"/>
          <a:ext xmlns:a="http://schemas.openxmlformats.org/drawingml/2006/main" cx="4782312" cy="17373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d9670f2c0340a7"/>
          </a:graphicData>
        </a:graphic>
      </p:graphicFrame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FF0162EE-ED01-4505-BBC2-58242742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8.7 / 20</a:t>
            </a:r>
            <a:endParaRPr sz="15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2177AABD-AF2B-4F01-85CE-51359688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AI Innovation</a:t>
            </a:r>
            <a:endParaRPr sz="10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53ED8E46-1637-4DA6-9E67-ACD27902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4.7 / 5</a:t>
            </a:r>
            <a:endParaRPr sz="15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785CAED5-60F5-4C45-A44C-25FAE23C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24-hour feasibility</a:t>
            </a:r>
            <a:endParaRPr sz="10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E2F82AF2-9A6B-4B8F-8FC8-16B7CE82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24 · 23 · 20</a:t>
            </a:r>
            <a:endParaRPr sz="1500"/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2F16AB7-6CC1-4B97-ADD9-D78844B8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Judges 1 · 2 · 3</a:t>
            </a:r>
            <a:endParaRPr sz="10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B13AA227-8EBD-4A93-95F1-EE1DBD83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2"/>
                </a:solidFill>
              </a:rPr>
              <a:t>+ Feasible and locally relevant: CURP, RFC and CLABE</a:t>
            </a:r>
            <a:endParaRPr sz="12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3E114B42-FE71-4DA8-A62E-67870D2F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4"/>
                </a:solidFill>
              </a:rPr>
              <a:t>− Similar to Presidio plus regex; limited AI novelty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65850D6-61E1-41B4-B284-C2A3580EFB8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59776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CBF9CF9C-8E9A-4A2F-B1B6-CDEE49402B08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IDEA 09 OF 11  ·  RANKING #9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181A19-E015-461E-89F7-06E681F38B29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False-invoice detector (CFDI)</a:t>
            </a:r>
            <a:endParaRPr sz="3000"/>
          </a:p>
        </p:txBody>
      </p:sp>
      <p:sp>
        <p:nvSpPr>
          <p:cNvPr id="4" name="tema T3 · T1">
            <a:extLst xmlns:a="http://schemas.openxmlformats.org/drawingml/2006/main">
              <a:ext uri="{FF2B5EF4-FFF2-40B4-BE49-F238E27FC236}">
                <a16:creationId xmlns:a16="http://schemas.microsoft.com/office/drawing/2014/main" id="{EF098C0A-20FC-47A9-AD70-6843ECE5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81838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3">
              <a:alpha val="30000"/>
            </a:schemeClr>
          </a:solidFill>
          <a:ln xmlns:a="http://schemas.openxmlformats.org/drawingml/2006/main" w="9525">
            <a:solidFill>
              <a:schemeClr val="accent3">
                <a:alpha val="80000"/>
              </a:scheme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1AA84CB-FDB5-403F-8C75-6C65A1A2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81838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chemeClr val="bg1"/>
                </a:solidFill>
              </a:rPr>
              <a:t>T3 · T1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25C380D-8D86-4143-B052-F56A79E6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56" y="1691640"/>
            <a:ext cx="45582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Two of three judges: T3.</a:t>
            </a:r>
            <a:endParaRPr sz="1100"/>
          </a:p>
        </p:txBody>
      </p:sp>
      <p:sp>
        <p:nvSpPr>
          <p:cNvPr id="7" name="Problema círculo">
            <a:extLst xmlns:a="http://schemas.openxmlformats.org/drawingml/2006/main">
              <a:ext uri="{FF2B5EF4-FFF2-40B4-BE49-F238E27FC236}">
                <a16:creationId xmlns:a16="http://schemas.microsoft.com/office/drawing/2014/main" id="{5B0CBAC1-482F-4C49-A2F2-9485180C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8" name="Problema ícono">
            <a:extLst xmlns:a="http://schemas.openxmlformats.org/drawingml/2006/main">
              <a:ext uri="{FF2B5EF4-FFF2-40B4-BE49-F238E27FC236}">
                <a16:creationId xmlns:a16="http://schemas.microsoft.com/office/drawing/2014/main" id="{42D41160-2526-4F3F-9F3C-542D530D44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708cdea8942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2336841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4DB3DDF-9970-4745-AB56-6CFF9417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Problem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4A89E40-A3CC-47A8-AF7C-2642F8F8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7752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Shell companies selling false invoices create tax-fraud risk; SAT publishes an EFOS list.</a:t>
            </a:r>
            <a:endParaRPr sz="1300"/>
          </a:p>
        </p:txBody>
      </p:sp>
      <p:sp>
        <p:nvSpPr>
          <p:cNvPr id="11" name="Solución círculo">
            <a:extLst xmlns:a="http://schemas.openxmlformats.org/drawingml/2006/main">
              <a:ext uri="{FF2B5EF4-FFF2-40B4-BE49-F238E27FC236}">
                <a16:creationId xmlns:a16="http://schemas.microsoft.com/office/drawing/2014/main" id="{7664C7F6-434A-4FA6-81AA-0C2E3C8A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387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2" name="Solución ícono">
            <a:extLst xmlns:a="http://schemas.openxmlformats.org/drawingml/2006/main">
              <a:ext uri="{FF2B5EF4-FFF2-40B4-BE49-F238E27FC236}">
                <a16:creationId xmlns:a16="http://schemas.microsoft.com/office/drawing/2014/main" id="{BCB03138-4E7C-4739-8335-2CA832B24F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2a536243549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3635289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CAFC13A-4823-4529-A098-A583A0A1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872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Solution</a:t>
            </a:r>
            <a:endParaRPr sz="13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1453FDB-466D-44F1-9657-7557E180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Analyze received CFDIs and flag listed suppliers or patterns such as round amounts, new RFCs and vague descriptions.</a:t>
            </a:r>
            <a:endParaRPr sz="1300"/>
          </a:p>
        </p:txBody>
      </p:sp>
      <p:sp>
        <p:nvSpPr>
          <p:cNvPr id="15" name="MVP en 24 h círculo">
            <a:extLst xmlns:a="http://schemas.openxmlformats.org/drawingml/2006/main">
              <a:ext uri="{FF2B5EF4-FFF2-40B4-BE49-F238E27FC236}">
                <a16:creationId xmlns:a16="http://schemas.microsoft.com/office/drawing/2014/main" id="{E10C57A4-691C-4D60-9BBB-D8EEA777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371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6" name="MVP en 24 h ícono">
            <a:extLst xmlns:a="http://schemas.openxmlformats.org/drawingml/2006/main">
              <a:ext uri="{FF2B5EF4-FFF2-40B4-BE49-F238E27FC236}">
                <a16:creationId xmlns:a16="http://schemas.microsoft.com/office/drawing/2014/main" id="{F4D8E1A8-CF4D-434E-A8C2-83DA636BCB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dcdc3d8c44f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49337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B3D34DB4-B7A3-402B-8AFA-15B8A855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7176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24-hour MVP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66FED144-68C8-4005-85B0-633531CA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4648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Upload invoice XML, compare with the public list and display a risk report.</a:t>
            </a:r>
            <a:endParaRPr sz="1300"/>
          </a:p>
        </p:txBody>
      </p:sp>
      <p:sp>
        <p:nvSpPr>
          <p:cNvPr id="19" name="Puntaje">
            <a:extLst xmlns:a="http://schemas.openxmlformats.org/drawingml/2006/main">
              <a:ext uri="{FF2B5EF4-FFF2-40B4-BE49-F238E27FC236}">
                <a16:creationId xmlns:a16="http://schemas.microsoft.com/office/drawing/2014/main" id="{48FA9D3B-5083-450D-92C9-6365A09B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056632" cy="443484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E9B289D2-ADFD-4C4B-9EEF-5C3C8B05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3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22.0</a:t>
            </a:r>
            <a:r>
              <a:rPr sz="1600">
                <a:solidFill>
                  <a:schemeClr val="bg2"/>
                </a:solidFill>
              </a:rPr>
              <a:t> / 40</a:t>
            </a:r>
            <a:endParaRPr sz="14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AF03CCB3-CA33-4B1E-996A-C7DF10D0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192024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chemeClr val="accent3"/>
                </a:solidFill>
              </a:rPr>
              <a:t>#9 of 11</a:t>
            </a:r>
            <a:endParaRPr sz="1600"/>
          </a:p>
        </p:txBody>
      </p:sp>
      <p:graphicFrame>
        <p:nvGraphicFramePr>
          <p:cNvPr id="22" name="Criterios Facturas falsas CFDI">
            <a:extLst xmlns:a="http://schemas.openxmlformats.org/drawingml/2006/main">
              <a:ext uri="{FF2B5EF4-FFF2-40B4-BE49-F238E27FC236}">
                <a16:creationId xmlns:a16="http://schemas.microsoft.com/office/drawing/2014/main" id="{B1D1A448-E333-49FD-ACE8-1353673FB73A}"/>
              </a:ext>
            </a:extLst>
          </p:cNvPr>
          <p:cNvGraphicFramePr/>
          <p:nvPr/>
        </p:nvGraphicFramePr>
        <p:xfrm>
          <a:off xmlns:a="http://schemas.openxmlformats.org/drawingml/2006/main" x="6720840" y="2514600"/>
          <a:ext xmlns:a="http://schemas.openxmlformats.org/drawingml/2006/main" cx="4782312" cy="17373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190e81119b4224"/>
          </a:graphicData>
        </a:graphic>
      </p:graphicFrame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FD2F01EF-31A2-493F-96B0-5D57F6F6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8.0 / 20</a:t>
            </a:r>
            <a:endParaRPr sz="15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82E3EE82-D9FB-44CC-99CC-0DB8EF9D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AI Innovation</a:t>
            </a:r>
            <a:endParaRPr sz="10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68C7E5ED-0F8C-44D6-B570-2FB61894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3.7 / 5</a:t>
            </a:r>
            <a:endParaRPr sz="15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10E6DC8B-06E9-48A5-9F9D-C64DEA4B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24-hour feasibility</a:t>
            </a:r>
            <a:endParaRPr sz="10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BFD28C1-9A3F-47AA-9388-8095A00F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20 · 22 · 24</a:t>
            </a:r>
            <a:endParaRPr sz="1500"/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318CFE35-14EF-4363-9BC5-C6D06B02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Judges 1 · 2 · 3</a:t>
            </a:r>
            <a:endParaRPr sz="10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4D03781B-C1ED-4E8C-AF20-91C02C35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2"/>
                </a:solidFill>
              </a:rPr>
              <a:t>+ Official SAT EFOS source and clear local relevance</a:t>
            </a:r>
            <a:endParaRPr sz="12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5138F445-B402-42E1-9E3D-D3546997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4"/>
                </a:solidFill>
              </a:rPr>
              <a:t>− Mainly list matching, with limited AI and no labeled data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F3BCEFC-4B10-4917-8B89-A75DAC98DD2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578791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D6591F29-A040-423E-83B3-719A83E67583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IDEA 10 OF 11  ·  RANKING #10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BB731D-F843-4067-827D-71BC6E568D13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Auto-insurance claim fraud</a:t>
            </a:r>
            <a:endParaRPr sz="3000"/>
          </a:p>
        </p:txBody>
      </p:sp>
      <p:sp>
        <p:nvSpPr>
          <p:cNvPr id="4" name="tema T1">
            <a:extLst xmlns:a="http://schemas.openxmlformats.org/drawingml/2006/main">
              <a:ext uri="{FF2B5EF4-FFF2-40B4-BE49-F238E27FC236}">
                <a16:creationId xmlns:a16="http://schemas.microsoft.com/office/drawing/2014/main" id="{A953C707-24BE-4591-A145-68B63EA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>
              <a:alpha val="30000"/>
            </a:schemeClr>
          </a:solidFill>
          <a:ln xmlns:a="http://schemas.openxmlformats.org/drawingml/2006/main" w="9525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8AAEAB-4125-43E4-8D93-4B45A6C0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chemeClr val="bg1"/>
                </a:solidFill>
              </a:rPr>
              <a:t>T1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6304EA-AE92-45C0-9C55-1F2F8693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1691640"/>
            <a:ext cx="49469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Real-Time AI for Critical Decisions</a:t>
            </a:r>
            <a:endParaRPr sz="1100"/>
          </a:p>
        </p:txBody>
      </p:sp>
      <p:sp>
        <p:nvSpPr>
          <p:cNvPr id="7" name="Problema círculo">
            <a:extLst xmlns:a="http://schemas.openxmlformats.org/drawingml/2006/main">
              <a:ext uri="{FF2B5EF4-FFF2-40B4-BE49-F238E27FC236}">
                <a16:creationId xmlns:a16="http://schemas.microsoft.com/office/drawing/2014/main" id="{E1687597-A3DE-46A0-A8B8-E8E6CC53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8" name="Problema ícono">
            <a:extLst xmlns:a="http://schemas.openxmlformats.org/drawingml/2006/main">
              <a:ext uri="{FF2B5EF4-FFF2-40B4-BE49-F238E27FC236}">
                <a16:creationId xmlns:a16="http://schemas.microsoft.com/office/drawing/2014/main" id="{5C8118A7-050E-419C-BCFB-2339924647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51fe38eea49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2336841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2C05544-DDCA-4946-B24B-3FF9DA51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Problem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A8EC1D6-B76C-45FC-B323-EC0F72D8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7752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Vehicle theft and staged accidents are recurring insurance-fraud scenarios in Mexico.</a:t>
            </a:r>
            <a:endParaRPr sz="1300"/>
          </a:p>
        </p:txBody>
      </p:sp>
      <p:sp>
        <p:nvSpPr>
          <p:cNvPr id="11" name="Solución círculo">
            <a:extLst xmlns:a="http://schemas.openxmlformats.org/drawingml/2006/main">
              <a:ext uri="{FF2B5EF4-FFF2-40B4-BE49-F238E27FC236}">
                <a16:creationId xmlns:a16="http://schemas.microsoft.com/office/drawing/2014/main" id="{34F204D0-01D3-4C72-877D-392B35E1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387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2" name="Solución ícono">
            <a:extLst xmlns:a="http://schemas.openxmlformats.org/drawingml/2006/main">
              <a:ext uri="{FF2B5EF4-FFF2-40B4-BE49-F238E27FC236}">
                <a16:creationId xmlns:a16="http://schemas.microsoft.com/office/drawing/2014/main" id="{6CF18130-7F9B-4675-8856-355B8D5184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97dc36a8242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3635289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A4740F8-A554-4742-892B-06FBCE24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872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Solution</a:t>
            </a:r>
            <a:endParaRPr sz="13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FE90571-C2DC-4518-8A73-DDDDAD96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Flag recent policies, repeated repair shops, inconsistent locations and reused damage photos.</a:t>
            </a:r>
            <a:endParaRPr sz="1300"/>
          </a:p>
        </p:txBody>
      </p:sp>
      <p:sp>
        <p:nvSpPr>
          <p:cNvPr id="15" name="MVP en 24 h círculo">
            <a:extLst xmlns:a="http://schemas.openxmlformats.org/drawingml/2006/main">
              <a:ext uri="{FF2B5EF4-FFF2-40B4-BE49-F238E27FC236}">
                <a16:creationId xmlns:a16="http://schemas.microsoft.com/office/drawing/2014/main" id="{27A89B47-F40D-43D7-A56C-7238FEDD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371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6" name="MVP en 24 h ícono">
            <a:extLst xmlns:a="http://schemas.openxmlformats.org/drawingml/2006/main">
              <a:ext uri="{FF2B5EF4-FFF2-40B4-BE49-F238E27FC236}">
                <a16:creationId xmlns:a16="http://schemas.microsoft.com/office/drawing/2014/main" id="{2C15B65C-A556-4BE1-820F-5B471A591F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4d0f112524b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49337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09011970-E7BE-42E2-AA0D-EF6A6E70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7176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24-hour MVP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545C8E2D-7230-4D1F-B561-31CE4FFB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4648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Claim form, explained risk score and perceptual-hash image comparison.</a:t>
            </a:r>
            <a:endParaRPr sz="1300"/>
          </a:p>
        </p:txBody>
      </p:sp>
      <p:sp>
        <p:nvSpPr>
          <p:cNvPr id="19" name="Puntaje">
            <a:extLst xmlns:a="http://schemas.openxmlformats.org/drawingml/2006/main">
              <a:ext uri="{FF2B5EF4-FFF2-40B4-BE49-F238E27FC236}">
                <a16:creationId xmlns:a16="http://schemas.microsoft.com/office/drawing/2014/main" id="{3B7DFDBC-43BC-4D2D-83AF-A5FE5BEA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056632" cy="443484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4">
                <a:alpha val="60000"/>
              </a:schemeClr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4F1C868D-510C-4D0F-971B-3019B364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3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21.3</a:t>
            </a:r>
            <a:r>
              <a:rPr sz="1600">
                <a:solidFill>
                  <a:schemeClr val="bg2"/>
                </a:solidFill>
              </a:rPr>
              <a:t> / 40</a:t>
            </a:r>
            <a:endParaRPr sz="14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DAC4FF2A-6649-4D6E-A4CA-30C212CF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192024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chemeClr val="accent4"/>
                </a:solidFill>
              </a:rPr>
              <a:t>#10 of 11</a:t>
            </a:r>
            <a:endParaRPr sz="1600"/>
          </a:p>
        </p:txBody>
      </p:sp>
      <p:graphicFrame>
        <p:nvGraphicFramePr>
          <p:cNvPr id="22" name="Criterios Fraude en seguros">
            <a:extLst xmlns:a="http://schemas.openxmlformats.org/drawingml/2006/main">
              <a:ext uri="{FF2B5EF4-FFF2-40B4-BE49-F238E27FC236}">
                <a16:creationId xmlns:a16="http://schemas.microsoft.com/office/drawing/2014/main" id="{EED812FF-29DF-4D88-BA85-3490FDF0E111}"/>
              </a:ext>
            </a:extLst>
          </p:cNvPr>
          <p:cNvGraphicFramePr/>
          <p:nvPr/>
        </p:nvGraphicFramePr>
        <p:xfrm>
          <a:off xmlns:a="http://schemas.openxmlformats.org/drawingml/2006/main" x="6720840" y="2514600"/>
          <a:ext xmlns:a="http://schemas.openxmlformats.org/drawingml/2006/main" cx="4782312" cy="17373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66dde8f9354b2d"/>
          </a:graphicData>
        </a:graphic>
      </p:graphicFrame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68155576-7983-4B9B-A9E0-138347CE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9.0 / 20</a:t>
            </a:r>
            <a:endParaRPr sz="15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66E3B487-0077-40A4-BB8E-C72127FA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AI Innovation</a:t>
            </a:r>
            <a:endParaRPr sz="10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1CE92458-879A-4233-8F35-A082C679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3.7 / 5</a:t>
            </a:r>
            <a:endParaRPr sz="15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A08C103E-E327-49A6-AF3C-EB12A382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24-hour feasibility</a:t>
            </a:r>
            <a:endParaRPr sz="10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BDD62FED-8508-4CBD-913A-449AC1D0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22 · 20 · 22</a:t>
            </a:r>
            <a:endParaRPr sz="1500"/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6AE679F3-573A-4131-897C-DB326B5A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Judges 1 · 2 · 3</a:t>
            </a:r>
            <a:endParaRPr sz="10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74E7148F-C715-4B6E-B16F-E983626E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2"/>
                </a:solidFill>
              </a:rPr>
              <a:t>+ Concrete and demonstrable reused-photo detection</a:t>
            </a:r>
            <a:endParaRPr sz="12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44252A69-D153-4E27-9E78-8346F498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4"/>
                </a:solidFill>
              </a:rPr>
              <a:t>− Benefits insurers; weaker AI for Good fit and no public labels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A6A5F0B-096B-4C20-AF87-37A7FA7AE94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533893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3EA14CE7-77E0-4070-B25D-B34201CEAB34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768096" y="4114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5"/>
                </a:solidFill>
              </a:rPr>
              <a:t>IDEA 11 OF 11  ·  RANKING #11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3AE602-77F6-42C2-BB1F-EC4170EBCD35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48640" y="777240"/>
            <a:ext cx="11091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chemeClr val="bg1"/>
                </a:solidFill>
              </a:rPr>
              <a:t>Border-crossing delay predictor</a:t>
            </a:r>
            <a:endParaRPr sz="3000"/>
          </a:p>
        </p:txBody>
      </p:sp>
      <p:sp>
        <p:nvSpPr>
          <p:cNvPr id="4" name="tema T3">
            <a:extLst xmlns:a="http://schemas.openxmlformats.org/drawingml/2006/main">
              <a:ext uri="{FF2B5EF4-FFF2-40B4-BE49-F238E27FC236}">
                <a16:creationId xmlns:a16="http://schemas.microsoft.com/office/drawing/2014/main" id="{EA32BD5A-2F27-4F0B-A829-A93DEF34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3">
              <a:alpha val="30000"/>
            </a:schemeClr>
          </a:solidFill>
          <a:ln xmlns:a="http://schemas.openxmlformats.org/drawingml/2006/main" w="9525">
            <a:solidFill>
              <a:schemeClr val="accent3">
                <a:alpha val="80000"/>
              </a:scheme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8A49B5A-7134-44C2-9EBA-9D1C0094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429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chemeClr val="bg1"/>
                </a:solidFill>
              </a:rPr>
              <a:t>T3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7490B87-38E7-4CC2-AFF6-1DA833C5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" y="1691640"/>
            <a:ext cx="49469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bg2"/>
                </a:solidFill>
              </a:rPr>
              <a:t>Wildcard: Beyond the Obvious</a:t>
            </a:r>
            <a:endParaRPr sz="1100"/>
          </a:p>
        </p:txBody>
      </p:sp>
      <p:sp>
        <p:nvSpPr>
          <p:cNvPr id="7" name="Problema círculo">
            <a:extLst xmlns:a="http://schemas.openxmlformats.org/drawingml/2006/main">
              <a:ext uri="{FF2B5EF4-FFF2-40B4-BE49-F238E27FC236}">
                <a16:creationId xmlns:a16="http://schemas.microsoft.com/office/drawing/2014/main" id="{7731A2F1-4423-489D-BB89-08FD8141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8" name="Problema ícono">
            <a:extLst xmlns:a="http://schemas.openxmlformats.org/drawingml/2006/main">
              <a:ext uri="{FF2B5EF4-FFF2-40B4-BE49-F238E27FC236}">
                <a16:creationId xmlns:a16="http://schemas.microsoft.com/office/drawing/2014/main" id="{46AFDCA6-4884-4300-9695-DE03B45CC8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3b271bd8644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2336841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3C61151-25D6-4A49-AC76-A9E595CE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028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Problem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B3E06BF-2663-43C3-ADBB-3FEED6A4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7752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Waits at Laredo, Piedras Negras and Reynosa can disrupt just-in-time manufacturing.</a:t>
            </a:r>
            <a:endParaRPr sz="1300"/>
          </a:p>
        </p:txBody>
      </p:sp>
      <p:sp>
        <p:nvSpPr>
          <p:cNvPr id="11" name="Solución círculo">
            <a:extLst xmlns:a="http://schemas.openxmlformats.org/drawingml/2006/main">
              <a:ext uri="{FF2B5EF4-FFF2-40B4-BE49-F238E27FC236}">
                <a16:creationId xmlns:a16="http://schemas.microsoft.com/office/drawing/2014/main" id="{C261C033-0C99-4640-8D69-C84AB2B8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38728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2" name="Solución ícono">
            <a:extLst xmlns:a="http://schemas.openxmlformats.org/drawingml/2006/main">
              <a:ext uri="{FF2B5EF4-FFF2-40B4-BE49-F238E27FC236}">
                <a16:creationId xmlns:a16="http://schemas.microsoft.com/office/drawing/2014/main" id="{6231574F-E7FB-4AED-BB76-0C475C7669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786bb0bec41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3635289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E079AA3-F186-4764-801D-22349BF7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872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Solution</a:t>
            </a:r>
            <a:endParaRPr sz="13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ACCA34C-2D18-4163-968B-A1D1E689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Estimate delays and recommend crossing and departure time for each shipment.</a:t>
            </a:r>
            <a:endParaRPr sz="1300"/>
          </a:p>
        </p:txBody>
      </p:sp>
      <p:sp>
        <p:nvSpPr>
          <p:cNvPr id="15" name="MVP en 24 h círculo">
            <a:extLst xmlns:a="http://schemas.openxmlformats.org/drawingml/2006/main">
              <a:ext uri="{FF2B5EF4-FFF2-40B4-BE49-F238E27FC236}">
                <a16:creationId xmlns:a16="http://schemas.microsoft.com/office/drawing/2014/main" id="{44E57497-6F6A-4E6C-92B6-869180DB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371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2"/>
          </a:solidFill>
        </p:spPr>
      </p:sp>
      <p:pic>
        <p:nvPicPr>
          <p:cNvPr id="16" name="MVP en 24 h ícono">
            <a:extLst xmlns:a="http://schemas.openxmlformats.org/drawingml/2006/main">
              <a:ext uri="{FF2B5EF4-FFF2-40B4-BE49-F238E27FC236}">
                <a16:creationId xmlns:a16="http://schemas.microsoft.com/office/drawing/2014/main" id="{60A30AB7-BD0C-43EF-92B1-87EDA24E14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e2795ddd94e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01" y="4933737"/>
            <a:ext cx="245791" cy="245791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03A91467-E58F-4B7B-BD57-4F64D71C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7176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chemeClr val="accent5"/>
                </a:solidFill>
              </a:rPr>
              <a:t>24-hour MVP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A8487D54-30CC-4E5A-AB6A-06C33154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4648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bg1"/>
                </a:solidFill>
              </a:rPr>
              <a:t>Proposed CBP historical wait-time model and logistics dashboard; data availability unconfirmed.</a:t>
            </a:r>
            <a:endParaRPr sz="1300"/>
          </a:p>
        </p:txBody>
      </p:sp>
      <p:sp>
        <p:nvSpPr>
          <p:cNvPr id="19" name="Puntaje">
            <a:extLst xmlns:a="http://schemas.openxmlformats.org/drawingml/2006/main">
              <a:ext uri="{FF2B5EF4-FFF2-40B4-BE49-F238E27FC236}">
                <a16:creationId xmlns:a16="http://schemas.microsoft.com/office/drawing/2014/main" id="{E5265482-8D22-41D7-A949-BFC833DB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056632" cy="443484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63C7A3C6-AAF2-466B-8327-7041B7FE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3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18.3</a:t>
            </a:r>
            <a:r>
              <a:rPr sz="1600">
                <a:solidFill>
                  <a:schemeClr val="bg2"/>
                </a:solidFill>
              </a:rPr>
              <a:t> / 40</a:t>
            </a:r>
            <a:endParaRPr sz="14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677253EF-5A33-4FBE-BEDF-C0B4D2DF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192024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chemeClr val="accent3"/>
                </a:solidFill>
              </a:rPr>
              <a:t>#11 of 11</a:t>
            </a:r>
            <a:endParaRPr sz="1600"/>
          </a:p>
        </p:txBody>
      </p:sp>
      <p:graphicFrame>
        <p:nvGraphicFramePr>
          <p:cNvPr id="22" name="Criterios Cruces fronterizos">
            <a:extLst xmlns:a="http://schemas.openxmlformats.org/drawingml/2006/main">
              <a:ext uri="{FF2B5EF4-FFF2-40B4-BE49-F238E27FC236}">
                <a16:creationId xmlns:a16="http://schemas.microsoft.com/office/drawing/2014/main" id="{65B5AC65-EB34-4BB4-B8F0-BF07CFE7BD71}"/>
              </a:ext>
            </a:extLst>
          </p:cNvPr>
          <p:cNvGraphicFramePr/>
          <p:nvPr/>
        </p:nvGraphicFramePr>
        <p:xfrm>
          <a:off xmlns:a="http://schemas.openxmlformats.org/drawingml/2006/main" x="6720840" y="2514600"/>
          <a:ext xmlns:a="http://schemas.openxmlformats.org/drawingml/2006/main" cx="4782312" cy="17373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a4221df9144fe3"/>
          </a:graphicData>
        </a:graphic>
      </p:graphicFrame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F2AAA725-56D2-4D24-B69F-A942FA80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8.0 / 20</a:t>
            </a:r>
            <a:endParaRPr sz="15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41AF0184-9CAA-4489-8912-D3F961EE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AI Innovation</a:t>
            </a:r>
            <a:endParaRPr sz="10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235F1514-EED8-45DB-BF0C-E2E89A67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2.0 / 5</a:t>
            </a:r>
            <a:endParaRPr sz="15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0D8176FB-5C4A-46FA-A269-A7364F8B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24-hour feasibility</a:t>
            </a:r>
            <a:endParaRPr sz="10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823A8039-4267-472E-A729-75C31A87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343400"/>
            <a:ext cx="1463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bg1"/>
                </a:solidFill>
              </a:rPr>
              <a:t>17 · 18 · 20</a:t>
            </a:r>
            <a:endParaRPr sz="1500"/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DFCAE693-4206-4623-9695-1A5A05E9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663440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chemeClr val="accent6"/>
                </a:solidFill>
              </a:rPr>
              <a:t>Judges 1 · 2 · 3</a:t>
            </a:r>
            <a:endParaRPr sz="10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83D48826-D833-4D46-9A11-7F2AF763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2"/>
                </a:solidFill>
              </a:rPr>
              <a:t>+ Relevant to nearshoring and border manufacturing</a:t>
            </a:r>
            <a:endParaRPr sz="12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419F51DA-CA97-49DB-B124-57F4D034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507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chemeClr val="accent4"/>
                </a:solidFill>
              </a:rPr>
              <a:t>− Unconfirmed data and limited IBM Z/security use</a:t>
            </a:r>
            <a:endParaRPr sz="12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7EF1F13-B9FB-4FA9-B578-16818F93524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183112" y="640080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9321408"/>
      </p:ext>
    </p:extLst>
  </p:cSld>
</p:sld>
</file>

<file path=ppt/theme/theme1.xml><?xml version="1.0" encoding="utf-8"?>
<a:theme xmlns:a="http://schemas.openxmlformats.org/drawingml/2006/main" name="Antimarrulla Ideas">
  <a:themeElements>
    <a:clrScheme name="Antimarrulla Ideas">
      <a:dk1>
        <a:srgbClr val="0E0E13"/>
      </a:dk1>
      <a:lt1>
        <a:srgbClr val="FFFFFF"/>
      </a:lt1>
      <a:dk2>
        <a:srgbClr val="1A1A24"/>
      </a:dk2>
      <a:lt2>
        <a:srgbClr val="E0E0E0"/>
      </a:lt2>
      <a:accent1>
        <a:srgbClr val="0F62FE"/>
      </a:accent1>
      <a:accent2>
        <a:srgbClr val="24A148"/>
      </a:accent2>
      <a:accent3>
        <a:srgbClr val="A56EFF"/>
      </a:accent3>
      <a:accent4>
        <a:srgbClr val="F1C21B"/>
      </a:accent4>
      <a:accent5>
        <a:srgbClr val="78A9FF"/>
      </a:accent5>
      <a:accent6>
        <a:srgbClr val="8D8D8D"/>
      </a:accent6>
      <a:hlink>
        <a:srgbClr val="78A9FF"/>
      </a:hlink>
      <a:folHlink>
        <a:srgbClr val="A6C8FF"/>
      </a:folHlink>
    </a:clrScheme>
    <a:fontScheme name="Antimarrulla Ide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ntimarrulla Idea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2026-10-17T19:28:17.4950000Z</dcterms:created>
  <dcterms:modified xsi:type="dcterms:W3CDTF">2026-10-17T19:28:17.4950000Z</dcterms:modified>
</coreProperties>
</file>