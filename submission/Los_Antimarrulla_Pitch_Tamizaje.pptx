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85faf5c1-435b-20e1-1fa6-392b2bace550}">
          <p14:sldIdLst>
            <p14:sldId id="256"/>
          </p14:sldIdLst>
        </p14:section>
        <p14:section name="Problema y solución" id="{68e8c68e-7c3a-1108-92d4-b1dc7cdb1753}">
          <p14:sldIdLst>
            <p14:sldId id="257"/>
            <p14:sldId id="258"/>
          </p14:sldIdLst>
        </p14:section>
        <p14:section name="Tecnología" id="{968a082a-c61e-ab8c-d09f-bd3b3b40c4c5}">
          <p14:sldIdLst>
            <p14:sldId id="259"/>
            <p14:sldId id="260"/>
          </p14:sldIdLst>
        </p14:section>
        <p14:section name="Demo y datos" id="{ebc1c4c4-e742-2450-812e-5ae93b71c498}">
          <p14:sldIdLst>
            <p14:sldId id="261"/>
            <p14:sldId id="262"/>
          </p14:sldIdLst>
        </p14:section>
        <p14:section name="Impacto y cierre" id="{e7784cba-d04d-8359-4ddc-7f5ce4619a34}">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Somos Los Antimarrulla, de la UACJ. Nuestro proyecto es Tamizaje a ciegas: una IA que calcula el riesgo de diabetes sobre datos cifrados en IBM LinuxONE. El servidor nunca ve a ningún paciente. Reto 2: AI Secured.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México, 18.3% de los adultos vive con diabetes y uno de cada tres no lo sabe. En 2024 murieron 112 mil personas por diabetes: la segunda causa de muerte. Los hospitales tienen los datos para detectarla antes, pero no pueden compartirlos: hacerlo es un riesgo legal y de privacidad; no hacerlo significa detectar tarde. ¿Y si la IA pudiera calcular el riesgo sin ver jamás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hospital cifra los 21 indicadores del paciente y se queda con la llave. LinuxONE calcula el riesgo sobre números cifrados; solo el hospital abre el resultado y Granite lo explica. Es tamizaje: decide a quién hacerle primero una prueba de glucosa. (Alcance: el servicio de riesgo solo recibe cifrados; en la demo, quien administra la VM queda dentro del entorno de confianza y usamos pacientes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Usamos cifrado homomórfico Paillier: multiplicar cifrados suma sus valores y elevarlos a una potencia los multiplica. Así el servidor calcula el puntaje del modelo sin descifrar nada. Además, TLS 1.3 en tránsito y AES-256-GCM en reposo. ANTES DE PRESENTAR: capturar lscpu, cpacfinfo y las versiones de OpenSSL (CLI y cryptography) como evidencia de CPACF.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terminal de la VM: uname -m → s390x, los dos contenedores corriendo y el modelo cargado. Todo corre en LinuxONE, en dos contenedores: el del hospital, con la llave, y el servicio de riesgo, sin ella. En la demo comparten VM; en producción, el del hospital vive en sus instalaciones. La aritmética homomórfica son exponenciaciones con enteros de miles de bits: cómputo pesado, justo para IBM 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Pantalla dividida. A la izquierda, lo que ve el servidor: solo números cifrados. A la derecha, lo que ve el hospital: el riesgo, los factores principales y la explicación de Granite. Abajo, medido en LinuxONE sobre [n] pacientes: el AUC en claro contra el cifrado [cifra real] y la latencia por paciente [cifra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Entrenamos con 253 mil registros públicos de los CDC. Los datos de pacientes solo llegan cifrados. (Es una prueba técnica con datos de EE. UU.; la evaluación externa exploratoria con ENSANUT está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2024, más de 11 mil hospitalizaciones por diabetes en la Secretaría de Salud incluyeron una amputación. Queremos detectar antes sin entregar un solo expediente. La IA ve el riesgo. Nadie ve al paciente.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PORTADA-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IDO-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IERR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83080"/>
            <a:ext cx="6949440" cy="11430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640080" y="2971800"/>
            <a:ext cx="6583680" cy="594360"/>
          </a:xfrm>
          <a:prstGeom prst="rect">
            <a:avLst/>
          </a:prstGeom>
          <a:noFill/>
          <a:ln/>
        </p:spPr>
        <p:txBody>
          <a:bodyPr wrap="square" rtlCol="0"/>
          <a:lstStyle>
            <a:lvl1pPr algn="l" indent="0" marL="0">
              <a:buNone/>
              <a:defRPr lang="en-US" sz="3000" dirty="0">
                <a:solidFill>
                  <a:schemeClr val="bg2"/>
                </a:solidFill>
              </a:defRPr>
            </a:lvl1pPr>
          </a:lstStyle>
          <a:p>
            <a:pPr algn="l"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12064"/>
            <a:ext cx="118872" cy="118872"/>
          </a:xfrm>
          <a:prstGeom prst="rect">
            <a:avLst/>
          </a:prstGeom>
          <a:solidFill>
            <a:schemeClr val="accent1"/>
          </a:solidFill>
          <a:ln/>
        </p:spPr>
      </p:sp>
      <p:sp>
        <p:nvSpPr>
          <p:cNvPr id="3" name="Text 1"/>
          <p:cNvSpPr/>
          <p:nvPr>
            <p:ph idx="101" type="body" hasCustomPrompt="1"/>
          </p:nvPr>
        </p:nvSpPr>
        <p:spPr>
          <a:xfrm>
            <a:off x="768096" y="411480"/>
            <a:ext cx="8229600" cy="310896"/>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1"/>
          <p:cNvSpPr/>
          <p:nvPr>
            <p:ph idx="102" type="title" hasCustomPrompt="1"/>
          </p:nvPr>
        </p:nvSpPr>
        <p:spPr>
          <a:xfrm>
            <a:off x="548640" y="777240"/>
            <a:ext cx="11091672"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5" name="Text 1"/>
          <p:cNvSpPr/>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chemeClr val="accent6"/>
                </a:solidFill>
              </a:rPr>
              <a:t>Los Antimarrulla · Tamizaje a ciegas · IBM Z Datathon 2026</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12064"/>
            <a:ext cx="118872" cy="118872"/>
          </a:xfrm>
          <a:prstGeom prst="rect">
            <a:avLst/>
          </a:prstGeom>
          <a:solidFill>
            <a:schemeClr val="accent1"/>
          </a:solidFill>
          <a:ln/>
        </p:spPr>
      </p:sp>
      <p:sp>
        <p:nvSpPr>
          <p:cNvPr id="3" name="Text 1"/>
          <p:cNvSpPr/>
          <p:nvPr>
            <p:ph idx="101" type="body" hasCustomPrompt="1"/>
          </p:nvPr>
        </p:nvSpPr>
        <p:spPr>
          <a:xfrm>
            <a:off x="768096" y="411480"/>
            <a:ext cx="8229600" cy="310896"/>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1"/>
          <p:cNvSpPr/>
          <p:nvPr>
            <p:ph idx="102" type="title" hasCustomPrompt="1"/>
          </p:nvPr>
        </p:nvSpPr>
        <p:spPr>
          <a:xfrm>
            <a:off x="548640" y="777240"/>
            <a:ext cx="11091672"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5" name="Text 1"/>
          <p:cNvSpPr/>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chemeClr val="accent6"/>
                </a:solidFill>
              </a:rPr>
              <a:t>Los Antimarrulla · Tamizaje a ciegas · IBM Z Datathon 2026</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3.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6" Type="http://schemas.openxmlformats.org/officeDocument/2006/relationships/hyperlink" Target="https://github.com/UACJ-MIAAD/antimarrulla-ibmz-datathon-2026"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7" Type="http://schemas.openxmlformats.org/officeDocument/2006/relationships/slideLayout" Target="../slideLayouts/slideLayout4.xml"/><Relationship Id="rId8"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371600"/>
            <a:ext cx="6949440" cy="320040"/>
          </a:xfrm>
          <a:prstGeom prst="rect">
            <a:avLst/>
          </a:prstGeom>
          <a:noFill/>
          <a:ln/>
        </p:spPr>
        <p:txBody>
          <a:bodyPr wrap="square" lIns="0" tIns="0" rIns="0" bIns="0" rtlCol="0" anchor="t"/>
          <a:lstStyle/>
          <a:p>
            <a:pPr indent="0" marL="0">
              <a:buNone/>
            </a:pPr>
            <a:r>
              <a:rPr lang="en-US" sz="1400" b="1" spc="300" kern="0" dirty="0">
                <a:solidFill>
                  <a:schemeClr val="accent5"/>
                </a:solidFill>
              </a:rPr>
              <a:t>IBM Z DATATHON 2026  ·  RETO 2: AI SECURED</a:t>
            </a:r>
            <a:endParaRPr lang="en-US" sz="1400" dirty="0"/>
          </a:p>
        </p:txBody>
      </p:sp>
      <p:sp>
        <p:nvSpPr>
          <p:cNvPr id="3" name="Text 0"/>
          <p:cNvSpPr/>
          <p:nvPr>
            <p:ph idx="100" type="title" hasCustomPrompt="1"/>
          </p:nvPr>
        </p:nvSpPr>
        <p:spPr>
          <a:xfrm>
            <a:off x="640080" y="1783080"/>
            <a:ext cx="6949440" cy="1143000"/>
          </a:xfrm>
          <a:prstGeom prst="rect">
            <a:avLst/>
          </a:prstGeom>
          <a:noFill/>
          <a:ln/>
        </p:spPr>
        <p:txBody>
          <a:bodyPr wrap="square" lIns="0" tIns="0" rIns="0" bIns="0" rtlCol="0" anchor="t"/>
          <a:lstStyle/>
          <a:p>
            <a:pPr algn="l" indent="0" marL="0">
              <a:buNone/>
            </a:pPr>
            <a:r>
              <a:rPr lang="en-US" sz="6000" b="1" dirty="0">
                <a:solidFill>
                  <a:schemeClr val="bg1"/>
                </a:solidFill>
              </a:rPr>
              <a:t>Los Antimarrulla</a:t>
            </a:r>
            <a:endParaRPr lang="en-US" sz="6000" dirty="0"/>
          </a:p>
        </p:txBody>
      </p:sp>
      <p:sp>
        <p:nvSpPr>
          <p:cNvPr id="4" name="Text 0"/>
          <p:cNvSpPr/>
          <p:nvPr>
            <p:ph idx="101" type="body" hasCustomPrompt="1"/>
          </p:nvPr>
        </p:nvSpPr>
        <p:spPr>
          <a:xfrm>
            <a:off x="640080" y="2971800"/>
            <a:ext cx="6583680" cy="594360"/>
          </a:xfrm>
          <a:prstGeom prst="rect">
            <a:avLst/>
          </a:prstGeom>
          <a:noFill/>
          <a:ln/>
        </p:spPr>
        <p:txBody>
          <a:bodyPr wrap="square" lIns="0" tIns="0" rIns="0" bIns="0" rtlCol="0" anchor="t"/>
          <a:lstStyle/>
          <a:p>
            <a:pPr algn="l" indent="0" marL="0">
              <a:buNone/>
            </a:pPr>
            <a:r>
              <a:rPr lang="en-US" sz="3000" dirty="0">
                <a:solidFill>
                  <a:schemeClr val="bg2"/>
                </a:solidFill>
              </a:rPr>
              <a:t>Tamizaje a ciegas</a:t>
            </a:r>
            <a:endParaRPr lang="en-US" sz="3000" dirty="0"/>
          </a:p>
        </p:txBody>
      </p:sp>
      <p:sp>
        <p:nvSpPr>
          <p:cNvPr id="5" name="Text 3"/>
          <p:cNvSpPr txBox="1"/>
          <p:nvPr/>
        </p:nvSpPr>
        <p:spPr>
          <a:xfrm>
            <a:off x="640080" y="3703320"/>
            <a:ext cx="5852160" cy="731520"/>
          </a:xfrm>
          <a:prstGeom prst="rect">
            <a:avLst/>
          </a:prstGeom>
          <a:noFill/>
          <a:ln/>
        </p:spPr>
        <p:txBody>
          <a:bodyPr wrap="square" lIns="0" tIns="0" rIns="0" bIns="0" rtlCol="0" anchor="t"/>
          <a:lstStyle/>
          <a:p>
            <a:pPr indent="0" marL="0">
              <a:buNone/>
            </a:pPr>
            <a:r>
              <a:rPr lang="en-US" sz="1600" dirty="0">
                <a:solidFill>
                  <a:schemeClr val="bg2"/>
                </a:solidFill>
              </a:rPr>
              <a:t>IA que detecta riesgo de diabetes sin ver a ningún paciente: el cálculo ocurre sobre datos cifrados en IBM LinuxONE</a:t>
            </a:r>
            <a:endParaRPr lang="en-US" sz="1600" dirty="0"/>
          </a:p>
        </p:txBody>
      </p:sp>
      <p:pic>
        <p:nvPicPr>
          <p:cNvPr id="6" name="Logo del equipo" descr="/private/tmp/claude-501/-Users-haowei-Documents-Antimarrulla/5372125f-ee1a-4aa0-8aef-43e32d332201/scratchpad/dx/logo.png">    </p:cNvPr>
          <p:cNvPicPr>
            <a:picLocks noChangeAspect="1"/>
          </p:cNvPicPr>
          <p:nvPr/>
        </p:nvPicPr>
        <p:blipFill>
          <a:blip r:embed="rId1"/>
          <a:stretch>
            <a:fillRect/>
          </a:stretch>
        </p:blipFill>
        <p:spPr>
          <a:xfrm>
            <a:off x="640080" y="4846320"/>
            <a:ext cx="1188720" cy="1188720"/>
          </a:xfrm>
          <a:prstGeom prst="rect">
            <a:avLst/>
          </a:prstGeom>
        </p:spPr>
      </p:pic>
      <p:sp>
        <p:nvSpPr>
          <p:cNvPr id="7" name="Text 4"/>
          <p:cNvSpPr txBox="1"/>
          <p:nvPr/>
        </p:nvSpPr>
        <p:spPr>
          <a:xfrm>
            <a:off x="2011680" y="5029200"/>
            <a:ext cx="5669280" cy="914400"/>
          </a:xfrm>
          <a:prstGeom prst="rect">
            <a:avLst/>
          </a:prstGeom>
          <a:noFill/>
          <a:ln/>
        </p:spPr>
        <p:txBody>
          <a:bodyPr wrap="square" lIns="0" tIns="0" rIns="0" bIns="0" rtlCol="0" anchor="ctr"/>
          <a:lstStyle/>
          <a:p>
            <a:pPr indent="0" marL="0">
              <a:spcAft>
                <a:spcPts val="400"/>
              </a:spcAft>
              <a:buNone/>
            </a:pPr>
            <a:r>
              <a:rPr lang="en-US" sz="1200" dirty="0">
                <a:solidFill>
                  <a:schemeClr val="bg1"/>
                </a:solidFill>
              </a:rPr>
              <a:t>Javier Augusto Rebull Saucedo · Álvaro Hernández Jarquín</a:t>
            </a:r>
            <a:endParaRPr lang="en-US" sz="1200" dirty="0"/>
          </a:p>
          <a:p>
            <a:pPr indent="0" marL="0">
              <a:spcAft>
                <a:spcPts val="400"/>
              </a:spcAft>
              <a:buNone/>
            </a:pPr>
            <a:r>
              <a:rPr lang="en-US" sz="1200" dirty="0">
                <a:solidFill>
                  <a:schemeClr val="bg1"/>
                </a:solidFill>
              </a:rPr>
              <a:t>Carlos Enrique Gonzalez Moran · Yazmin Ivonne Flores Martinez</a:t>
            </a:r>
            <a:endParaRPr lang="en-US" sz="1200" dirty="0"/>
          </a:p>
          <a:p>
            <a:pPr indent="0" marL="0">
              <a:spcAft>
                <a:spcPts val="400"/>
              </a:spcAft>
              <a:buNone/>
            </a:pPr>
            <a:r>
              <a:rPr lang="en-US" sz="1100" dirty="0">
                <a:solidFill>
                  <a:schemeClr val="accent5"/>
                </a:solidFill>
              </a:rPr>
              <a:t>UACJ · Maestría en IA y Analítica de Datos (MIAAD)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01 · EL PROBLEMA</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La diabetes avanza y sus datos siguen bajo llave</a:t>
            </a:r>
            <a:endParaRPr lang="en-US" sz="3000" dirty="0"/>
          </a:p>
        </p:txBody>
      </p:sp>
      <p:sp>
        <p:nvSpPr>
          <p:cNvPr id="4" name="Text 2"/>
          <p:cNvSpPr txBox="1"/>
          <p:nvPr/>
        </p:nvSpPr>
        <p:spPr>
          <a:xfrm>
            <a:off x="548640" y="1874520"/>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18.3%</a:t>
            </a:r>
            <a:endParaRPr lang="en-US" sz="4400" dirty="0"/>
          </a:p>
        </p:txBody>
      </p:sp>
      <p:sp>
        <p:nvSpPr>
          <p:cNvPr id="5" name="Text 3"/>
          <p:cNvSpPr txBox="1"/>
          <p:nvPr/>
        </p:nvSpPr>
        <p:spPr>
          <a:xfrm>
            <a:off x="3383280" y="1874520"/>
            <a:ext cx="2651760" cy="731520"/>
          </a:xfrm>
          <a:prstGeom prst="rect">
            <a:avLst/>
          </a:prstGeom>
          <a:noFill/>
          <a:ln/>
        </p:spPr>
        <p:txBody>
          <a:bodyPr wrap="square" lIns="0" tIns="0" rIns="0" bIns="0" rtlCol="0" anchor="ctr"/>
          <a:lstStyle/>
          <a:p>
            <a:pPr indent="0" marL="0">
              <a:buNone/>
            </a:pPr>
            <a:r>
              <a:rPr lang="en-US" sz="1400" dirty="0">
                <a:solidFill>
                  <a:schemeClr val="bg2"/>
                </a:solidFill>
              </a:rPr>
              <a:t>de los adultos en México vive con diabetes</a:t>
            </a:r>
            <a:endParaRPr lang="en-US" sz="1400" dirty="0"/>
          </a:p>
        </p:txBody>
      </p:sp>
      <p:sp>
        <p:nvSpPr>
          <p:cNvPr id="6" name="Text 4"/>
          <p:cNvSpPr txBox="1"/>
          <p:nvPr/>
        </p:nvSpPr>
        <p:spPr>
          <a:xfrm>
            <a:off x="548640" y="2898648"/>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 de 3</a:t>
            </a:r>
            <a:endParaRPr lang="en-US" sz="4400" dirty="0"/>
          </a:p>
        </p:txBody>
      </p:sp>
      <p:sp>
        <p:nvSpPr>
          <p:cNvPr id="7" name="Text 5"/>
          <p:cNvSpPr txBox="1"/>
          <p:nvPr/>
        </p:nvSpPr>
        <p:spPr>
          <a:xfrm>
            <a:off x="3383280" y="2898648"/>
            <a:ext cx="2651760" cy="731520"/>
          </a:xfrm>
          <a:prstGeom prst="rect">
            <a:avLst/>
          </a:prstGeom>
          <a:noFill/>
          <a:ln/>
        </p:spPr>
        <p:txBody>
          <a:bodyPr wrap="square" lIns="0" tIns="0" rIns="0" bIns="0" rtlCol="0" anchor="ctr"/>
          <a:lstStyle/>
          <a:p>
            <a:pPr indent="0" marL="0">
              <a:buNone/>
            </a:pPr>
            <a:r>
              <a:rPr lang="en-US" sz="1400" dirty="0">
                <a:solidFill>
                  <a:schemeClr val="bg2"/>
                </a:solidFill>
              </a:rPr>
              <a:t>no sabe que la tiene: se detecta tarde</a:t>
            </a:r>
            <a:endParaRPr lang="en-US" sz="1400" dirty="0"/>
          </a:p>
        </p:txBody>
      </p:sp>
      <p:sp>
        <p:nvSpPr>
          <p:cNvPr id="8" name="Text 6"/>
          <p:cNvSpPr txBox="1"/>
          <p:nvPr/>
        </p:nvSpPr>
        <p:spPr>
          <a:xfrm>
            <a:off x="548640" y="3922776"/>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112,577</a:t>
            </a:r>
            <a:endParaRPr lang="en-US" sz="4400" dirty="0"/>
          </a:p>
        </p:txBody>
      </p:sp>
      <p:sp>
        <p:nvSpPr>
          <p:cNvPr id="9" name="Text 7"/>
          <p:cNvSpPr txBox="1"/>
          <p:nvPr/>
        </p:nvSpPr>
        <p:spPr>
          <a:xfrm>
            <a:off x="3383280" y="3922776"/>
            <a:ext cx="2651760" cy="731520"/>
          </a:xfrm>
          <a:prstGeom prst="rect">
            <a:avLst/>
          </a:prstGeom>
          <a:noFill/>
          <a:ln/>
        </p:spPr>
        <p:txBody>
          <a:bodyPr wrap="square" lIns="0" tIns="0" rIns="0" bIns="0" rtlCol="0" anchor="ctr"/>
          <a:lstStyle/>
          <a:p>
            <a:pPr indent="0" marL="0">
              <a:buNone/>
            </a:pPr>
            <a:r>
              <a:rPr lang="en-US" sz="1400" dirty="0">
                <a:solidFill>
                  <a:schemeClr val="bg2"/>
                </a:solidFill>
              </a:rPr>
              <a:t>muertes en 2024: es la 2.ª causa de muerte del país</a:t>
            </a:r>
            <a:endParaRPr lang="en-US" sz="1400" dirty="0"/>
          </a:p>
        </p:txBody>
      </p:sp>
      <p:sp>
        <p:nvSpPr>
          <p:cNvPr id="10" name="Hospital"/>
          <p:cNvSpPr/>
          <p:nvPr/>
        </p:nvSpPr>
        <p:spPr>
          <a:xfrm>
            <a:off x="6629400" y="2743200"/>
            <a:ext cx="1554480" cy="914400"/>
          </a:xfrm>
          <a:prstGeom prst="roundRect">
            <a:avLst>
              <a:gd name="adj" fmla="val 10000"/>
            </a:avLst>
          </a:prstGeom>
          <a:solidFill>
            <a:schemeClr val="tx2"/>
          </a:solidFill>
          <a:ln w="9525">
            <a:solidFill>
              <a:schemeClr val="accent5">
                <a:alpha val="70000"/>
              </a:schemeClr>
            </a:solidFill>
            <a:prstDash val="solid"/>
          </a:ln>
        </p:spPr>
      </p:sp>
      <p:sp>
        <p:nvSpPr>
          <p:cNvPr id="11" name="Hospital círculo"/>
          <p:cNvSpPr/>
          <p:nvPr/>
        </p:nvSpPr>
        <p:spPr>
          <a:xfrm>
            <a:off x="6766560" y="2971800"/>
            <a:ext cx="457200" cy="457200"/>
          </a:xfrm>
          <a:prstGeom prst="ellipse">
            <a:avLst/>
          </a:prstGeom>
          <a:solidFill>
            <a:schemeClr val="accent1"/>
          </a:solidFill>
          <a:ln/>
        </p:spPr>
      </p:sp>
      <p:pic>
        <p:nvPicPr>
          <p:cNvPr id="12" name="Hospital ícono" descr="preencoded.png">    </p:cNvPr>
          <p:cNvPicPr>
            <a:picLocks noChangeAspect="1"/>
          </p:cNvPicPr>
          <p:nvPr/>
        </p:nvPicPr>
        <p:blipFill>
          <a:blip r:embed="rId1"/>
          <a:stretch>
            <a:fillRect/>
          </a:stretch>
        </p:blipFill>
        <p:spPr>
          <a:xfrm>
            <a:off x="6867144" y="3072384"/>
            <a:ext cx="256032" cy="256032"/>
          </a:xfrm>
          <a:prstGeom prst="rect">
            <a:avLst/>
          </a:prstGeom>
        </p:spPr>
      </p:pic>
      <p:sp>
        <p:nvSpPr>
          <p:cNvPr id="13" name="Text 10"/>
          <p:cNvSpPr txBox="1"/>
          <p:nvPr/>
        </p:nvSpPr>
        <p:spPr>
          <a:xfrm>
            <a:off x="7315200" y="2743200"/>
            <a:ext cx="822960" cy="914400"/>
          </a:xfrm>
          <a:prstGeom prst="rect">
            <a:avLst/>
          </a:prstGeom>
          <a:noFill/>
          <a:ln/>
        </p:spPr>
        <p:txBody>
          <a:bodyPr wrap="square" lIns="0" tIns="0" rIns="0" bIns="0" rtlCol="0" anchor="ctr"/>
          <a:lstStyle/>
          <a:p>
            <a:pPr indent="0" marL="0">
              <a:buNone/>
            </a:pPr>
            <a:r>
              <a:rPr lang="en-US" sz="1300" b="1" dirty="0">
                <a:solidFill>
                  <a:schemeClr val="bg1"/>
                </a:solidFill>
              </a:rPr>
              <a:t>Hospital</a:t>
            </a:r>
            <a:endParaRPr lang="en-US" sz="1300" dirty="0"/>
          </a:p>
        </p:txBody>
      </p:sp>
      <p:sp>
        <p:nvSpPr>
          <p:cNvPr id="14" name="flecha"/>
          <p:cNvSpPr/>
          <p:nvPr/>
        </p:nvSpPr>
        <p:spPr>
          <a:xfrm>
            <a:off x="8229600" y="3200400"/>
            <a:ext cx="502920" cy="-822960"/>
          </a:xfrm>
          <a:prstGeom prst="line">
            <a:avLst/>
          </a:prstGeom>
          <a:noFill/>
          <a:ln w="22225">
            <a:solidFill>
              <a:schemeClr val="accent3"/>
            </a:solidFill>
            <a:prstDash val="solid"/>
            <a:tailEnd type="triangle"/>
          </a:ln>
        </p:spPr>
      </p:sp>
      <p:sp>
        <p:nvSpPr>
          <p:cNvPr id="15" name="Compartir expedientes"/>
          <p:cNvSpPr/>
          <p:nvPr/>
        </p:nvSpPr>
        <p:spPr>
          <a:xfrm>
            <a:off x="8778240" y="1965960"/>
            <a:ext cx="2862072" cy="868680"/>
          </a:xfrm>
          <a:prstGeom prst="roundRect">
            <a:avLst>
              <a:gd name="adj" fmla="val 10526"/>
            </a:avLst>
          </a:prstGeom>
          <a:solidFill>
            <a:schemeClr val="accent3">
              <a:alpha val="15000"/>
            </a:schemeClr>
          </a:solidFill>
          <a:ln w="9525">
            <a:solidFill>
              <a:schemeClr val="accent3">
                <a:alpha val="70000"/>
              </a:schemeClr>
            </a:solidFill>
            <a:prstDash val="solid"/>
          </a:ln>
        </p:spPr>
      </p:sp>
      <p:sp>
        <p:nvSpPr>
          <p:cNvPr id="16" name="Compartir expedientes círculo"/>
          <p:cNvSpPr/>
          <p:nvPr/>
        </p:nvSpPr>
        <p:spPr>
          <a:xfrm>
            <a:off x="8915400" y="2167128"/>
            <a:ext cx="457200" cy="457200"/>
          </a:xfrm>
          <a:prstGeom prst="ellipse">
            <a:avLst/>
          </a:prstGeom>
          <a:solidFill>
            <a:schemeClr val="accent3"/>
          </a:solidFill>
          <a:ln/>
        </p:spPr>
      </p:sp>
      <p:pic>
        <p:nvPicPr>
          <p:cNvPr id="17" name="Compartir expedientes ícono" descr="preencoded.png">    </p:cNvPr>
          <p:cNvPicPr>
            <a:picLocks noChangeAspect="1"/>
          </p:cNvPicPr>
          <p:nvPr/>
        </p:nvPicPr>
        <p:blipFill>
          <a:blip r:embed="rId2"/>
          <a:stretch>
            <a:fillRect/>
          </a:stretch>
        </p:blipFill>
        <p:spPr>
          <a:xfrm>
            <a:off x="9015984" y="2267712"/>
            <a:ext cx="256032" cy="256032"/>
          </a:xfrm>
          <a:prstGeom prst="rect">
            <a:avLst/>
          </a:prstGeom>
        </p:spPr>
      </p:pic>
      <p:sp>
        <p:nvSpPr>
          <p:cNvPr id="18" name="Text 14"/>
          <p:cNvSpPr txBox="1"/>
          <p:nvPr/>
        </p:nvSpPr>
        <p:spPr>
          <a:xfrm>
            <a:off x="9491472" y="2075688"/>
            <a:ext cx="2057400" cy="320040"/>
          </a:xfrm>
          <a:prstGeom prst="rect">
            <a:avLst/>
          </a:prstGeom>
          <a:noFill/>
          <a:ln/>
        </p:spPr>
        <p:txBody>
          <a:bodyPr wrap="square" lIns="0" tIns="0" rIns="0" bIns="0" rtlCol="0" anchor="ctr"/>
          <a:lstStyle/>
          <a:p>
            <a:pPr indent="0" marL="0">
              <a:buNone/>
            </a:pPr>
            <a:r>
              <a:rPr lang="en-US" sz="1400" b="1" dirty="0">
                <a:solidFill>
                  <a:schemeClr val="bg1"/>
                </a:solidFill>
              </a:rPr>
              <a:t>Compartir expedientes</a:t>
            </a:r>
            <a:endParaRPr lang="en-US" sz="1400" dirty="0"/>
          </a:p>
        </p:txBody>
      </p:sp>
      <p:sp>
        <p:nvSpPr>
          <p:cNvPr id="19" name="Text 15"/>
          <p:cNvSpPr txBox="1"/>
          <p:nvPr/>
        </p:nvSpPr>
        <p:spPr>
          <a:xfrm>
            <a:off x="9491472" y="2395728"/>
            <a:ext cx="2057400" cy="384048"/>
          </a:xfrm>
          <a:prstGeom prst="rect">
            <a:avLst/>
          </a:prstGeom>
          <a:noFill/>
          <a:ln/>
        </p:spPr>
        <p:txBody>
          <a:bodyPr wrap="square" lIns="0" tIns="0" rIns="0" bIns="0" rtlCol="0" anchor="t"/>
          <a:lstStyle/>
          <a:p>
            <a:pPr indent="0" marL="0">
              <a:buNone/>
            </a:pPr>
            <a:r>
              <a:rPr lang="en-US" sz="1100" dirty="0">
                <a:solidFill>
                  <a:schemeClr val="bg2"/>
                </a:solidFill>
              </a:rPr>
              <a:t>Riesgo legal y de privacidad</a:t>
            </a:r>
            <a:endParaRPr lang="en-US" sz="1100" dirty="0"/>
          </a:p>
        </p:txBody>
      </p:sp>
      <p:sp>
        <p:nvSpPr>
          <p:cNvPr id="20" name="flecha"/>
          <p:cNvSpPr/>
          <p:nvPr/>
        </p:nvSpPr>
        <p:spPr>
          <a:xfrm>
            <a:off x="8229600" y="3200400"/>
            <a:ext cx="502920" cy="1005840"/>
          </a:xfrm>
          <a:prstGeom prst="line">
            <a:avLst/>
          </a:prstGeom>
          <a:noFill/>
          <a:ln w="22225">
            <a:solidFill>
              <a:schemeClr val="accent4"/>
            </a:solidFill>
            <a:prstDash val="solid"/>
            <a:tailEnd type="triangle"/>
          </a:ln>
        </p:spPr>
      </p:sp>
      <p:sp>
        <p:nvSpPr>
          <p:cNvPr id="21" name="No compartir"/>
          <p:cNvSpPr/>
          <p:nvPr/>
        </p:nvSpPr>
        <p:spPr>
          <a:xfrm>
            <a:off x="8778240" y="3794760"/>
            <a:ext cx="2862072" cy="868680"/>
          </a:xfrm>
          <a:prstGeom prst="roundRect">
            <a:avLst>
              <a:gd name="adj" fmla="val 10526"/>
            </a:avLst>
          </a:prstGeom>
          <a:solidFill>
            <a:schemeClr val="accent4">
              <a:alpha val="15000"/>
            </a:schemeClr>
          </a:solidFill>
          <a:ln w="9525">
            <a:solidFill>
              <a:schemeClr val="accent4">
                <a:alpha val="70000"/>
              </a:schemeClr>
            </a:solidFill>
            <a:prstDash val="solid"/>
          </a:ln>
        </p:spPr>
      </p:sp>
      <p:sp>
        <p:nvSpPr>
          <p:cNvPr id="22" name="No compartir círculo"/>
          <p:cNvSpPr/>
          <p:nvPr/>
        </p:nvSpPr>
        <p:spPr>
          <a:xfrm>
            <a:off x="8915400" y="3995928"/>
            <a:ext cx="457200" cy="457200"/>
          </a:xfrm>
          <a:prstGeom prst="ellipse">
            <a:avLst/>
          </a:prstGeom>
          <a:solidFill>
            <a:schemeClr val="accent4"/>
          </a:solidFill>
          <a:ln/>
        </p:spPr>
      </p:sp>
      <p:pic>
        <p:nvPicPr>
          <p:cNvPr id="23" name="No compartir ícono" descr="preencoded.png">    </p:cNvPr>
          <p:cNvPicPr>
            <a:picLocks noChangeAspect="1"/>
          </p:cNvPicPr>
          <p:nvPr/>
        </p:nvPicPr>
        <p:blipFill>
          <a:blip r:embed="rId3"/>
          <a:stretch>
            <a:fillRect/>
          </a:stretch>
        </p:blipFill>
        <p:spPr>
          <a:xfrm>
            <a:off x="9015984" y="4096512"/>
            <a:ext cx="256032" cy="256032"/>
          </a:xfrm>
          <a:prstGeom prst="rect">
            <a:avLst/>
          </a:prstGeom>
        </p:spPr>
      </p:pic>
      <p:sp>
        <p:nvSpPr>
          <p:cNvPr id="24" name="Text 19"/>
          <p:cNvSpPr txBox="1"/>
          <p:nvPr/>
        </p:nvSpPr>
        <p:spPr>
          <a:xfrm>
            <a:off x="9491472" y="3904488"/>
            <a:ext cx="2057400" cy="320040"/>
          </a:xfrm>
          <a:prstGeom prst="rect">
            <a:avLst/>
          </a:prstGeom>
          <a:noFill/>
          <a:ln/>
        </p:spPr>
        <p:txBody>
          <a:bodyPr wrap="square" lIns="0" tIns="0" rIns="0" bIns="0" rtlCol="0" anchor="ctr"/>
          <a:lstStyle/>
          <a:p>
            <a:pPr indent="0" marL="0">
              <a:buNone/>
            </a:pPr>
            <a:r>
              <a:rPr lang="en-US" sz="1400" b="1" dirty="0">
                <a:solidFill>
                  <a:schemeClr val="bg1"/>
                </a:solidFill>
              </a:rPr>
              <a:t>No compartir</a:t>
            </a:r>
            <a:endParaRPr lang="en-US" sz="1400" dirty="0"/>
          </a:p>
        </p:txBody>
      </p:sp>
      <p:sp>
        <p:nvSpPr>
          <p:cNvPr id="25" name="Text 20"/>
          <p:cNvSpPr txBox="1"/>
          <p:nvPr/>
        </p:nvSpPr>
        <p:spPr>
          <a:xfrm>
            <a:off x="9491472" y="4224528"/>
            <a:ext cx="2057400" cy="384048"/>
          </a:xfrm>
          <a:prstGeom prst="rect">
            <a:avLst/>
          </a:prstGeom>
          <a:noFill/>
          <a:ln/>
        </p:spPr>
        <p:txBody>
          <a:bodyPr wrap="square" lIns="0" tIns="0" rIns="0" bIns="0" rtlCol="0" anchor="t"/>
          <a:lstStyle/>
          <a:p>
            <a:pPr indent="0" marL="0">
              <a:buNone/>
            </a:pPr>
            <a:r>
              <a:rPr lang="en-US" sz="1100" dirty="0">
                <a:solidFill>
                  <a:schemeClr val="bg2"/>
                </a:solidFill>
              </a:rPr>
              <a:t>Sin IA: el riesgo se detecta tarde</a:t>
            </a:r>
            <a:endParaRPr lang="en-US" sz="1100" dirty="0"/>
          </a:p>
        </p:txBody>
      </p:sp>
      <p:sp>
        <p:nvSpPr>
          <p:cNvPr id="26" name="Pregunta"/>
          <p:cNvSpPr/>
          <p:nvPr/>
        </p:nvSpPr>
        <p:spPr>
          <a:xfrm>
            <a:off x="548640" y="5468112"/>
            <a:ext cx="11091672" cy="548640"/>
          </a:xfrm>
          <a:prstGeom prst="roundRect">
            <a:avLst>
              <a:gd name="adj" fmla="val 16667"/>
            </a:avLst>
          </a:prstGeom>
          <a:solidFill>
            <a:schemeClr val="accent1">
              <a:alpha val="28000"/>
            </a:schemeClr>
          </a:solidFill>
          <a:ln/>
        </p:spPr>
      </p:sp>
      <p:sp>
        <p:nvSpPr>
          <p:cNvPr id="27" name="Text 22"/>
          <p:cNvSpPr txBox="1"/>
          <p:nvPr/>
        </p:nvSpPr>
        <p:spPr>
          <a:xfrm>
            <a:off x="731520" y="5468112"/>
            <a:ext cx="10725912" cy="548640"/>
          </a:xfrm>
          <a:prstGeom prst="rect">
            <a:avLst/>
          </a:prstGeom>
          <a:noFill/>
          <a:ln/>
        </p:spPr>
        <p:txBody>
          <a:bodyPr wrap="square" lIns="0" tIns="0" rIns="0" bIns="0" rtlCol="0" anchor="ctr"/>
          <a:lstStyle/>
          <a:p>
            <a:pPr algn="ctr" indent="0" marL="0">
              <a:buNone/>
            </a:pPr>
            <a:r>
              <a:rPr lang="en-US" sz="2000" b="1" i="1" dirty="0">
                <a:solidFill>
                  <a:schemeClr val="bg1"/>
                </a:solidFill>
              </a:rPr>
              <a:t>¿Y si la IA pudiera calcular el riesgo sin ver jamás los datos del paciente?</a:t>
            </a:r>
            <a:endParaRPr lang="en-US" sz="2000" dirty="0"/>
          </a:p>
        </p:txBody>
      </p:sp>
      <p:sp>
        <p:nvSpPr>
          <p:cNvPr id="28" name="Text 23"/>
          <p:cNvSpPr txBox="1"/>
          <p:nvPr/>
        </p:nvSpPr>
        <p:spPr>
          <a:xfrm>
            <a:off x="548640" y="6089904"/>
            <a:ext cx="11091672" cy="256032"/>
          </a:xfrm>
          <a:prstGeom prst="rect">
            <a:avLst/>
          </a:prstGeom>
          <a:noFill/>
          <a:ln/>
        </p:spPr>
        <p:txBody>
          <a:bodyPr wrap="square" lIns="0" tIns="0" rIns="0" bIns="0" rtlCol="0" anchor="t"/>
          <a:lstStyle/>
          <a:p>
            <a:pPr indent="0" marL="0">
              <a:buNone/>
            </a:pPr>
            <a:r>
              <a:rPr lang="en-US" sz="1000" dirty="0">
                <a:solidFill>
                  <a:schemeClr val="accent6"/>
                </a:solidFill>
              </a:rPr>
              <a:t>Fuentes: ENSANUT 2022 (Basto-Abreu et al., Salud Pública de México, 2023); defunciones registradas 2024 y egresos hospitalarios SSA 2024, microdatos DGIS/INEGI.</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02 · LA SOLUCIÓN</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El riesgo se calcula sobre datos cifrados</a:t>
            </a:r>
            <a:endParaRPr lang="en-US" sz="3000" dirty="0"/>
          </a:p>
        </p:txBody>
      </p:sp>
      <p:sp>
        <p:nvSpPr>
          <p:cNvPr id="4" name="1 · El hospital cifra"/>
          <p:cNvSpPr/>
          <p:nvPr/>
        </p:nvSpPr>
        <p:spPr>
          <a:xfrm>
            <a:off x="548640"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5" name="1 · El hospital cifra círculo"/>
          <p:cNvSpPr/>
          <p:nvPr/>
        </p:nvSpPr>
        <p:spPr>
          <a:xfrm>
            <a:off x="731520" y="2057400"/>
            <a:ext cx="502920" cy="502920"/>
          </a:xfrm>
          <a:prstGeom prst="ellipse">
            <a:avLst/>
          </a:prstGeom>
          <a:solidFill>
            <a:schemeClr val="accent1"/>
          </a:solidFill>
          <a:ln/>
        </p:spPr>
      </p:sp>
      <p:pic>
        <p:nvPicPr>
          <p:cNvPr id="6" name="1 · El hospital cifra ícono" descr="preencoded.png">    </p:cNvPr>
          <p:cNvPicPr>
            <a:picLocks noChangeAspect="1"/>
          </p:cNvPicPr>
          <p:nvPr/>
        </p:nvPicPr>
        <p:blipFill>
          <a:blip r:embed="rId1"/>
          <a:stretch>
            <a:fillRect/>
          </a:stretch>
        </p:blipFill>
        <p:spPr>
          <a:xfrm>
            <a:off x="842162" y="2168042"/>
            <a:ext cx="281635" cy="281635"/>
          </a:xfrm>
          <a:prstGeom prst="rect">
            <a:avLst/>
          </a:prstGeom>
        </p:spPr>
      </p:pic>
      <p:sp>
        <p:nvSpPr>
          <p:cNvPr id="7" name="Text 4"/>
          <p:cNvSpPr txBox="1"/>
          <p:nvPr/>
        </p:nvSpPr>
        <p:spPr>
          <a:xfrm>
            <a:off x="1325880"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1 · El hospital cifra</a:t>
            </a:r>
            <a:endParaRPr lang="en-US" sz="1500" dirty="0"/>
          </a:p>
        </p:txBody>
      </p:sp>
      <p:sp>
        <p:nvSpPr>
          <p:cNvPr id="8" name="Text 5"/>
          <p:cNvSpPr txBox="1"/>
          <p:nvPr/>
        </p:nvSpPr>
        <p:spPr>
          <a:xfrm>
            <a:off x="731520"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Los 21 indicadores se cifran; la llave nunca sale del hospital</a:t>
            </a:r>
            <a:endParaRPr lang="en-US" sz="1200" dirty="0"/>
          </a:p>
        </p:txBody>
      </p:sp>
      <p:sp>
        <p:nvSpPr>
          <p:cNvPr id="9" name="flecha"/>
          <p:cNvSpPr/>
          <p:nvPr/>
        </p:nvSpPr>
        <p:spPr>
          <a:xfrm>
            <a:off x="3026664" y="2674620"/>
            <a:ext cx="356616" cy="0"/>
          </a:xfrm>
          <a:prstGeom prst="line">
            <a:avLst/>
          </a:prstGeom>
          <a:noFill/>
          <a:ln w="22225">
            <a:solidFill>
              <a:schemeClr val="accent5"/>
            </a:solidFill>
            <a:prstDash val="solid"/>
            <a:tailEnd type="triangle"/>
          </a:ln>
        </p:spPr>
      </p:sp>
      <p:sp>
        <p:nvSpPr>
          <p:cNvPr id="10" name="2 · LinuxONE calcula"/>
          <p:cNvSpPr/>
          <p:nvPr/>
        </p:nvSpPr>
        <p:spPr>
          <a:xfrm>
            <a:off x="3438144"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11" name="2 · LinuxONE calcula círculo"/>
          <p:cNvSpPr/>
          <p:nvPr/>
        </p:nvSpPr>
        <p:spPr>
          <a:xfrm>
            <a:off x="3621024" y="2057400"/>
            <a:ext cx="502920" cy="502920"/>
          </a:xfrm>
          <a:prstGeom prst="ellipse">
            <a:avLst/>
          </a:prstGeom>
          <a:solidFill>
            <a:schemeClr val="accent1"/>
          </a:solidFill>
          <a:ln/>
        </p:spPr>
      </p:sp>
      <p:pic>
        <p:nvPicPr>
          <p:cNvPr id="12" name="2 · LinuxONE calcula ícono" descr="preencoded.png">    </p:cNvPr>
          <p:cNvPicPr>
            <a:picLocks noChangeAspect="1"/>
          </p:cNvPicPr>
          <p:nvPr/>
        </p:nvPicPr>
        <p:blipFill>
          <a:blip r:embed="rId2"/>
          <a:stretch>
            <a:fillRect/>
          </a:stretch>
        </p:blipFill>
        <p:spPr>
          <a:xfrm>
            <a:off x="3731666" y="2168042"/>
            <a:ext cx="281635" cy="281635"/>
          </a:xfrm>
          <a:prstGeom prst="rect">
            <a:avLst/>
          </a:prstGeom>
        </p:spPr>
      </p:pic>
      <p:sp>
        <p:nvSpPr>
          <p:cNvPr id="13" name="Text 9"/>
          <p:cNvSpPr txBox="1"/>
          <p:nvPr/>
        </p:nvSpPr>
        <p:spPr>
          <a:xfrm>
            <a:off x="4215384"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2 · LinuxONE calcula</a:t>
            </a:r>
            <a:endParaRPr lang="en-US" sz="1500" dirty="0"/>
          </a:p>
        </p:txBody>
      </p:sp>
      <p:sp>
        <p:nvSpPr>
          <p:cNvPr id="14" name="Text 10"/>
          <p:cNvSpPr txBox="1"/>
          <p:nvPr/>
        </p:nvSpPr>
        <p:spPr>
          <a:xfrm>
            <a:off x="3621024"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modelo opera sobre números cifrados, sin llave y sin ver al paciente</a:t>
            </a:r>
            <a:endParaRPr lang="en-US" sz="1200" dirty="0"/>
          </a:p>
        </p:txBody>
      </p:sp>
      <p:sp>
        <p:nvSpPr>
          <p:cNvPr id="15" name="flecha"/>
          <p:cNvSpPr/>
          <p:nvPr/>
        </p:nvSpPr>
        <p:spPr>
          <a:xfrm>
            <a:off x="5916168" y="2674620"/>
            <a:ext cx="356616" cy="0"/>
          </a:xfrm>
          <a:prstGeom prst="line">
            <a:avLst/>
          </a:prstGeom>
          <a:noFill/>
          <a:ln w="22225">
            <a:solidFill>
              <a:schemeClr val="accent5"/>
            </a:solidFill>
            <a:prstDash val="solid"/>
            <a:tailEnd type="triangle"/>
          </a:ln>
        </p:spPr>
      </p:sp>
      <p:sp>
        <p:nvSpPr>
          <p:cNvPr id="16" name="3 · Regresa cifrado"/>
          <p:cNvSpPr/>
          <p:nvPr/>
        </p:nvSpPr>
        <p:spPr>
          <a:xfrm>
            <a:off x="6327648"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17" name="3 · Regresa cifrado círculo"/>
          <p:cNvSpPr/>
          <p:nvPr/>
        </p:nvSpPr>
        <p:spPr>
          <a:xfrm>
            <a:off x="6510528" y="2057400"/>
            <a:ext cx="502920" cy="502920"/>
          </a:xfrm>
          <a:prstGeom prst="ellipse">
            <a:avLst/>
          </a:prstGeom>
          <a:solidFill>
            <a:schemeClr val="accent1"/>
          </a:solidFill>
          <a:ln/>
        </p:spPr>
      </p:sp>
      <p:pic>
        <p:nvPicPr>
          <p:cNvPr id="18" name="3 · Regresa cifrado ícono" descr="preencoded.png">    </p:cNvPr>
          <p:cNvPicPr>
            <a:picLocks noChangeAspect="1"/>
          </p:cNvPicPr>
          <p:nvPr/>
        </p:nvPicPr>
        <p:blipFill>
          <a:blip r:embed="rId3"/>
          <a:stretch>
            <a:fillRect/>
          </a:stretch>
        </p:blipFill>
        <p:spPr>
          <a:xfrm>
            <a:off x="6621170" y="2168042"/>
            <a:ext cx="281635" cy="281635"/>
          </a:xfrm>
          <a:prstGeom prst="rect">
            <a:avLst/>
          </a:prstGeom>
        </p:spPr>
      </p:pic>
      <p:sp>
        <p:nvSpPr>
          <p:cNvPr id="19" name="Text 14"/>
          <p:cNvSpPr txBox="1"/>
          <p:nvPr/>
        </p:nvSpPr>
        <p:spPr>
          <a:xfrm>
            <a:off x="7104888"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3 · Regresa cifrado</a:t>
            </a:r>
            <a:endParaRPr lang="en-US" sz="1500" dirty="0"/>
          </a:p>
        </p:txBody>
      </p:sp>
      <p:sp>
        <p:nvSpPr>
          <p:cNvPr id="20" name="Text 15"/>
          <p:cNvSpPr txBox="1"/>
          <p:nvPr/>
        </p:nvSpPr>
        <p:spPr>
          <a:xfrm>
            <a:off x="6510528"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resultado viaja cifrado: solo el hospital puede abrirlo</a:t>
            </a:r>
            <a:endParaRPr lang="en-US" sz="1200" dirty="0"/>
          </a:p>
        </p:txBody>
      </p:sp>
      <p:sp>
        <p:nvSpPr>
          <p:cNvPr id="21" name="flecha"/>
          <p:cNvSpPr/>
          <p:nvPr/>
        </p:nvSpPr>
        <p:spPr>
          <a:xfrm>
            <a:off x="8805672" y="2674620"/>
            <a:ext cx="356616" cy="0"/>
          </a:xfrm>
          <a:prstGeom prst="line">
            <a:avLst/>
          </a:prstGeom>
          <a:noFill/>
          <a:ln w="22225">
            <a:solidFill>
              <a:schemeClr val="accent5"/>
            </a:solidFill>
            <a:prstDash val="solid"/>
            <a:tailEnd type="triangle"/>
          </a:ln>
        </p:spPr>
      </p:sp>
      <p:sp>
        <p:nvSpPr>
          <p:cNvPr id="22" name="4 · Descifra y explica"/>
          <p:cNvSpPr/>
          <p:nvPr/>
        </p:nvSpPr>
        <p:spPr>
          <a:xfrm>
            <a:off x="9217152" y="1874520"/>
            <a:ext cx="2423160" cy="1600200"/>
          </a:xfrm>
          <a:prstGeom prst="roundRect">
            <a:avLst>
              <a:gd name="adj" fmla="val 5714"/>
            </a:avLst>
          </a:prstGeom>
          <a:solidFill>
            <a:schemeClr val="tx2"/>
          </a:solidFill>
          <a:ln w="9525">
            <a:solidFill>
              <a:schemeClr val="accent2">
                <a:alpha val="75000"/>
              </a:schemeClr>
            </a:solidFill>
            <a:prstDash val="solid"/>
          </a:ln>
        </p:spPr>
      </p:sp>
      <p:sp>
        <p:nvSpPr>
          <p:cNvPr id="23" name="4 · Descifra y explica círculo"/>
          <p:cNvSpPr/>
          <p:nvPr/>
        </p:nvSpPr>
        <p:spPr>
          <a:xfrm>
            <a:off x="9400032" y="2057400"/>
            <a:ext cx="502920" cy="502920"/>
          </a:xfrm>
          <a:prstGeom prst="ellipse">
            <a:avLst/>
          </a:prstGeom>
          <a:solidFill>
            <a:schemeClr val="accent2"/>
          </a:solidFill>
          <a:ln/>
        </p:spPr>
      </p:sp>
      <p:pic>
        <p:nvPicPr>
          <p:cNvPr id="24" name="4 · Descifra y explica ícono" descr="preencoded.png">    </p:cNvPr>
          <p:cNvPicPr>
            <a:picLocks noChangeAspect="1"/>
          </p:cNvPicPr>
          <p:nvPr/>
        </p:nvPicPr>
        <p:blipFill>
          <a:blip r:embed="rId4"/>
          <a:stretch>
            <a:fillRect/>
          </a:stretch>
        </p:blipFill>
        <p:spPr>
          <a:xfrm>
            <a:off x="9510674" y="2168042"/>
            <a:ext cx="281635" cy="281635"/>
          </a:xfrm>
          <a:prstGeom prst="rect">
            <a:avLst/>
          </a:prstGeom>
        </p:spPr>
      </p:pic>
      <p:sp>
        <p:nvSpPr>
          <p:cNvPr id="25" name="Text 19"/>
          <p:cNvSpPr txBox="1"/>
          <p:nvPr/>
        </p:nvSpPr>
        <p:spPr>
          <a:xfrm>
            <a:off x="9994392"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4 · Descifra y explica</a:t>
            </a:r>
            <a:endParaRPr lang="en-US" sz="1500" dirty="0"/>
          </a:p>
        </p:txBody>
      </p:sp>
      <p:sp>
        <p:nvSpPr>
          <p:cNvPr id="26" name="Text 20"/>
          <p:cNvSpPr txBox="1"/>
          <p:nvPr/>
        </p:nvSpPr>
        <p:spPr>
          <a:xfrm>
            <a:off x="9400032"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hospital ve el riesgo y Granite lo explica en lenguaje claro</a:t>
            </a:r>
            <a:endParaRPr lang="en-US" sz="1200" dirty="0"/>
          </a:p>
        </p:txBody>
      </p:sp>
      <p:sp>
        <p:nvSpPr>
          <p:cNvPr id="27" name="Solo cifrados"/>
          <p:cNvSpPr/>
          <p:nvPr/>
        </p:nvSpPr>
        <p:spPr>
          <a:xfrm>
            <a:off x="548640"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28" name="Solo cifrados círculo"/>
          <p:cNvSpPr/>
          <p:nvPr/>
        </p:nvSpPr>
        <p:spPr>
          <a:xfrm>
            <a:off x="731520" y="4023360"/>
            <a:ext cx="548640" cy="548640"/>
          </a:xfrm>
          <a:prstGeom prst="ellipse">
            <a:avLst/>
          </a:prstGeom>
          <a:solidFill>
            <a:schemeClr val="accent2"/>
          </a:solidFill>
          <a:ln/>
        </p:spPr>
      </p:sp>
      <p:pic>
        <p:nvPicPr>
          <p:cNvPr id="29" name="Solo cifrados ícono" descr="preencoded.png">    </p:cNvPr>
          <p:cNvPicPr>
            <a:picLocks noChangeAspect="1"/>
          </p:cNvPicPr>
          <p:nvPr/>
        </p:nvPicPr>
        <p:blipFill>
          <a:blip r:embed="rId5"/>
          <a:stretch>
            <a:fillRect/>
          </a:stretch>
        </p:blipFill>
        <p:spPr>
          <a:xfrm>
            <a:off x="852221" y="4144061"/>
            <a:ext cx="307238" cy="307238"/>
          </a:xfrm>
          <a:prstGeom prst="rect">
            <a:avLst/>
          </a:prstGeom>
        </p:spPr>
      </p:pic>
      <p:sp>
        <p:nvSpPr>
          <p:cNvPr id="30" name="Text 23"/>
          <p:cNvSpPr txBox="1"/>
          <p:nvPr/>
        </p:nvSpPr>
        <p:spPr>
          <a:xfrm>
            <a:off x="1463040"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Solo cifrados</a:t>
            </a:r>
            <a:endParaRPr lang="en-US" sz="1500" dirty="0"/>
          </a:p>
        </p:txBody>
      </p:sp>
      <p:sp>
        <p:nvSpPr>
          <p:cNvPr id="31" name="Text 24"/>
          <p:cNvSpPr txBox="1"/>
          <p:nvPr/>
        </p:nvSpPr>
        <p:spPr>
          <a:xfrm>
            <a:off x="1463040"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El servicio de riesgo nunca ve edad, IMC, presión ni ningún otro dato en claro</a:t>
            </a:r>
            <a:endParaRPr lang="en-US" sz="1200" dirty="0"/>
          </a:p>
        </p:txBody>
      </p:sp>
      <p:sp>
        <p:nvSpPr>
          <p:cNvPr id="32" name="Misma precisión"/>
          <p:cNvSpPr/>
          <p:nvPr/>
        </p:nvSpPr>
        <p:spPr>
          <a:xfrm>
            <a:off x="4334256"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33" name="Misma precisión círculo"/>
          <p:cNvSpPr/>
          <p:nvPr/>
        </p:nvSpPr>
        <p:spPr>
          <a:xfrm>
            <a:off x="4517136" y="4023360"/>
            <a:ext cx="548640" cy="548640"/>
          </a:xfrm>
          <a:prstGeom prst="ellipse">
            <a:avLst/>
          </a:prstGeom>
          <a:solidFill>
            <a:schemeClr val="accent2"/>
          </a:solidFill>
          <a:ln/>
        </p:spPr>
      </p:sp>
      <p:pic>
        <p:nvPicPr>
          <p:cNvPr id="34" name="Misma precisión ícono" descr="preencoded.png">    </p:cNvPr>
          <p:cNvPicPr>
            <a:picLocks noChangeAspect="1"/>
          </p:cNvPicPr>
          <p:nvPr/>
        </p:nvPicPr>
        <p:blipFill>
          <a:blip r:embed="rId6"/>
          <a:stretch>
            <a:fillRect/>
          </a:stretch>
        </p:blipFill>
        <p:spPr>
          <a:xfrm>
            <a:off x="4637837" y="4144061"/>
            <a:ext cx="307238" cy="307238"/>
          </a:xfrm>
          <a:prstGeom prst="rect">
            <a:avLst/>
          </a:prstGeom>
        </p:spPr>
      </p:pic>
      <p:sp>
        <p:nvSpPr>
          <p:cNvPr id="35" name="Text 27"/>
          <p:cNvSpPr txBox="1"/>
          <p:nvPr/>
        </p:nvSpPr>
        <p:spPr>
          <a:xfrm>
            <a:off x="5248656"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Misma precisión</a:t>
            </a:r>
            <a:endParaRPr lang="en-US" sz="1500" dirty="0"/>
          </a:p>
        </p:txBody>
      </p:sp>
      <p:sp>
        <p:nvSpPr>
          <p:cNvPr id="36" name="Text 28"/>
          <p:cNvSpPr txBox="1"/>
          <p:nvPr/>
        </p:nvSpPr>
        <p:spPr>
          <a:xfrm>
            <a:off x="5248656"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Meta: AUC cifrado = AUC en claro, medido en la demo</a:t>
            </a:r>
            <a:endParaRPr lang="en-US" sz="1200" dirty="0"/>
          </a:p>
        </p:txBody>
      </p:sp>
      <p:sp>
        <p:nvSpPr>
          <p:cNvPr id="37" name="Tamizaje, no diagnóstico"/>
          <p:cNvSpPr/>
          <p:nvPr/>
        </p:nvSpPr>
        <p:spPr>
          <a:xfrm>
            <a:off x="8119872"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38" name="Tamizaje, no diagnóstico círculo"/>
          <p:cNvSpPr/>
          <p:nvPr/>
        </p:nvSpPr>
        <p:spPr>
          <a:xfrm>
            <a:off x="8302752" y="4023360"/>
            <a:ext cx="548640" cy="548640"/>
          </a:xfrm>
          <a:prstGeom prst="ellipse">
            <a:avLst/>
          </a:prstGeom>
          <a:solidFill>
            <a:schemeClr val="accent2"/>
          </a:solidFill>
          <a:ln/>
        </p:spPr>
      </p:sp>
      <p:pic>
        <p:nvPicPr>
          <p:cNvPr id="39" name="Tamizaje, no diagnóstico ícono" descr="preencoded.png">    </p:cNvPr>
          <p:cNvPicPr>
            <a:picLocks noChangeAspect="1"/>
          </p:cNvPicPr>
          <p:nvPr/>
        </p:nvPicPr>
        <p:blipFill>
          <a:blip r:embed="rId7"/>
          <a:stretch>
            <a:fillRect/>
          </a:stretch>
        </p:blipFill>
        <p:spPr>
          <a:xfrm>
            <a:off x="8423453" y="4144061"/>
            <a:ext cx="307238" cy="307238"/>
          </a:xfrm>
          <a:prstGeom prst="rect">
            <a:avLst/>
          </a:prstGeom>
        </p:spPr>
      </p:pic>
      <p:sp>
        <p:nvSpPr>
          <p:cNvPr id="40" name="Text 31"/>
          <p:cNvSpPr txBox="1"/>
          <p:nvPr/>
        </p:nvSpPr>
        <p:spPr>
          <a:xfrm>
            <a:off x="9034272"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Tamizaje, no diagnóstico</a:t>
            </a:r>
            <a:endParaRPr lang="en-US" sz="1500" dirty="0"/>
          </a:p>
        </p:txBody>
      </p:sp>
      <p:sp>
        <p:nvSpPr>
          <p:cNvPr id="41" name="Text 32"/>
          <p:cNvSpPr txBox="1"/>
          <p:nvPr/>
        </p:nvSpPr>
        <p:spPr>
          <a:xfrm>
            <a:off x="9034272"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Prioriza a quién hacerle una prueba de glucosa</a:t>
            </a:r>
            <a:endParaRPr lang="en-US" sz="1200" dirty="0"/>
          </a:p>
        </p:txBody>
      </p:sp>
      <p:sp>
        <p:nvSpPr>
          <p:cNvPr id="42" name="Text 33"/>
          <p:cNvSpPr txBox="1"/>
          <p:nvPr/>
        </p:nvSpPr>
        <p:spPr>
          <a:xfrm>
            <a:off x="548640" y="5120640"/>
            <a:ext cx="11091672" cy="502920"/>
          </a:xfrm>
          <a:prstGeom prst="rect">
            <a:avLst/>
          </a:prstGeom>
          <a:noFill/>
          <a:ln/>
        </p:spPr>
        <p:txBody>
          <a:bodyPr wrap="square" lIns="0" tIns="0" rIns="0" bIns="0" rtlCol="0" anchor="ctr"/>
          <a:lstStyle/>
          <a:p>
            <a:pPr indent="0" marL="0">
              <a:buNone/>
            </a:pPr>
            <a:r>
              <a:rPr lang="en-US" sz="2600" b="1" dirty="0">
                <a:solidFill>
                  <a:schemeClr val="bg1"/>
                </a:solidFill>
              </a:rPr>
              <a:t>La IA ve el riesgo. </a:t>
            </a:r>
            <a:pPr indent="0" marL="0">
              <a:buNone/>
            </a:pPr>
            <a:r>
              <a:rPr lang="en-US" sz="2600" b="1" dirty="0">
                <a:solidFill>
                  <a:schemeClr val="accent5"/>
                </a:solidFill>
              </a:rPr>
              <a:t>Nadie ve al paciente.</a:t>
            </a:r>
            <a:endParaRPr lang="en-US" sz="2600" dirty="0"/>
          </a:p>
        </p:txBody>
      </p:sp>
      <p:sp>
        <p:nvSpPr>
          <p:cNvPr id="43" name="Text 34"/>
          <p:cNvSpPr txBox="1"/>
          <p:nvPr/>
        </p:nvSpPr>
        <p:spPr>
          <a:xfrm>
            <a:off x="548640" y="5641848"/>
            <a:ext cx="11091672" cy="411480"/>
          </a:xfrm>
          <a:prstGeom prst="rect">
            <a:avLst/>
          </a:prstGeom>
          <a:noFill/>
          <a:ln/>
        </p:spPr>
        <p:txBody>
          <a:bodyPr wrap="square" lIns="0" tIns="0" rIns="0" bIns="0" rtlCol="0" anchor="t"/>
          <a:lstStyle/>
          <a:p>
            <a:pPr indent="0" marL="0">
              <a:buNone/>
            </a:pPr>
            <a:r>
              <a:rPr lang="en-US" sz="1100" dirty="0">
                <a:solidFill>
                  <a:schemeClr val="bg2"/>
                </a:solidFill>
              </a:rPr>
              <a:t>Alcance: el servicio de riesgo solo recibe cifrados. En la demo, hospital y servicio comparten una VM de LinuxONE: quien la administra queda dentro del entorno de confianza, y usamos solo pacientes sintéticos.</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03 · CIFRADO HOMOMÓRFICO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Cómo se calcula un riesgo sin descifrar nada</a:t>
            </a:r>
            <a:endParaRPr lang="en-US" sz="3000" dirty="0"/>
          </a:p>
        </p:txBody>
      </p:sp>
      <p:sp>
        <p:nvSpPr>
          <p:cNvPr id="4" name="Matemática"/>
          <p:cNvSpPr/>
          <p:nvPr/>
        </p:nvSpPr>
        <p:spPr>
          <a:xfrm>
            <a:off x="548640" y="1783080"/>
            <a:ext cx="5989320" cy="2194560"/>
          </a:xfrm>
          <a:prstGeom prst="roundRect">
            <a:avLst>
              <a:gd name="adj" fmla="val 4167"/>
            </a:avLst>
          </a:prstGeom>
          <a:solidFill>
            <a:schemeClr val="tx2"/>
          </a:solidFill>
          <a:ln w="9525">
            <a:solidFill>
              <a:schemeClr val="accent5">
                <a:alpha val="70000"/>
              </a:schemeClr>
            </a:solidFill>
            <a:prstDash val="solid"/>
          </a:ln>
        </p:spPr>
      </p:sp>
      <p:sp>
        <p:nvSpPr>
          <p:cNvPr id="5" name="Text 3"/>
          <p:cNvSpPr txBox="1"/>
          <p:nvPr/>
        </p:nvSpPr>
        <p:spPr>
          <a:xfrm>
            <a:off x="777240" y="1920240"/>
            <a:ext cx="5577840"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LA PROPIEDAD QUE LO HACE POSIBLE (PAILLIER)</a:t>
            </a:r>
            <a:endParaRPr lang="en-US" sz="1100" dirty="0"/>
          </a:p>
        </p:txBody>
      </p:sp>
      <p:sp>
        <p:nvSpPr>
          <p:cNvPr id="6" name="Text 4"/>
          <p:cNvSpPr txBox="1"/>
          <p:nvPr/>
        </p:nvSpPr>
        <p:spPr>
          <a:xfrm>
            <a:off x="777240" y="2286000"/>
            <a:ext cx="5577840" cy="36576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Enc(a) · Enc(b)  =  Enc(a + b)</a:t>
            </a:r>
            <a:endParaRPr lang="en-US" sz="1700" dirty="0"/>
          </a:p>
        </p:txBody>
      </p:sp>
      <p:sp>
        <p:nvSpPr>
          <p:cNvPr id="7" name="Text 5"/>
          <p:cNvSpPr txBox="1"/>
          <p:nvPr/>
        </p:nvSpPr>
        <p:spPr>
          <a:xfrm>
            <a:off x="777240" y="2670048"/>
            <a:ext cx="5577840" cy="36576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Enc(a) ^ k       =  Enc(k · a)</a:t>
            </a:r>
            <a:endParaRPr lang="en-US" sz="1700" dirty="0"/>
          </a:p>
        </p:txBody>
      </p:sp>
      <p:sp>
        <p:nvSpPr>
          <p:cNvPr id="8" name="Text 6"/>
          <p:cNvSpPr txBox="1"/>
          <p:nvPr/>
        </p:nvSpPr>
        <p:spPr>
          <a:xfrm>
            <a:off x="777240" y="3054096"/>
            <a:ext cx="5577840" cy="365760"/>
          </a:xfrm>
          <a:prstGeom prst="rect">
            <a:avLst/>
          </a:prstGeom>
          <a:noFill/>
          <a:ln/>
        </p:spPr>
        <p:txBody>
          <a:bodyPr wrap="square" lIns="0" tIns="0" rIns="0" bIns="0" rtlCol="0" anchor="t"/>
          <a:lstStyle/>
          <a:p>
            <a:pPr indent="0" marL="0">
              <a:buNone/>
            </a:pPr>
            <a:r>
              <a:rPr lang="en-US" sz="1700" b="1" dirty="0">
                <a:solidFill>
                  <a:schemeClr val="accent2"/>
                </a:solidFill>
                <a:latin typeface="Courier New" pitchFamily="34" charset="0"/>
                <a:ea typeface="Courier New" pitchFamily="34" charset="-122"/>
                <a:cs typeface="Courier New" pitchFamily="34" charset="-120"/>
              </a:rPr>
              <a:t>∏ Enc(xᵢ) ^ wᵢ   =  Enc(w · x)</a:t>
            </a:r>
            <a:endParaRPr lang="en-US" sz="1700" dirty="0"/>
          </a:p>
        </p:txBody>
      </p:sp>
      <p:sp>
        <p:nvSpPr>
          <p:cNvPr id="9" name="Text 7"/>
          <p:cNvSpPr txBox="1"/>
          <p:nvPr/>
        </p:nvSpPr>
        <p:spPr>
          <a:xfrm>
            <a:off x="777240" y="3456432"/>
            <a:ext cx="5577840" cy="457200"/>
          </a:xfrm>
          <a:prstGeom prst="rect">
            <a:avLst/>
          </a:prstGeom>
          <a:noFill/>
          <a:ln/>
        </p:spPr>
        <p:txBody>
          <a:bodyPr wrap="square" lIns="0" tIns="0" rIns="0" bIns="0" rtlCol="0" anchor="t"/>
          <a:lstStyle/>
          <a:p>
            <a:pPr indent="0" marL="0">
              <a:buNone/>
            </a:pPr>
            <a:r>
              <a:rPr lang="en-US" sz="1100" dirty="0">
                <a:solidFill>
                  <a:schemeClr val="bg2"/>
                </a:solidFill>
              </a:rPr>
              <a:t>El servidor combina los datos cifrados con los pesos del modelo y obtiene el puntaje cifrado. El hospital lo descifra y aplica la sigmoide.</a:t>
            </a:r>
            <a:endParaRPr lang="en-US" sz="1100" dirty="0"/>
          </a:p>
        </p:txBody>
      </p:sp>
      <p:sp>
        <p:nvSpPr>
          <p:cNvPr id="10" name="En tránsito"/>
          <p:cNvSpPr/>
          <p:nvPr/>
        </p:nvSpPr>
        <p:spPr>
          <a:xfrm>
            <a:off x="6812280" y="1783080"/>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11" name="En tránsito círculo"/>
          <p:cNvSpPr/>
          <p:nvPr/>
        </p:nvSpPr>
        <p:spPr>
          <a:xfrm>
            <a:off x="6949440" y="1901952"/>
            <a:ext cx="420624" cy="420624"/>
          </a:xfrm>
          <a:prstGeom prst="ellipse">
            <a:avLst/>
          </a:prstGeom>
          <a:solidFill>
            <a:schemeClr val="accent1"/>
          </a:solidFill>
          <a:ln/>
        </p:spPr>
      </p:sp>
      <p:pic>
        <p:nvPicPr>
          <p:cNvPr id="12" name="En tránsito ícono" descr="preencoded.png">    </p:cNvPr>
          <p:cNvPicPr>
            <a:picLocks noChangeAspect="1"/>
          </p:cNvPicPr>
          <p:nvPr/>
        </p:nvPicPr>
        <p:blipFill>
          <a:blip r:embed="rId1"/>
          <a:stretch>
            <a:fillRect/>
          </a:stretch>
        </p:blipFill>
        <p:spPr>
          <a:xfrm>
            <a:off x="7041977" y="1994489"/>
            <a:ext cx="235549" cy="235549"/>
          </a:xfrm>
          <a:prstGeom prst="rect">
            <a:avLst/>
          </a:prstGeom>
        </p:spPr>
      </p:pic>
      <p:sp>
        <p:nvSpPr>
          <p:cNvPr id="13" name="Text 10"/>
          <p:cNvSpPr txBox="1"/>
          <p:nvPr/>
        </p:nvSpPr>
        <p:spPr>
          <a:xfrm>
            <a:off x="7498080" y="1837944"/>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tránsito</a:t>
            </a:r>
            <a:endParaRPr lang="en-US" sz="1400" dirty="0"/>
          </a:p>
        </p:txBody>
      </p:sp>
      <p:sp>
        <p:nvSpPr>
          <p:cNvPr id="14" name="Text 11"/>
          <p:cNvSpPr txBox="1"/>
          <p:nvPr/>
        </p:nvSpPr>
        <p:spPr>
          <a:xfrm>
            <a:off x="8732520" y="1837944"/>
            <a:ext cx="2788920" cy="548640"/>
          </a:xfrm>
          <a:prstGeom prst="rect">
            <a:avLst/>
          </a:prstGeom>
          <a:noFill/>
          <a:ln/>
        </p:spPr>
        <p:txBody>
          <a:bodyPr wrap="square" lIns="0" tIns="0" rIns="0" bIns="0" rtlCol="0" anchor="ctr"/>
          <a:lstStyle/>
          <a:p>
            <a:pPr indent="0" marL="0">
              <a:buNone/>
            </a:pPr>
            <a:r>
              <a:rPr lang="en-US" sz="1200" dirty="0">
                <a:solidFill>
                  <a:schemeClr val="bg2"/>
                </a:solidFill>
              </a:rPr>
              <a:t>TLS 1.3 entre el hospital y LinuxONE</a:t>
            </a:r>
            <a:endParaRPr lang="en-US" sz="1200" dirty="0"/>
          </a:p>
        </p:txBody>
      </p:sp>
      <p:sp>
        <p:nvSpPr>
          <p:cNvPr id="15" name="En reposo"/>
          <p:cNvSpPr/>
          <p:nvPr/>
        </p:nvSpPr>
        <p:spPr>
          <a:xfrm>
            <a:off x="6812280" y="2532888"/>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16" name="En reposo círculo"/>
          <p:cNvSpPr/>
          <p:nvPr/>
        </p:nvSpPr>
        <p:spPr>
          <a:xfrm>
            <a:off x="6949440" y="2651760"/>
            <a:ext cx="420624" cy="420624"/>
          </a:xfrm>
          <a:prstGeom prst="ellipse">
            <a:avLst/>
          </a:prstGeom>
          <a:solidFill>
            <a:schemeClr val="accent1"/>
          </a:solidFill>
          <a:ln/>
        </p:spPr>
      </p:sp>
      <p:pic>
        <p:nvPicPr>
          <p:cNvPr id="17" name="En reposo ícono" descr="preencoded.png">    </p:cNvPr>
          <p:cNvPicPr>
            <a:picLocks noChangeAspect="1"/>
          </p:cNvPicPr>
          <p:nvPr/>
        </p:nvPicPr>
        <p:blipFill>
          <a:blip r:embed="rId2"/>
          <a:stretch>
            <a:fillRect/>
          </a:stretch>
        </p:blipFill>
        <p:spPr>
          <a:xfrm>
            <a:off x="7041977" y="2744297"/>
            <a:ext cx="235549" cy="235549"/>
          </a:xfrm>
          <a:prstGeom prst="rect">
            <a:avLst/>
          </a:prstGeom>
        </p:spPr>
      </p:pic>
      <p:sp>
        <p:nvSpPr>
          <p:cNvPr id="18" name="Text 14"/>
          <p:cNvSpPr txBox="1"/>
          <p:nvPr/>
        </p:nvSpPr>
        <p:spPr>
          <a:xfrm>
            <a:off x="7498080" y="2587752"/>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reposo</a:t>
            </a:r>
            <a:endParaRPr lang="en-US" sz="1400" dirty="0"/>
          </a:p>
        </p:txBody>
      </p:sp>
      <p:sp>
        <p:nvSpPr>
          <p:cNvPr id="19" name="Text 15"/>
          <p:cNvSpPr txBox="1"/>
          <p:nvPr/>
        </p:nvSpPr>
        <p:spPr>
          <a:xfrm>
            <a:off x="8732520" y="2587752"/>
            <a:ext cx="2788920" cy="548640"/>
          </a:xfrm>
          <a:prstGeom prst="rect">
            <a:avLst/>
          </a:prstGeom>
          <a:noFill/>
          <a:ln/>
        </p:spPr>
        <p:txBody>
          <a:bodyPr wrap="square" lIns="0" tIns="0" rIns="0" bIns="0" rtlCol="0" anchor="ctr"/>
          <a:lstStyle/>
          <a:p>
            <a:pPr indent="0" marL="0">
              <a:buNone/>
            </a:pPr>
            <a:r>
              <a:rPr lang="en-US" sz="1200" dirty="0">
                <a:solidFill>
                  <a:schemeClr val="bg2"/>
                </a:solidFill>
              </a:rPr>
              <a:t>AES-256-GCM acelerado por hardware (CPACF de IBM Z)</a:t>
            </a:r>
            <a:endParaRPr lang="en-US" sz="1200" dirty="0"/>
          </a:p>
        </p:txBody>
      </p:sp>
      <p:sp>
        <p:nvSpPr>
          <p:cNvPr id="20" name="En uso"/>
          <p:cNvSpPr/>
          <p:nvPr/>
        </p:nvSpPr>
        <p:spPr>
          <a:xfrm>
            <a:off x="6812280" y="3282696"/>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21" name="En uso círculo"/>
          <p:cNvSpPr/>
          <p:nvPr/>
        </p:nvSpPr>
        <p:spPr>
          <a:xfrm>
            <a:off x="6949440" y="3401568"/>
            <a:ext cx="420624" cy="420624"/>
          </a:xfrm>
          <a:prstGeom prst="ellipse">
            <a:avLst/>
          </a:prstGeom>
          <a:solidFill>
            <a:schemeClr val="accent1"/>
          </a:solidFill>
          <a:ln/>
        </p:spPr>
      </p:sp>
      <p:pic>
        <p:nvPicPr>
          <p:cNvPr id="22" name="En uso ícono" descr="preencoded.png">    </p:cNvPr>
          <p:cNvPicPr>
            <a:picLocks noChangeAspect="1"/>
          </p:cNvPicPr>
          <p:nvPr/>
        </p:nvPicPr>
        <p:blipFill>
          <a:blip r:embed="rId3"/>
          <a:stretch>
            <a:fillRect/>
          </a:stretch>
        </p:blipFill>
        <p:spPr>
          <a:xfrm>
            <a:off x="7041977" y="3494105"/>
            <a:ext cx="235549" cy="235549"/>
          </a:xfrm>
          <a:prstGeom prst="rect">
            <a:avLst/>
          </a:prstGeom>
        </p:spPr>
      </p:pic>
      <p:sp>
        <p:nvSpPr>
          <p:cNvPr id="23" name="Text 18"/>
          <p:cNvSpPr txBox="1"/>
          <p:nvPr/>
        </p:nvSpPr>
        <p:spPr>
          <a:xfrm>
            <a:off x="7498080" y="3337560"/>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uso</a:t>
            </a:r>
            <a:endParaRPr lang="en-US" sz="1400" dirty="0"/>
          </a:p>
        </p:txBody>
      </p:sp>
      <p:sp>
        <p:nvSpPr>
          <p:cNvPr id="24" name="Text 19"/>
          <p:cNvSpPr txBox="1"/>
          <p:nvPr/>
        </p:nvSpPr>
        <p:spPr>
          <a:xfrm>
            <a:off x="8732520" y="3337560"/>
            <a:ext cx="2788920" cy="548640"/>
          </a:xfrm>
          <a:prstGeom prst="rect">
            <a:avLst/>
          </a:prstGeom>
          <a:noFill/>
          <a:ln/>
        </p:spPr>
        <p:txBody>
          <a:bodyPr wrap="square" lIns="0" tIns="0" rIns="0" bIns="0" rtlCol="0" anchor="ctr"/>
          <a:lstStyle/>
          <a:p>
            <a:pPr indent="0" marL="0">
              <a:buNone/>
            </a:pPr>
            <a:r>
              <a:rPr lang="en-US" sz="1200" dirty="0">
                <a:solidFill>
                  <a:schemeClr val="bg2"/>
                </a:solidFill>
              </a:rPr>
              <a:t>Paillier de 2048 bits: se calcula sin descifrar</a:t>
            </a:r>
            <a:endParaRPr lang="en-US" sz="1200" dirty="0"/>
          </a:p>
        </p:txBody>
      </p:sp>
      <p:sp>
        <p:nvSpPr>
          <p:cNvPr id="25" name="Text 20"/>
          <p:cNvSpPr txBox="1"/>
          <p:nvPr/>
        </p:nvSpPr>
        <p:spPr>
          <a:xfrm>
            <a:off x="548640" y="4114800"/>
            <a:ext cx="5486400" cy="329184"/>
          </a:xfrm>
          <a:prstGeom prst="rect">
            <a:avLst/>
          </a:prstGeom>
          <a:noFill/>
          <a:ln/>
        </p:spPr>
        <p:txBody>
          <a:bodyPr wrap="square" lIns="0" tIns="0" rIns="0" bIns="0" rtlCol="0" anchor="ctr"/>
          <a:lstStyle/>
          <a:p>
            <a:pPr indent="0" marL="0">
              <a:buNone/>
            </a:pPr>
            <a:r>
              <a:rPr lang="en-US" sz="1600" b="1" dirty="0">
                <a:solidFill>
                  <a:schemeClr val="bg1"/>
                </a:solidFill>
              </a:rPr>
              <a:t>¿Quién ve qué?</a:t>
            </a:r>
            <a:endParaRPr lang="en-US" sz="1600" dirty="0"/>
          </a:p>
        </p:txBody>
      </p:sp>
      <p:graphicFrame>
        <p:nvGraphicFramePr>
          <p:cNvPr id="5" name="Quién ve qué"/>
          <p:cNvGraphicFramePr>
            <a:graphicFrameLocks noGrp="1"/>
          </p:cNvGraphicFramePr>
          <p:nvPr>
            <p:extLst>
              <p:ext uri="{D42A27DB-BD31-4B8C-83A1-F6EECF244321}">
                <p14:modId xmlns:p14="http://schemas.microsoft.com/office/powerpoint/2010/main" val="1579011935"/>
              </p:ext>
            </p:extLst>
          </p:nvPr>
        </p:nvGraphicFramePr>
        <p:xfrm>
          <a:off x="548640" y="4480560"/>
          <a:ext cx="11091672" cy="914400"/>
        </p:xfrm>
        <a:graphic>
          <a:graphicData uri="http://schemas.openxmlformats.org/drawingml/2006/table">
            <a:tbl>
              <a:tblPr/>
              <a:tblGrid>
                <a:gridCol w="3931920"/>
                <a:gridCol w="3749040"/>
                <a:gridCol w="3410712"/>
              </a:tblGrid>
              <a:tr h="301752">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Componente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Datos del paciente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Resultado de riesgo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Hospital (tiene la llave privada)</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En claro: son sus pacientes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En claro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Servicio de riesgo en LinuxONE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Solo números cifrados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Solo cifrado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Disco, logs y respaldos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Cifrado AES-256-GCM</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Cifrado AES-256-GCM</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Granite (entorno del hospital)</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Solo lo que el hospital le pase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Resultado descifrado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04 · POR QUÉ IBM Z</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Dos contenedores, una regla: la llave nunca cruza</a:t>
            </a:r>
            <a:endParaRPr lang="en-US" sz="3000" dirty="0"/>
          </a:p>
        </p:txBody>
      </p:sp>
      <p:sp>
        <p:nvSpPr>
          <p:cNvPr id="4" name="Clínicas"/>
          <p:cNvSpPr/>
          <p:nvPr/>
        </p:nvSpPr>
        <p:spPr>
          <a:xfrm>
            <a:off x="548640" y="2926080"/>
            <a:ext cx="1325880" cy="1005840"/>
          </a:xfrm>
          <a:prstGeom prst="roundRect">
            <a:avLst>
              <a:gd name="adj" fmla="val 9091"/>
            </a:avLst>
          </a:prstGeom>
          <a:solidFill>
            <a:schemeClr val="tx2"/>
          </a:solidFill>
          <a:ln w="9525">
            <a:solidFill>
              <a:schemeClr val="accent6">
                <a:alpha val="60000"/>
              </a:schemeClr>
            </a:solidFill>
            <a:prstDash val="solid"/>
          </a:ln>
        </p:spPr>
      </p:sp>
      <p:sp>
        <p:nvSpPr>
          <p:cNvPr id="5" name="Clínicas círculo"/>
          <p:cNvSpPr/>
          <p:nvPr/>
        </p:nvSpPr>
        <p:spPr>
          <a:xfrm>
            <a:off x="987552" y="3035808"/>
            <a:ext cx="438912" cy="438912"/>
          </a:xfrm>
          <a:prstGeom prst="ellipse">
            <a:avLst/>
          </a:prstGeom>
          <a:solidFill>
            <a:schemeClr val="tx2"/>
          </a:solidFill>
          <a:ln/>
        </p:spPr>
      </p:sp>
      <p:pic>
        <p:nvPicPr>
          <p:cNvPr id="6" name="Clínicas ícono" descr="preencoded.png">    </p:cNvPr>
          <p:cNvPicPr>
            <a:picLocks noChangeAspect="1"/>
          </p:cNvPicPr>
          <p:nvPr/>
        </p:nvPicPr>
        <p:blipFill>
          <a:blip r:embed="rId1"/>
          <a:stretch>
            <a:fillRect/>
          </a:stretch>
        </p:blipFill>
        <p:spPr>
          <a:xfrm>
            <a:off x="1084113" y="3132369"/>
            <a:ext cx="245791" cy="245791"/>
          </a:xfrm>
          <a:prstGeom prst="rect">
            <a:avLst/>
          </a:prstGeom>
        </p:spPr>
      </p:pic>
      <p:sp>
        <p:nvSpPr>
          <p:cNvPr id="7" name="Text 4"/>
          <p:cNvSpPr txBox="1"/>
          <p:nvPr/>
        </p:nvSpPr>
        <p:spPr>
          <a:xfrm>
            <a:off x="548640" y="3520440"/>
            <a:ext cx="1325880" cy="320040"/>
          </a:xfrm>
          <a:prstGeom prst="rect">
            <a:avLst/>
          </a:prstGeom>
          <a:noFill/>
          <a:ln/>
        </p:spPr>
        <p:txBody>
          <a:bodyPr wrap="square" lIns="0" tIns="0" rIns="0" bIns="0" rtlCol="0" anchor="ctr"/>
          <a:lstStyle/>
          <a:p>
            <a:pPr algn="ctr" indent="0" marL="0">
              <a:buNone/>
            </a:pPr>
            <a:r>
              <a:rPr lang="en-US" sz="1200" b="1" dirty="0">
                <a:solidFill>
                  <a:schemeClr val="bg1"/>
                </a:solidFill>
              </a:rPr>
              <a:t>Clínicas</a:t>
            </a:r>
            <a:endParaRPr lang="en-US" sz="1200" dirty="0"/>
          </a:p>
        </p:txBody>
      </p:sp>
      <p:sp>
        <p:nvSpPr>
          <p:cNvPr id="8" name="flecha"/>
          <p:cNvSpPr/>
          <p:nvPr/>
        </p:nvSpPr>
        <p:spPr>
          <a:xfrm>
            <a:off x="1920240" y="3429000"/>
            <a:ext cx="365760" cy="0"/>
          </a:xfrm>
          <a:prstGeom prst="line">
            <a:avLst/>
          </a:prstGeom>
          <a:noFill/>
          <a:ln w="22225">
            <a:solidFill>
              <a:schemeClr val="accent5"/>
            </a:solidFill>
            <a:prstDash val="solid"/>
            <a:tailEnd type="triangle"/>
          </a:ln>
        </p:spPr>
      </p:sp>
      <p:sp>
        <p:nvSpPr>
          <p:cNvPr id="9" name="Text 6"/>
          <p:cNvSpPr txBox="1"/>
          <p:nvPr/>
        </p:nvSpPr>
        <p:spPr>
          <a:xfrm>
            <a:off x="548640" y="4160520"/>
            <a:ext cx="1645920" cy="1554480"/>
          </a:xfrm>
          <a:prstGeom prst="rect">
            <a:avLst/>
          </a:prstGeom>
          <a:noFill/>
          <a:ln/>
        </p:spPr>
        <p:txBody>
          <a:bodyPr wrap="square" lIns="0" tIns="0" rIns="0" bIns="0" rtlCol="0" anchor="t"/>
          <a:lstStyle/>
          <a:p>
            <a:pPr indent="0" marL="0">
              <a:buNone/>
            </a:pPr>
            <a:r>
              <a:rPr lang="en-US" sz="900" b="1" dirty="0">
                <a:solidFill>
                  <a:schemeClr val="accent5"/>
                </a:solidFill>
              </a:rPr>
              <a:t>En la demo</a:t>
            </a:r>
            <a:endParaRPr lang="en-US" sz="900" dirty="0"/>
          </a:p>
          <a:p>
            <a:pPr indent="0" marL="0">
              <a:buNone/>
            </a:pPr>
            <a:r>
              <a:rPr lang="en-US" sz="900" dirty="0">
                <a:solidFill>
                  <a:schemeClr val="bg2"/>
                </a:solidFill>
              </a:rPr>
              <a:t>ambos contenedores corren en la misma VM; quien la administra queda dentro de la frontera de confianza. En producción, el del hospital corre en sus instalaciones.</a:t>
            </a:r>
            <a:endParaRPr lang="en-US" sz="900" dirty="0"/>
          </a:p>
        </p:txBody>
      </p:sp>
      <p:sp>
        <p:nvSpPr>
          <p:cNvPr id="10" name="IBM LinuxONE"/>
          <p:cNvSpPr/>
          <p:nvPr/>
        </p:nvSpPr>
        <p:spPr>
          <a:xfrm>
            <a:off x="2331720" y="1783080"/>
            <a:ext cx="5806440" cy="3977640"/>
          </a:xfrm>
          <a:prstGeom prst="roundRect">
            <a:avLst>
              <a:gd name="adj" fmla="val 2299"/>
            </a:avLst>
          </a:prstGeom>
          <a:solidFill>
            <a:schemeClr val="accent1">
              <a:alpha val="10000"/>
            </a:schemeClr>
          </a:solidFill>
          <a:ln w="22225">
            <a:solidFill>
              <a:schemeClr val="accent1"/>
            </a:solidFill>
            <a:prstDash val="solid"/>
          </a:ln>
        </p:spPr>
      </p:sp>
      <p:sp>
        <p:nvSpPr>
          <p:cNvPr id="11" name="LinuxONE círculo"/>
          <p:cNvSpPr/>
          <p:nvPr/>
        </p:nvSpPr>
        <p:spPr>
          <a:xfrm>
            <a:off x="2496312" y="1920240"/>
            <a:ext cx="384048" cy="384048"/>
          </a:xfrm>
          <a:prstGeom prst="ellipse">
            <a:avLst/>
          </a:prstGeom>
          <a:solidFill>
            <a:schemeClr val="accent1"/>
          </a:solidFill>
          <a:ln/>
        </p:spPr>
      </p:sp>
      <p:pic>
        <p:nvPicPr>
          <p:cNvPr id="12" name="LinuxONE ícono" descr="preencoded.png">    </p:cNvPr>
          <p:cNvPicPr>
            <a:picLocks noChangeAspect="1"/>
          </p:cNvPicPr>
          <p:nvPr/>
        </p:nvPicPr>
        <p:blipFill>
          <a:blip r:embed="rId2"/>
          <a:stretch>
            <a:fillRect/>
          </a:stretch>
        </p:blipFill>
        <p:spPr>
          <a:xfrm>
            <a:off x="2580803" y="2004731"/>
            <a:ext cx="215067" cy="215067"/>
          </a:xfrm>
          <a:prstGeom prst="rect">
            <a:avLst/>
          </a:prstGeom>
        </p:spPr>
      </p:pic>
      <p:sp>
        <p:nvSpPr>
          <p:cNvPr id="13" name="Text 9"/>
          <p:cNvSpPr txBox="1"/>
          <p:nvPr/>
        </p:nvSpPr>
        <p:spPr>
          <a:xfrm>
            <a:off x="2971800" y="1920240"/>
            <a:ext cx="2743200" cy="384048"/>
          </a:xfrm>
          <a:prstGeom prst="rect">
            <a:avLst/>
          </a:prstGeom>
          <a:noFill/>
          <a:ln/>
        </p:spPr>
        <p:txBody>
          <a:bodyPr wrap="square" lIns="0" tIns="0" rIns="0" bIns="0" rtlCol="0" anchor="ctr"/>
          <a:lstStyle/>
          <a:p>
            <a:pPr indent="0" marL="0">
              <a:buNone/>
            </a:pPr>
            <a:r>
              <a:rPr lang="en-US" sz="1400" b="1" dirty="0">
                <a:solidFill>
                  <a:schemeClr val="bg1"/>
                </a:solidFill>
              </a:rPr>
              <a:t>IBM LinuxONE · s390x</a:t>
            </a:r>
            <a:endParaRPr lang="en-US" sz="1400" dirty="0"/>
          </a:p>
        </p:txBody>
      </p:sp>
      <p:sp>
        <p:nvSpPr>
          <p:cNvPr id="14" name="Text 10"/>
          <p:cNvSpPr txBox="1"/>
          <p:nvPr/>
        </p:nvSpPr>
        <p:spPr>
          <a:xfrm>
            <a:off x="7223760" y="1965960"/>
            <a:ext cx="749808" cy="292608"/>
          </a:xfrm>
          <a:prstGeom prst="rect">
            <a:avLst/>
          </a:prstGeom>
          <a:noFill/>
          <a:ln/>
        </p:spPr>
        <p:txBody>
          <a:bodyPr wrap="square" lIns="0" tIns="0" rIns="0" bIns="0" rtlCol="0" anchor="ctr"/>
          <a:lstStyle/>
          <a:p>
            <a:pPr algn="r" indent="0" marL="0">
              <a:buNone/>
            </a:pPr>
            <a:r>
              <a:rPr lang="en-US" sz="1000" b="1" dirty="0">
                <a:solidFill>
                  <a:schemeClr val="accent5"/>
                </a:solidFill>
              </a:rPr>
              <a:t>Docker</a:t>
            </a:r>
            <a:endParaRPr lang="en-US" sz="1000" dirty="0"/>
          </a:p>
        </p:txBody>
      </p:sp>
      <p:sp>
        <p:nvSpPr>
          <p:cNvPr id="15" name="Contenedor del hospital"/>
          <p:cNvSpPr/>
          <p:nvPr/>
        </p:nvSpPr>
        <p:spPr>
          <a:xfrm>
            <a:off x="2514600" y="2468880"/>
            <a:ext cx="2468880" cy="3108960"/>
          </a:xfrm>
          <a:prstGeom prst="roundRect">
            <a:avLst>
              <a:gd name="adj" fmla="val 3704"/>
            </a:avLst>
          </a:prstGeom>
          <a:solidFill>
            <a:schemeClr val="tx2"/>
          </a:solidFill>
          <a:ln w="9525">
            <a:solidFill>
              <a:schemeClr val="accent2">
                <a:alpha val="70000"/>
              </a:schemeClr>
            </a:solidFill>
            <a:prstDash val="dash"/>
          </a:ln>
        </p:spPr>
      </p:sp>
      <p:sp>
        <p:nvSpPr>
          <p:cNvPr id="16" name="Text 12"/>
          <p:cNvSpPr txBox="1"/>
          <p:nvPr/>
        </p:nvSpPr>
        <p:spPr>
          <a:xfrm>
            <a:off x="2651760" y="2560320"/>
            <a:ext cx="2194560" cy="320040"/>
          </a:xfrm>
          <a:prstGeom prst="rect">
            <a:avLst/>
          </a:prstGeom>
          <a:noFill/>
          <a:ln/>
        </p:spPr>
        <p:txBody>
          <a:bodyPr wrap="square" lIns="0" tIns="0" rIns="0" bIns="0" rtlCol="0" anchor="ctr"/>
          <a:lstStyle/>
          <a:p>
            <a:pPr indent="0" marL="0">
              <a:buNone/>
            </a:pPr>
            <a:r>
              <a:rPr lang="en-US" sz="1300" b="1" dirty="0">
                <a:solidFill>
                  <a:schemeClr val="accent2"/>
                </a:solidFill>
              </a:rPr>
              <a:t>Contenedor del hospital</a:t>
            </a:r>
            <a:endParaRPr lang="en-US" sz="1300" dirty="0"/>
          </a:p>
        </p:txBody>
      </p:sp>
      <p:sp>
        <p:nvSpPr>
          <p:cNvPr id="17" name="Llave privada Paillier"/>
          <p:cNvSpPr/>
          <p:nvPr/>
        </p:nvSpPr>
        <p:spPr>
          <a:xfrm>
            <a:off x="2651760" y="2971800"/>
            <a:ext cx="2194560" cy="731520"/>
          </a:xfrm>
          <a:prstGeom prst="roundRect">
            <a:avLst>
              <a:gd name="adj" fmla="val 12500"/>
            </a:avLst>
          </a:prstGeom>
          <a:solidFill>
            <a:schemeClr val="accent1">
              <a:alpha val="15000"/>
            </a:schemeClr>
          </a:solidFill>
          <a:ln/>
        </p:spPr>
      </p:sp>
      <p:sp>
        <p:nvSpPr>
          <p:cNvPr id="18" name="Text 14"/>
          <p:cNvSpPr txBox="1"/>
          <p:nvPr/>
        </p:nvSpPr>
        <p:spPr>
          <a:xfrm>
            <a:off x="2770632" y="3044952"/>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Llave privada Paillier</a:t>
            </a:r>
            <a:endParaRPr lang="en-US" sz="1200" dirty="0"/>
          </a:p>
        </p:txBody>
      </p:sp>
      <p:sp>
        <p:nvSpPr>
          <p:cNvPr id="19" name="Text 15"/>
          <p:cNvSpPr txBox="1"/>
          <p:nvPr/>
        </p:nvSpPr>
        <p:spPr>
          <a:xfrm>
            <a:off x="2770632" y="3364992"/>
            <a:ext cx="1965960" cy="274320"/>
          </a:xfrm>
          <a:prstGeom prst="rect">
            <a:avLst/>
          </a:prstGeom>
          <a:noFill/>
          <a:ln/>
        </p:spPr>
        <p:txBody>
          <a:bodyPr wrap="square" lIns="0" tIns="0" rIns="0" bIns="0" rtlCol="0" anchor="ctr"/>
          <a:lstStyle/>
          <a:p>
            <a:pPr indent="0" marL="0">
              <a:buNone/>
            </a:pPr>
            <a:r>
              <a:rPr lang="en-US" sz="1000" dirty="0">
                <a:solidFill>
                  <a:schemeClr val="bg2"/>
                </a:solidFill>
              </a:rPr>
              <a:t>nunca sale de aquí</a:t>
            </a:r>
            <a:endParaRPr lang="en-US" sz="1000" dirty="0"/>
          </a:p>
        </p:txBody>
      </p:sp>
      <p:sp>
        <p:nvSpPr>
          <p:cNvPr id="20" name="Cifrar y descifrar"/>
          <p:cNvSpPr/>
          <p:nvPr/>
        </p:nvSpPr>
        <p:spPr>
          <a:xfrm>
            <a:off x="2651760" y="3813048"/>
            <a:ext cx="2194560" cy="731520"/>
          </a:xfrm>
          <a:prstGeom prst="roundRect">
            <a:avLst>
              <a:gd name="adj" fmla="val 12500"/>
            </a:avLst>
          </a:prstGeom>
          <a:solidFill>
            <a:schemeClr val="accent1">
              <a:alpha val="15000"/>
            </a:schemeClr>
          </a:solidFill>
          <a:ln/>
        </p:spPr>
      </p:sp>
      <p:sp>
        <p:nvSpPr>
          <p:cNvPr id="21" name="Text 17"/>
          <p:cNvSpPr txBox="1"/>
          <p:nvPr/>
        </p:nvSpPr>
        <p:spPr>
          <a:xfrm>
            <a:off x="2770632" y="3886200"/>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Cifrar y descifrar</a:t>
            </a:r>
            <a:endParaRPr lang="en-US" sz="1200" dirty="0"/>
          </a:p>
        </p:txBody>
      </p:sp>
      <p:sp>
        <p:nvSpPr>
          <p:cNvPr id="22" name="Text 18"/>
          <p:cNvSpPr txBox="1"/>
          <p:nvPr/>
        </p:nvSpPr>
        <p:spPr>
          <a:xfrm>
            <a:off x="2770632" y="4206240"/>
            <a:ext cx="1965960" cy="274320"/>
          </a:xfrm>
          <a:prstGeom prst="rect">
            <a:avLst/>
          </a:prstGeom>
          <a:noFill/>
          <a:ln/>
        </p:spPr>
        <p:txBody>
          <a:bodyPr wrap="square" lIns="0" tIns="0" rIns="0" bIns="0" rtlCol="0" anchor="ctr"/>
          <a:lstStyle/>
          <a:p>
            <a:pPr indent="0" marL="0">
              <a:buNone/>
            </a:pPr>
            <a:r>
              <a:rPr lang="en-US" sz="1000" dirty="0">
                <a:solidFill>
                  <a:schemeClr val="bg2"/>
                </a:solidFill>
              </a:rPr>
              <a:t>python-paillier</a:t>
            </a:r>
            <a:endParaRPr lang="en-US" sz="1000" dirty="0"/>
          </a:p>
        </p:txBody>
      </p:sp>
      <p:sp>
        <p:nvSpPr>
          <p:cNvPr id="23" name="Granite · llama.cpp"/>
          <p:cNvSpPr/>
          <p:nvPr/>
        </p:nvSpPr>
        <p:spPr>
          <a:xfrm>
            <a:off x="2651760" y="4654296"/>
            <a:ext cx="2194560" cy="731520"/>
          </a:xfrm>
          <a:prstGeom prst="roundRect">
            <a:avLst>
              <a:gd name="adj" fmla="val 12500"/>
            </a:avLst>
          </a:prstGeom>
          <a:solidFill>
            <a:schemeClr val="accent1">
              <a:alpha val="15000"/>
            </a:schemeClr>
          </a:solidFill>
          <a:ln/>
        </p:spPr>
      </p:sp>
      <p:sp>
        <p:nvSpPr>
          <p:cNvPr id="24" name="Text 20"/>
          <p:cNvSpPr txBox="1"/>
          <p:nvPr/>
        </p:nvSpPr>
        <p:spPr>
          <a:xfrm>
            <a:off x="2770632" y="4727448"/>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Granite · llama.cpp</a:t>
            </a:r>
            <a:endParaRPr lang="en-US" sz="1200" dirty="0"/>
          </a:p>
        </p:txBody>
      </p:sp>
      <p:sp>
        <p:nvSpPr>
          <p:cNvPr id="25" name="Text 21"/>
          <p:cNvSpPr txBox="1"/>
          <p:nvPr/>
        </p:nvSpPr>
        <p:spPr>
          <a:xfrm>
            <a:off x="2770632" y="5047488"/>
            <a:ext cx="1965960" cy="274320"/>
          </a:xfrm>
          <a:prstGeom prst="rect">
            <a:avLst/>
          </a:prstGeom>
          <a:noFill/>
          <a:ln/>
        </p:spPr>
        <p:txBody>
          <a:bodyPr wrap="square" lIns="0" tIns="0" rIns="0" bIns="0" rtlCol="0" anchor="ctr"/>
          <a:lstStyle/>
          <a:p>
            <a:pPr indent="0" marL="0">
              <a:buNone/>
            </a:pPr>
            <a:r>
              <a:rPr lang="en-US" sz="1000" dirty="0">
                <a:solidFill>
                  <a:schemeClr val="bg2"/>
                </a:solidFill>
              </a:rPr>
              <a:t>explica al paciente</a:t>
            </a:r>
            <a:endParaRPr lang="en-US" sz="1000" dirty="0"/>
          </a:p>
        </p:txBody>
      </p:sp>
      <p:sp>
        <p:nvSpPr>
          <p:cNvPr id="26" name="Servicio de riesgo"/>
          <p:cNvSpPr/>
          <p:nvPr/>
        </p:nvSpPr>
        <p:spPr>
          <a:xfrm>
            <a:off x="5486400" y="2468880"/>
            <a:ext cx="2468880" cy="3108960"/>
          </a:xfrm>
          <a:prstGeom prst="roundRect">
            <a:avLst>
              <a:gd name="adj" fmla="val 3704"/>
            </a:avLst>
          </a:prstGeom>
          <a:solidFill>
            <a:schemeClr val="tx2"/>
          </a:solidFill>
          <a:ln w="9525">
            <a:solidFill>
              <a:schemeClr val="accent5">
                <a:alpha val="70000"/>
              </a:schemeClr>
            </a:solidFill>
            <a:prstDash val="dash"/>
          </a:ln>
        </p:spPr>
      </p:sp>
      <p:sp>
        <p:nvSpPr>
          <p:cNvPr id="27" name="Text 23"/>
          <p:cNvSpPr txBox="1"/>
          <p:nvPr/>
        </p:nvSpPr>
        <p:spPr>
          <a:xfrm>
            <a:off x="5623560" y="2560320"/>
            <a:ext cx="2194560" cy="320040"/>
          </a:xfrm>
          <a:prstGeom prst="rect">
            <a:avLst/>
          </a:prstGeom>
          <a:noFill/>
          <a:ln/>
        </p:spPr>
        <p:txBody>
          <a:bodyPr wrap="square" lIns="0" tIns="0" rIns="0" bIns="0" rtlCol="0" anchor="ctr"/>
          <a:lstStyle/>
          <a:p>
            <a:pPr indent="0" marL="0">
              <a:buNone/>
            </a:pPr>
            <a:r>
              <a:rPr lang="en-US" sz="1300" b="1" dirty="0">
                <a:solidFill>
                  <a:schemeClr val="accent5"/>
                </a:solidFill>
              </a:rPr>
              <a:t>Servicio de riesgo</a:t>
            </a:r>
            <a:endParaRPr lang="en-US" sz="1300" dirty="0"/>
          </a:p>
        </p:txBody>
      </p:sp>
      <p:sp>
        <p:nvSpPr>
          <p:cNvPr id="28" name="Modelo logístico"/>
          <p:cNvSpPr/>
          <p:nvPr/>
        </p:nvSpPr>
        <p:spPr>
          <a:xfrm>
            <a:off x="5623560" y="2971800"/>
            <a:ext cx="2194560" cy="731520"/>
          </a:xfrm>
          <a:prstGeom prst="roundRect">
            <a:avLst>
              <a:gd name="adj" fmla="val 12500"/>
            </a:avLst>
          </a:prstGeom>
          <a:solidFill>
            <a:schemeClr val="accent1">
              <a:alpha val="15000"/>
            </a:schemeClr>
          </a:solidFill>
          <a:ln/>
        </p:spPr>
      </p:sp>
      <p:sp>
        <p:nvSpPr>
          <p:cNvPr id="29" name="Text 25"/>
          <p:cNvSpPr txBox="1"/>
          <p:nvPr/>
        </p:nvSpPr>
        <p:spPr>
          <a:xfrm>
            <a:off x="5742432" y="3044952"/>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Modelo logístico</a:t>
            </a:r>
            <a:endParaRPr lang="en-US" sz="1200" dirty="0"/>
          </a:p>
        </p:txBody>
      </p:sp>
      <p:sp>
        <p:nvSpPr>
          <p:cNvPr id="30" name="Text 26"/>
          <p:cNvSpPr txBox="1"/>
          <p:nvPr/>
        </p:nvSpPr>
        <p:spPr>
          <a:xfrm>
            <a:off x="5742432" y="3364992"/>
            <a:ext cx="1965960" cy="274320"/>
          </a:xfrm>
          <a:prstGeom prst="rect">
            <a:avLst/>
          </a:prstGeom>
          <a:noFill/>
          <a:ln/>
        </p:spPr>
        <p:txBody>
          <a:bodyPr wrap="square" lIns="0" tIns="0" rIns="0" bIns="0" rtlCol="0" anchor="ctr"/>
          <a:lstStyle/>
          <a:p>
            <a:pPr indent="0" marL="0">
              <a:buNone/>
            </a:pPr>
            <a:r>
              <a:rPr lang="en-US" sz="1000" dirty="0">
                <a:solidFill>
                  <a:schemeClr val="bg2"/>
                </a:solidFill>
              </a:rPr>
              <a:t>pesos en punto fijo</a:t>
            </a:r>
            <a:endParaRPr lang="en-US" sz="1000" dirty="0"/>
          </a:p>
        </p:txBody>
      </p:sp>
      <p:sp>
        <p:nvSpPr>
          <p:cNvPr id="31" name="Aritmética homomórfica"/>
          <p:cNvSpPr/>
          <p:nvPr/>
        </p:nvSpPr>
        <p:spPr>
          <a:xfrm>
            <a:off x="5623560" y="3813048"/>
            <a:ext cx="2194560" cy="731520"/>
          </a:xfrm>
          <a:prstGeom prst="roundRect">
            <a:avLst>
              <a:gd name="adj" fmla="val 12500"/>
            </a:avLst>
          </a:prstGeom>
          <a:solidFill>
            <a:schemeClr val="accent1">
              <a:alpha val="15000"/>
            </a:schemeClr>
          </a:solidFill>
          <a:ln/>
        </p:spPr>
      </p:sp>
      <p:sp>
        <p:nvSpPr>
          <p:cNvPr id="32" name="Text 28"/>
          <p:cNvSpPr txBox="1"/>
          <p:nvPr/>
        </p:nvSpPr>
        <p:spPr>
          <a:xfrm>
            <a:off x="5742432" y="3886200"/>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Aritmética homomórfica</a:t>
            </a:r>
            <a:endParaRPr lang="en-US" sz="1200" dirty="0"/>
          </a:p>
        </p:txBody>
      </p:sp>
      <p:sp>
        <p:nvSpPr>
          <p:cNvPr id="33" name="Text 29"/>
          <p:cNvSpPr txBox="1"/>
          <p:nvPr/>
        </p:nvSpPr>
        <p:spPr>
          <a:xfrm>
            <a:off x="5742432" y="4206240"/>
            <a:ext cx="1965960" cy="274320"/>
          </a:xfrm>
          <a:prstGeom prst="rect">
            <a:avLst/>
          </a:prstGeom>
          <a:noFill/>
          <a:ln/>
        </p:spPr>
        <p:txBody>
          <a:bodyPr wrap="square" lIns="0" tIns="0" rIns="0" bIns="0" rtlCol="0" anchor="ctr"/>
          <a:lstStyle/>
          <a:p>
            <a:pPr indent="0" marL="0">
              <a:buNone/>
            </a:pPr>
            <a:r>
              <a:rPr lang="en-US" sz="1000" dirty="0">
                <a:solidFill>
                  <a:schemeClr val="bg2"/>
                </a:solidFill>
              </a:rPr>
              <a:t>enteros de 4096 bits</a:t>
            </a:r>
            <a:endParaRPr lang="en-US" sz="1000" dirty="0"/>
          </a:p>
        </p:txBody>
      </p:sp>
      <p:sp>
        <p:nvSpPr>
          <p:cNvPr id="34" name="Bóveda cifrada"/>
          <p:cNvSpPr/>
          <p:nvPr/>
        </p:nvSpPr>
        <p:spPr>
          <a:xfrm>
            <a:off x="5623560" y="4654296"/>
            <a:ext cx="2194560" cy="731520"/>
          </a:xfrm>
          <a:prstGeom prst="roundRect">
            <a:avLst>
              <a:gd name="adj" fmla="val 12500"/>
            </a:avLst>
          </a:prstGeom>
          <a:solidFill>
            <a:schemeClr val="accent1">
              <a:alpha val="15000"/>
            </a:schemeClr>
          </a:solidFill>
          <a:ln/>
        </p:spPr>
      </p:sp>
      <p:sp>
        <p:nvSpPr>
          <p:cNvPr id="35" name="Text 31"/>
          <p:cNvSpPr txBox="1"/>
          <p:nvPr/>
        </p:nvSpPr>
        <p:spPr>
          <a:xfrm>
            <a:off x="5742432" y="4727448"/>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Bóveda cifrada</a:t>
            </a:r>
            <a:endParaRPr lang="en-US" sz="1200" dirty="0"/>
          </a:p>
        </p:txBody>
      </p:sp>
      <p:sp>
        <p:nvSpPr>
          <p:cNvPr id="36" name="Text 32"/>
          <p:cNvSpPr txBox="1"/>
          <p:nvPr/>
        </p:nvSpPr>
        <p:spPr>
          <a:xfrm>
            <a:off x="5742432" y="5047488"/>
            <a:ext cx="1965960" cy="274320"/>
          </a:xfrm>
          <a:prstGeom prst="rect">
            <a:avLst/>
          </a:prstGeom>
          <a:noFill/>
          <a:ln/>
        </p:spPr>
        <p:txBody>
          <a:bodyPr wrap="square" lIns="0" tIns="0" rIns="0" bIns="0" rtlCol="0" anchor="ctr"/>
          <a:lstStyle/>
          <a:p>
            <a:pPr indent="0" marL="0">
              <a:buNone/>
            </a:pPr>
            <a:r>
              <a:rPr lang="en-US" sz="1000" b="1" dirty="0">
                <a:solidFill>
                  <a:schemeClr val="accent2"/>
                </a:solidFill>
              </a:rPr>
              <a:t>AES-256-GCM · CPACF</a:t>
            </a:r>
            <a:endParaRPr lang="en-US" sz="1000" dirty="0"/>
          </a:p>
        </p:txBody>
      </p:sp>
      <p:sp>
        <p:nvSpPr>
          <p:cNvPr id="37" name="flecha"/>
          <p:cNvSpPr/>
          <p:nvPr/>
        </p:nvSpPr>
        <p:spPr>
          <a:xfrm>
            <a:off x="5020056" y="3931920"/>
            <a:ext cx="429768" cy="0"/>
          </a:xfrm>
          <a:prstGeom prst="line">
            <a:avLst/>
          </a:prstGeom>
          <a:noFill/>
          <a:ln w="22225">
            <a:solidFill>
              <a:schemeClr val="accent2"/>
            </a:solidFill>
            <a:prstDash val="solid"/>
            <a:tailEnd type="triangle"/>
          </a:ln>
        </p:spPr>
      </p:sp>
      <p:sp>
        <p:nvSpPr>
          <p:cNvPr id="38" name="flecha regreso"/>
          <p:cNvSpPr/>
          <p:nvPr/>
        </p:nvSpPr>
        <p:spPr>
          <a:xfrm>
            <a:off x="5020056" y="4297680"/>
            <a:ext cx="429768" cy="0"/>
          </a:xfrm>
          <a:prstGeom prst="line">
            <a:avLst/>
          </a:prstGeom>
          <a:noFill/>
          <a:ln w="22225">
            <a:solidFill>
              <a:schemeClr val="accent2"/>
            </a:solidFill>
            <a:prstDash val="solid"/>
            <a:headEnd type="triangle"/>
          </a:ln>
        </p:spPr>
      </p:sp>
      <p:sp>
        <p:nvSpPr>
          <p:cNvPr id="39" name="Text 35"/>
          <p:cNvSpPr txBox="1"/>
          <p:nvPr/>
        </p:nvSpPr>
        <p:spPr>
          <a:xfrm>
            <a:off x="4791456" y="3566160"/>
            <a:ext cx="886968" cy="274320"/>
          </a:xfrm>
          <a:prstGeom prst="rect">
            <a:avLst/>
          </a:prstGeom>
          <a:noFill/>
          <a:ln/>
        </p:spPr>
        <p:txBody>
          <a:bodyPr wrap="square" lIns="0" tIns="0" rIns="0" bIns="0" rtlCol="0" anchor="ctr"/>
          <a:lstStyle/>
          <a:p>
            <a:pPr algn="ctr" indent="0" marL="0">
              <a:buNone/>
            </a:pPr>
            <a:r>
              <a:rPr lang="en-US" sz="900" b="1" dirty="0">
                <a:solidFill>
                  <a:schemeClr val="accent2"/>
                </a:solidFill>
              </a:rPr>
              <a:t>solo cifrado</a:t>
            </a:r>
            <a:endParaRPr lang="en-US" sz="900" dirty="0"/>
          </a:p>
        </p:txBody>
      </p:sp>
      <p:sp>
        <p:nvSpPr>
          <p:cNvPr id="40" name="Cómputo pesado, en serio círculo"/>
          <p:cNvSpPr/>
          <p:nvPr/>
        </p:nvSpPr>
        <p:spPr>
          <a:xfrm>
            <a:off x="8458200" y="1874520"/>
            <a:ext cx="502920" cy="502920"/>
          </a:xfrm>
          <a:prstGeom prst="ellipse">
            <a:avLst/>
          </a:prstGeom>
          <a:solidFill>
            <a:schemeClr val="accent1"/>
          </a:solidFill>
          <a:ln/>
        </p:spPr>
      </p:sp>
      <p:pic>
        <p:nvPicPr>
          <p:cNvPr id="41" name="Cómputo pesado, en serio ícono" descr="preencoded.png">    </p:cNvPr>
          <p:cNvPicPr>
            <a:picLocks noChangeAspect="1"/>
          </p:cNvPicPr>
          <p:nvPr/>
        </p:nvPicPr>
        <p:blipFill>
          <a:blip r:embed="rId3"/>
          <a:stretch>
            <a:fillRect/>
          </a:stretch>
        </p:blipFill>
        <p:spPr>
          <a:xfrm>
            <a:off x="8568842" y="1985162"/>
            <a:ext cx="281635" cy="281635"/>
          </a:xfrm>
          <a:prstGeom prst="rect">
            <a:avLst/>
          </a:prstGeom>
        </p:spPr>
      </p:pic>
      <p:sp>
        <p:nvSpPr>
          <p:cNvPr id="42" name="Text 37"/>
          <p:cNvSpPr txBox="1"/>
          <p:nvPr/>
        </p:nvSpPr>
        <p:spPr>
          <a:xfrm>
            <a:off x="9098280" y="182880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Cómputo pesado, en serio</a:t>
            </a:r>
            <a:endParaRPr lang="en-US" sz="1400" dirty="0"/>
          </a:p>
        </p:txBody>
      </p:sp>
      <p:sp>
        <p:nvSpPr>
          <p:cNvPr id="43" name="Text 38"/>
          <p:cNvSpPr txBox="1"/>
          <p:nvPr/>
        </p:nvSpPr>
        <p:spPr>
          <a:xfrm>
            <a:off x="9098280" y="2212848"/>
            <a:ext cx="2542032" cy="777240"/>
          </a:xfrm>
          <a:prstGeom prst="rect">
            <a:avLst/>
          </a:prstGeom>
          <a:noFill/>
          <a:ln/>
        </p:spPr>
        <p:txBody>
          <a:bodyPr wrap="square" lIns="0" tIns="0" rIns="0" bIns="0" rtlCol="0" anchor="t"/>
          <a:lstStyle/>
          <a:p>
            <a:pPr indent="0" marL="0">
              <a:buNone/>
            </a:pPr>
            <a:r>
              <a:rPr lang="en-US" sz="1200" dirty="0">
                <a:solidFill>
                  <a:schemeClr val="bg2"/>
                </a:solidFill>
              </a:rPr>
              <a:t>Cada paciente implica exponenciaciones modulares con enteros enormes</a:t>
            </a:r>
            <a:endParaRPr lang="en-US" sz="1200" dirty="0"/>
          </a:p>
        </p:txBody>
      </p:sp>
      <p:sp>
        <p:nvSpPr>
          <p:cNvPr id="44" name="Seguridad de nivel bancario círculo"/>
          <p:cNvSpPr/>
          <p:nvPr/>
        </p:nvSpPr>
        <p:spPr>
          <a:xfrm>
            <a:off x="8458200" y="3154680"/>
            <a:ext cx="502920" cy="502920"/>
          </a:xfrm>
          <a:prstGeom prst="ellipse">
            <a:avLst/>
          </a:prstGeom>
          <a:solidFill>
            <a:schemeClr val="accent1"/>
          </a:solidFill>
          <a:ln/>
        </p:spPr>
      </p:sp>
      <p:pic>
        <p:nvPicPr>
          <p:cNvPr id="45" name="Seguridad de nivel bancario ícono" descr="preencoded.png">    </p:cNvPr>
          <p:cNvPicPr>
            <a:picLocks noChangeAspect="1"/>
          </p:cNvPicPr>
          <p:nvPr/>
        </p:nvPicPr>
        <p:blipFill>
          <a:blip r:embed="rId4"/>
          <a:stretch>
            <a:fillRect/>
          </a:stretch>
        </p:blipFill>
        <p:spPr>
          <a:xfrm>
            <a:off x="8568842" y="3265322"/>
            <a:ext cx="281635" cy="281635"/>
          </a:xfrm>
          <a:prstGeom prst="rect">
            <a:avLst/>
          </a:prstGeom>
        </p:spPr>
      </p:pic>
      <p:sp>
        <p:nvSpPr>
          <p:cNvPr id="46" name="Text 40"/>
          <p:cNvSpPr txBox="1"/>
          <p:nvPr/>
        </p:nvSpPr>
        <p:spPr>
          <a:xfrm>
            <a:off x="9098280" y="310896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Seguridad de nivel bancario</a:t>
            </a:r>
            <a:endParaRPr lang="en-US" sz="1400" dirty="0"/>
          </a:p>
        </p:txBody>
      </p:sp>
      <p:sp>
        <p:nvSpPr>
          <p:cNvPr id="47" name="Text 41"/>
          <p:cNvSpPr txBox="1"/>
          <p:nvPr/>
        </p:nvSpPr>
        <p:spPr>
          <a:xfrm>
            <a:off x="9098280" y="3493008"/>
            <a:ext cx="2542032" cy="777240"/>
          </a:xfrm>
          <a:prstGeom prst="rect">
            <a:avLst/>
          </a:prstGeom>
          <a:noFill/>
          <a:ln/>
        </p:spPr>
        <p:txBody>
          <a:bodyPr wrap="square" lIns="0" tIns="0" rIns="0" bIns="0" rtlCol="0" anchor="t"/>
          <a:lstStyle/>
          <a:p>
            <a:pPr indent="0" marL="0">
              <a:buNone/>
            </a:pPr>
            <a:r>
              <a:rPr lang="en-US" sz="1200" dirty="0">
                <a:solidFill>
                  <a:schemeClr val="bg2"/>
                </a:solidFill>
              </a:rPr>
              <a:t>Cifrado por hardware y aislamiento entre cargas de trabajo</a:t>
            </a:r>
            <a:endParaRPr lang="en-US" sz="1200" dirty="0"/>
          </a:p>
        </p:txBody>
      </p:sp>
      <p:sp>
        <p:nvSpPr>
          <p:cNvPr id="48" name="Escala por lotes círculo"/>
          <p:cNvSpPr/>
          <p:nvPr/>
        </p:nvSpPr>
        <p:spPr>
          <a:xfrm>
            <a:off x="8458200" y="4434840"/>
            <a:ext cx="502920" cy="502920"/>
          </a:xfrm>
          <a:prstGeom prst="ellipse">
            <a:avLst/>
          </a:prstGeom>
          <a:solidFill>
            <a:schemeClr val="accent1"/>
          </a:solidFill>
          <a:ln/>
        </p:spPr>
      </p:sp>
      <p:pic>
        <p:nvPicPr>
          <p:cNvPr id="49" name="Escala por lotes ícono" descr="preencoded.png">    </p:cNvPr>
          <p:cNvPicPr>
            <a:picLocks noChangeAspect="1"/>
          </p:cNvPicPr>
          <p:nvPr/>
        </p:nvPicPr>
        <p:blipFill>
          <a:blip r:embed="rId5"/>
          <a:stretch>
            <a:fillRect/>
          </a:stretch>
        </p:blipFill>
        <p:spPr>
          <a:xfrm>
            <a:off x="8568842" y="4545482"/>
            <a:ext cx="281635" cy="281635"/>
          </a:xfrm>
          <a:prstGeom prst="rect">
            <a:avLst/>
          </a:prstGeom>
        </p:spPr>
      </p:pic>
      <p:sp>
        <p:nvSpPr>
          <p:cNvPr id="50" name="Text 43"/>
          <p:cNvSpPr txBox="1"/>
          <p:nvPr/>
        </p:nvSpPr>
        <p:spPr>
          <a:xfrm>
            <a:off x="9098280" y="438912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Escala por lotes</a:t>
            </a:r>
            <a:endParaRPr lang="en-US" sz="1400" dirty="0"/>
          </a:p>
        </p:txBody>
      </p:sp>
      <p:sp>
        <p:nvSpPr>
          <p:cNvPr id="51" name="Text 44"/>
          <p:cNvSpPr txBox="1"/>
          <p:nvPr/>
        </p:nvSpPr>
        <p:spPr>
          <a:xfrm>
            <a:off x="9098280" y="4773168"/>
            <a:ext cx="2542032" cy="777240"/>
          </a:xfrm>
          <a:prstGeom prst="rect">
            <a:avLst/>
          </a:prstGeom>
          <a:noFill/>
          <a:ln/>
        </p:spPr>
        <p:txBody>
          <a:bodyPr wrap="square" lIns="0" tIns="0" rIns="0" bIns="0" rtlCol="0" anchor="t"/>
          <a:lstStyle/>
          <a:p>
            <a:pPr indent="0" marL="0">
              <a:buNone/>
            </a:pPr>
            <a:r>
              <a:rPr lang="en-US" sz="1200" dirty="0">
                <a:solidFill>
                  <a:schemeClr val="bg2"/>
                </a:solidFill>
              </a:rPr>
              <a:t>Muchos pacientes en paralelo en una sola plataforma; medido en vivo</a:t>
            </a:r>
            <a:endParaRPr lang="en-US" sz="1200" dirty="0"/>
          </a:p>
        </p:txBody>
      </p:sp>
      <p:sp>
        <p:nvSpPr>
          <p:cNvPr id="52" name="Text 45"/>
          <p:cNvSpPr txBox="1"/>
          <p:nvPr/>
        </p:nvSpPr>
        <p:spPr>
          <a:xfrm>
            <a:off x="548640" y="5897880"/>
            <a:ext cx="11091672" cy="274320"/>
          </a:xfrm>
          <a:prstGeom prst="rect">
            <a:avLst/>
          </a:prstGeom>
          <a:noFill/>
          <a:ln/>
        </p:spPr>
        <p:txBody>
          <a:bodyPr wrap="square" lIns="0" tIns="0" rIns="0" bIns="0" rtlCol="0" anchor="t"/>
          <a:lstStyle/>
          <a:p>
            <a:pPr indent="0" marL="0">
              <a:buNone/>
            </a:pPr>
            <a:r>
              <a:rPr lang="en-US" sz="1200" b="1" dirty="0">
                <a:solidFill>
                  <a:schemeClr val="accent5"/>
                </a:solidFill>
              </a:rPr>
              <a:t>Stack:  </a:t>
            </a:r>
            <a:pPr indent="0" marL="0">
              <a:buNone/>
            </a:pPr>
            <a:r>
              <a:rPr lang="en-US" sz="1200" dirty="0">
                <a:solidFill>
                  <a:schemeClr val="bg2"/>
                </a:solidFill>
              </a:rPr>
              <a:t>Python · scikit-learn · python-paillier · TenSEAL/OpenFHE (ruta CKKS) · Granite (llama.cpp) · OpenSSL · Docker · Jupyter Lab ML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05 · DEMO EN VIVO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Pantalla dividida: el servidor no ve nada, el hospital ve todo</a:t>
            </a:r>
            <a:endParaRPr lang="en-US" sz="3000" dirty="0"/>
          </a:p>
        </p:txBody>
      </p:sp>
      <p:sp>
        <p:nvSpPr>
          <p:cNvPr id="4" name="Vista servidor"/>
          <p:cNvSpPr/>
          <p:nvPr/>
        </p:nvSpPr>
        <p:spPr>
          <a:xfrm>
            <a:off x="548640" y="1783080"/>
            <a:ext cx="5440680" cy="3383280"/>
          </a:xfrm>
          <a:prstGeom prst="roundRect">
            <a:avLst>
              <a:gd name="adj" fmla="val 2703"/>
            </a:avLst>
          </a:prstGeom>
          <a:solidFill>
            <a:schemeClr val="tx1"/>
          </a:solidFill>
          <a:ln w="9525">
            <a:solidFill>
              <a:schemeClr val="accent6">
                <a:alpha val="70000"/>
              </a:schemeClr>
            </a:solidFill>
            <a:prstDash val="solid"/>
          </a:ln>
        </p:spPr>
      </p:sp>
      <p:sp>
        <p:nvSpPr>
          <p:cNvPr id="5" name="Servidor círculo"/>
          <p:cNvSpPr/>
          <p:nvPr/>
        </p:nvSpPr>
        <p:spPr>
          <a:xfrm>
            <a:off x="731520" y="1938528"/>
            <a:ext cx="384048" cy="384048"/>
          </a:xfrm>
          <a:prstGeom prst="ellipse">
            <a:avLst/>
          </a:prstGeom>
          <a:solidFill>
            <a:schemeClr val="tx2"/>
          </a:solidFill>
          <a:ln/>
        </p:spPr>
      </p:sp>
      <p:pic>
        <p:nvPicPr>
          <p:cNvPr id="6" name="Servidor ícono" descr="preencoded.png">    </p:cNvPr>
          <p:cNvPicPr>
            <a:picLocks noChangeAspect="1"/>
          </p:cNvPicPr>
          <p:nvPr/>
        </p:nvPicPr>
        <p:blipFill>
          <a:blip r:embed="rId1"/>
          <a:stretch>
            <a:fillRect/>
          </a:stretch>
        </p:blipFill>
        <p:spPr>
          <a:xfrm>
            <a:off x="816011" y="2023019"/>
            <a:ext cx="215067" cy="215067"/>
          </a:xfrm>
          <a:prstGeom prst="rect">
            <a:avLst/>
          </a:prstGeom>
        </p:spPr>
      </p:pic>
      <p:sp>
        <p:nvSpPr>
          <p:cNvPr id="7" name="Text 4"/>
          <p:cNvSpPr txBox="1"/>
          <p:nvPr/>
        </p:nvSpPr>
        <p:spPr>
          <a:xfrm>
            <a:off x="1234440" y="1938528"/>
            <a:ext cx="4114800" cy="384048"/>
          </a:xfrm>
          <a:prstGeom prst="rect">
            <a:avLst/>
          </a:prstGeom>
          <a:noFill/>
          <a:ln/>
        </p:spPr>
        <p:txBody>
          <a:bodyPr wrap="square" lIns="0" tIns="0" rIns="0" bIns="0" rtlCol="0" anchor="ctr"/>
          <a:lstStyle/>
          <a:p>
            <a:pPr indent="0" marL="0">
              <a:buNone/>
            </a:pPr>
            <a:r>
              <a:rPr lang="en-US" sz="1200" b="1" spc="100" kern="0" dirty="0">
                <a:solidFill>
                  <a:schemeClr val="accent6"/>
                </a:solidFill>
              </a:rPr>
              <a:t>LO QUE VE EL SERVIDOR</a:t>
            </a:r>
            <a:endParaRPr lang="en-US" sz="1200" dirty="0"/>
          </a:p>
        </p:txBody>
      </p:sp>
      <p:sp>
        <p:nvSpPr>
          <p:cNvPr id="8" name="Text 5"/>
          <p:cNvSpPr txBox="1"/>
          <p:nvPr/>
        </p:nvSpPr>
        <p:spPr>
          <a:xfrm>
            <a:off x="777240" y="2487168"/>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Age          </a:t>
            </a:r>
            <a:pPr indent="0" marL="0">
              <a:buNone/>
            </a:pPr>
            <a:r>
              <a:rPr lang="en-US" sz="1400" dirty="0">
                <a:solidFill>
                  <a:schemeClr val="accent5"/>
                </a:solidFill>
                <a:latin typeface="Courier New" pitchFamily="34" charset="0"/>
                <a:ea typeface="Courier New" pitchFamily="34" charset="-122"/>
                <a:cs typeface="Courier New" pitchFamily="34" charset="-120"/>
              </a:rPr>
              <a:t>8f3a91c4e70b5d2a…b21d</a:t>
            </a:r>
            <a:endParaRPr lang="en-US" sz="1400" dirty="0"/>
          </a:p>
        </p:txBody>
      </p:sp>
      <p:sp>
        <p:nvSpPr>
          <p:cNvPr id="9" name="Text 6"/>
          <p:cNvSpPr txBox="1"/>
          <p:nvPr/>
        </p:nvSpPr>
        <p:spPr>
          <a:xfrm>
            <a:off x="777240" y="2889504"/>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BMI          </a:t>
            </a:r>
            <a:pPr indent="0" marL="0">
              <a:buNone/>
            </a:pPr>
            <a:r>
              <a:rPr lang="en-US" sz="1400" dirty="0">
                <a:solidFill>
                  <a:schemeClr val="accent5"/>
                </a:solidFill>
                <a:latin typeface="Courier New" pitchFamily="34" charset="0"/>
                <a:ea typeface="Courier New" pitchFamily="34" charset="-122"/>
                <a:cs typeface="Courier New" pitchFamily="34" charset="-120"/>
              </a:rPr>
              <a:t>c09e44a1f7d3826b…7e4a</a:t>
            </a:r>
            <a:endParaRPr lang="en-US" sz="1400" dirty="0"/>
          </a:p>
        </p:txBody>
      </p:sp>
      <p:sp>
        <p:nvSpPr>
          <p:cNvPr id="10" name="Text 7"/>
          <p:cNvSpPr txBox="1"/>
          <p:nvPr/>
        </p:nvSpPr>
        <p:spPr>
          <a:xfrm>
            <a:off x="777240" y="3291840"/>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HighBP       </a:t>
            </a:r>
            <a:pPr indent="0" marL="0">
              <a:buNone/>
            </a:pPr>
            <a:r>
              <a:rPr lang="en-US" sz="1400" dirty="0">
                <a:solidFill>
                  <a:schemeClr val="accent5"/>
                </a:solidFill>
                <a:latin typeface="Courier New" pitchFamily="34" charset="0"/>
                <a:ea typeface="Courier New" pitchFamily="34" charset="-122"/>
                <a:cs typeface="Courier New" pitchFamily="34" charset="-120"/>
              </a:rPr>
              <a:t>5b7d02e9c1a4f863…09c3</a:t>
            </a:r>
            <a:endParaRPr lang="en-US" sz="1400" dirty="0"/>
          </a:p>
        </p:txBody>
      </p:sp>
      <p:sp>
        <p:nvSpPr>
          <p:cNvPr id="11" name="Text 8"/>
          <p:cNvSpPr txBox="1"/>
          <p:nvPr/>
        </p:nvSpPr>
        <p:spPr>
          <a:xfrm>
            <a:off x="777240" y="3694176"/>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HighChol     </a:t>
            </a:r>
            <a:pPr indent="0" marL="0">
              <a:buNone/>
            </a:pPr>
            <a:r>
              <a:rPr lang="en-US" sz="1400" dirty="0">
                <a:solidFill>
                  <a:schemeClr val="accent5"/>
                </a:solidFill>
                <a:latin typeface="Courier New" pitchFamily="34" charset="0"/>
                <a:ea typeface="Courier New" pitchFamily="34" charset="-122"/>
                <a:cs typeface="Courier New" pitchFamily="34" charset="-120"/>
              </a:rPr>
              <a:t>e1a6f3b8902dc475…d8f1</a:t>
            </a:r>
            <a:endParaRPr lang="en-US" sz="1400" dirty="0"/>
          </a:p>
        </p:txBody>
      </p:sp>
      <p:sp>
        <p:nvSpPr>
          <p:cNvPr id="12" name="Text 9"/>
          <p:cNvSpPr txBox="1"/>
          <p:nvPr/>
        </p:nvSpPr>
        <p:spPr>
          <a:xfrm>
            <a:off x="777240" y="4096512"/>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PhysActivity </a:t>
            </a:r>
            <a:pPr indent="0" marL="0">
              <a:buNone/>
            </a:pPr>
            <a:r>
              <a:rPr lang="en-US" sz="1400" dirty="0">
                <a:solidFill>
                  <a:schemeClr val="accent5"/>
                </a:solidFill>
                <a:latin typeface="Courier New" pitchFamily="34" charset="0"/>
                <a:ea typeface="Courier New" pitchFamily="34" charset="-122"/>
                <a:cs typeface="Courier New" pitchFamily="34" charset="-120"/>
              </a:rPr>
              <a:t>37c9b0e45a1f6d28…a65e</a:t>
            </a:r>
            <a:endParaRPr lang="en-US" sz="1400" dirty="0"/>
          </a:p>
        </p:txBody>
      </p:sp>
      <p:sp>
        <p:nvSpPr>
          <p:cNvPr id="13" name="Text 10"/>
          <p:cNvSpPr txBox="1"/>
          <p:nvPr/>
        </p:nvSpPr>
        <p:spPr>
          <a:xfrm>
            <a:off x="777240" y="4498848"/>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Enc(logit)   </a:t>
            </a:r>
            <a:pPr indent="0" marL="0">
              <a:buNone/>
            </a:pPr>
            <a:r>
              <a:rPr lang="en-US" sz="1400" dirty="0">
                <a:solidFill>
                  <a:schemeClr val="accent5"/>
                </a:solidFill>
                <a:latin typeface="Courier New" pitchFamily="34" charset="0"/>
                <a:ea typeface="Courier New" pitchFamily="34" charset="-122"/>
                <a:cs typeface="Courier New" pitchFamily="34" charset="-120"/>
              </a:rPr>
              <a:t>a4d2e7091f3cb658…3f07</a:t>
            </a:r>
            <a:endParaRPr lang="en-US" sz="1400" dirty="0"/>
          </a:p>
        </p:txBody>
      </p:sp>
      <p:sp>
        <p:nvSpPr>
          <p:cNvPr id="14" name="Vista hospital"/>
          <p:cNvSpPr/>
          <p:nvPr/>
        </p:nvSpPr>
        <p:spPr>
          <a:xfrm>
            <a:off x="6199632" y="1783080"/>
            <a:ext cx="5440680" cy="3383280"/>
          </a:xfrm>
          <a:prstGeom prst="roundRect">
            <a:avLst>
              <a:gd name="adj" fmla="val 2703"/>
            </a:avLst>
          </a:prstGeom>
          <a:solidFill>
            <a:schemeClr val="tx2"/>
          </a:solidFill>
          <a:ln w="9525">
            <a:solidFill>
              <a:schemeClr val="accent2">
                <a:alpha val="70000"/>
              </a:schemeClr>
            </a:solidFill>
            <a:prstDash val="solid"/>
          </a:ln>
        </p:spPr>
      </p:sp>
      <p:sp>
        <p:nvSpPr>
          <p:cNvPr id="15" name="Hospital círculo"/>
          <p:cNvSpPr/>
          <p:nvPr/>
        </p:nvSpPr>
        <p:spPr>
          <a:xfrm>
            <a:off x="6382512" y="1938528"/>
            <a:ext cx="384048" cy="384048"/>
          </a:xfrm>
          <a:prstGeom prst="ellipse">
            <a:avLst/>
          </a:prstGeom>
          <a:solidFill>
            <a:schemeClr val="accent2"/>
          </a:solidFill>
          <a:ln/>
        </p:spPr>
      </p:sp>
      <p:pic>
        <p:nvPicPr>
          <p:cNvPr id="16" name="Hospital ícono" descr="preencoded.png">    </p:cNvPr>
          <p:cNvPicPr>
            <a:picLocks noChangeAspect="1"/>
          </p:cNvPicPr>
          <p:nvPr/>
        </p:nvPicPr>
        <p:blipFill>
          <a:blip r:embed="rId2"/>
          <a:stretch>
            <a:fillRect/>
          </a:stretch>
        </p:blipFill>
        <p:spPr>
          <a:xfrm>
            <a:off x="6467003" y="2023019"/>
            <a:ext cx="215067" cy="215067"/>
          </a:xfrm>
          <a:prstGeom prst="rect">
            <a:avLst/>
          </a:prstGeom>
        </p:spPr>
      </p:pic>
      <p:sp>
        <p:nvSpPr>
          <p:cNvPr id="17" name="Text 13"/>
          <p:cNvSpPr txBox="1"/>
          <p:nvPr/>
        </p:nvSpPr>
        <p:spPr>
          <a:xfrm>
            <a:off x="6885432" y="1938528"/>
            <a:ext cx="4114800" cy="384048"/>
          </a:xfrm>
          <a:prstGeom prst="rect">
            <a:avLst/>
          </a:prstGeom>
          <a:noFill/>
          <a:ln/>
        </p:spPr>
        <p:txBody>
          <a:bodyPr wrap="square" lIns="0" tIns="0" rIns="0" bIns="0" rtlCol="0" anchor="ctr"/>
          <a:lstStyle/>
          <a:p>
            <a:pPr indent="0" marL="0">
              <a:buNone/>
            </a:pPr>
            <a:r>
              <a:rPr lang="en-US" sz="1200" b="1" spc="100" kern="0" dirty="0">
                <a:solidFill>
                  <a:schemeClr val="accent2"/>
                </a:solidFill>
              </a:rPr>
              <a:t>LO QUE VE EL HOSPITAL</a:t>
            </a:r>
            <a:endParaRPr lang="en-US" sz="1200" dirty="0"/>
          </a:p>
        </p:txBody>
      </p:sp>
      <p:sp>
        <p:nvSpPr>
          <p:cNvPr id="18" name="Text 14"/>
          <p:cNvSpPr txBox="1"/>
          <p:nvPr/>
        </p:nvSpPr>
        <p:spPr>
          <a:xfrm>
            <a:off x="6400800" y="2468880"/>
            <a:ext cx="2743200" cy="320040"/>
          </a:xfrm>
          <a:prstGeom prst="rect">
            <a:avLst/>
          </a:prstGeom>
          <a:noFill/>
          <a:ln/>
        </p:spPr>
        <p:txBody>
          <a:bodyPr wrap="square" lIns="0" tIns="0" rIns="0" bIns="0" rtlCol="0" anchor="ctr"/>
          <a:lstStyle/>
          <a:p>
            <a:pPr indent="0" marL="0">
              <a:buNone/>
            </a:pPr>
            <a:r>
              <a:rPr lang="en-US" sz="1400" dirty="0">
                <a:solidFill>
                  <a:schemeClr val="bg2"/>
                </a:solidFill>
              </a:rPr>
              <a:t>Paciente 0427</a:t>
            </a:r>
            <a:endParaRPr lang="en-US" sz="1400" dirty="0"/>
          </a:p>
        </p:txBody>
      </p:sp>
      <p:sp>
        <p:nvSpPr>
          <p:cNvPr id="19" name="Riesgo"/>
          <p:cNvSpPr/>
          <p:nvPr/>
        </p:nvSpPr>
        <p:spPr>
          <a:xfrm>
            <a:off x="6400800" y="2834640"/>
            <a:ext cx="2194560" cy="960120"/>
          </a:xfrm>
          <a:prstGeom prst="roundRect">
            <a:avLst>
              <a:gd name="adj" fmla="val 9524"/>
            </a:avLst>
          </a:prstGeom>
          <a:solidFill>
            <a:schemeClr val="accent4">
              <a:alpha val="20000"/>
            </a:schemeClr>
          </a:solidFill>
          <a:ln w="9525">
            <a:solidFill>
              <a:schemeClr val="accent4">
                <a:alpha val="80000"/>
              </a:schemeClr>
            </a:solidFill>
            <a:prstDash val="solid"/>
          </a:ln>
        </p:spPr>
      </p:sp>
      <p:sp>
        <p:nvSpPr>
          <p:cNvPr id="20" name="Text 16"/>
          <p:cNvSpPr txBox="1"/>
          <p:nvPr/>
        </p:nvSpPr>
        <p:spPr>
          <a:xfrm>
            <a:off x="6537960" y="2862072"/>
            <a:ext cx="1920240" cy="914400"/>
          </a:xfrm>
          <a:prstGeom prst="rect">
            <a:avLst/>
          </a:prstGeom>
          <a:noFill/>
          <a:ln/>
        </p:spPr>
        <p:txBody>
          <a:bodyPr wrap="square" lIns="0" tIns="0" rIns="0" bIns="0" rtlCol="0" anchor="ctr"/>
          <a:lstStyle/>
          <a:p>
            <a:pPr indent="0" marL="0">
              <a:buNone/>
            </a:pPr>
            <a:r>
              <a:rPr lang="en-US" sz="1100" b="1" spc="100" kern="0" dirty="0">
                <a:solidFill>
                  <a:schemeClr val="accent4"/>
                </a:solidFill>
              </a:rPr>
              <a:t>RIESGO</a:t>
            </a:r>
            <a:endParaRPr lang="en-US" sz="1400" dirty="0"/>
          </a:p>
          <a:p>
            <a:pPr indent="0" marL="0">
              <a:buNone/>
            </a:pPr>
            <a:r>
              <a:rPr lang="en-US" sz="3000" b="1" dirty="0">
                <a:solidFill>
                  <a:schemeClr val="bg1"/>
                </a:solidFill>
              </a:rPr>
              <a:t>ALTO</a:t>
            </a:r>
            <a:endParaRPr lang="en-US" sz="1400" dirty="0"/>
          </a:p>
        </p:txBody>
      </p:sp>
      <p:sp>
        <p:nvSpPr>
          <p:cNvPr id="21" name="Text 17"/>
          <p:cNvSpPr txBox="1"/>
          <p:nvPr/>
        </p:nvSpPr>
        <p:spPr>
          <a:xfrm>
            <a:off x="8823960" y="2834640"/>
            <a:ext cx="2651760" cy="1005840"/>
          </a:xfrm>
          <a:prstGeom prst="rect">
            <a:avLst/>
          </a:prstGeom>
          <a:noFill/>
          <a:ln/>
        </p:spPr>
        <p:txBody>
          <a:bodyPr wrap="square" lIns="0" tIns="0" rIns="0" bIns="0" rtlCol="0" anchor="t"/>
          <a:lstStyle/>
          <a:p>
            <a:pPr indent="0" marL="0">
              <a:spcAft>
                <a:spcPts val="200"/>
              </a:spcAft>
              <a:buNone/>
            </a:pPr>
            <a:r>
              <a:rPr lang="en-US" sz="1200" b="1" dirty="0">
                <a:solidFill>
                  <a:schemeClr val="bg1"/>
                </a:solidFill>
              </a:rPr>
              <a:t>Factores principales</a:t>
            </a:r>
            <a:endParaRPr lang="en-US" sz="1200" dirty="0"/>
          </a:p>
          <a:p>
            <a:pPr marL="342900" indent="-342900">
              <a:spcAft>
                <a:spcPts val="200"/>
              </a:spcAft>
              <a:buSzPct val="100000"/>
              <a:buChar char="•"/>
            </a:pPr>
            <a:r>
              <a:rPr lang="en-US" sz="1200" dirty="0">
                <a:solidFill>
                  <a:schemeClr val="bg2"/>
                </a:solidFill>
              </a:rPr>
              <a:t>IMC elevado</a:t>
            </a:r>
            <a:endParaRPr lang="en-US" sz="1200" dirty="0"/>
          </a:p>
          <a:p>
            <a:pPr marL="342900" indent="-342900">
              <a:spcAft>
                <a:spcPts val="200"/>
              </a:spcAft>
              <a:buSzPct val="100000"/>
              <a:buChar char="•"/>
            </a:pPr>
            <a:r>
              <a:rPr lang="en-US" sz="1200" dirty="0">
                <a:solidFill>
                  <a:schemeClr val="bg2"/>
                </a:solidFill>
              </a:rPr>
              <a:t>Presión alta</a:t>
            </a:r>
            <a:endParaRPr lang="en-US" sz="1200" dirty="0"/>
          </a:p>
          <a:p>
            <a:pPr marL="342900" indent="-342900">
              <a:spcAft>
                <a:spcPts val="200"/>
              </a:spcAft>
              <a:buSzPct val="100000"/>
              <a:buChar char="•"/>
            </a:pPr>
            <a:r>
              <a:rPr lang="en-US" sz="1200" dirty="0">
                <a:solidFill>
                  <a:schemeClr val="bg2"/>
                </a:solidFill>
              </a:rPr>
              <a:t>Sin actividad física</a:t>
            </a:r>
            <a:endParaRPr lang="en-US" sz="1200" dirty="0"/>
          </a:p>
        </p:txBody>
      </p:sp>
      <p:sp>
        <p:nvSpPr>
          <p:cNvPr id="22" name="Granite círculo"/>
          <p:cNvSpPr/>
          <p:nvPr/>
        </p:nvSpPr>
        <p:spPr>
          <a:xfrm>
            <a:off x="6400800" y="4041648"/>
            <a:ext cx="384048" cy="384048"/>
          </a:xfrm>
          <a:prstGeom prst="ellipse">
            <a:avLst/>
          </a:prstGeom>
          <a:solidFill>
            <a:schemeClr val="accent1"/>
          </a:solidFill>
          <a:ln/>
        </p:spPr>
      </p:sp>
      <p:pic>
        <p:nvPicPr>
          <p:cNvPr id="23" name="Granite ícono" descr="preencoded.png">    </p:cNvPr>
          <p:cNvPicPr>
            <a:picLocks noChangeAspect="1"/>
          </p:cNvPicPr>
          <p:nvPr/>
        </p:nvPicPr>
        <p:blipFill>
          <a:blip r:embed="rId3"/>
          <a:stretch>
            <a:fillRect/>
          </a:stretch>
        </p:blipFill>
        <p:spPr>
          <a:xfrm>
            <a:off x="6485291" y="4126139"/>
            <a:ext cx="215067" cy="215067"/>
          </a:xfrm>
          <a:prstGeom prst="rect">
            <a:avLst/>
          </a:prstGeom>
        </p:spPr>
      </p:pic>
      <p:sp>
        <p:nvSpPr>
          <p:cNvPr id="24" name="Text 19"/>
          <p:cNvSpPr txBox="1"/>
          <p:nvPr/>
        </p:nvSpPr>
        <p:spPr>
          <a:xfrm>
            <a:off x="6903720" y="3950208"/>
            <a:ext cx="4572000" cy="868680"/>
          </a:xfrm>
          <a:prstGeom prst="rect">
            <a:avLst/>
          </a:prstGeom>
          <a:noFill/>
          <a:ln/>
        </p:spPr>
        <p:txBody>
          <a:bodyPr wrap="square" lIns="0" tIns="0" rIns="0" bIns="0" rtlCol="0" anchor="ctr"/>
          <a:lstStyle/>
          <a:p>
            <a:pPr indent="0" marL="0">
              <a:buNone/>
            </a:pPr>
            <a:r>
              <a:rPr lang="en-US" sz="1200" i="1" dirty="0">
                <a:solidFill>
                  <a:schemeClr val="bg1"/>
                </a:solidFill>
              </a:rPr>
              <a:t>«Tu riesgo es alto, sobre todo por el peso y la presión. Te recomendamos una prueba de glucosa esta semana.» · Granite</a:t>
            </a:r>
            <a:endParaRPr lang="en-US" sz="1200" dirty="0"/>
          </a:p>
        </p:txBody>
      </p:sp>
      <p:sp>
        <p:nvSpPr>
          <p:cNvPr id="25" name="Text 20"/>
          <p:cNvSpPr txBox="1"/>
          <p:nvPr/>
        </p:nvSpPr>
        <p:spPr>
          <a:xfrm>
            <a:off x="548640" y="5212080"/>
            <a:ext cx="5486400" cy="228600"/>
          </a:xfrm>
          <a:prstGeom prst="rect">
            <a:avLst/>
          </a:prstGeom>
          <a:noFill/>
          <a:ln/>
        </p:spPr>
        <p:txBody>
          <a:bodyPr wrap="square" lIns="0" tIns="0" rIns="0" bIns="0" rtlCol="0" anchor="t"/>
          <a:lstStyle/>
          <a:p>
            <a:pPr indent="0" marL="0">
              <a:buNone/>
            </a:pPr>
            <a:r>
              <a:rPr lang="en-US" sz="1000" dirty="0">
                <a:solidFill>
                  <a:schemeClr val="accent6"/>
                </a:solidFill>
              </a:rPr>
              <a:t>Maqueta ilustrativa de la demo</a:t>
            </a:r>
            <a:endParaRPr lang="en-US" sz="1000" dirty="0"/>
          </a:p>
        </p:txBody>
      </p:sp>
      <p:sp>
        <p:nvSpPr>
          <p:cNvPr id="26" name="AUC claro vs. cifrado"/>
          <p:cNvSpPr/>
          <p:nvPr/>
        </p:nvSpPr>
        <p:spPr>
          <a:xfrm>
            <a:off x="548640" y="5486400"/>
            <a:ext cx="2642616" cy="658368"/>
          </a:xfrm>
          <a:prstGeom prst="roundRect">
            <a:avLst>
              <a:gd name="adj" fmla="val 13889"/>
            </a:avLst>
          </a:prstGeom>
          <a:solidFill>
            <a:schemeClr val="accent1">
              <a:alpha val="20000"/>
            </a:schemeClr>
          </a:solidFill>
          <a:ln/>
        </p:spPr>
      </p:sp>
      <p:sp>
        <p:nvSpPr>
          <p:cNvPr id="27" name="AUC claro vs. cifrado círculo"/>
          <p:cNvSpPr/>
          <p:nvPr/>
        </p:nvSpPr>
        <p:spPr>
          <a:xfrm>
            <a:off x="685800" y="5586984"/>
            <a:ext cx="457200" cy="457200"/>
          </a:xfrm>
          <a:prstGeom prst="ellipse">
            <a:avLst/>
          </a:prstGeom>
          <a:solidFill>
            <a:schemeClr val="accent1"/>
          </a:solidFill>
          <a:ln/>
        </p:spPr>
      </p:sp>
      <p:pic>
        <p:nvPicPr>
          <p:cNvPr id="28" name="AUC claro vs. cifrado ícono" descr="preencoded.png">    </p:cNvPr>
          <p:cNvPicPr>
            <a:picLocks noChangeAspect="1"/>
          </p:cNvPicPr>
          <p:nvPr/>
        </p:nvPicPr>
        <p:blipFill>
          <a:blip r:embed="rId4"/>
          <a:stretch>
            <a:fillRect/>
          </a:stretch>
        </p:blipFill>
        <p:spPr>
          <a:xfrm>
            <a:off x="786384" y="5687568"/>
            <a:ext cx="256032" cy="256032"/>
          </a:xfrm>
          <a:prstGeom prst="rect">
            <a:avLst/>
          </a:prstGeom>
        </p:spPr>
      </p:pic>
      <p:sp>
        <p:nvSpPr>
          <p:cNvPr id="29" name="Text 23"/>
          <p:cNvSpPr txBox="1"/>
          <p:nvPr/>
        </p:nvSpPr>
        <p:spPr>
          <a:xfrm>
            <a:off x="1234440" y="5541264"/>
            <a:ext cx="1874520" cy="310896"/>
          </a:xfrm>
          <a:prstGeom prst="rect">
            <a:avLst/>
          </a:prstGeom>
          <a:noFill/>
          <a:ln/>
        </p:spPr>
        <p:txBody>
          <a:bodyPr wrap="square" lIns="0" tIns="0" rIns="0" bIns="0" rtlCol="0" anchor="ctr"/>
          <a:lstStyle/>
          <a:p>
            <a:pPr indent="0" marL="0">
              <a:buNone/>
            </a:pPr>
            <a:r>
              <a:rPr lang="en-US" sz="1300" b="1" dirty="0">
                <a:solidFill>
                  <a:schemeClr val="bg1"/>
                </a:solidFill>
              </a:rPr>
              <a:t>AUC claro vs. cifrado</a:t>
            </a:r>
            <a:endParaRPr lang="en-US" sz="1300" dirty="0"/>
          </a:p>
        </p:txBody>
      </p:sp>
      <p:sp>
        <p:nvSpPr>
          <p:cNvPr id="30" name="Text 24"/>
          <p:cNvSpPr txBox="1"/>
          <p:nvPr/>
        </p:nvSpPr>
        <p:spPr>
          <a:xfrm>
            <a:off x="1234440" y="5843016"/>
            <a:ext cx="1874520" cy="237744"/>
          </a:xfrm>
          <a:prstGeom prst="rect">
            <a:avLst/>
          </a:prstGeom>
          <a:noFill/>
          <a:ln/>
        </p:spPr>
        <p:txBody>
          <a:bodyPr wrap="square" lIns="0" tIns="0" rIns="0" bIns="0" rtlCol="0" anchor="ctr"/>
          <a:lstStyle/>
          <a:p>
            <a:pPr indent="0" marL="0">
              <a:buNone/>
            </a:pPr>
            <a:r>
              <a:rPr lang="en-US" sz="1000" dirty="0">
                <a:solidFill>
                  <a:schemeClr val="bg2"/>
                </a:solidFill>
              </a:rPr>
              <a:t>medido en vivo en LinuxONE</a:t>
            </a:r>
            <a:endParaRPr lang="en-US" sz="1000" dirty="0"/>
          </a:p>
        </p:txBody>
      </p:sp>
      <p:sp>
        <p:nvSpPr>
          <p:cNvPr id="31" name="Latencia por paciente"/>
          <p:cNvSpPr/>
          <p:nvPr/>
        </p:nvSpPr>
        <p:spPr>
          <a:xfrm>
            <a:off x="3364992" y="5486400"/>
            <a:ext cx="2642616" cy="658368"/>
          </a:xfrm>
          <a:prstGeom prst="roundRect">
            <a:avLst>
              <a:gd name="adj" fmla="val 13889"/>
            </a:avLst>
          </a:prstGeom>
          <a:solidFill>
            <a:schemeClr val="accent1">
              <a:alpha val="20000"/>
            </a:schemeClr>
          </a:solidFill>
          <a:ln/>
        </p:spPr>
      </p:sp>
      <p:sp>
        <p:nvSpPr>
          <p:cNvPr id="32" name="Latencia por paciente círculo"/>
          <p:cNvSpPr/>
          <p:nvPr/>
        </p:nvSpPr>
        <p:spPr>
          <a:xfrm>
            <a:off x="3502152" y="5586984"/>
            <a:ext cx="457200" cy="457200"/>
          </a:xfrm>
          <a:prstGeom prst="ellipse">
            <a:avLst/>
          </a:prstGeom>
          <a:solidFill>
            <a:schemeClr val="accent1"/>
          </a:solidFill>
          <a:ln/>
        </p:spPr>
      </p:sp>
      <p:pic>
        <p:nvPicPr>
          <p:cNvPr id="33" name="Latencia por paciente ícono" descr="preencoded.png">    </p:cNvPr>
          <p:cNvPicPr>
            <a:picLocks noChangeAspect="1"/>
          </p:cNvPicPr>
          <p:nvPr/>
        </p:nvPicPr>
        <p:blipFill>
          <a:blip r:embed="rId5"/>
          <a:stretch>
            <a:fillRect/>
          </a:stretch>
        </p:blipFill>
        <p:spPr>
          <a:xfrm>
            <a:off x="3602736" y="5687568"/>
            <a:ext cx="256032" cy="256032"/>
          </a:xfrm>
          <a:prstGeom prst="rect">
            <a:avLst/>
          </a:prstGeom>
        </p:spPr>
      </p:pic>
      <p:sp>
        <p:nvSpPr>
          <p:cNvPr id="34" name="Text 27"/>
          <p:cNvSpPr txBox="1"/>
          <p:nvPr/>
        </p:nvSpPr>
        <p:spPr>
          <a:xfrm>
            <a:off x="4050792" y="5541264"/>
            <a:ext cx="1874520" cy="310896"/>
          </a:xfrm>
          <a:prstGeom prst="rect">
            <a:avLst/>
          </a:prstGeom>
          <a:noFill/>
          <a:ln/>
        </p:spPr>
        <p:txBody>
          <a:bodyPr wrap="square" lIns="0" tIns="0" rIns="0" bIns="0" rtlCol="0" anchor="ctr"/>
          <a:lstStyle/>
          <a:p>
            <a:pPr indent="0" marL="0">
              <a:buNone/>
            </a:pPr>
            <a:r>
              <a:rPr lang="en-US" sz="1300" b="1" dirty="0">
                <a:solidFill>
                  <a:schemeClr val="bg1"/>
                </a:solidFill>
              </a:rPr>
              <a:t>Latencia por paciente</a:t>
            </a:r>
            <a:endParaRPr lang="en-US" sz="1300" dirty="0"/>
          </a:p>
        </p:txBody>
      </p:sp>
      <p:sp>
        <p:nvSpPr>
          <p:cNvPr id="35" name="Text 28"/>
          <p:cNvSpPr txBox="1"/>
          <p:nvPr/>
        </p:nvSpPr>
        <p:spPr>
          <a:xfrm>
            <a:off x="4050792" y="5843016"/>
            <a:ext cx="1874520" cy="237744"/>
          </a:xfrm>
          <a:prstGeom prst="rect">
            <a:avLst/>
          </a:prstGeom>
          <a:noFill/>
          <a:ln/>
        </p:spPr>
        <p:txBody>
          <a:bodyPr wrap="square" lIns="0" tIns="0" rIns="0" bIns="0" rtlCol="0" anchor="ctr"/>
          <a:lstStyle/>
          <a:p>
            <a:pPr indent="0" marL="0">
              <a:buNone/>
            </a:pPr>
            <a:r>
              <a:rPr lang="en-US" sz="1000" dirty="0">
                <a:solidFill>
                  <a:schemeClr val="bg2"/>
                </a:solidFill>
              </a:rPr>
              <a:t>medido en vivo en LinuxONE</a:t>
            </a:r>
            <a:endParaRPr lang="en-US" sz="1000" dirty="0"/>
          </a:p>
        </p:txBody>
      </p:sp>
      <p:sp>
        <p:nvSpPr>
          <p:cNvPr id="36" name="Tamaño del cifrado"/>
          <p:cNvSpPr/>
          <p:nvPr/>
        </p:nvSpPr>
        <p:spPr>
          <a:xfrm>
            <a:off x="6181344" y="5486400"/>
            <a:ext cx="2642616" cy="658368"/>
          </a:xfrm>
          <a:prstGeom prst="roundRect">
            <a:avLst>
              <a:gd name="adj" fmla="val 13889"/>
            </a:avLst>
          </a:prstGeom>
          <a:solidFill>
            <a:schemeClr val="accent1">
              <a:alpha val="20000"/>
            </a:schemeClr>
          </a:solidFill>
          <a:ln/>
        </p:spPr>
      </p:sp>
      <p:sp>
        <p:nvSpPr>
          <p:cNvPr id="37" name="Tamaño del cifrado círculo"/>
          <p:cNvSpPr/>
          <p:nvPr/>
        </p:nvSpPr>
        <p:spPr>
          <a:xfrm>
            <a:off x="6318504" y="5586984"/>
            <a:ext cx="457200" cy="457200"/>
          </a:xfrm>
          <a:prstGeom prst="ellipse">
            <a:avLst/>
          </a:prstGeom>
          <a:solidFill>
            <a:schemeClr val="accent1"/>
          </a:solidFill>
          <a:ln/>
        </p:spPr>
      </p:sp>
      <p:pic>
        <p:nvPicPr>
          <p:cNvPr id="38" name="Tamaño del cifrado ícono" descr="preencoded.png">    </p:cNvPr>
          <p:cNvPicPr>
            <a:picLocks noChangeAspect="1"/>
          </p:cNvPicPr>
          <p:nvPr/>
        </p:nvPicPr>
        <p:blipFill>
          <a:blip r:embed="rId6"/>
          <a:stretch>
            <a:fillRect/>
          </a:stretch>
        </p:blipFill>
        <p:spPr>
          <a:xfrm>
            <a:off x="6419088" y="5687568"/>
            <a:ext cx="256032" cy="256032"/>
          </a:xfrm>
          <a:prstGeom prst="rect">
            <a:avLst/>
          </a:prstGeom>
        </p:spPr>
      </p:pic>
      <p:sp>
        <p:nvSpPr>
          <p:cNvPr id="39" name="Text 31"/>
          <p:cNvSpPr txBox="1"/>
          <p:nvPr/>
        </p:nvSpPr>
        <p:spPr>
          <a:xfrm>
            <a:off x="6867144" y="5541264"/>
            <a:ext cx="1874520" cy="310896"/>
          </a:xfrm>
          <a:prstGeom prst="rect">
            <a:avLst/>
          </a:prstGeom>
          <a:noFill/>
          <a:ln/>
        </p:spPr>
        <p:txBody>
          <a:bodyPr wrap="square" lIns="0" tIns="0" rIns="0" bIns="0" rtlCol="0" anchor="ctr"/>
          <a:lstStyle/>
          <a:p>
            <a:pPr indent="0" marL="0">
              <a:buNone/>
            </a:pPr>
            <a:r>
              <a:rPr lang="en-US" sz="1300" b="1" dirty="0">
                <a:solidFill>
                  <a:schemeClr val="bg1"/>
                </a:solidFill>
              </a:rPr>
              <a:t>Tamaño del cifrado</a:t>
            </a:r>
            <a:endParaRPr lang="en-US" sz="1300" dirty="0"/>
          </a:p>
        </p:txBody>
      </p:sp>
      <p:sp>
        <p:nvSpPr>
          <p:cNvPr id="40" name="Text 32"/>
          <p:cNvSpPr txBox="1"/>
          <p:nvPr/>
        </p:nvSpPr>
        <p:spPr>
          <a:xfrm>
            <a:off x="6867144" y="5843016"/>
            <a:ext cx="1874520" cy="237744"/>
          </a:xfrm>
          <a:prstGeom prst="rect">
            <a:avLst/>
          </a:prstGeom>
          <a:noFill/>
          <a:ln/>
        </p:spPr>
        <p:txBody>
          <a:bodyPr wrap="square" lIns="0" tIns="0" rIns="0" bIns="0" rtlCol="0" anchor="ctr"/>
          <a:lstStyle/>
          <a:p>
            <a:pPr indent="0" marL="0">
              <a:buNone/>
            </a:pPr>
            <a:r>
              <a:rPr lang="en-US" sz="1000" dirty="0">
                <a:solidFill>
                  <a:schemeClr val="bg2"/>
                </a:solidFill>
              </a:rPr>
              <a:t>medido en vivo en LinuxONE</a:t>
            </a:r>
            <a:endParaRPr lang="en-US" sz="1000" dirty="0"/>
          </a:p>
        </p:txBody>
      </p:sp>
      <p:sp>
        <p:nvSpPr>
          <p:cNvPr id="41" name="Pacientes por minuto"/>
          <p:cNvSpPr/>
          <p:nvPr/>
        </p:nvSpPr>
        <p:spPr>
          <a:xfrm>
            <a:off x="8997696" y="5486400"/>
            <a:ext cx="2642616" cy="658368"/>
          </a:xfrm>
          <a:prstGeom prst="roundRect">
            <a:avLst>
              <a:gd name="adj" fmla="val 13889"/>
            </a:avLst>
          </a:prstGeom>
          <a:solidFill>
            <a:schemeClr val="accent1">
              <a:alpha val="20000"/>
            </a:schemeClr>
          </a:solidFill>
          <a:ln/>
        </p:spPr>
      </p:sp>
      <p:sp>
        <p:nvSpPr>
          <p:cNvPr id="42" name="Pacientes por minuto círculo"/>
          <p:cNvSpPr/>
          <p:nvPr/>
        </p:nvSpPr>
        <p:spPr>
          <a:xfrm>
            <a:off x="9134856" y="5586984"/>
            <a:ext cx="457200" cy="457200"/>
          </a:xfrm>
          <a:prstGeom prst="ellipse">
            <a:avLst/>
          </a:prstGeom>
          <a:solidFill>
            <a:schemeClr val="accent1"/>
          </a:solidFill>
          <a:ln/>
        </p:spPr>
      </p:sp>
      <p:pic>
        <p:nvPicPr>
          <p:cNvPr id="43" name="Pacientes por minuto ícono" descr="preencoded.png">    </p:cNvPr>
          <p:cNvPicPr>
            <a:picLocks noChangeAspect="1"/>
          </p:cNvPicPr>
          <p:nvPr/>
        </p:nvPicPr>
        <p:blipFill>
          <a:blip r:embed="rId7"/>
          <a:stretch>
            <a:fillRect/>
          </a:stretch>
        </p:blipFill>
        <p:spPr>
          <a:xfrm>
            <a:off x="9235440" y="5687568"/>
            <a:ext cx="256032" cy="256032"/>
          </a:xfrm>
          <a:prstGeom prst="rect">
            <a:avLst/>
          </a:prstGeom>
        </p:spPr>
      </p:pic>
      <p:sp>
        <p:nvSpPr>
          <p:cNvPr id="44" name="Text 35"/>
          <p:cNvSpPr txBox="1"/>
          <p:nvPr/>
        </p:nvSpPr>
        <p:spPr>
          <a:xfrm>
            <a:off x="9683496" y="5541264"/>
            <a:ext cx="1874520" cy="310896"/>
          </a:xfrm>
          <a:prstGeom prst="rect">
            <a:avLst/>
          </a:prstGeom>
          <a:noFill/>
          <a:ln/>
        </p:spPr>
        <p:txBody>
          <a:bodyPr wrap="square" lIns="0" tIns="0" rIns="0" bIns="0" rtlCol="0" anchor="ctr"/>
          <a:lstStyle/>
          <a:p>
            <a:pPr indent="0" marL="0">
              <a:buNone/>
            </a:pPr>
            <a:r>
              <a:rPr lang="en-US" sz="1300" b="1" dirty="0">
                <a:solidFill>
                  <a:schemeClr val="bg1"/>
                </a:solidFill>
              </a:rPr>
              <a:t>Pacientes por minuto</a:t>
            </a:r>
            <a:endParaRPr lang="en-US" sz="1300" dirty="0"/>
          </a:p>
        </p:txBody>
      </p:sp>
      <p:sp>
        <p:nvSpPr>
          <p:cNvPr id="45" name="Text 36"/>
          <p:cNvSpPr txBox="1"/>
          <p:nvPr/>
        </p:nvSpPr>
        <p:spPr>
          <a:xfrm>
            <a:off x="9683496" y="5843016"/>
            <a:ext cx="1874520" cy="237744"/>
          </a:xfrm>
          <a:prstGeom prst="rect">
            <a:avLst/>
          </a:prstGeom>
          <a:noFill/>
          <a:ln/>
        </p:spPr>
        <p:txBody>
          <a:bodyPr wrap="square" lIns="0" tIns="0" rIns="0" bIns="0" rtlCol="0" anchor="ctr"/>
          <a:lstStyle/>
          <a:p>
            <a:pPr indent="0" marL="0">
              <a:buNone/>
            </a:pPr>
            <a:r>
              <a:rPr lang="en-US" sz="1000" dirty="0">
                <a:solidFill>
                  <a:schemeClr val="bg2"/>
                </a:solidFill>
              </a:rPr>
              <a:t>medido en vivo en LinuxONE</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06 · DATOS, MODELO Y RIESGO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Datos públicos para entrenar, datos cifrados para atender</a:t>
            </a:r>
            <a:endParaRPr lang="en-US" sz="3000" dirty="0"/>
          </a:p>
        </p:txBody>
      </p:sp>
      <p:sp>
        <p:nvSpPr>
          <p:cNvPr id="4" name="253,680"/>
          <p:cNvSpPr/>
          <p:nvPr/>
        </p:nvSpPr>
        <p:spPr>
          <a:xfrm>
            <a:off x="548640" y="1783080"/>
            <a:ext cx="3520440" cy="960120"/>
          </a:xfrm>
          <a:prstGeom prst="roundRect">
            <a:avLst>
              <a:gd name="adj" fmla="val 9524"/>
            </a:avLst>
          </a:prstGeom>
          <a:solidFill>
            <a:schemeClr val="tx2"/>
          </a:solidFill>
          <a:ln/>
        </p:spPr>
      </p:sp>
      <p:sp>
        <p:nvSpPr>
          <p:cNvPr id="5" name="Text 3"/>
          <p:cNvSpPr txBox="1"/>
          <p:nvPr/>
        </p:nvSpPr>
        <p:spPr>
          <a:xfrm>
            <a:off x="731520"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253,680</a:t>
            </a:r>
            <a:endParaRPr lang="en-US" sz="3000" dirty="0"/>
          </a:p>
        </p:txBody>
      </p:sp>
      <p:sp>
        <p:nvSpPr>
          <p:cNvPr id="6" name="Text 4"/>
          <p:cNvSpPr txBox="1"/>
          <p:nvPr/>
        </p:nvSpPr>
        <p:spPr>
          <a:xfrm>
            <a:off x="2331720"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respuestas de la encuesta de salud CDC BRFSS 2015 (UCI, ID 891)</a:t>
            </a:r>
            <a:endParaRPr lang="en-US" sz="1100" dirty="0"/>
          </a:p>
        </p:txBody>
      </p:sp>
      <p:sp>
        <p:nvSpPr>
          <p:cNvPr id="7" name="21"/>
          <p:cNvSpPr/>
          <p:nvPr/>
        </p:nvSpPr>
        <p:spPr>
          <a:xfrm>
            <a:off x="4334256" y="1783080"/>
            <a:ext cx="3520440" cy="960120"/>
          </a:xfrm>
          <a:prstGeom prst="roundRect">
            <a:avLst>
              <a:gd name="adj" fmla="val 9524"/>
            </a:avLst>
          </a:prstGeom>
          <a:solidFill>
            <a:schemeClr val="tx2"/>
          </a:solidFill>
          <a:ln/>
        </p:spPr>
      </p:sp>
      <p:sp>
        <p:nvSpPr>
          <p:cNvPr id="8" name="Text 6"/>
          <p:cNvSpPr txBox="1"/>
          <p:nvPr/>
        </p:nvSpPr>
        <p:spPr>
          <a:xfrm>
            <a:off x="4517136"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21</a:t>
            </a:r>
            <a:endParaRPr lang="en-US" sz="3000" dirty="0"/>
          </a:p>
        </p:txBody>
      </p:sp>
      <p:sp>
        <p:nvSpPr>
          <p:cNvPr id="9" name="Text 7"/>
          <p:cNvSpPr txBox="1"/>
          <p:nvPr/>
        </p:nvSpPr>
        <p:spPr>
          <a:xfrm>
            <a:off x="6117336"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indicadores: IMC, presión, colesterol, actividad física, edad…</a:t>
            </a:r>
            <a:endParaRPr lang="en-US" sz="1100" dirty="0"/>
          </a:p>
        </p:txBody>
      </p:sp>
      <p:sp>
        <p:nvSpPr>
          <p:cNvPr id="10" name="13.9%"/>
          <p:cNvSpPr/>
          <p:nvPr/>
        </p:nvSpPr>
        <p:spPr>
          <a:xfrm>
            <a:off x="8119872" y="1783080"/>
            <a:ext cx="3520440" cy="960120"/>
          </a:xfrm>
          <a:prstGeom prst="roundRect">
            <a:avLst>
              <a:gd name="adj" fmla="val 9524"/>
            </a:avLst>
          </a:prstGeom>
          <a:solidFill>
            <a:schemeClr val="tx2"/>
          </a:solidFill>
          <a:ln/>
        </p:spPr>
      </p:sp>
      <p:sp>
        <p:nvSpPr>
          <p:cNvPr id="11" name="Text 9"/>
          <p:cNvSpPr txBox="1"/>
          <p:nvPr/>
        </p:nvSpPr>
        <p:spPr>
          <a:xfrm>
            <a:off x="8302752"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13.9%</a:t>
            </a:r>
            <a:endParaRPr lang="en-US" sz="3000" dirty="0"/>
          </a:p>
        </p:txBody>
      </p:sp>
      <p:sp>
        <p:nvSpPr>
          <p:cNvPr id="12" name="Text 10"/>
          <p:cNvSpPr txBox="1"/>
          <p:nvPr/>
        </p:nvSpPr>
        <p:spPr>
          <a:xfrm>
            <a:off x="9902952"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casos con prediabetes o diabetes: hay que cuidar el desbalance</a:t>
            </a:r>
            <a:endParaRPr lang="en-US" sz="1100" dirty="0"/>
          </a:p>
        </p:txBody>
      </p:sp>
      <p:sp>
        <p:nvSpPr>
          <p:cNvPr id="13" name="conector"/>
          <p:cNvSpPr/>
          <p:nvPr/>
        </p:nvSpPr>
        <p:spPr>
          <a:xfrm>
            <a:off x="777240" y="3493008"/>
            <a:ext cx="0" cy="274320"/>
          </a:xfrm>
          <a:prstGeom prst="line">
            <a:avLst/>
          </a:prstGeom>
          <a:noFill/>
          <a:ln w="19050">
            <a:solidFill>
              <a:schemeClr val="accent5"/>
            </a:solidFill>
            <a:prstDash val="dash"/>
          </a:ln>
        </p:spPr>
      </p:sp>
      <p:sp>
        <p:nvSpPr>
          <p:cNvPr id="14" name="paso 1"/>
          <p:cNvSpPr/>
          <p:nvPr/>
        </p:nvSpPr>
        <p:spPr>
          <a:xfrm>
            <a:off x="548640" y="3017520"/>
            <a:ext cx="457200" cy="457200"/>
          </a:xfrm>
          <a:prstGeom prst="ellipse">
            <a:avLst/>
          </a:prstGeom>
          <a:solidFill>
            <a:schemeClr val="accent1"/>
          </a:solidFill>
          <a:ln/>
        </p:spPr>
      </p:sp>
      <p:sp>
        <p:nvSpPr>
          <p:cNvPr id="15" name="Text 13"/>
          <p:cNvSpPr txBox="1"/>
          <p:nvPr/>
        </p:nvSpPr>
        <p:spPr>
          <a:xfrm>
            <a:off x="54864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6" name="Text 14"/>
          <p:cNvSpPr txBox="1"/>
          <p:nvPr/>
        </p:nvSpPr>
        <p:spPr>
          <a:xfrm>
            <a:off x="1188720" y="2990088"/>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Entrenar con datos públicos</a:t>
            </a:r>
            <a:endParaRPr lang="en-US" sz="1400" dirty="0"/>
          </a:p>
        </p:txBody>
      </p:sp>
      <p:sp>
        <p:nvSpPr>
          <p:cNvPr id="17" name="Text 15"/>
          <p:cNvSpPr txBox="1"/>
          <p:nvPr/>
        </p:nvSpPr>
        <p:spPr>
          <a:xfrm>
            <a:off x="1188720" y="3282696"/>
            <a:ext cx="4754880" cy="384048"/>
          </a:xfrm>
          <a:prstGeom prst="rect">
            <a:avLst/>
          </a:prstGeom>
          <a:noFill/>
          <a:ln/>
        </p:spPr>
        <p:txBody>
          <a:bodyPr wrap="square" lIns="0" tIns="0" rIns="0" bIns="0" rtlCol="0" anchor="t"/>
          <a:lstStyle/>
          <a:p>
            <a:pPr indent="0" marL="0">
              <a:buNone/>
            </a:pPr>
            <a:r>
              <a:rPr lang="en-US" sz="1200" dirty="0">
                <a:solidFill>
                  <a:schemeClr val="bg2"/>
                </a:solidFill>
              </a:rPr>
              <a:t>Regresión logística (y XGBoost en claro como referencia)</a:t>
            </a:r>
            <a:endParaRPr lang="en-US" sz="1200" dirty="0"/>
          </a:p>
        </p:txBody>
      </p:sp>
      <p:sp>
        <p:nvSpPr>
          <p:cNvPr id="18" name="conector"/>
          <p:cNvSpPr/>
          <p:nvPr/>
        </p:nvSpPr>
        <p:spPr>
          <a:xfrm>
            <a:off x="777240" y="4242816"/>
            <a:ext cx="0" cy="274320"/>
          </a:xfrm>
          <a:prstGeom prst="line">
            <a:avLst/>
          </a:prstGeom>
          <a:noFill/>
          <a:ln w="19050">
            <a:solidFill>
              <a:schemeClr val="accent5"/>
            </a:solidFill>
            <a:prstDash val="dash"/>
          </a:ln>
        </p:spPr>
      </p:sp>
      <p:sp>
        <p:nvSpPr>
          <p:cNvPr id="19" name="paso 2"/>
          <p:cNvSpPr/>
          <p:nvPr/>
        </p:nvSpPr>
        <p:spPr>
          <a:xfrm>
            <a:off x="548640" y="3767328"/>
            <a:ext cx="457200" cy="457200"/>
          </a:xfrm>
          <a:prstGeom prst="ellipse">
            <a:avLst/>
          </a:prstGeom>
          <a:solidFill>
            <a:schemeClr val="accent1"/>
          </a:solidFill>
          <a:ln/>
        </p:spPr>
      </p:sp>
      <p:sp>
        <p:nvSpPr>
          <p:cNvPr id="20" name="Text 18"/>
          <p:cNvSpPr txBox="1"/>
          <p:nvPr/>
        </p:nvSpPr>
        <p:spPr>
          <a:xfrm>
            <a:off x="548640" y="3767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 19"/>
          <p:cNvSpPr txBox="1"/>
          <p:nvPr/>
        </p:nvSpPr>
        <p:spPr>
          <a:xfrm>
            <a:off x="1188720" y="3739896"/>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Pesos a punto fijo</a:t>
            </a:r>
            <a:endParaRPr lang="en-US" sz="1400" dirty="0"/>
          </a:p>
        </p:txBody>
      </p:sp>
      <p:sp>
        <p:nvSpPr>
          <p:cNvPr id="22" name="Text 20"/>
          <p:cNvSpPr txBox="1"/>
          <p:nvPr/>
        </p:nvSpPr>
        <p:spPr>
          <a:xfrm>
            <a:off x="1188720" y="4032504"/>
            <a:ext cx="4754880" cy="384048"/>
          </a:xfrm>
          <a:prstGeom prst="rect">
            <a:avLst/>
          </a:prstGeom>
          <a:noFill/>
          <a:ln/>
        </p:spPr>
        <p:txBody>
          <a:bodyPr wrap="square" lIns="0" tIns="0" rIns="0" bIns="0" rtlCol="0" anchor="t"/>
          <a:lstStyle/>
          <a:p>
            <a:pPr indent="0" marL="0">
              <a:buNone/>
            </a:pPr>
            <a:r>
              <a:rPr lang="en-US" sz="1200" dirty="0">
                <a:solidFill>
                  <a:schemeClr val="bg2"/>
                </a:solidFill>
              </a:rPr>
              <a:t>Enteros que el esquema cifrado puede operar</a:t>
            </a:r>
            <a:endParaRPr lang="en-US" sz="1200" dirty="0"/>
          </a:p>
        </p:txBody>
      </p:sp>
      <p:sp>
        <p:nvSpPr>
          <p:cNvPr id="23" name="conector"/>
          <p:cNvSpPr/>
          <p:nvPr/>
        </p:nvSpPr>
        <p:spPr>
          <a:xfrm>
            <a:off x="777240" y="4992624"/>
            <a:ext cx="0" cy="274320"/>
          </a:xfrm>
          <a:prstGeom prst="line">
            <a:avLst/>
          </a:prstGeom>
          <a:noFill/>
          <a:ln w="19050">
            <a:solidFill>
              <a:schemeClr val="accent5"/>
            </a:solidFill>
            <a:prstDash val="dash"/>
          </a:ln>
        </p:spPr>
      </p:sp>
      <p:sp>
        <p:nvSpPr>
          <p:cNvPr id="24" name="paso 3"/>
          <p:cNvSpPr/>
          <p:nvPr/>
        </p:nvSpPr>
        <p:spPr>
          <a:xfrm>
            <a:off x="548640" y="4517136"/>
            <a:ext cx="457200" cy="457200"/>
          </a:xfrm>
          <a:prstGeom prst="ellipse">
            <a:avLst/>
          </a:prstGeom>
          <a:solidFill>
            <a:schemeClr val="accent1"/>
          </a:solidFill>
          <a:ln/>
        </p:spPr>
      </p:sp>
      <p:sp>
        <p:nvSpPr>
          <p:cNvPr id="25" name="Text 23"/>
          <p:cNvSpPr txBox="1"/>
          <p:nvPr/>
        </p:nvSpPr>
        <p:spPr>
          <a:xfrm>
            <a:off x="548640" y="45171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6" name="Text 24"/>
          <p:cNvSpPr txBox="1"/>
          <p:nvPr/>
        </p:nvSpPr>
        <p:spPr>
          <a:xfrm>
            <a:off x="1188720" y="4489704"/>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El paciente se cifra</a:t>
            </a:r>
            <a:endParaRPr lang="en-US" sz="1400" dirty="0"/>
          </a:p>
        </p:txBody>
      </p:sp>
      <p:sp>
        <p:nvSpPr>
          <p:cNvPr id="27" name="Text 25"/>
          <p:cNvSpPr txBox="1"/>
          <p:nvPr/>
        </p:nvSpPr>
        <p:spPr>
          <a:xfrm>
            <a:off x="1188720" y="4782312"/>
            <a:ext cx="4754880" cy="384048"/>
          </a:xfrm>
          <a:prstGeom prst="rect">
            <a:avLst/>
          </a:prstGeom>
          <a:noFill/>
          <a:ln/>
        </p:spPr>
        <p:txBody>
          <a:bodyPr wrap="square" lIns="0" tIns="0" rIns="0" bIns="0" rtlCol="0" anchor="t"/>
          <a:lstStyle/>
          <a:p>
            <a:pPr indent="0" marL="0">
              <a:buNone/>
            </a:pPr>
            <a:r>
              <a:rPr lang="en-US" sz="1200" dirty="0">
                <a:solidFill>
                  <a:schemeClr val="bg2"/>
                </a:solidFill>
              </a:rPr>
              <a:t>21 indicadores cifrados con la llave del hospital</a:t>
            </a:r>
            <a:endParaRPr lang="en-US" sz="1200" dirty="0"/>
          </a:p>
        </p:txBody>
      </p:sp>
      <p:sp>
        <p:nvSpPr>
          <p:cNvPr id="28" name="paso 4"/>
          <p:cNvSpPr/>
          <p:nvPr/>
        </p:nvSpPr>
        <p:spPr>
          <a:xfrm>
            <a:off x="548640" y="5266944"/>
            <a:ext cx="457200" cy="457200"/>
          </a:xfrm>
          <a:prstGeom prst="ellipse">
            <a:avLst/>
          </a:prstGeom>
          <a:solidFill>
            <a:schemeClr val="accent1"/>
          </a:solidFill>
          <a:ln/>
        </p:spPr>
      </p:sp>
      <p:sp>
        <p:nvSpPr>
          <p:cNvPr id="29" name="Text 27"/>
          <p:cNvSpPr txBox="1"/>
          <p:nvPr/>
        </p:nvSpPr>
        <p:spPr>
          <a:xfrm>
            <a:off x="548640" y="52669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0" name="Text 28"/>
          <p:cNvSpPr txBox="1"/>
          <p:nvPr/>
        </p:nvSpPr>
        <p:spPr>
          <a:xfrm>
            <a:off x="1188720" y="5239512"/>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Puntaje cifrado → riesgo</a:t>
            </a:r>
            <a:endParaRPr lang="en-US" sz="1400" dirty="0"/>
          </a:p>
        </p:txBody>
      </p:sp>
      <p:sp>
        <p:nvSpPr>
          <p:cNvPr id="31" name="Text 29"/>
          <p:cNvSpPr txBox="1"/>
          <p:nvPr/>
        </p:nvSpPr>
        <p:spPr>
          <a:xfrm>
            <a:off x="1188720" y="5532120"/>
            <a:ext cx="4754880" cy="384048"/>
          </a:xfrm>
          <a:prstGeom prst="rect">
            <a:avLst/>
          </a:prstGeom>
          <a:noFill/>
          <a:ln/>
        </p:spPr>
        <p:txBody>
          <a:bodyPr wrap="square" lIns="0" tIns="0" rIns="0" bIns="0" rtlCol="0" anchor="t"/>
          <a:lstStyle/>
          <a:p>
            <a:pPr indent="0" marL="0">
              <a:buNone/>
            </a:pPr>
            <a:r>
              <a:rPr lang="en-US" sz="1200" dirty="0">
                <a:solidFill>
                  <a:schemeClr val="bg2"/>
                </a:solidFill>
              </a:rPr>
              <a:t>LinuxONE calcula w · x; el hospital descifra y aplica la sigmoide</a:t>
            </a:r>
            <a:endParaRPr lang="en-US" sz="1200" dirty="0"/>
          </a:p>
        </p:txBody>
      </p:sp>
      <p:sp>
        <p:nvSpPr>
          <p:cNvPr id="32" name="Text 30"/>
          <p:cNvSpPr txBox="1"/>
          <p:nvPr/>
        </p:nvSpPr>
        <p:spPr>
          <a:xfrm>
            <a:off x="6263640" y="3017520"/>
            <a:ext cx="5376672"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CÓMO LO MEDIMOS · RESULTADOS EN VIVO EN LA DEMO</a:t>
            </a:r>
            <a:endParaRPr lang="en-US" sz="1100" dirty="0"/>
          </a:p>
        </p:txBody>
      </p:sp>
      <p:sp>
        <p:nvSpPr>
          <p:cNvPr id="33" name="Métricas"/>
          <p:cNvSpPr/>
          <p:nvPr/>
        </p:nvSpPr>
        <p:spPr>
          <a:xfrm>
            <a:off x="6263640" y="3383280"/>
            <a:ext cx="5376672" cy="1078992"/>
          </a:xfrm>
          <a:prstGeom prst="roundRect">
            <a:avLst>
              <a:gd name="adj" fmla="val 8475"/>
            </a:avLst>
          </a:prstGeom>
          <a:solidFill>
            <a:schemeClr val="accent2">
              <a:alpha val="15000"/>
            </a:schemeClr>
          </a:solidFill>
          <a:ln w="9525">
            <a:solidFill>
              <a:schemeClr val="accent2">
                <a:alpha val="70000"/>
              </a:schemeClr>
            </a:solidFill>
            <a:prstDash val="solid"/>
          </a:ln>
        </p:spPr>
      </p:sp>
      <p:sp>
        <p:nvSpPr>
          <p:cNvPr id="34" name="Métricas círculo"/>
          <p:cNvSpPr/>
          <p:nvPr/>
        </p:nvSpPr>
        <p:spPr>
          <a:xfrm>
            <a:off x="6419088" y="3657600"/>
            <a:ext cx="530352" cy="530352"/>
          </a:xfrm>
          <a:prstGeom prst="ellipse">
            <a:avLst/>
          </a:prstGeom>
          <a:solidFill>
            <a:schemeClr val="accent2"/>
          </a:solidFill>
          <a:ln/>
        </p:spPr>
      </p:sp>
      <p:pic>
        <p:nvPicPr>
          <p:cNvPr id="35" name="Métricas ícono" descr="preencoded.png">    </p:cNvPr>
          <p:cNvPicPr>
            <a:picLocks noChangeAspect="1"/>
          </p:cNvPicPr>
          <p:nvPr/>
        </p:nvPicPr>
        <p:blipFill>
          <a:blip r:embed="rId1"/>
          <a:stretch>
            <a:fillRect/>
          </a:stretch>
        </p:blipFill>
        <p:spPr>
          <a:xfrm>
            <a:off x="6535765" y="3774277"/>
            <a:ext cx="296997" cy="296997"/>
          </a:xfrm>
          <a:prstGeom prst="rect">
            <a:avLst/>
          </a:prstGeom>
        </p:spPr>
      </p:pic>
      <p:sp>
        <p:nvSpPr>
          <p:cNvPr id="36" name="Text 33"/>
          <p:cNvSpPr txBox="1"/>
          <p:nvPr/>
        </p:nvSpPr>
        <p:spPr>
          <a:xfrm>
            <a:off x="7114032" y="3493008"/>
            <a:ext cx="4389120" cy="329184"/>
          </a:xfrm>
          <a:prstGeom prst="rect">
            <a:avLst/>
          </a:prstGeom>
          <a:noFill/>
          <a:ln/>
        </p:spPr>
        <p:txBody>
          <a:bodyPr wrap="square" lIns="0" tIns="0" rIns="0" bIns="0" rtlCol="0" anchor="ctr"/>
          <a:lstStyle/>
          <a:p>
            <a:pPr indent="0" marL="0">
              <a:buNone/>
            </a:pPr>
            <a:r>
              <a:rPr lang="en-US" sz="1500" b="1" dirty="0">
                <a:solidFill>
                  <a:schemeClr val="bg1"/>
                </a:solidFill>
              </a:rPr>
              <a:t>Métricas</a:t>
            </a:r>
            <a:endParaRPr lang="en-US" sz="1500" dirty="0"/>
          </a:p>
        </p:txBody>
      </p:sp>
      <p:sp>
        <p:nvSpPr>
          <p:cNvPr id="37" name="Text 34"/>
          <p:cNvSpPr txBox="1"/>
          <p:nvPr/>
        </p:nvSpPr>
        <p:spPr>
          <a:xfrm>
            <a:off x="7114032" y="3840480"/>
            <a:ext cx="4389120" cy="566928"/>
          </a:xfrm>
          <a:prstGeom prst="rect">
            <a:avLst/>
          </a:prstGeom>
          <a:noFill/>
          <a:ln/>
        </p:spPr>
        <p:txBody>
          <a:bodyPr wrap="square" lIns="0" tIns="0" rIns="0" bIns="0" rtlCol="0" anchor="t"/>
          <a:lstStyle/>
          <a:p>
            <a:pPr indent="0" marL="0">
              <a:buNone/>
            </a:pPr>
            <a:r>
              <a:rPr lang="en-US" sz="1200" dirty="0">
                <a:solidFill>
                  <a:schemeClr val="bg2"/>
                </a:solidFill>
              </a:rPr>
              <a:t>AUC, AUC-PR, sensibilidad y especificidad con umbral fijado en validación, calibración, error claro vs. cifrado y latencia p50/p95, con el tamaño de la muestra.</a:t>
            </a:r>
            <a:endParaRPr lang="en-US" sz="1200" dirty="0"/>
          </a:p>
        </p:txBody>
      </p:sp>
      <p:sp>
        <p:nvSpPr>
          <p:cNvPr id="38" name="Límites"/>
          <p:cNvSpPr/>
          <p:nvPr/>
        </p:nvSpPr>
        <p:spPr>
          <a:xfrm>
            <a:off x="6263640" y="4590288"/>
            <a:ext cx="5376672" cy="1078992"/>
          </a:xfrm>
          <a:prstGeom prst="roundRect">
            <a:avLst>
              <a:gd name="adj" fmla="val 8475"/>
            </a:avLst>
          </a:prstGeom>
          <a:solidFill>
            <a:schemeClr val="accent4">
              <a:alpha val="15000"/>
            </a:schemeClr>
          </a:solidFill>
          <a:ln w="9525">
            <a:solidFill>
              <a:schemeClr val="accent4">
                <a:alpha val="70000"/>
              </a:schemeClr>
            </a:solidFill>
            <a:prstDash val="solid"/>
          </a:ln>
        </p:spPr>
      </p:sp>
      <p:sp>
        <p:nvSpPr>
          <p:cNvPr id="39" name="Límites círculo"/>
          <p:cNvSpPr/>
          <p:nvPr/>
        </p:nvSpPr>
        <p:spPr>
          <a:xfrm>
            <a:off x="6419088" y="4864608"/>
            <a:ext cx="530352" cy="530352"/>
          </a:xfrm>
          <a:prstGeom prst="ellipse">
            <a:avLst/>
          </a:prstGeom>
          <a:solidFill>
            <a:schemeClr val="accent4"/>
          </a:solidFill>
          <a:ln/>
        </p:spPr>
      </p:sp>
      <p:pic>
        <p:nvPicPr>
          <p:cNvPr id="40" name="Límites ícono" descr="preencoded.png">    </p:cNvPr>
          <p:cNvPicPr>
            <a:picLocks noChangeAspect="1"/>
          </p:cNvPicPr>
          <p:nvPr/>
        </p:nvPicPr>
        <p:blipFill>
          <a:blip r:embed="rId2"/>
          <a:stretch>
            <a:fillRect/>
          </a:stretch>
        </p:blipFill>
        <p:spPr>
          <a:xfrm>
            <a:off x="6535765" y="4981285"/>
            <a:ext cx="296997" cy="296997"/>
          </a:xfrm>
          <a:prstGeom prst="rect">
            <a:avLst/>
          </a:prstGeom>
        </p:spPr>
      </p:pic>
      <p:sp>
        <p:nvSpPr>
          <p:cNvPr id="41" name="Text 37"/>
          <p:cNvSpPr txBox="1"/>
          <p:nvPr/>
        </p:nvSpPr>
        <p:spPr>
          <a:xfrm>
            <a:off x="7114032" y="4700016"/>
            <a:ext cx="4389120" cy="329184"/>
          </a:xfrm>
          <a:prstGeom prst="rect">
            <a:avLst/>
          </a:prstGeom>
          <a:noFill/>
          <a:ln/>
        </p:spPr>
        <p:txBody>
          <a:bodyPr wrap="square" lIns="0" tIns="0" rIns="0" bIns="0" rtlCol="0" anchor="ctr"/>
          <a:lstStyle/>
          <a:p>
            <a:pPr indent="0" marL="0">
              <a:buNone/>
            </a:pPr>
            <a:r>
              <a:rPr lang="en-US" sz="1500" b="1" dirty="0">
                <a:solidFill>
                  <a:schemeClr val="bg1"/>
                </a:solidFill>
              </a:rPr>
              <a:t>Límites</a:t>
            </a:r>
            <a:endParaRPr lang="en-US" sz="1500" dirty="0"/>
          </a:p>
        </p:txBody>
      </p:sp>
      <p:sp>
        <p:nvSpPr>
          <p:cNvPr id="42" name="Text 38"/>
          <p:cNvSpPr txBox="1"/>
          <p:nvPr/>
        </p:nvSpPr>
        <p:spPr>
          <a:xfrm>
            <a:off x="7114032" y="5047488"/>
            <a:ext cx="4389120" cy="566928"/>
          </a:xfrm>
          <a:prstGeom prst="rect">
            <a:avLst/>
          </a:prstGeom>
          <a:noFill/>
          <a:ln/>
        </p:spPr>
        <p:txBody>
          <a:bodyPr wrap="square" lIns="0" tIns="0" rIns="0" bIns="0" rtlCol="0" anchor="t"/>
          <a:lstStyle/>
          <a:p>
            <a:pPr indent="0" marL="0">
              <a:buNone/>
            </a:pPr>
            <a:r>
              <a:rPr lang="en-US" sz="1200" dirty="0">
                <a:solidFill>
                  <a:schemeClr val="bg2"/>
                </a:solidFill>
              </a:rPr>
              <a:t>Datos de EE. UU. y diagnóstico declarado: es una prueba técnica. Evaluación externa exploratoria con ENSANUT: pendiente.</a:t>
            </a:r>
            <a:endParaRPr lang="en-US" sz="1200" dirty="0"/>
          </a:p>
        </p:txBody>
      </p:sp>
      <p:sp>
        <p:nvSpPr>
          <p:cNvPr id="43" name="Text 39"/>
          <p:cNvSpPr txBox="1"/>
          <p:nvPr/>
        </p:nvSpPr>
        <p:spPr>
          <a:xfrm>
            <a:off x="548640" y="6089904"/>
            <a:ext cx="11091672" cy="256032"/>
          </a:xfrm>
          <a:prstGeom prst="rect">
            <a:avLst/>
          </a:prstGeom>
          <a:noFill/>
          <a:ln/>
        </p:spPr>
        <p:txBody>
          <a:bodyPr wrap="square" lIns="0" tIns="0" rIns="0" bIns="0" rtlCol="0" anchor="t"/>
          <a:lstStyle/>
          <a:p>
            <a:pPr indent="0" marL="0">
              <a:buNone/>
            </a:pPr>
            <a:r>
              <a:rPr lang="en-US" sz="1000" dirty="0">
                <a:solidFill>
                  <a:schemeClr val="accent6"/>
                </a:solidFill>
              </a:rPr>
              <a:t>Fuente: UCI Machine Learning Repository, CDC Diabetes Health Indicators (ID 891).</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07 · IMPACTO · AI FOR GOOD</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IA en hospitales públicos sin entregar un solo expediente</a:t>
            </a:r>
            <a:endParaRPr lang="en-US" sz="3000" dirty="0"/>
          </a:p>
        </p:txBody>
      </p:sp>
      <p:sp>
        <p:nvSpPr>
          <p:cNvPr id="4" name="Tamizaje temprano"/>
          <p:cNvSpPr/>
          <p:nvPr/>
        </p:nvSpPr>
        <p:spPr>
          <a:xfrm>
            <a:off x="548640"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5" name="Tamizaje temprano círculo"/>
          <p:cNvSpPr/>
          <p:nvPr/>
        </p:nvSpPr>
        <p:spPr>
          <a:xfrm>
            <a:off x="777240" y="2103120"/>
            <a:ext cx="566928" cy="566928"/>
          </a:xfrm>
          <a:prstGeom prst="ellipse">
            <a:avLst/>
          </a:prstGeom>
          <a:solidFill>
            <a:schemeClr val="accent1"/>
          </a:solidFill>
          <a:ln/>
        </p:spPr>
      </p:sp>
      <p:pic>
        <p:nvPicPr>
          <p:cNvPr id="6" name="Tamizaje temprano ícono" descr="preencoded.png">    </p:cNvPr>
          <p:cNvPicPr>
            <a:picLocks noChangeAspect="1"/>
          </p:cNvPicPr>
          <p:nvPr/>
        </p:nvPicPr>
        <p:blipFill>
          <a:blip r:embed="rId1"/>
          <a:stretch>
            <a:fillRect/>
          </a:stretch>
        </p:blipFill>
        <p:spPr>
          <a:xfrm>
            <a:off x="901964" y="2227844"/>
            <a:ext cx="317480" cy="317480"/>
          </a:xfrm>
          <a:prstGeom prst="rect">
            <a:avLst/>
          </a:prstGeom>
        </p:spPr>
      </p:pic>
      <p:sp>
        <p:nvSpPr>
          <p:cNvPr id="7" name="Text 4"/>
          <p:cNvSpPr txBox="1"/>
          <p:nvPr/>
        </p:nvSpPr>
        <p:spPr>
          <a:xfrm>
            <a:off x="777240"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Tamizaje temprano</a:t>
            </a:r>
            <a:endParaRPr lang="en-US" sz="1600" dirty="0"/>
          </a:p>
        </p:txBody>
      </p:sp>
      <p:sp>
        <p:nvSpPr>
          <p:cNvPr id="8" name="Text 5"/>
          <p:cNvSpPr txBox="1"/>
          <p:nvPr/>
        </p:nvSpPr>
        <p:spPr>
          <a:xfrm>
            <a:off x="777240"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1 de cada 3 personas con diabetes no lo sabe: detectarla antes salva años de vida</a:t>
            </a:r>
            <a:endParaRPr lang="en-US" sz="1200" dirty="0"/>
          </a:p>
        </p:txBody>
      </p:sp>
      <p:sp>
        <p:nvSpPr>
          <p:cNvPr id="9" name="Confianza del paciente"/>
          <p:cNvSpPr/>
          <p:nvPr/>
        </p:nvSpPr>
        <p:spPr>
          <a:xfrm>
            <a:off x="3364992"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10" name="Confianza del paciente círculo"/>
          <p:cNvSpPr/>
          <p:nvPr/>
        </p:nvSpPr>
        <p:spPr>
          <a:xfrm>
            <a:off x="3593592" y="2103120"/>
            <a:ext cx="566928" cy="566928"/>
          </a:xfrm>
          <a:prstGeom prst="ellipse">
            <a:avLst/>
          </a:prstGeom>
          <a:solidFill>
            <a:schemeClr val="accent1"/>
          </a:solidFill>
          <a:ln/>
        </p:spPr>
      </p:sp>
      <p:pic>
        <p:nvPicPr>
          <p:cNvPr id="11" name="Confianza del paciente ícono" descr="preencoded.png">    </p:cNvPr>
          <p:cNvPicPr>
            <a:picLocks noChangeAspect="1"/>
          </p:cNvPicPr>
          <p:nvPr/>
        </p:nvPicPr>
        <p:blipFill>
          <a:blip r:embed="rId2"/>
          <a:stretch>
            <a:fillRect/>
          </a:stretch>
        </p:blipFill>
        <p:spPr>
          <a:xfrm>
            <a:off x="3718316" y="2227844"/>
            <a:ext cx="317480" cy="317480"/>
          </a:xfrm>
          <a:prstGeom prst="rect">
            <a:avLst/>
          </a:prstGeom>
        </p:spPr>
      </p:pic>
      <p:sp>
        <p:nvSpPr>
          <p:cNvPr id="12" name="Text 8"/>
          <p:cNvSpPr txBox="1"/>
          <p:nvPr/>
        </p:nvSpPr>
        <p:spPr>
          <a:xfrm>
            <a:off x="3593592"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Confianza del paciente</a:t>
            </a:r>
            <a:endParaRPr lang="en-US" sz="1600" dirty="0"/>
          </a:p>
        </p:txBody>
      </p:sp>
      <p:sp>
        <p:nvSpPr>
          <p:cNvPr id="13" name="Text 9"/>
          <p:cNvSpPr txBox="1"/>
          <p:nvPr/>
        </p:nvSpPr>
        <p:spPr>
          <a:xfrm>
            <a:off x="3593592"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Sus datos nunca salen del hospital sin cifrar</a:t>
            </a:r>
            <a:endParaRPr lang="en-US" sz="1200" dirty="0"/>
          </a:p>
        </p:txBody>
      </p:sp>
      <p:sp>
        <p:nvSpPr>
          <p:cNvPr id="14" name="Cumplimiento"/>
          <p:cNvSpPr/>
          <p:nvPr/>
        </p:nvSpPr>
        <p:spPr>
          <a:xfrm>
            <a:off x="6181344"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15" name="Cumplimiento círculo"/>
          <p:cNvSpPr/>
          <p:nvPr/>
        </p:nvSpPr>
        <p:spPr>
          <a:xfrm>
            <a:off x="6409944" y="2103120"/>
            <a:ext cx="566928" cy="566928"/>
          </a:xfrm>
          <a:prstGeom prst="ellipse">
            <a:avLst/>
          </a:prstGeom>
          <a:solidFill>
            <a:schemeClr val="accent1"/>
          </a:solidFill>
          <a:ln/>
        </p:spPr>
      </p:sp>
      <p:pic>
        <p:nvPicPr>
          <p:cNvPr id="16" name="Cumplimiento ícono" descr="preencoded.png">    </p:cNvPr>
          <p:cNvPicPr>
            <a:picLocks noChangeAspect="1"/>
          </p:cNvPicPr>
          <p:nvPr/>
        </p:nvPicPr>
        <p:blipFill>
          <a:blip r:embed="rId3"/>
          <a:stretch>
            <a:fillRect/>
          </a:stretch>
        </p:blipFill>
        <p:spPr>
          <a:xfrm>
            <a:off x="6534668" y="2227844"/>
            <a:ext cx="317480" cy="317480"/>
          </a:xfrm>
          <a:prstGeom prst="rect">
            <a:avLst/>
          </a:prstGeom>
        </p:spPr>
      </p:pic>
      <p:sp>
        <p:nvSpPr>
          <p:cNvPr id="17" name="Text 12"/>
          <p:cNvSpPr txBox="1"/>
          <p:nvPr/>
        </p:nvSpPr>
        <p:spPr>
          <a:xfrm>
            <a:off x="6409944"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Cumplimiento</a:t>
            </a:r>
            <a:endParaRPr lang="en-US" sz="1600" dirty="0"/>
          </a:p>
        </p:txBody>
      </p:sp>
      <p:sp>
        <p:nvSpPr>
          <p:cNvPr id="18" name="Text 13"/>
          <p:cNvSpPr txBox="1"/>
          <p:nvPr/>
        </p:nvSpPr>
        <p:spPr>
          <a:xfrm>
            <a:off x="6409944"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Pensado para la ley mexicana de protección de datos personales</a:t>
            </a:r>
            <a:endParaRPr lang="en-US" sz="1200" dirty="0"/>
          </a:p>
        </p:txBody>
      </p:sp>
      <p:sp>
        <p:nvSpPr>
          <p:cNvPr id="19" name="Escalable"/>
          <p:cNvSpPr/>
          <p:nvPr/>
        </p:nvSpPr>
        <p:spPr>
          <a:xfrm>
            <a:off x="8997696"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20" name="Escalable círculo"/>
          <p:cNvSpPr/>
          <p:nvPr/>
        </p:nvSpPr>
        <p:spPr>
          <a:xfrm>
            <a:off x="9226296" y="2103120"/>
            <a:ext cx="566928" cy="566928"/>
          </a:xfrm>
          <a:prstGeom prst="ellipse">
            <a:avLst/>
          </a:prstGeom>
          <a:solidFill>
            <a:schemeClr val="accent1"/>
          </a:solidFill>
          <a:ln/>
        </p:spPr>
      </p:sp>
      <p:pic>
        <p:nvPicPr>
          <p:cNvPr id="21" name="Escalable ícono" descr="preencoded.png">    </p:cNvPr>
          <p:cNvPicPr>
            <a:picLocks noChangeAspect="1"/>
          </p:cNvPicPr>
          <p:nvPr/>
        </p:nvPicPr>
        <p:blipFill>
          <a:blip r:embed="rId4"/>
          <a:stretch>
            <a:fillRect/>
          </a:stretch>
        </p:blipFill>
        <p:spPr>
          <a:xfrm>
            <a:off x="9351020" y="2227844"/>
            <a:ext cx="317480" cy="317480"/>
          </a:xfrm>
          <a:prstGeom prst="rect">
            <a:avLst/>
          </a:prstGeom>
        </p:spPr>
      </p:pic>
      <p:sp>
        <p:nvSpPr>
          <p:cNvPr id="22" name="Text 16"/>
          <p:cNvSpPr txBox="1"/>
          <p:nvPr/>
        </p:nvSpPr>
        <p:spPr>
          <a:xfrm>
            <a:off x="9226296"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Escalable</a:t>
            </a:r>
            <a:endParaRPr lang="en-US" sz="1600" dirty="0"/>
          </a:p>
        </p:txBody>
      </p:sp>
      <p:sp>
        <p:nvSpPr>
          <p:cNvPr id="23" name="Text 17"/>
          <p:cNvSpPr txBox="1"/>
          <p:nvPr/>
        </p:nvSpPr>
        <p:spPr>
          <a:xfrm>
            <a:off x="9226296"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El mismo esquema sirve para hipertensión, enfermedad renal y más</a:t>
            </a:r>
            <a:endParaRPr lang="en-US" sz="1200" dirty="0"/>
          </a:p>
        </p:txBody>
      </p:sp>
      <p:sp>
        <p:nvSpPr>
          <p:cNvPr id="24" name="Text 18"/>
          <p:cNvSpPr txBox="1"/>
          <p:nvPr/>
        </p:nvSpPr>
        <p:spPr>
          <a:xfrm>
            <a:off x="548640" y="4206240"/>
            <a:ext cx="11091672" cy="640080"/>
          </a:xfrm>
          <a:prstGeom prst="rect">
            <a:avLst/>
          </a:prstGeom>
          <a:noFill/>
          <a:ln/>
        </p:spPr>
        <p:txBody>
          <a:bodyPr wrap="square" lIns="0" tIns="0" rIns="0" bIns="0" rtlCol="0" anchor="ctr"/>
          <a:lstStyle/>
          <a:p>
            <a:pPr indent="0" marL="0">
              <a:buNone/>
            </a:pPr>
            <a:r>
              <a:rPr lang="en-US" sz="3200" b="1" dirty="0">
                <a:solidFill>
                  <a:schemeClr val="bg1"/>
                </a:solidFill>
              </a:rPr>
              <a:t>La IA ve el riesgo. </a:t>
            </a:r>
            <a:pPr indent="0" marL="0">
              <a:buNone/>
            </a:pPr>
            <a:r>
              <a:rPr lang="en-US" sz="3200" b="1" dirty="0">
                <a:solidFill>
                  <a:schemeClr val="accent5"/>
                </a:solidFill>
              </a:rPr>
              <a:t>Nadie ve al paciente.</a:t>
            </a:r>
            <a:endParaRPr lang="en-US" sz="3200" dirty="0"/>
          </a:p>
        </p:txBody>
      </p:sp>
      <p:pic>
        <p:nvPicPr>
          <p:cNvPr id="25" name="Logo del equipo" descr="/private/tmp/claude-501/-Users-haowei-Documents-Antimarrulla/5372125f-ee1a-4aa0-8aef-43e32d332201/scratchpad/dx/logo.png">    </p:cNvPr>
          <p:cNvPicPr>
            <a:picLocks noChangeAspect="1"/>
          </p:cNvPicPr>
          <p:nvPr/>
        </p:nvPicPr>
        <p:blipFill>
          <a:blip r:embed="rId5"/>
          <a:stretch>
            <a:fillRect/>
          </a:stretch>
        </p:blipFill>
        <p:spPr>
          <a:xfrm>
            <a:off x="548640" y="4983480"/>
            <a:ext cx="1097280" cy="1097280"/>
          </a:xfrm>
          <a:prstGeom prst="rect">
            <a:avLst/>
          </a:prstGeom>
        </p:spPr>
      </p:pic>
      <p:sp>
        <p:nvSpPr>
          <p:cNvPr id="26" name="Text 19"/>
          <p:cNvSpPr txBox="1"/>
          <p:nvPr/>
        </p:nvSpPr>
        <p:spPr>
          <a:xfrm>
            <a:off x="1828800" y="5029200"/>
            <a:ext cx="6400800" cy="1005840"/>
          </a:xfrm>
          <a:prstGeom prst="rect">
            <a:avLst/>
          </a:prstGeom>
          <a:noFill/>
          <a:ln/>
        </p:spPr>
        <p:txBody>
          <a:bodyPr wrap="square" lIns="0" tIns="0" rIns="0" bIns="0" rtlCol="0" anchor="ctr"/>
          <a:lstStyle/>
          <a:p>
            <a:pPr indent="0" marL="0">
              <a:spcAft>
                <a:spcPts val="300"/>
              </a:spcAft>
              <a:buNone/>
            </a:pPr>
            <a:r>
              <a:rPr lang="en-US" sz="1600" b="1" dirty="0">
                <a:solidFill>
                  <a:schemeClr val="bg1"/>
                </a:solidFill>
              </a:rPr>
              <a:t>Los Antimarrulla · UACJ · MIAAD</a:t>
            </a:r>
            <a:endParaRPr lang="en-US" sz="1400" dirty="0"/>
          </a:p>
          <a:p>
            <a:pPr indent="0" marL="0">
              <a:spcAft>
                <a:spcPts val="300"/>
              </a:spcAft>
              <a:buNone/>
            </a:pPr>
            <a:r>
              <a:rPr lang="en-US" sz="1200" i="1" dirty="0">
                <a:solidFill>
                  <a:schemeClr val="bg2"/>
                </a:solidFill>
              </a:rPr>
              <a:t>Combatimos la flojera y la procrastinación</a:t>
            </a:r>
            <a:endParaRPr lang="en-US" sz="1400" dirty="0"/>
          </a:p>
          <a:p>
            <a:pPr indent="0" marL="0">
              <a:spcAft>
                <a:spcPts val="300"/>
              </a:spcAft>
              <a:buNone/>
            </a:pPr>
            <a:r>
              <a:rPr lang="en-US" sz="1200" u="sng" dirty="0">
                <a:solidFill>
                  <a:schemeClr val="accent5"/>
                </a:solidFill>
                <a:hlinkClick r:id="rId6" invalidUrl="" action="" tgtFrame="" tooltip="" history="1" highlightClick="0" endSnd="0">
                  <a:extLst>
                    <a:ext uri="{A12FA001-AC4F-418D-AE19-62706E023703}">
                      <ahyp:hlinkClr xmlns:ahyp="http://schemas.microsoft.com/office/drawing/2018/hyperlinkcolor" val="tx"/>
                    </a:ext>
                  </a:extLst>
                </a:hlinkClick>
              </a:rPr>
              <a:t>github.com/UACJ-MIAAD/antimarrulla-ibmz-datathon-2026</a:t>
            </a:r>
            <a:endParaRPr lang="en-US" sz="1400" dirty="0"/>
          </a:p>
        </p:txBody>
      </p:sp>
      <p:sp>
        <p:nvSpPr>
          <p:cNvPr id="27" name="Text 20"/>
          <p:cNvSpPr txBox="1"/>
          <p:nvPr/>
        </p:nvSpPr>
        <p:spPr>
          <a:xfrm>
            <a:off x="8503920" y="5029200"/>
            <a:ext cx="3136392" cy="731520"/>
          </a:xfrm>
          <a:prstGeom prst="rect">
            <a:avLst/>
          </a:prstGeom>
          <a:noFill/>
          <a:ln/>
        </p:spPr>
        <p:txBody>
          <a:bodyPr wrap="square" lIns="0" tIns="0" rIns="0" bIns="0" rtlCol="0" anchor="ctr"/>
          <a:lstStyle/>
          <a:p>
            <a:pPr algn="r" indent="0" marL="0">
              <a:buNone/>
            </a:pPr>
            <a:r>
              <a:rPr lang="en-US" sz="4400" b="1" dirty="0">
                <a:solidFill>
                  <a:schemeClr val="bg1"/>
                </a:solidFill>
              </a:rPr>
              <a:t>Gracias</a:t>
            </a:r>
            <a:endParaRPr lang="en-US" sz="4400" dirty="0"/>
          </a:p>
        </p:txBody>
      </p:sp>
      <p:sp>
        <p:nvSpPr>
          <p:cNvPr id="28" name="Text 21"/>
          <p:cNvSpPr txBox="1"/>
          <p:nvPr/>
        </p:nvSpPr>
        <p:spPr>
          <a:xfrm>
            <a:off x="7315200" y="5760720"/>
            <a:ext cx="4325112" cy="274320"/>
          </a:xfrm>
          <a:prstGeom prst="rect">
            <a:avLst/>
          </a:prstGeom>
          <a:noFill/>
          <a:ln/>
        </p:spPr>
        <p:txBody>
          <a:bodyPr wrap="square" lIns="0" tIns="0" rIns="0" bIns="0" rtlCol="0" anchor="t"/>
          <a:lstStyle/>
          <a:p>
            <a:pPr algn="r" indent="0" marL="0">
              <a:buNone/>
            </a:pPr>
            <a:r>
              <a:rPr lang="en-US" sz="1000" dirty="0">
                <a:solidFill>
                  <a:schemeClr val="bg2"/>
                </a:solidFill>
              </a:rPr>
              <a:t>Herramienta de tamizaje: no sustituye el diagnóstico médico.</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UACJ MIAAD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Los Antimarrulla · Tamizaje a ciegas</dc:title>
  <dc:subject>PptxGenJS Presentation</dc:subject>
  <dc:creator>Los Antimarrulla</dc:creator>
  <cp:lastModifiedBy>Los Antimarrulla</cp:lastModifiedBy>
  <cp:revision>1</cp:revision>
  <dcterms:created xsi:type="dcterms:W3CDTF">2026-10-17T09:10:56Z</dcterms:created>
  <dcterms:modified xsi:type="dcterms:W3CDTF">2026-10-17T09:10:56Z</dcterms:modified>
</cp:coreProperties>
</file>