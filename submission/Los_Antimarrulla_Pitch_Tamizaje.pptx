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6a028a-45ef-008c-63ba-396927b28648}">
          <p14:sldIdLst>
            <p14:sldId id="256"/>
          </p14:sldIdLst>
        </p14:section>
        <p14:section name="Problema y solución" id="{7add40ef-d063-4c1f-7fca-95d931624ee4}">
          <p14:sldIdLst>
            <p14:sldId id="257"/>
            <p14:sldId id="258"/>
          </p14:sldIdLst>
        </p14:section>
        <p14:section name="Tecnología" id="{ed984eea-0bff-45d2-bf7e-d9841b0232bc}">
          <p14:sldIdLst>
            <p14:sldId id="259"/>
            <p14:sldId id="260"/>
          </p14:sldIdLst>
        </p14:section>
        <p14:section name="Demo y datos" id="{f850f602-12a5-05b4-fb81-da2474e39d22}">
          <p14:sldIdLst>
            <p14:sldId id="261"/>
            <p14:sldId id="262"/>
          </p14:sldIdLst>
        </p14:section>
        <p14:section name="Impacto y cierre" id="{07424395-a378-4805-abb8-b237cd728b6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hospital cifra los 21 indicadores del paciente y se queda con la llave. LinuxONE calcula el riesgo sobre números cifrados; solo el hospital abre el resultado y ve los factores que más pesan. Es tamizaje: decide a quién hacerle primero una prueba de glucosa. (Alcance: el servicio de riesgo solo recibe cifrados; en la demo, quien administra la VM queda dentro del entorno de confianza y usamos pacientes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cifrado homomórfico Paillier: multiplicar cifrados suma sus valores y elevarlos a una potencia los multiplica. Así el servidor calcula el puntaje del modelo sin descifrar nada. Además, TLS 1.3 en tránsito y AES-256-GCM en reposo. ANTES DE PRESENTAR: capturar lscpu, cpacfinfo y las versiones de OpenSSL (CLI y cryptography) como evidencia de CPACF.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terminal de la VM: uname -m → s390x y los dos contenedores corriendo. Todo corre en LinuxONE, en dos contenedores: el del hospital, con la llave, y el servicio de riesgo, sin ella; entre ellos, TLS 1.3 mutuo. En la demo comparten VM; en producción, el del hospital vive en sus instalaciones. La aritmética homomórfica son exponenciaciones con enteros de miles de bits: cómputo pesado, justo para IBM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demo real. A la izquierda, lo que ve el servicio de riesgo: 21 números cifrados y el puntaje cifrado que devuelve. A la derecha, lo que ve el hospital: el riesgo, la decisión frente al umbral y los factores que más pesan. En 2,000 pacientes de prueba, los 2,000 resultados descifrados son idénticos a la referencia y el AUC es el mismo cifrado que en claro: 0.808. Cifras locales; en el video se muestran las de LinuxONE.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253 mil registros públicos de los CDC: AUC 0.83 en prueba y 80% de sensibilidad con el umbral fijado en validación. Los datos de pacientes solo llegan cifrados. (Límite honesto: en un experimento exploratorio con adultos mexicanos de ENSANUT, un modelo reducido baja a AUC 0.77 y subestima el riesgo; para usarlo en México habría que recalibrar.)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más de 11 mil hospitalizaciones por diabetes en la Secretaría de Salud incluyeron una amputación. Queremos detectar antes sin entregar un solo expediente. La IA ve el riesgo. Nadie ve al paciente.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cifrados</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los factores que más pesan</a:t>
            </a:r>
            <a:endParaRPr lang="en-US" sz="1200" dirty="0"/>
          </a:p>
        </p:txBody>
      </p:sp>
      <p:sp>
        <p:nvSpPr>
          <p:cNvPr id="27" name="Solo cifrados"/>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Solo cifrados círculo"/>
          <p:cNvSpPr/>
          <p:nvPr/>
        </p:nvSpPr>
        <p:spPr>
          <a:xfrm>
            <a:off x="731520" y="4023360"/>
            <a:ext cx="548640" cy="548640"/>
          </a:xfrm>
          <a:prstGeom prst="ellipse">
            <a:avLst/>
          </a:prstGeom>
          <a:solidFill>
            <a:schemeClr val="accent2"/>
          </a:solidFill>
          <a:ln/>
        </p:spPr>
      </p:sp>
      <p:pic>
        <p:nvPicPr>
          <p:cNvPr id="29" name="Solo cifrados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Solo cifrados</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servicio de riesgo nunca ve edad, IMC, presión ni ningún otro dato en claro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120640"/>
            <a:ext cx="11091672" cy="50292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43" name="Text 34"/>
          <p:cNvSpPr txBox="1"/>
          <p:nvPr/>
        </p:nvSpPr>
        <p:spPr>
          <a:xfrm>
            <a:off x="548640" y="5641848"/>
            <a:ext cx="11091672" cy="411480"/>
          </a:xfrm>
          <a:prstGeom prst="rect">
            <a:avLst/>
          </a:prstGeom>
          <a:noFill/>
          <a:ln/>
        </p:spPr>
        <p:txBody>
          <a:bodyPr wrap="square" lIns="0" tIns="0" rIns="0" bIns="0" rtlCol="0" anchor="t"/>
          <a:lstStyle/>
          <a:p>
            <a:pPr indent="0" marL="0">
              <a:buNone/>
            </a:pPr>
            <a:r>
              <a:rPr lang="en-US" sz="1100" dirty="0">
                <a:solidFill>
                  <a:schemeClr val="bg2"/>
                </a:solidFill>
              </a:rPr>
              <a:t>Alcance: el servicio de riesgo solo recibe cifrados. En la demo, hospital y servicio comparten una VM de LinuxONE: quien la administra queda dentro del entorno de confianza, y usamos solo pacientes sintéticos.</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entre el hospital y LinuxONE</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acelerado por hardware (CPACF de IBM Z)</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Disco, logs y respaldos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Explicación (entorno del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Solo el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Resultado descifrado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Text 6"/>
          <p:cNvSpPr txBox="1"/>
          <p:nvPr/>
        </p:nvSpPr>
        <p:spPr>
          <a:xfrm>
            <a:off x="548640" y="4160520"/>
            <a:ext cx="1645920" cy="1554480"/>
          </a:xfrm>
          <a:prstGeom prst="rect">
            <a:avLst/>
          </a:prstGeom>
          <a:noFill/>
          <a:ln/>
        </p:spPr>
        <p:txBody>
          <a:bodyPr wrap="square" lIns="0" tIns="0" rIns="0" bIns="0" rtlCol="0" anchor="t"/>
          <a:lstStyle/>
          <a:p>
            <a:pPr indent="0" marL="0">
              <a:buNone/>
            </a:pPr>
            <a:r>
              <a:rPr lang="en-US" sz="900" b="1" dirty="0">
                <a:solidFill>
                  <a:schemeClr val="accent5"/>
                </a:solidFill>
              </a:rPr>
              <a:t>En la demo</a:t>
            </a:r>
            <a:endParaRPr lang="en-US" sz="900" dirty="0"/>
          </a:p>
          <a:p>
            <a:pPr indent="0" marL="0">
              <a:buNone/>
            </a:pPr>
            <a:r>
              <a:rPr lang="en-US" sz="900" dirty="0">
                <a:solidFill>
                  <a:schemeClr val="bg2"/>
                </a:solidFill>
              </a:rPr>
              <a:t>ambos contenedores corren en la misma VM; quien la administra queda dentro de la frontera de confianza. En producción, el del hospital corre en sus instalaciones.</a:t>
            </a:r>
            <a:endParaRPr lang="en-US" sz="900" dirty="0"/>
          </a:p>
        </p:txBody>
      </p:sp>
      <p:sp>
        <p:nvSpPr>
          <p:cNvPr id="10"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1" name="LinuxONE círculo"/>
          <p:cNvSpPr/>
          <p:nvPr/>
        </p:nvSpPr>
        <p:spPr>
          <a:xfrm>
            <a:off x="2496312" y="1920240"/>
            <a:ext cx="384048" cy="384048"/>
          </a:xfrm>
          <a:prstGeom prst="ellipse">
            <a:avLst/>
          </a:prstGeom>
          <a:solidFill>
            <a:schemeClr val="accent1"/>
          </a:solidFill>
          <a:ln/>
        </p:spPr>
      </p:sp>
      <p:pic>
        <p:nvPicPr>
          <p:cNvPr id="12"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3" name="Text 9"/>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4" name="Text 10"/>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5"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6" name="Text 12"/>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7"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8" name="Text 14"/>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9" name="Text 15"/>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20" name="Cifrar y descifrar"/>
          <p:cNvSpPr/>
          <p:nvPr/>
        </p:nvSpPr>
        <p:spPr>
          <a:xfrm>
            <a:off x="2651760" y="3813048"/>
            <a:ext cx="2194560" cy="731520"/>
          </a:xfrm>
          <a:prstGeom prst="roundRect">
            <a:avLst>
              <a:gd name="adj" fmla="val 12500"/>
            </a:avLst>
          </a:prstGeom>
          <a:solidFill>
            <a:schemeClr val="accent1">
              <a:alpha val="15000"/>
            </a:schemeClr>
          </a:solidFill>
          <a:ln/>
        </p:spPr>
      </p:sp>
      <p:sp>
        <p:nvSpPr>
          <p:cNvPr id="21" name="Text 17"/>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y descifrar</a:t>
            </a:r>
            <a:endParaRPr lang="en-US" sz="1200" dirty="0"/>
          </a:p>
        </p:txBody>
      </p:sp>
      <p:sp>
        <p:nvSpPr>
          <p:cNvPr id="22" name="Text 18"/>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a:t>
            </a:r>
            <a:endParaRPr lang="en-US" sz="1000" dirty="0"/>
          </a:p>
        </p:txBody>
      </p:sp>
      <p:sp>
        <p:nvSpPr>
          <p:cNvPr id="23" name="Explicación"/>
          <p:cNvSpPr/>
          <p:nvPr/>
        </p:nvSpPr>
        <p:spPr>
          <a:xfrm>
            <a:off x="2651760" y="4654296"/>
            <a:ext cx="2194560" cy="731520"/>
          </a:xfrm>
          <a:prstGeom prst="roundRect">
            <a:avLst>
              <a:gd name="adj" fmla="val 12500"/>
            </a:avLst>
          </a:prstGeom>
          <a:solidFill>
            <a:schemeClr val="accent1">
              <a:alpha val="15000"/>
            </a:schemeClr>
          </a:solidFill>
          <a:ln/>
        </p:spPr>
      </p:sp>
      <p:sp>
        <p:nvSpPr>
          <p:cNvPr id="24" name="Text 20"/>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Explicación</a:t>
            </a:r>
            <a:endParaRPr lang="en-US" sz="1200" dirty="0"/>
          </a:p>
        </p:txBody>
      </p:sp>
      <p:sp>
        <p:nvSpPr>
          <p:cNvPr id="25" name="Text 21"/>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factores que más pesan</a:t>
            </a:r>
            <a:endParaRPr lang="en-US" sz="1000" dirty="0"/>
          </a:p>
        </p:txBody>
      </p:sp>
      <p:sp>
        <p:nvSpPr>
          <p:cNvPr id="26"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7" name="Text 23"/>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8"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9" name="Text 25"/>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30" name="Text 26"/>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 punto fijo</a:t>
            </a:r>
            <a:endParaRPr lang="en-US" sz="1000" dirty="0"/>
          </a:p>
        </p:txBody>
      </p:sp>
      <p:sp>
        <p:nvSpPr>
          <p:cNvPr id="31"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2" name="Text 28"/>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3" name="Text 29"/>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a:t>
            </a:r>
            <a:endParaRPr lang="en-US" sz="1000" dirty="0"/>
          </a:p>
        </p:txBody>
      </p:sp>
      <p:sp>
        <p:nvSpPr>
          <p:cNvPr id="34" name="Bóveda cifrada"/>
          <p:cNvSpPr/>
          <p:nvPr/>
        </p:nvSpPr>
        <p:spPr>
          <a:xfrm>
            <a:off x="5623560" y="4654296"/>
            <a:ext cx="2194560" cy="731520"/>
          </a:xfrm>
          <a:prstGeom prst="roundRect">
            <a:avLst>
              <a:gd name="adj" fmla="val 12500"/>
            </a:avLst>
          </a:prstGeom>
          <a:solidFill>
            <a:schemeClr val="accent1">
              <a:alpha val="15000"/>
            </a:schemeClr>
          </a:solidFill>
          <a:ln/>
        </p:spPr>
      </p:sp>
      <p:sp>
        <p:nvSpPr>
          <p:cNvPr id="35" name="Text 31"/>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36" name="Text 32"/>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CPACF</a:t>
            </a:r>
            <a:endParaRPr lang="en-US" sz="1000" dirty="0"/>
          </a:p>
        </p:txBody>
      </p:sp>
      <p:sp>
        <p:nvSpPr>
          <p:cNvPr id="37" name="flecha"/>
          <p:cNvSpPr/>
          <p:nvPr/>
        </p:nvSpPr>
        <p:spPr>
          <a:xfrm>
            <a:off x="5020056" y="3931920"/>
            <a:ext cx="429768" cy="0"/>
          </a:xfrm>
          <a:prstGeom prst="line">
            <a:avLst/>
          </a:prstGeom>
          <a:noFill/>
          <a:ln w="22225">
            <a:solidFill>
              <a:schemeClr val="accent2"/>
            </a:solidFill>
            <a:prstDash val="solid"/>
            <a:tailEnd type="triangle"/>
          </a:ln>
        </p:spPr>
      </p:sp>
      <p:sp>
        <p:nvSpPr>
          <p:cNvPr id="38" name="flecha regreso"/>
          <p:cNvSpPr/>
          <p:nvPr/>
        </p:nvSpPr>
        <p:spPr>
          <a:xfrm>
            <a:off x="5020056" y="4297680"/>
            <a:ext cx="429768" cy="0"/>
          </a:xfrm>
          <a:prstGeom prst="line">
            <a:avLst/>
          </a:prstGeom>
          <a:noFill/>
          <a:ln w="22225">
            <a:solidFill>
              <a:schemeClr val="accent2"/>
            </a:solidFill>
            <a:prstDash val="solid"/>
            <a:headEnd type="triangle"/>
          </a:ln>
        </p:spPr>
      </p:sp>
      <p:sp>
        <p:nvSpPr>
          <p:cNvPr id="39" name="Text 35"/>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40" name="Cómputo pesado, en serio círculo"/>
          <p:cNvSpPr/>
          <p:nvPr/>
        </p:nvSpPr>
        <p:spPr>
          <a:xfrm>
            <a:off x="8458200" y="1874520"/>
            <a:ext cx="502920" cy="502920"/>
          </a:xfrm>
          <a:prstGeom prst="ellipse">
            <a:avLst/>
          </a:prstGeom>
          <a:solidFill>
            <a:schemeClr val="accent1"/>
          </a:solidFill>
          <a:ln/>
        </p:spPr>
      </p:sp>
      <p:pic>
        <p:nvPicPr>
          <p:cNvPr id="41"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2" name="Text 37"/>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3" name="Text 38"/>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Cada paciente implica exponenciaciones modulares con enteros enormes</a:t>
            </a:r>
            <a:endParaRPr lang="en-US" sz="1200" dirty="0"/>
          </a:p>
        </p:txBody>
      </p:sp>
      <p:sp>
        <p:nvSpPr>
          <p:cNvPr id="44" name="Seguridad de nivel bancario círculo"/>
          <p:cNvSpPr/>
          <p:nvPr/>
        </p:nvSpPr>
        <p:spPr>
          <a:xfrm>
            <a:off x="8458200" y="3154680"/>
            <a:ext cx="502920" cy="502920"/>
          </a:xfrm>
          <a:prstGeom prst="ellipse">
            <a:avLst/>
          </a:prstGeom>
          <a:solidFill>
            <a:schemeClr val="accent1"/>
          </a:solidFill>
          <a:ln/>
        </p:spPr>
      </p:sp>
      <p:pic>
        <p:nvPicPr>
          <p:cNvPr id="45" name="Seguridad de nivel bancari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6" name="Text 40"/>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Seguridad de nivel bancario</a:t>
            </a:r>
            <a:endParaRPr lang="en-US" sz="1400" dirty="0"/>
          </a:p>
        </p:txBody>
      </p:sp>
      <p:sp>
        <p:nvSpPr>
          <p:cNvPr id="47" name="Text 41"/>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Cifrado por hardware y aislamiento entre cargas de trabajo</a:t>
            </a:r>
            <a:endParaRPr lang="en-US" sz="1200" dirty="0"/>
          </a:p>
        </p:txBody>
      </p:sp>
      <p:sp>
        <p:nvSpPr>
          <p:cNvPr id="48" name="Escala por lotes círculo"/>
          <p:cNvSpPr/>
          <p:nvPr/>
        </p:nvSpPr>
        <p:spPr>
          <a:xfrm>
            <a:off x="8458200" y="4434840"/>
            <a:ext cx="502920" cy="502920"/>
          </a:xfrm>
          <a:prstGeom prst="ellipse">
            <a:avLst/>
          </a:prstGeom>
          <a:solidFill>
            <a:schemeClr val="accent1"/>
          </a:solidFill>
          <a:ln/>
        </p:spPr>
      </p:sp>
      <p:pic>
        <p:nvPicPr>
          <p:cNvPr id="49" name="Escala por lotes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50" name="Text 43"/>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Escala por lotes</a:t>
            </a:r>
            <a:endParaRPr lang="en-US" sz="1400" dirty="0"/>
          </a:p>
        </p:txBody>
      </p:sp>
      <p:sp>
        <p:nvSpPr>
          <p:cNvPr id="51" name="Text 44"/>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Muchos pacientes en una sola plataforma; se mide en LinuxONE</a:t>
            </a:r>
            <a:endParaRPr lang="en-US" sz="1200" dirty="0"/>
          </a:p>
        </p:txBody>
      </p:sp>
      <p:sp>
        <p:nvSpPr>
          <p:cNvPr id="52" name="Text 45"/>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gmpy2 · cryptography (TLS 1.3, AES-256-GCM) · Docker (Ubuntu 24.04, s390x)</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REAL</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servicio solo ve cifrados; el hospital ve el riesgo</a:t>
            </a:r>
            <a:endParaRPr lang="en-US" sz="3000" dirty="0"/>
          </a:p>
        </p:txBody>
      </p:sp>
      <p:pic>
        <p:nvPicPr>
          <p:cNvPr id="4" name="Captura real de la demo" descr="/private/tmp/claude-501/-Users-haowei-Documents-Antimarrulla/5372125f-ee1a-4aa0-8aef-43e32d332201/scratchpad/dx/demo_real.png">    </p:cNvPr>
          <p:cNvPicPr>
            <a:picLocks noChangeAspect="1"/>
          </p:cNvPicPr>
          <p:nvPr/>
        </p:nvPicPr>
        <p:blipFill>
          <a:blip r:embed="rId1"/>
          <a:stretch>
            <a:fillRect/>
          </a:stretch>
        </p:blipFill>
        <p:spPr>
          <a:xfrm>
            <a:off x="548640" y="1691640"/>
            <a:ext cx="5925312" cy="4114800"/>
          </a:xfrm>
          <a:prstGeom prst="rect">
            <a:avLst/>
          </a:prstGeom>
        </p:spPr>
      </p:pic>
      <p:sp>
        <p:nvSpPr>
          <p:cNvPr id="5" name="Text 2"/>
          <p:cNvSpPr txBox="1"/>
          <p:nvPr/>
        </p:nvSpPr>
        <p:spPr>
          <a:xfrm>
            <a:off x="548640" y="5852160"/>
            <a:ext cx="5925312" cy="256032"/>
          </a:xfrm>
          <a:prstGeom prst="rect">
            <a:avLst/>
          </a:prstGeom>
          <a:noFill/>
          <a:ln/>
        </p:spPr>
        <p:txBody>
          <a:bodyPr wrap="square" lIns="0" tIns="0" rIns="0" bIns="0" rtlCol="0" anchor="t"/>
          <a:lstStyle/>
          <a:p>
            <a:pPr indent="0" marL="0">
              <a:buNone/>
            </a:pPr>
            <a:r>
              <a:rPr lang="en-US" sz="1000" dirty="0">
                <a:solidFill>
                  <a:schemeClr val="accent6"/>
                </a:solidFill>
              </a:rPr>
              <a:t>Captura real de la UI con un paciente sintético (contenedores locales, 17 oct)</a:t>
            </a:r>
            <a:endParaRPr lang="en-US" sz="1000" dirty="0"/>
          </a:p>
        </p:txBody>
      </p:sp>
      <p:sp>
        <p:nvSpPr>
          <p:cNvPr id="6" name="2,000 de 2,000"/>
          <p:cNvSpPr/>
          <p:nvPr/>
        </p:nvSpPr>
        <p:spPr>
          <a:xfrm>
            <a:off x="6720840" y="1691640"/>
            <a:ext cx="4919472" cy="877824"/>
          </a:xfrm>
          <a:prstGeom prst="roundRect">
            <a:avLst>
              <a:gd name="adj" fmla="val 10417"/>
            </a:avLst>
          </a:prstGeom>
          <a:solidFill>
            <a:schemeClr val="accent1">
              <a:alpha val="15000"/>
            </a:schemeClr>
          </a:solidFill>
          <a:ln/>
        </p:spPr>
      </p:sp>
      <p:sp>
        <p:nvSpPr>
          <p:cNvPr id="7" name="2,000 de 2,000 círculo"/>
          <p:cNvSpPr/>
          <p:nvPr/>
        </p:nvSpPr>
        <p:spPr>
          <a:xfrm>
            <a:off x="6858000" y="1874520"/>
            <a:ext cx="512064" cy="512064"/>
          </a:xfrm>
          <a:prstGeom prst="ellipse">
            <a:avLst/>
          </a:prstGeom>
          <a:solidFill>
            <a:schemeClr val="accent1"/>
          </a:solidFill>
          <a:ln/>
        </p:spPr>
      </p:sp>
      <p:pic>
        <p:nvPicPr>
          <p:cNvPr id="8" name="2,000 de 2,000 ícono" descr="preencoded.png">    </p:cNvPr>
          <p:cNvPicPr>
            <a:picLocks noChangeAspect="1"/>
          </p:cNvPicPr>
          <p:nvPr/>
        </p:nvPicPr>
        <p:blipFill>
          <a:blip r:embed="rId2"/>
          <a:stretch>
            <a:fillRect/>
          </a:stretch>
        </p:blipFill>
        <p:spPr>
          <a:xfrm>
            <a:off x="6970654" y="1987174"/>
            <a:ext cx="286756" cy="286756"/>
          </a:xfrm>
          <a:prstGeom prst="rect">
            <a:avLst/>
          </a:prstGeom>
        </p:spPr>
      </p:pic>
      <p:sp>
        <p:nvSpPr>
          <p:cNvPr id="9" name="Text 5"/>
          <p:cNvSpPr txBox="1"/>
          <p:nvPr/>
        </p:nvSpPr>
        <p:spPr>
          <a:xfrm>
            <a:off x="7498080" y="174650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2,000 de 2,000</a:t>
            </a:r>
            <a:endParaRPr lang="en-US" sz="1700" dirty="0"/>
          </a:p>
        </p:txBody>
      </p:sp>
      <p:sp>
        <p:nvSpPr>
          <p:cNvPr id="10" name="Text 6"/>
          <p:cNvSpPr txBox="1"/>
          <p:nvPr/>
        </p:nvSpPr>
        <p:spPr>
          <a:xfrm>
            <a:off x="7498080" y="2112264"/>
            <a:ext cx="4023360" cy="402336"/>
          </a:xfrm>
          <a:prstGeom prst="rect">
            <a:avLst/>
          </a:prstGeom>
          <a:noFill/>
          <a:ln/>
        </p:spPr>
        <p:txBody>
          <a:bodyPr wrap="square" lIns="0" tIns="0" rIns="0" bIns="0" rtlCol="0" anchor="t"/>
          <a:lstStyle/>
          <a:p>
            <a:pPr indent="0" marL="0">
              <a:buNone/>
            </a:pPr>
            <a:r>
              <a:rPr lang="en-US" sz="1100" dirty="0">
                <a:solidFill>
                  <a:schemeClr val="bg2"/>
                </a:solidFill>
              </a:rPr>
              <a:t>enteros descifrados idénticos a la referencia (error cero)</a:t>
            </a:r>
            <a:endParaRPr lang="en-US" sz="1100" dirty="0"/>
          </a:p>
        </p:txBody>
      </p:sp>
      <p:sp>
        <p:nvSpPr>
          <p:cNvPr id="11" name="ROC-AUC 0.808"/>
          <p:cNvSpPr/>
          <p:nvPr/>
        </p:nvSpPr>
        <p:spPr>
          <a:xfrm>
            <a:off x="6720840" y="2697480"/>
            <a:ext cx="4919472" cy="877824"/>
          </a:xfrm>
          <a:prstGeom prst="roundRect">
            <a:avLst>
              <a:gd name="adj" fmla="val 10417"/>
            </a:avLst>
          </a:prstGeom>
          <a:solidFill>
            <a:schemeClr val="accent1">
              <a:alpha val="15000"/>
            </a:schemeClr>
          </a:solidFill>
          <a:ln/>
        </p:spPr>
      </p:sp>
      <p:sp>
        <p:nvSpPr>
          <p:cNvPr id="12" name="ROC-AUC 0.808 círculo"/>
          <p:cNvSpPr/>
          <p:nvPr/>
        </p:nvSpPr>
        <p:spPr>
          <a:xfrm>
            <a:off x="6858000" y="2880360"/>
            <a:ext cx="512064" cy="512064"/>
          </a:xfrm>
          <a:prstGeom prst="ellipse">
            <a:avLst/>
          </a:prstGeom>
          <a:solidFill>
            <a:schemeClr val="accent1"/>
          </a:solidFill>
          <a:ln/>
        </p:spPr>
      </p:sp>
      <p:pic>
        <p:nvPicPr>
          <p:cNvPr id="13" name="ROC-AUC 0.808 ícono" descr="preencoded.png">    </p:cNvPr>
          <p:cNvPicPr>
            <a:picLocks noChangeAspect="1"/>
          </p:cNvPicPr>
          <p:nvPr/>
        </p:nvPicPr>
        <p:blipFill>
          <a:blip r:embed="rId3"/>
          <a:stretch>
            <a:fillRect/>
          </a:stretch>
        </p:blipFill>
        <p:spPr>
          <a:xfrm>
            <a:off x="6970654" y="2993014"/>
            <a:ext cx="286756" cy="286756"/>
          </a:xfrm>
          <a:prstGeom prst="rect">
            <a:avLst/>
          </a:prstGeom>
        </p:spPr>
      </p:pic>
      <p:sp>
        <p:nvSpPr>
          <p:cNvPr id="14" name="Text 9"/>
          <p:cNvSpPr txBox="1"/>
          <p:nvPr/>
        </p:nvSpPr>
        <p:spPr>
          <a:xfrm>
            <a:off x="7498080" y="275234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ROC-AUC 0.808</a:t>
            </a:r>
            <a:endParaRPr lang="en-US" sz="1700" dirty="0"/>
          </a:p>
        </p:txBody>
      </p:sp>
      <p:sp>
        <p:nvSpPr>
          <p:cNvPr id="15" name="Text 10"/>
          <p:cNvSpPr txBox="1"/>
          <p:nvPr/>
        </p:nvSpPr>
        <p:spPr>
          <a:xfrm>
            <a:off x="7498080" y="3118104"/>
            <a:ext cx="4023360" cy="402336"/>
          </a:xfrm>
          <a:prstGeom prst="rect">
            <a:avLst/>
          </a:prstGeom>
          <a:noFill/>
          <a:ln/>
        </p:spPr>
        <p:txBody>
          <a:bodyPr wrap="square" lIns="0" tIns="0" rIns="0" bIns="0" rtlCol="0" anchor="t"/>
          <a:lstStyle/>
          <a:p>
            <a:pPr indent="0" marL="0">
              <a:buNone/>
            </a:pPr>
            <a:r>
              <a:rPr lang="en-US" sz="1100" dirty="0">
                <a:solidFill>
                  <a:schemeClr val="bg2"/>
                </a:solidFill>
              </a:rPr>
              <a:t>igual en flotante, punto fijo y cifrado sobre los mismos 2,000 pacientes</a:t>
            </a:r>
            <a:endParaRPr lang="en-US" sz="1100" dirty="0"/>
          </a:p>
        </p:txBody>
      </p:sp>
      <p:sp>
        <p:nvSpPr>
          <p:cNvPr id="16" name="128 ms (p50)"/>
          <p:cNvSpPr/>
          <p:nvPr/>
        </p:nvSpPr>
        <p:spPr>
          <a:xfrm>
            <a:off x="6720840" y="3703320"/>
            <a:ext cx="4919472" cy="877824"/>
          </a:xfrm>
          <a:prstGeom prst="roundRect">
            <a:avLst>
              <a:gd name="adj" fmla="val 10417"/>
            </a:avLst>
          </a:prstGeom>
          <a:solidFill>
            <a:schemeClr val="accent1">
              <a:alpha val="15000"/>
            </a:schemeClr>
          </a:solidFill>
          <a:ln/>
        </p:spPr>
      </p:sp>
      <p:sp>
        <p:nvSpPr>
          <p:cNvPr id="17" name="128 ms (p50) círculo"/>
          <p:cNvSpPr/>
          <p:nvPr/>
        </p:nvSpPr>
        <p:spPr>
          <a:xfrm>
            <a:off x="6858000" y="3886200"/>
            <a:ext cx="512064" cy="512064"/>
          </a:xfrm>
          <a:prstGeom prst="ellipse">
            <a:avLst/>
          </a:prstGeom>
          <a:solidFill>
            <a:schemeClr val="accent1"/>
          </a:solidFill>
          <a:ln/>
        </p:spPr>
      </p:sp>
      <p:pic>
        <p:nvPicPr>
          <p:cNvPr id="18" name="128 ms (p50) ícono" descr="preencoded.png">    </p:cNvPr>
          <p:cNvPicPr>
            <a:picLocks noChangeAspect="1"/>
          </p:cNvPicPr>
          <p:nvPr/>
        </p:nvPicPr>
        <p:blipFill>
          <a:blip r:embed="rId4"/>
          <a:stretch>
            <a:fillRect/>
          </a:stretch>
        </p:blipFill>
        <p:spPr>
          <a:xfrm>
            <a:off x="6970654" y="3998854"/>
            <a:ext cx="286756" cy="286756"/>
          </a:xfrm>
          <a:prstGeom prst="rect">
            <a:avLst/>
          </a:prstGeom>
        </p:spPr>
      </p:pic>
      <p:sp>
        <p:nvSpPr>
          <p:cNvPr id="19" name="Text 13"/>
          <p:cNvSpPr txBox="1"/>
          <p:nvPr/>
        </p:nvSpPr>
        <p:spPr>
          <a:xfrm>
            <a:off x="7498080" y="375818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128 ms (p50)</a:t>
            </a:r>
            <a:endParaRPr lang="en-US" sz="1700" dirty="0"/>
          </a:p>
        </p:txBody>
      </p:sp>
      <p:sp>
        <p:nvSpPr>
          <p:cNvPr id="20" name="Text 14"/>
          <p:cNvSpPr txBox="1"/>
          <p:nvPr/>
        </p:nvSpPr>
        <p:spPr>
          <a:xfrm>
            <a:off x="7498080" y="4123944"/>
            <a:ext cx="4023360" cy="402336"/>
          </a:xfrm>
          <a:prstGeom prst="rect">
            <a:avLst/>
          </a:prstGeom>
          <a:noFill/>
          <a:ln/>
        </p:spPr>
        <p:txBody>
          <a:bodyPr wrap="square" lIns="0" tIns="0" rIns="0" bIns="0" rtlCol="0" anchor="t"/>
          <a:lstStyle/>
          <a:p>
            <a:pPr indent="0" marL="0">
              <a:buNone/>
            </a:pPr>
            <a:r>
              <a:rPr lang="en-US" sz="1100" dirty="0">
                <a:solidFill>
                  <a:schemeClr val="bg2"/>
                </a:solidFill>
              </a:rPr>
              <a:t>recorrido completo: cifrar, TLS 1.3 mutuo, evaluar, descifrar y bóveda</a:t>
            </a:r>
            <a:endParaRPr lang="en-US" sz="1100" dirty="0"/>
          </a:p>
        </p:txBody>
      </p:sp>
      <p:sp>
        <p:nvSpPr>
          <p:cNvPr id="21" name="26.8 KB → 1.4 KB"/>
          <p:cNvSpPr/>
          <p:nvPr/>
        </p:nvSpPr>
        <p:spPr>
          <a:xfrm>
            <a:off x="6720840" y="4709160"/>
            <a:ext cx="4919472" cy="877824"/>
          </a:xfrm>
          <a:prstGeom prst="roundRect">
            <a:avLst>
              <a:gd name="adj" fmla="val 10417"/>
            </a:avLst>
          </a:prstGeom>
          <a:solidFill>
            <a:schemeClr val="accent1">
              <a:alpha val="15000"/>
            </a:schemeClr>
          </a:solidFill>
          <a:ln/>
        </p:spPr>
      </p:sp>
      <p:sp>
        <p:nvSpPr>
          <p:cNvPr id="22" name="26.8 KB → 1.4 KB círculo"/>
          <p:cNvSpPr/>
          <p:nvPr/>
        </p:nvSpPr>
        <p:spPr>
          <a:xfrm>
            <a:off x="6858000" y="4892040"/>
            <a:ext cx="512064" cy="512064"/>
          </a:xfrm>
          <a:prstGeom prst="ellipse">
            <a:avLst/>
          </a:prstGeom>
          <a:solidFill>
            <a:schemeClr val="accent1"/>
          </a:solidFill>
          <a:ln/>
        </p:spPr>
      </p:sp>
      <p:pic>
        <p:nvPicPr>
          <p:cNvPr id="23" name="26.8 KB → 1.4 KB ícono" descr="preencoded.png">    </p:cNvPr>
          <p:cNvPicPr>
            <a:picLocks noChangeAspect="1"/>
          </p:cNvPicPr>
          <p:nvPr/>
        </p:nvPicPr>
        <p:blipFill>
          <a:blip r:embed="rId5"/>
          <a:stretch>
            <a:fillRect/>
          </a:stretch>
        </p:blipFill>
        <p:spPr>
          <a:xfrm>
            <a:off x="6970654" y="5004694"/>
            <a:ext cx="286756" cy="286756"/>
          </a:xfrm>
          <a:prstGeom prst="rect">
            <a:avLst/>
          </a:prstGeom>
        </p:spPr>
      </p:pic>
      <p:sp>
        <p:nvSpPr>
          <p:cNvPr id="24" name="Text 17"/>
          <p:cNvSpPr txBox="1"/>
          <p:nvPr/>
        </p:nvSpPr>
        <p:spPr>
          <a:xfrm>
            <a:off x="7498080" y="476402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26.8 KB → 1.4 KB</a:t>
            </a:r>
            <a:endParaRPr lang="en-US" sz="1700" dirty="0"/>
          </a:p>
        </p:txBody>
      </p:sp>
      <p:sp>
        <p:nvSpPr>
          <p:cNvPr id="25" name="Text 18"/>
          <p:cNvSpPr txBox="1"/>
          <p:nvPr/>
        </p:nvSpPr>
        <p:spPr>
          <a:xfrm>
            <a:off x="7498080" y="5129784"/>
            <a:ext cx="4023360" cy="402336"/>
          </a:xfrm>
          <a:prstGeom prst="rect">
            <a:avLst/>
          </a:prstGeom>
          <a:noFill/>
          <a:ln/>
        </p:spPr>
        <p:txBody>
          <a:bodyPr wrap="square" lIns="0" tIns="0" rIns="0" bIns="0" rtlCol="0" anchor="t"/>
          <a:lstStyle/>
          <a:p>
            <a:pPr indent="0" marL="0">
              <a:buNone/>
            </a:pPr>
            <a:r>
              <a:rPr lang="en-US" sz="1100" dirty="0">
                <a:solidFill>
                  <a:schemeClr val="bg2"/>
                </a:solidFill>
              </a:rPr>
              <a:t>solicitud con 21 cifrados → respuesta con el puntaje cifrado</a:t>
            </a:r>
            <a:endParaRPr lang="en-US" sz="1100" dirty="0"/>
          </a:p>
        </p:txBody>
      </p:sp>
      <p:sp>
        <p:nvSpPr>
          <p:cNvPr id="26" name="Text 19"/>
          <p:cNvSpPr txBox="1"/>
          <p:nvPr/>
        </p:nvSpPr>
        <p:spPr>
          <a:xfrm>
            <a:off x="6720840" y="5760720"/>
            <a:ext cx="4919472" cy="411480"/>
          </a:xfrm>
          <a:prstGeom prst="rect">
            <a:avLst/>
          </a:prstGeom>
          <a:noFill/>
          <a:ln/>
        </p:spPr>
        <p:txBody>
          <a:bodyPr wrap="square" lIns="0" tIns="0" rIns="0" bIns="0" rtlCol="0" anchor="t"/>
          <a:lstStyle/>
          <a:p>
            <a:pPr indent="0" marL="0">
              <a:buNone/>
            </a:pPr>
            <a:r>
              <a:rPr lang="en-US" sz="1000" dirty="0">
                <a:solidFill>
                  <a:schemeClr val="accent4"/>
                </a:solidFill>
              </a:rPr>
              <a:t>Medición LOCAL (macOS arm64, llave de 2048 bits). En LinuxONE se vuelve a medir con make medir-docker.</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la estandarización se pliega en los pesos</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Pesos × 10⁹ redondeados; las 21 entradas ya son enteros</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RESULTADOS EN PRUEBA (38,052 PERSONAS)</a:t>
            </a:r>
            <a:endParaRPr lang="en-US" sz="1100" dirty="0"/>
          </a:p>
        </p:txBody>
      </p:sp>
      <p:sp>
        <p:nvSpPr>
          <p:cNvPr id="33" name="Métricas"/>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Métricas círculo"/>
          <p:cNvSpPr/>
          <p:nvPr/>
        </p:nvSpPr>
        <p:spPr>
          <a:xfrm>
            <a:off x="6419088" y="3657600"/>
            <a:ext cx="530352" cy="530352"/>
          </a:xfrm>
          <a:prstGeom prst="ellipse">
            <a:avLst/>
          </a:prstGeom>
          <a:solidFill>
            <a:schemeClr val="accent2"/>
          </a:solidFill>
          <a:ln/>
        </p:spPr>
      </p:sp>
      <p:pic>
        <p:nvPicPr>
          <p:cNvPr id="35" name="Métricas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Métricas</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ROC-AUC 0.826 · AP 0.415 · sensibilidad 0.805 · especificidad 0.691 · Brier 0.098, con umbral fijado en validación. Punto fijo: error máximo 5.7×10⁻⁸ en el logit.</a:t>
            </a:r>
            <a:endParaRPr lang="en-US" sz="1200" dirty="0"/>
          </a:p>
        </p:txBody>
      </p:sp>
      <p:sp>
        <p:nvSpPr>
          <p:cNvPr id="38" name="Límite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Límites círculo"/>
          <p:cNvSpPr/>
          <p:nvPr/>
        </p:nvSpPr>
        <p:spPr>
          <a:xfrm>
            <a:off x="6419088" y="4864608"/>
            <a:ext cx="530352" cy="530352"/>
          </a:xfrm>
          <a:prstGeom prst="ellipse">
            <a:avLst/>
          </a:prstGeom>
          <a:solidFill>
            <a:schemeClr val="accent4"/>
          </a:solidFill>
          <a:ln/>
        </p:spPr>
      </p:sp>
      <p:pic>
        <p:nvPicPr>
          <p:cNvPr id="40" name="Límite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Límites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Prueba técnica con datos de EE. UU. En adultos mexicanos (ENSANUT, exploratorio) el AUC baja a 0.77 y el riesgo se subestima: habría que recalibrar.</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2026-10-17T10:02:48Z</dcterms:created>
  <dcterms:modified xsi:type="dcterms:W3CDTF">2026-10-17T10:02:48Z</dcterms:modified>
</cp:coreProperties>
</file>